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31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94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2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ENABLEMENT  ·  GOVERNANCE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Use-Case Intake Form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66928" y="40690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 door to a disciplined AI adoption pipeline — every request captured once, the same way, and ready to prioritize.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66928" y="5166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4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NIST AI Risk Management Framework (MAP function)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working asset — not an official BJ's publication.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384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spc="-50" kern="0" dirty="0">
                <a:solidFill>
                  <a:srgbClr val="D31242"/>
                </a:solidFill>
              </a:rPr>
              <a:t>BJ's</a:t>
            </a:r>
            <a:pPr algn="r"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</a:rPr>
              <a:t>  AI ENABLEMENT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LOGIC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600" b="1" spc="-2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standard intake form turns scattered AI requests into a scorable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68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request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52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Anyone, any function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0" y="214884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D31242"/>
          </a:solidFill>
          <a:ln w="12700">
            <a:solidFill>
              <a:srgbClr val="D31242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368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form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752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standard capture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60720" y="214884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217920" y="2148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368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752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scoring framework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95360" y="214884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052560" y="2148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2368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52560" y="2752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· Refine · Decline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3904488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288536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answers the same questions — inputs are comparable, not apples-to-oranges.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29684" y="370332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85716" y="3904488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Scorable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85716" y="4288536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exactly what your prioritization framework needs to rank it — value, effort, risk.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10728" y="370332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66760" y="3904488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66760" y="4288536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documented record from idea to decision — the evidence behind every go/no-go.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CE4E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6235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0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an AI-specific standard.  </a:t>
            </a:r>
            <a:pPr algn="ctr" indent="0" marL="0">
              <a:buNone/>
            </a:pPr>
            <a:r>
              <a:rPr lang="en-US" sz="1150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traces to the NIST AI RMF MAP function — so the form's completeness is checkable, not a matter of opinion.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384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spc="-50" kern="0" dirty="0">
                <a:solidFill>
                  <a:srgbClr val="D31242"/>
                </a:solidFill>
              </a:rPr>
              <a:t>BJ's</a:t>
            </a:r>
            <a:pPr algn="r"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</a:rPr>
              <a:t>  AI ENABLEMENT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 AT A GLANCE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600" b="1" spc="-2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 case answers the same six questions before it can be prioritized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3872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4323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312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574950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6888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63040" y="265176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4672" y="3145536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asking, and who owns it.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11396" y="2194560"/>
            <a:ext cx="353872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9140" y="24323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3124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786" y="257495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25796" y="246888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225796" y="265176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current state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67428" y="3145536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today's baseline.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67428" y="3675888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MAP 1.1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8074152" y="2194560"/>
            <a:ext cx="353872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11896" y="24323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3124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542" y="2574950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88552" y="246888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988552" y="265176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&amp; scope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330184" y="3145536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method and its boundaries.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330184" y="3675888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MAP 2.1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48640" y="4151376"/>
            <a:ext cx="353872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86384" y="4389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3124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4531766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4425696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463040" y="46085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804672" y="5102352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data, how sensitive, and is it available.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04672" y="5632704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MAP 2.3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4311396" y="4151376"/>
            <a:ext cx="353872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49140" y="4389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31242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786" y="4531766"/>
            <a:ext cx="263347" cy="26334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225796" y="4425696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225796" y="46085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&amp; success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4567428" y="5102352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 and how it's measured.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4567428" y="5632704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MAP 3.1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8074152" y="4151376"/>
            <a:ext cx="353872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311896" y="4389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31242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542" y="4531766"/>
            <a:ext cx="263347" cy="263347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88552" y="4425696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8988552" y="46085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oversight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8330184" y="5102352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Exposure, and where a human stays in control.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8330184" y="5632704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MAP 5.1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384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spc="-50" kern="0" dirty="0">
                <a:solidFill>
                  <a:srgbClr val="D31242"/>
                </a:solidFill>
              </a:rPr>
              <a:t>BJ's</a:t>
            </a:r>
            <a:pPr algn="r"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</a:rPr>
              <a:t>  AI ENABLEMENT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01–03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600" b="1" spc="-2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First, the form defines the request: what's proposed, why, and where the boundaries sit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02152" cy="44805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312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235512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24028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44752" y="24231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04672" y="3044952"/>
            <a:ext cx="2990088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3172968"/>
            <a:ext cx="29900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Title / one-line description</a:t>
            </a:r>
            <a:endParaRPr lang="en-US" sz="1080" dirty="0"/>
          </a:p>
          <a:p>
            <a:pPr indent="0" marL="0">
              <a:spcAft>
                <a:spcPts val="650"/>
              </a:spcAft>
              <a:buNone/>
            </a:pPr>
            <a:r>
              <a:rPr lang="en-US" sz="930" dirty="0">
                <a:solidFill>
                  <a:srgbClr val="5E6A78"/>
                </a:solidFill>
              </a:rPr>
              <a:t>For the register and portfolio view.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Proposer &amp; department</a:t>
            </a:r>
            <a:endParaRPr lang="en-US" sz="1080" dirty="0"/>
          </a:p>
          <a:p>
            <a:pPr indent="0" marL="0">
              <a:spcAft>
                <a:spcPts val="650"/>
              </a:spcAft>
              <a:buNone/>
            </a:pPr>
            <a:r>
              <a:rPr lang="en-US" sz="930" dirty="0">
                <a:solidFill>
                  <a:srgbClr val="5E6A78"/>
                </a:solidFill>
              </a:rPr>
              <a:t>Routing and ownership.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Business sponsor / owner</a:t>
            </a:r>
            <a:endParaRPr lang="en-US" sz="1080" dirty="0"/>
          </a:p>
          <a:p>
            <a:pPr indent="0" marL="0">
              <a:spcAft>
                <a:spcPts val="650"/>
              </a:spcAft>
              <a:buNone/>
            </a:pPr>
            <a:r>
              <a:rPr lang="en-US" sz="930" dirty="0">
                <a:solidFill>
                  <a:srgbClr val="5E6A78"/>
                </a:solidFill>
              </a:rPr>
              <a:t>The single accountable name.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29684" y="1965960"/>
            <a:ext cx="3502152" cy="44805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85716" y="22219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312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853" y="2355129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25796" y="224028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225796" y="24231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current state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585716" y="3044952"/>
            <a:ext cx="2990088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85716" y="3172968"/>
            <a:ext cx="29900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Problem statement</a:t>
            </a:r>
            <a:endParaRPr lang="en-US" sz="1080" dirty="0"/>
          </a:p>
          <a:p>
            <a:pPr indent="0" marL="0">
              <a:buNone/>
            </a:pPr>
            <a:r>
              <a:rPr lang="en-US" sz="930" dirty="0">
                <a:solidFill>
                  <a:srgbClr val="5E6A78"/>
                </a:solidFill>
              </a:rPr>
              <a:t>Plain language — forces problem before solution.  </a:t>
            </a:r>
            <a:pPr indent="0" marL="0">
              <a:spcAft>
                <a:spcPts val="650"/>
              </a:spcAft>
              <a:buNone/>
            </a:pPr>
            <a:r>
              <a:rPr lang="en-US" sz="800" b="1" spc="60" kern="0" dirty="0">
                <a:solidFill>
                  <a:srgbClr val="D31242"/>
                </a:solidFill>
              </a:rPr>
              <a:t>NIST MAP 1.1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Current process &amp; pain</a:t>
            </a:r>
            <a:endParaRPr lang="en-US" sz="1080" dirty="0"/>
          </a:p>
          <a:p>
            <a:pPr indent="0" marL="0">
              <a:buNone/>
            </a:pPr>
            <a:r>
              <a:rPr lang="en-US" sz="930" dirty="0">
                <a:solidFill>
                  <a:srgbClr val="5E6A78"/>
                </a:solidFill>
              </a:rPr>
              <a:t>Hours, cost, errors today. Your ROI baseline.  </a:t>
            </a:r>
            <a:pPr indent="0" marL="0">
              <a:spcAft>
                <a:spcPts val="650"/>
              </a:spcAft>
              <a:buNone/>
            </a:pPr>
            <a:r>
              <a:rPr lang="en-US" sz="800" b="1" spc="60" kern="0" dirty="0">
                <a:solidFill>
                  <a:srgbClr val="D31242"/>
                </a:solidFill>
              </a:rPr>
              <a:t>NIST MAP 1.4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8110728" y="1965960"/>
            <a:ext cx="3502152" cy="44805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66760" y="22219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3124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897" y="2355129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06840" y="224028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006840" y="24231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&amp; scope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8366760" y="3044952"/>
            <a:ext cx="2990088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66760" y="3172968"/>
            <a:ext cx="29900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What the AI does</a:t>
            </a:r>
            <a:endParaRPr lang="en-US" sz="1080" dirty="0"/>
          </a:p>
          <a:p>
            <a:pPr indent="0" marL="0">
              <a:buNone/>
            </a:pPr>
            <a:r>
              <a:rPr lang="en-US" sz="930" dirty="0">
                <a:solidFill>
                  <a:srgbClr val="5E6A78"/>
                </a:solidFill>
              </a:rPr>
              <a:t>Draft, summarize, analyze, retrieve, multi-step.  </a:t>
            </a:r>
            <a:pPr indent="0" marL="0">
              <a:spcAft>
                <a:spcPts val="650"/>
              </a:spcAft>
              <a:buNone/>
            </a:pPr>
            <a:r>
              <a:rPr lang="en-US" sz="800" b="1" spc="60" kern="0" dirty="0">
                <a:solidFill>
                  <a:srgbClr val="D31242"/>
                </a:solidFill>
              </a:rPr>
              <a:t>NIST MAP 2.1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Tool proposed</a:t>
            </a:r>
            <a:endParaRPr lang="en-US" sz="1080" dirty="0"/>
          </a:p>
          <a:p>
            <a:pPr indent="0" marL="0">
              <a:spcAft>
                <a:spcPts val="650"/>
              </a:spcAft>
              <a:buNone/>
            </a:pPr>
            <a:r>
              <a:rPr lang="en-US" sz="930" dirty="0">
                <a:solidFill>
                  <a:srgbClr val="5E6A78"/>
                </a:solidFill>
              </a:rPr>
              <a:t>Determines the review path.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In scope / out of scope</a:t>
            </a:r>
            <a:endParaRPr lang="en-US" sz="1080" dirty="0"/>
          </a:p>
          <a:p>
            <a:pPr indent="0" marL="0">
              <a:buNone/>
            </a:pPr>
            <a:r>
              <a:rPr lang="en-US" sz="930" dirty="0">
                <a:solidFill>
                  <a:srgbClr val="5E6A78"/>
                </a:solidFill>
              </a:rPr>
              <a:t>The pilot boundary; prevents scope creep.  </a:t>
            </a:r>
            <a:pPr indent="0" marL="0">
              <a:spcAft>
                <a:spcPts val="650"/>
              </a:spcAft>
              <a:buNone/>
            </a:pPr>
            <a:r>
              <a:rPr lang="en-US" sz="800" b="1" spc="60" kern="0" dirty="0">
                <a:solidFill>
                  <a:srgbClr val="D31242"/>
                </a:solidFill>
              </a:rPr>
              <a:t>NIST MAP 1.1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Systems / integrations</a:t>
            </a:r>
            <a:endParaRPr lang="en-US" sz="1080" dirty="0"/>
          </a:p>
          <a:p>
            <a:pPr indent="0" marL="0">
              <a:spcAft>
                <a:spcPts val="650"/>
              </a:spcAft>
              <a:buNone/>
            </a:pPr>
            <a:r>
              <a:rPr lang="en-US" sz="930" dirty="0">
                <a:solidFill>
                  <a:srgbClr val="5E6A78"/>
                </a:solidFill>
              </a:rPr>
              <a:t>Feasibility and security signal.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384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spc="-50" kern="0" dirty="0">
                <a:solidFill>
                  <a:srgbClr val="D31242"/>
                </a:solidFill>
              </a:rPr>
              <a:t>BJ's</a:t>
            </a:r>
            <a:pPr algn="r"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</a:rPr>
              <a:t>  AI ENABLEMENT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04–06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600" b="1" spc="-2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surfaces what determines feasibility, value, and risk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02152" cy="44805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312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235512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24028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44752" y="24231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04672" y="3044952"/>
            <a:ext cx="2990088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3172968"/>
            <a:ext cx="29900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Data required</a:t>
            </a:r>
            <a:endParaRPr lang="en-US" sz="1080" dirty="0"/>
          </a:p>
          <a:p>
            <a:pPr indent="0" marL="0">
              <a:spcAft>
                <a:spcPts val="650"/>
              </a:spcAft>
              <a:buNone/>
            </a:pPr>
            <a:r>
              <a:rPr lang="en-US" sz="930" dirty="0">
                <a:solidFill>
                  <a:srgbClr val="5E6A78"/>
                </a:solidFill>
              </a:rPr>
              <a:t>Feasibility input.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D31242"/>
                </a:solidFill>
              </a:rPr>
              <a:t>Data sensitivity</a:t>
            </a:r>
            <a:endParaRPr lang="en-US" sz="1080" dirty="0"/>
          </a:p>
          <a:p>
            <a:pPr indent="0" marL="0">
              <a:buNone/>
            </a:pPr>
            <a:r>
              <a:rPr lang="en-US" sz="930" dirty="0">
                <a:solidFill>
                  <a:srgbClr val="5E6A78"/>
                </a:solidFill>
              </a:rPr>
              <a:t>Public → confidential. Decides if it's even permissible.  </a:t>
            </a:r>
            <a:pPr indent="0" marL="0">
              <a:spcAft>
                <a:spcPts val="650"/>
              </a:spcAft>
              <a:buNone/>
            </a:pPr>
            <a:r>
              <a:rPr lang="en-US" sz="800" b="1" spc="60" kern="0" dirty="0">
                <a:solidFill>
                  <a:srgbClr val="D31242"/>
                </a:solidFill>
              </a:rPr>
              <a:t>THE GATING FIELD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Data availability</a:t>
            </a:r>
            <a:endParaRPr lang="en-US" sz="1080" dirty="0"/>
          </a:p>
          <a:p>
            <a:pPr indent="0" marL="0">
              <a:buNone/>
            </a:pPr>
            <a:r>
              <a:rPr lang="en-US" sz="930" dirty="0">
                <a:solidFill>
                  <a:srgbClr val="5E6A78"/>
                </a:solidFill>
              </a:rPr>
              <a:t>Does usable data exist — the top predictor of success.  </a:t>
            </a:r>
            <a:pPr indent="0" marL="0">
              <a:spcAft>
                <a:spcPts val="650"/>
              </a:spcAft>
              <a:buNone/>
            </a:pPr>
            <a:r>
              <a:rPr lang="en-US" sz="800" b="1" spc="60" kern="0" dirty="0">
                <a:solidFill>
                  <a:srgbClr val="D31242"/>
                </a:solidFill>
              </a:rPr>
              <a:t>NIST MAP 2.3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29684" y="1965960"/>
            <a:ext cx="3502152" cy="44805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85716" y="22219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312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853" y="2355129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25796" y="224028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225796" y="24231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&amp; success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585716" y="3044952"/>
            <a:ext cx="2990088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85716" y="3172968"/>
            <a:ext cx="29900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Expected benefit</a:t>
            </a:r>
            <a:endParaRPr lang="en-US" sz="1080" dirty="0"/>
          </a:p>
          <a:p>
            <a:pPr indent="0" marL="0">
              <a:buNone/>
            </a:pPr>
            <a:r>
              <a:rPr lang="en-US" sz="930" dirty="0">
                <a:solidFill>
                  <a:srgbClr val="5E6A78"/>
                </a:solidFill>
              </a:rPr>
              <a:t>The promise — hours saved, errors down, revenue.  </a:t>
            </a:r>
            <a:pPr indent="0" marL="0">
              <a:spcAft>
                <a:spcPts val="650"/>
              </a:spcAft>
              <a:buNone/>
            </a:pPr>
            <a:r>
              <a:rPr lang="en-US" sz="800" b="1" spc="60" kern="0" dirty="0">
                <a:solidFill>
                  <a:srgbClr val="D31242"/>
                </a:solidFill>
              </a:rPr>
              <a:t>NIST MAP 3.1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Success metric</a:t>
            </a:r>
            <a:endParaRPr lang="en-US" sz="1080" dirty="0"/>
          </a:p>
          <a:p>
            <a:pPr indent="0" marL="0">
              <a:spcAft>
                <a:spcPts val="650"/>
              </a:spcAft>
              <a:buNone/>
            </a:pPr>
            <a:r>
              <a:rPr lang="en-US" sz="930" dirty="0">
                <a:solidFill>
                  <a:srgbClr val="5E6A78"/>
                </a:solidFill>
              </a:rPr>
              <a:t>The scoreboard — a number and a timeframe.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Estimated effort / cost</a:t>
            </a:r>
            <a:endParaRPr lang="en-US" sz="1080" dirty="0"/>
          </a:p>
          <a:p>
            <a:pPr indent="0" marL="0">
              <a:spcAft>
                <a:spcPts val="650"/>
              </a:spcAft>
              <a:buNone/>
            </a:pPr>
            <a:r>
              <a:rPr lang="en-US" sz="930" dirty="0">
                <a:solidFill>
                  <a:srgbClr val="5E6A78"/>
                </a:solidFill>
              </a:rPr>
              <a:t>The denominator your prioritization needs.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8110728" y="1965960"/>
            <a:ext cx="3502152" cy="44805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66760" y="22219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3124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897" y="2355129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06840" y="224028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006840" y="24231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oversight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8366760" y="3044952"/>
            <a:ext cx="2990088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66760" y="3172968"/>
            <a:ext cx="29900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Customer / member-facing?</a:t>
            </a:r>
            <a:endParaRPr lang="en-US" sz="1080" dirty="0"/>
          </a:p>
          <a:p>
            <a:pPr indent="0" marL="0">
              <a:buNone/>
            </a:pPr>
            <a:r>
              <a:rPr lang="en-US" sz="930" dirty="0">
                <a:solidFill>
                  <a:srgbClr val="5E6A78"/>
                </a:solidFill>
              </a:rPr>
              <a:t>Triggers transparency duties.  </a:t>
            </a:r>
            <a:pPr indent="0" marL="0">
              <a:spcAft>
                <a:spcPts val="650"/>
              </a:spcAft>
              <a:buNone/>
            </a:pPr>
            <a:r>
              <a:rPr lang="en-US" sz="800" b="1" spc="60" kern="0" dirty="0">
                <a:solidFill>
                  <a:srgbClr val="D31242"/>
                </a:solidFill>
              </a:rPr>
              <a:t>NIST MAP 5.1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1F2733"/>
                </a:solidFill>
              </a:rPr>
              <a:t>Decisions about people?</a:t>
            </a:r>
            <a:endParaRPr lang="en-US" sz="1080" dirty="0"/>
          </a:p>
          <a:p>
            <a:pPr indent="0" marL="0">
              <a:buNone/>
            </a:pPr>
            <a:r>
              <a:rPr lang="en-US" sz="930" dirty="0">
                <a:solidFill>
                  <a:srgbClr val="5E6A78"/>
                </a:solidFill>
              </a:rPr>
              <a:t>Hiring, access, health — escalates the tier.  </a:t>
            </a:r>
            <a:pPr indent="0" marL="0">
              <a:spcAft>
                <a:spcPts val="650"/>
              </a:spcAft>
              <a:buNone/>
            </a:pPr>
            <a:r>
              <a:rPr lang="en-US" sz="800" b="1" spc="60" kern="0" dirty="0">
                <a:solidFill>
                  <a:srgbClr val="D31242"/>
                </a:solidFill>
              </a:rPr>
              <a:t>NIST MAP 5.1</a:t>
            </a:r>
            <a:endParaRPr lang="en-US" sz="108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80" b="1" dirty="0">
                <a:solidFill>
                  <a:srgbClr val="D31242"/>
                </a:solidFill>
              </a:rPr>
              <a:t>Human oversight</a:t>
            </a:r>
            <a:endParaRPr lang="en-US" sz="1080" dirty="0"/>
          </a:p>
          <a:p>
            <a:pPr indent="0" marL="0">
              <a:buNone/>
            </a:pPr>
            <a:r>
              <a:rPr lang="en-US" sz="930" dirty="0">
                <a:solidFill>
                  <a:srgbClr val="5E6A78"/>
                </a:solidFill>
              </a:rPr>
              <a:t>Does a person review output before use — the core control.  </a:t>
            </a:r>
            <a:pPr indent="0" marL="0">
              <a:spcAft>
                <a:spcPts val="650"/>
              </a:spcAft>
              <a:buNone/>
            </a:pPr>
            <a:r>
              <a:rPr lang="en-US" sz="800" b="1" spc="60" kern="0" dirty="0">
                <a:solidFill>
                  <a:srgbClr val="D31242"/>
                </a:solidFill>
              </a:rPr>
              <a:t>NIST MAP 2.2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384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spc="-50" kern="0" dirty="0">
                <a:solidFill>
                  <a:srgbClr val="D31242"/>
                </a:solidFill>
              </a:rPr>
              <a:t>BJ's</a:t>
            </a:r>
            <a:pPr algn="r" indent="0" marL="0">
              <a:buNone/>
            </a:pPr>
            <a:r>
              <a:rPr lang="en-US" sz="900" b="1" spc="150" kern="0" dirty="0">
                <a:solidFill>
                  <a:srgbClr val="8A93A0"/>
                </a:solidFill>
              </a:rPr>
              <a:t>  AI ENABLEMENT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600" b="1" spc="-2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completed form is the evidence for a fast, defensible go/no-go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221992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good form gives you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752344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 —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scored on the same basis — you rank a portfolio, not one-offs.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813048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 —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is backed by a documented rationale, not a hallway conversation.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4873752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 —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from idea to outcome — the record a governance review can follow.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81928" y="194767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fields people confuse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350008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2624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3124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097" y="2757465"/>
            <a:ext cx="245791" cy="24579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178040" y="266090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benefit  =  the promise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556248" y="3191256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get and how big — e.g. “saves each buyer ~6 hours a week.” The claim that justifies doing it; the input your prioritization weighs.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63640" y="4315968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114300" dist="38100" dir="5400000">
              <a:srgbClr val="141E2D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45902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3124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097" y="4723425"/>
            <a:ext cx="245791" cy="24579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46268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  =  the scoreboard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556248" y="5157216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prove it worked — a number and a timeframe, e.g. “draft time from 45 to under 20 min, over 30 days.” Set now, so scale-or-kill is honest later.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Use-Case Intake Form</dc:title>
  <dc:subject>PptxGenJS Presentation</dc:subject>
  <dc:creator>AI Enablement</dc:creator>
  <cp:lastModifiedBy>AI Enablement</cp:lastModifiedBy>
  <cp:revision>1</cp:revision>
  <dcterms:created xsi:type="dcterms:W3CDTF">2026-07-02T01:23:08Z</dcterms:created>
  <dcterms:modified xsi:type="dcterms:W3CDTF">2026-07-02T01:23:08Z</dcterms:modified>
</cp:coreProperties>
</file>