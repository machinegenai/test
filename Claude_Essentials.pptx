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features tour of claude.ai — the chat surface. We go feature by feature: where to find it, what it does, one example. Not covered today: prompting (its own course), and the coding/desktop/design tools. Encourage people to follow along in their own account and add screenshots to their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quick orientation slides before the features, so expectations are set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text and pictures in, text back. If someone needs a generated image, that's elsewhere. This one line prevents a lot of 'it's broken' tickets.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light — deep model choice is its own topic. Teach the tiers, not the version numbers (names change). Default for most work; upgrade only when the answer quality justifies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working features, in the order §2.2 lists them. Demo as many as you can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habit to model: iterate in the same chat instead of starting over. And ask for the format you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don't know this exists and start a new chat for every variation, losing context. Demo editing an earlier message and toggling versions. This is the day's best 'aha'.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Behaviour change: the reflex should be 'upload it', not 'retype it'. Encourage specific questions of the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with a real photo if you can — it gets a reaction. Caveat: crop to what matters; blurry photos give rough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Trigger for web search: 'could this have changed recently?' Research is for breadth and takes a bit longer — great for a first-draft briefing.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verification habit is the most important thing Champions model: click one source before acting. That single click is what earns organizational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upload a small spreadsheet, ask for a chart. The inline chart appears in seconds. Reliable crowd-pleaser.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an artifact opening in the side panel. Stress the governance point: internal-only on Enterprise, so it's safe for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strong adoption moment — a finished deliverable in one step. Pair it with the analysis demo: one dataset becomes a chart, a dashboard, and an Excel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personalization-setup section. The centerpiece is the three-layer stack; Projects, Styles and Memory hang off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concept of the section. Which layer to use: a permanent fact about you → Profile; workflow context → Project; tone for one chat → Style. Have people set their Profile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create a Project, add one knowledge file, two lines of instructions. Open a fresh chat inside it and show it already knows the context. Biggest daily-work upgrade for anyone with repeat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Style switcher; build a custom one from a BJ's writing sample if you have it. Keep it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people memory is controllable — heads off the 'is it hoarding my data?' worry. The 'what do you know about me?' trick is a great one to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biggest BJ's-specific value lives. Availability depends on plan and admin setup — be honest about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connectors area. Be honest that availability depends on plan and admin settings — part of the Champion job is knowing who provisions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of the section. Best demo: ask for an internal policy and get it back with a link to the real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guardrails. Keep it practical, not scary. Finalize the specific member-data rules with BJ's policy before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constant 'how do I turn X on/off?' question Champions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training toggle plainly and tie it to BJ's data guidance. Champions must know this cold. NOTE: align wording with BJ's actual data policy before delivering.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caveat people get wrong: incognito is great for privacy, not a way to evade enterprise records. Be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small-but-useful settings grouped. Long context is for the rare very-large-document job; the appearance settings are a two-minute comfort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small quality-of-life features, grouped so they don't each eat a slide. Voice input and past-chat search are the two people adopt fastest. The AI Migrator helps when onboarding a colleague from another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map of the whole hour. Pause for questions here before the call to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warmly. The ask: one feature, one colleague, this week. Point them to the quick-reference card and the 'try this' task sheet. Thank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CLAUDE ESSENTIALS · FOR AI CHAMPIONS</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Every feature of claude.ai</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A one-hour tour of the tool — where each feature lives, what it does, and how to use it. One feature at a time.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SECTION 1</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Get oriented</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What Claude is, and how to choose a model.</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GET ORIENTED</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What Claude is — and isn't</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Set the expectation before anyone starts.</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Every chat at claude.ai — this is the assistant itself, not a separate app to install.</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Claude reads your text and images and writes text, drafts, tables, and code back. It does not create images, audio, or video. Knowing the box it works in prevents the most common early frustration.</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Summarize a report or draft an email — yes. Design a logo — that's a different tool.</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1 · GET ORIENTED</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GET ORIENTED</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Pick a model</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Right-size the engine to the job.</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The model picker at the top of the chat window.</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Three everyday tiers: Haiku is fastest for simple jobs, Sonnet is the balanced default, and Opus handles the hardest reasoning and long documents. For a knotty problem, you can let it think longer before answering.</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Rewriting an email → the default. Stress-testing a financial assumption → the heavy-duty model.</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1 · GET ORIENTED</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SECTION 2</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The chat, day to day</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The features you'll touch in almost every conversation.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CHAT, DAY TO DAY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Core chat</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The basics you'll use in every conversation.</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The compose bar at the bottom of any chat.</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Type a request, add context, and refine by replying — you don't have to get it perfect first time. You can also tell Claude the exact format you want back: a table, five bullets, a short email.</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"Summarize this in five bullets for a store manager" — then "make it shorter and warmer."</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2 · THE CHAT, DAY TO DAY</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CHAT, DAY TO DAY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Conversation branching</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Compare answers without losing your place.</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Edit any earlier message, or hit Retry on a response.</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Claude forks the chat into a new branch you can toggle between — the original stays intact. Great for comparing two phrasings, or reusing a good setup as a launch pad for several related questions.</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Retry a supplier reply asking for a firmer tone; keep both versions and pick the best.</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2 · THE CHAT, DAY TO DAY</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CHAT, DAY TO DAY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Files &amp; PDF</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Hand over the whole document.</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The attach (paperclip) button in the compose bar.</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Upload documents, spreadsheets, and PDFs and Claude works from the entire file — not just what you pasted. Ask a specific question rather than "what does this say" and you get a sharp answer.</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Attach a 20-page supplier contract: "Pull the payment terms and any penalties."</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2 · THE CHAT, DAY TO DAY</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CHAT, DAY TO DAY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Vision</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It reads pictures, not just files.</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Attach or paste an image into the compose bar.</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Claude reads screenshots, diagrams, charts, and photographs — anything you can show it as a picture. This is the feature people most often forget they have.</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Photograph a shelf planogram and ask Claude to read the layout back to you.</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2 · THE CHAT, DAY TO DAY</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CHAT, DAY TO DAY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Web search &amp; Research</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Current answers, and deeper dives.</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The tools in the compose bar — web search, and Research.</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Web search grounds Claude in live information for anything recent. Research goes further: it works across many sources and pulls them into one organized answer for bigger questions.</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Web: "latest guidance on X."  Research: "Survey current retail loyalty trends, with sources."</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2 · THE CHAT, DAY TO DAY</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CHAT, DAY TO DAY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Citations &amp; languages</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Every sourced answer shows its work.</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Inline in the answer, wherever Claude searched or used a connected tool.</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When Claude searches the web, runs Research, or uses a connector, it cites its sources so you can click through and check. It also works across many languages, for both input and output.</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Click a citation to confirm a stat before it goes in a deck. Or ask for the summary in Spanish.</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2 · THE CHAT, DAY TO DAY</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CHAT, DAY TO DAY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Analysis — data into charts</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Turn numbers into a picture.</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Just upload data and ask — Claude runs the analysis behind the scenes.</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Claude can compute, clean, and chart your data, and draw the chart right inside the chat so you can eyeball it fast. No formulas to write.</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Upload this month's club-signup spreadsheet: "Chart signups by club and flag the fastest grower."</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2 · THE CHAT, DAY TO DAY</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CHAT, DAY TO DAY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Artifacts &amp; inline visuals</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A finished thing beside the chat.</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Opens automatically in a side panel when Claude builds one.</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Artifacts are self-contained outputs — one-pagers, dashboards, calculators, small interactive tools. At BJ's they're shared internally only. Claude can also draw quick charts and diagrams directly in the chat.</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"Build a one-page signup dashboard I can share with the team."</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2 · THE CHAT, DAY TO DAY</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CHAT, DAY TO DAY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Create real files</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Actual Excel, PowerPoint, Word &amp; PDF.</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Ask for the file; Claude builds it and gives you a download.</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Claude doesn't just describe a document — it produces the real, formatted file, ready to open and send. That's the difference between "here's what to write" and "here's the finished thing."</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"Put that signup summary into a formatted Excel with a chart tab."</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2 · THE CHAT, DAY TO DAY</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SECTION 3</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Set up Claude to work like you</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Personalize once so Claude fits how you work — and stop repeating yourself.</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SET IT UP ONCE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personalization stack</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Three layers that stack on every reply.</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Start at Settings › General › Profile ("Instructions for Claude").</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Three layers combine on every answer: your global Profile (name, role, what to always consider), a Project's instructions, and a per-chat Style. Set the Profile once and Claude stops asking who you are.</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Profile: "I'm a BJ's AI Champion; keep answers plain and associate-first."</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3 · SET UP CLAUDE</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SET IT UP ONCE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Projects</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A home for repeat work.</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The Projects area in the left sidebar.</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A Project is a workspace with its own knowledge base and instructions, shareable with your team. Add background documents once and Claude searches them automatically — no re-pasting context. Each Project keeps its own memory.</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A "Champion Enablement" Project holding the playbook, so every chat inside starts briefed.</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3 · SET UP CLAUDE</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SET IT UP ONCE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Styles</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Set the voice.</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The Style selector near the compose bar.</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Pick a tone per chat — Normal, Concise, Explanatory, Formal, Learning — or build a custom Style from a writing sample so drafts sound like BJ's.</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A custom "BJ's associate-first" Style you switch on for member-facing drafts.</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3 · SET UP CLAUDE</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SET IT UP ONCE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Memory &amp; managing it</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It remembers — and you're in charge.</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In Settings, and inline by just asking Claude.</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Claude can carry context across chats, and memory can be scoped to a single Project. You stay in control: see what it holds, edit it, or clear it anytime.</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Ask "What do you know about me?" — then tell it to forget a detail you don't want kept.</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3 · SET UP CLAUDE</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SECTION 4</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Connect Claude to our tools</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Answer from BJ's own systems and documents, not just the open web.</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CONNECT IT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Connectors</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Claude, meet your other tools.</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Settings › Connectors (some are switched on by IT).</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Connectors let Claude reach the tools you already use — Google Workspace, Microsoft 365, Slack, and more — so it can pull a figure from a Sheet or summarize a thread without any copy-paste.</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"Summarize this email thread and draft a reply based on the attached doc."</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4 · CONNECT OUR TOOLS</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CONNECT IT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Enterprise Search</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Answers from BJ's own content.</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Available in chat once admins connect internal sources.</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Enterprise Search lets Claude answer from BJ's internal knowledge bases and documents — not just the open web. For most work questions this is the highest-value use, and answers come with a source link.</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"Find our current safe-AI-use policy and summarize it" — answered from our own SharePoint.</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4 · CONNECT OUR TOOLS</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SECTION 5</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Settings, privacy &amp; safety</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The controls every Champion should know cold.</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SETTINGS &amp; SAFETY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Capabilities toggles</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Turn features on and off.</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Settings › Capabilities.</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Switch web search, file creation, Artifacts, and memory on or off. Champions check here so they're never silently missing a feature — and so they can tell others how to switch one on.</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A colleague "can't make charts"? Check whether file creation is switched on.</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5 · SETTINGS, PRIVACY &amp; SAFETY</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SETTINGS &amp; SAFETY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Privacy &amp; data controls</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Know what happens to your data.</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Settings › Privacy.</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Here you'll find the "help improve Claude" training toggle and what it means, the "search and reference chats" setting, and options to pause, clear, or delete your data. Essential for responsible-use guidance.</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Confirm the training setting matches BJ's guidance before working with sensitive material.</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5 · SETTINGS, PRIVACY &amp; SAFETY</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SETTINGS &amp; SAFETY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Incognito mode</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A private chat — with one caveat.</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The ghost icon when you start a new chat.</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Incognito keeps a conversation out of your history and out of training, with memory off — good for a sensitive topic. The caveat: on Team or Enterprise it still falls under BJ's retention and export policies. It is not a magic eraser.</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Think through a sensitive HR question in incognito — but don't treat it as hidden from BJ's records.</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5 · SETTINGS, PRIVACY &amp; SAFETY</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SETTINGS &amp; SAFETY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Long-context &amp; accessibility</a:t>
            </a:r>
            <a:endParaRPr lang="en-US" sz="3000" dirty="0"/>
          </a:p>
        </p:txBody>
      </p:sp>
      <p:sp>
        <p:nvSpPr>
          <p:cNvPr id="6" name="Text 3"/>
          <p:cNvSpPr/>
          <p:nvPr/>
        </p:nvSpPr>
        <p:spPr>
          <a:xfrm>
            <a:off x="1664208" y="1499616"/>
            <a:ext cx="9966960" cy="329184"/>
          </a:xfrm>
          <a:prstGeom prst="rect">
            <a:avLst/>
          </a:prstGeom>
          <a:noFill/>
          <a:ln/>
        </p:spPr>
        <p:txBody>
          <a:bodyPr wrap="square" lIns="0" tIns="0" rIns="0" bIns="0" rtlCol="0" anchor="ctr"/>
          <a:lstStyle/>
          <a:p>
            <a:pPr indent="0" marL="0">
              <a:buNone/>
            </a:pPr>
            <a:r>
              <a:rPr lang="en-US" sz="1350" i="1" dirty="0">
                <a:solidFill>
                  <a:srgbClr val="5E6A78"/>
                </a:solidFill>
                <a:latin typeface="Arial" pitchFamily="34" charset="0"/>
                <a:ea typeface="Arial" pitchFamily="34" charset="-122"/>
                <a:cs typeface="Arial" pitchFamily="34" charset="-120"/>
              </a:rPr>
              <a:t>Big inputs, and a comfortable setup.</a:t>
            </a:r>
            <a:endParaRPr lang="en-US" sz="1350" dirty="0"/>
          </a:p>
        </p:txBody>
      </p:sp>
      <p:sp>
        <p:nvSpPr>
          <p:cNvPr id="7" name="Text 4"/>
          <p:cNvSpPr/>
          <p:nvPr/>
        </p:nvSpPr>
        <p:spPr>
          <a:xfrm>
            <a:off x="640080" y="214884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WHERE TO FIND IT</a:t>
            </a:r>
            <a:endParaRPr lang="en-US" sz="1150" dirty="0"/>
          </a:p>
        </p:txBody>
      </p:sp>
      <p:sp>
        <p:nvSpPr>
          <p:cNvPr id="8" name="Text 5"/>
          <p:cNvSpPr/>
          <p:nvPr/>
        </p:nvSpPr>
        <p:spPr>
          <a:xfrm>
            <a:off x="640080" y="2450592"/>
            <a:ext cx="5806440" cy="960120"/>
          </a:xfrm>
          <a:prstGeom prst="rect">
            <a:avLst/>
          </a:prstGeom>
          <a:noFill/>
          <a:ln/>
        </p:spPr>
        <p:txBody>
          <a:bodyPr wrap="square" lIns="0" tIns="0" rIns="0" bIns="0" rtlCol="0" anchor="t"/>
          <a:lstStyle/>
          <a:p>
            <a:pPr indent="0" marL="0">
              <a:lnSpc>
                <a:spcPct val="112000"/>
              </a:lnSpc>
              <a:buNone/>
            </a:pPr>
            <a:r>
              <a:rPr lang="en-US" sz="1450" dirty="0">
                <a:solidFill>
                  <a:srgbClr val="1F2733"/>
                </a:solidFill>
                <a:latin typeface="Arial" pitchFamily="34" charset="0"/>
                <a:ea typeface="Arial" pitchFamily="34" charset="-122"/>
                <a:cs typeface="Arial" pitchFamily="34" charset="-120"/>
              </a:rPr>
              <a:t>Settings — long-context (supported models), plus themes, font &amp; notifications.</a:t>
            </a:r>
            <a:endParaRPr lang="en-US" sz="1450" dirty="0"/>
          </a:p>
        </p:txBody>
      </p:sp>
      <p:sp>
        <p:nvSpPr>
          <p:cNvPr id="9" name="Text 6"/>
          <p:cNvSpPr/>
          <p:nvPr/>
        </p:nvSpPr>
        <p:spPr>
          <a:xfrm>
            <a:off x="640080" y="3566160"/>
            <a:ext cx="580644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WHAT IT DOES</a:t>
            </a:r>
            <a:endParaRPr lang="en-US" sz="1150" dirty="0"/>
          </a:p>
        </p:txBody>
      </p:sp>
      <p:sp>
        <p:nvSpPr>
          <p:cNvPr id="10" name="Text 7"/>
          <p:cNvSpPr/>
          <p:nvPr/>
        </p:nvSpPr>
        <p:spPr>
          <a:xfrm>
            <a:off x="640080" y="3867912"/>
            <a:ext cx="5806440" cy="2194560"/>
          </a:xfrm>
          <a:prstGeom prst="rect">
            <a:avLst/>
          </a:prstGeom>
          <a:noFill/>
          <a:ln/>
        </p:spPr>
        <p:txBody>
          <a:bodyPr wrap="square" lIns="0" tIns="0" rIns="0" bIns="0" rtlCol="0" anchor="t"/>
          <a:lstStyle/>
          <a:p>
            <a:pPr indent="0" marL="0">
              <a:lnSpc>
                <a:spcPct val="118000"/>
              </a:lnSpc>
              <a:buNone/>
            </a:pPr>
            <a:r>
              <a:rPr lang="en-US" sz="1500" dirty="0">
                <a:solidFill>
                  <a:srgbClr val="3A4452"/>
                </a:solidFill>
                <a:latin typeface="Arial" pitchFamily="34" charset="0"/>
                <a:ea typeface="Arial" pitchFamily="34" charset="-122"/>
                <a:cs typeface="Arial" pitchFamily="34" charset="-120"/>
              </a:rPr>
              <a:t>For very large inputs, a long-context setting lets Claude take in far more at once. Settings also offer light/dark themes, a dyslexia-friendly font, finish-notifications for long jobs, and keyboard shortcuts.</a:t>
            </a:r>
            <a:endParaRPr lang="en-US" sz="1500" dirty="0"/>
          </a:p>
        </p:txBody>
      </p:sp>
      <p:sp>
        <p:nvSpPr>
          <p:cNvPr id="11" name="Shape 8"/>
          <p:cNvSpPr/>
          <p:nvPr/>
        </p:nvSpPr>
        <p:spPr>
          <a:xfrm>
            <a:off x="6720840" y="2103120"/>
            <a:ext cx="4828032" cy="1938528"/>
          </a:xfrm>
          <a:prstGeom prst="roundRect">
            <a:avLst>
              <a:gd name="adj" fmla="val 4245"/>
            </a:avLst>
          </a:prstGeom>
          <a:solidFill>
            <a:srgbClr val="F5F6F8"/>
          </a:solidFill>
          <a:ln w="15875">
            <a:solidFill>
              <a:srgbClr val="8A93A0"/>
            </a:solidFill>
            <a:prstDash val="dash"/>
          </a:ln>
        </p:spPr>
      </p:sp>
      <p:sp>
        <p:nvSpPr>
          <p:cNvPr id="12" name="Text 9"/>
          <p:cNvSpPr/>
          <p:nvPr/>
        </p:nvSpPr>
        <p:spPr>
          <a:xfrm>
            <a:off x="6720840" y="2743200"/>
            <a:ext cx="4828032" cy="274320"/>
          </a:xfrm>
          <a:prstGeom prst="rect">
            <a:avLst/>
          </a:prstGeom>
          <a:noFill/>
          <a:ln/>
        </p:spPr>
        <p:txBody>
          <a:bodyPr wrap="square" lIns="0" tIns="0" rIns="0" bIns="0" rtlCol="0" anchor="ctr"/>
          <a:lstStyle/>
          <a:p>
            <a:pPr algn="ctr" indent="0" marL="0">
              <a:buNone/>
            </a:pPr>
            <a:r>
              <a:rPr lang="en-US" sz="1100" b="1" spc="200" kern="0" dirty="0">
                <a:solidFill>
                  <a:srgbClr val="5E6A78"/>
                </a:solidFill>
                <a:latin typeface="Arial" pitchFamily="34" charset="0"/>
                <a:ea typeface="Arial" pitchFamily="34" charset="-122"/>
                <a:cs typeface="Arial" pitchFamily="34" charset="-120"/>
              </a:rPr>
              <a:t>SCREENSHOT</a:t>
            </a:r>
            <a:endParaRPr lang="en-US" sz="1100" dirty="0"/>
          </a:p>
        </p:txBody>
      </p:sp>
      <p:sp>
        <p:nvSpPr>
          <p:cNvPr id="13" name="Text 10"/>
          <p:cNvSpPr/>
          <p:nvPr/>
        </p:nvSpPr>
        <p:spPr>
          <a:xfrm>
            <a:off x="6720840" y="3035808"/>
            <a:ext cx="4828032" cy="365760"/>
          </a:xfrm>
          <a:prstGeom prst="rect">
            <a:avLst/>
          </a:prstGeom>
          <a:noFill/>
          <a:ln/>
        </p:spPr>
        <p:txBody>
          <a:bodyPr wrap="square" lIns="0" tIns="0" rIns="0" bIns="0" rtlCol="0" anchor="ctr"/>
          <a:lstStyle/>
          <a:p>
            <a:pPr algn="ctr" indent="0" marL="0">
              <a:buNone/>
            </a:pPr>
            <a:r>
              <a:rPr lang="en-US" sz="1050" i="1" dirty="0">
                <a:solidFill>
                  <a:srgbClr val="8A93A0"/>
                </a:solidFill>
                <a:latin typeface="Arial" pitchFamily="34" charset="0"/>
                <a:ea typeface="Arial" pitchFamily="34" charset="-122"/>
                <a:cs typeface="Arial" pitchFamily="34" charset="-120"/>
              </a:rPr>
              <a:t>add your claude.ai screenshot here</a:t>
            </a:r>
            <a:endParaRPr lang="en-US" sz="1050" dirty="0"/>
          </a:p>
        </p:txBody>
      </p:sp>
      <p:sp>
        <p:nvSpPr>
          <p:cNvPr id="14" name="Shape 11"/>
          <p:cNvSpPr/>
          <p:nvPr/>
        </p:nvSpPr>
        <p:spPr>
          <a:xfrm>
            <a:off x="6720840" y="4187952"/>
            <a:ext cx="4828032" cy="1874520"/>
          </a:xfrm>
          <a:prstGeom prst="roundRect">
            <a:avLst>
              <a:gd name="adj" fmla="val 4390"/>
            </a:avLst>
          </a:prstGeom>
          <a:solidFill>
            <a:srgbClr val="FCE4EA"/>
          </a:solidFill>
          <a:ln/>
        </p:spPr>
      </p:sp>
      <p:sp>
        <p:nvSpPr>
          <p:cNvPr id="15" name="Text 12"/>
          <p:cNvSpPr/>
          <p:nvPr/>
        </p:nvSpPr>
        <p:spPr>
          <a:xfrm>
            <a:off x="6995160" y="4370832"/>
            <a:ext cx="4297680" cy="274320"/>
          </a:xfrm>
          <a:prstGeom prst="rect">
            <a:avLst/>
          </a:prstGeom>
          <a:noFill/>
          <a:ln/>
        </p:spPr>
        <p:txBody>
          <a:bodyPr wrap="square" lIns="0" tIns="0" rIns="0" bIns="0" rtlCol="0" anchor="ctr"/>
          <a:lstStyle/>
          <a:p>
            <a:pPr indent="0" marL="0">
              <a:buNone/>
            </a:pPr>
            <a:r>
              <a:rPr lang="en-US" sz="1150" b="1" spc="150" kern="0" dirty="0">
                <a:solidFill>
                  <a:srgbClr val="D31242"/>
                </a:solidFill>
                <a:latin typeface="Arial" pitchFamily="34" charset="0"/>
                <a:ea typeface="Arial" pitchFamily="34" charset="-122"/>
                <a:cs typeface="Arial" pitchFamily="34" charset="-120"/>
              </a:rPr>
              <a:t>EXAMPLE</a:t>
            </a:r>
            <a:endParaRPr lang="en-US" sz="1150" dirty="0"/>
          </a:p>
        </p:txBody>
      </p:sp>
      <p:sp>
        <p:nvSpPr>
          <p:cNvPr id="16" name="Text 13"/>
          <p:cNvSpPr/>
          <p:nvPr/>
        </p:nvSpPr>
        <p:spPr>
          <a:xfrm>
            <a:off x="6995160" y="4681728"/>
            <a:ext cx="4279392" cy="1280160"/>
          </a:xfrm>
          <a:prstGeom prst="rect">
            <a:avLst/>
          </a:prstGeom>
          <a:noFill/>
          <a:ln/>
        </p:spPr>
        <p:txBody>
          <a:bodyPr wrap="square" lIns="0" tIns="0" rIns="0" bIns="0" rtlCol="0" anchor="t"/>
          <a:lstStyle/>
          <a:p>
            <a:pPr indent="0" marL="0">
              <a:lnSpc>
                <a:spcPct val="116000"/>
              </a:lnSpc>
              <a:buNone/>
            </a:pPr>
            <a:r>
              <a:rPr lang="en-US" sz="1350" dirty="0">
                <a:solidFill>
                  <a:srgbClr val="1F2733"/>
                </a:solidFill>
                <a:latin typeface="Arial" pitchFamily="34" charset="0"/>
                <a:ea typeface="Arial" pitchFamily="34" charset="-122"/>
                <a:cs typeface="Arial" pitchFamily="34" charset="-120"/>
              </a:rPr>
              <a:t>Turn on long context to load a whole policy set; switch to dark theme and get pinged when it's done.</a:t>
            </a:r>
            <a:endParaRPr lang="en-US" sz="13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SECTION 5 · SETTINGS, PRIVACY &amp; SAFETY</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GOOD TO KNOW</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 few more you'll pick up fast</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Search past chats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Find and reuse an earlier conversation.</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Voice input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Dictate into the mic; edit before sending.</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Shared chat links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Send a read-only snapshot of a chat.</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Chat management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Rename, star, archive, and organize chats.</a:t>
            </a:r>
            <a:endParaRPr lang="en-US" sz="1550" dirty="0"/>
          </a:p>
        </p:txBody>
      </p:sp>
      <p:sp>
        <p:nvSpPr>
          <p:cNvPr id="22" name="Shape 15"/>
          <p:cNvSpPr/>
          <p:nvPr/>
        </p:nvSpPr>
        <p:spPr>
          <a:xfrm>
            <a:off x="640080" y="4745736"/>
            <a:ext cx="5349240" cy="1225296"/>
          </a:xfrm>
          <a:prstGeom prst="roundRect">
            <a:avLst>
              <a:gd name="adj" fmla="val 6716"/>
            </a:avLst>
          </a:prstGeom>
          <a:solidFill>
            <a:srgbClr val="F5F6F8"/>
          </a:solidFill>
          <a:ln w="12700">
            <a:solidFill>
              <a:srgbClr val="E7E9EE"/>
            </a:solidFill>
            <a:prstDash val="solid"/>
          </a:ln>
        </p:spPr>
      </p:sp>
      <p:sp>
        <p:nvSpPr>
          <p:cNvPr id="23" name="Shape 16"/>
          <p:cNvSpPr/>
          <p:nvPr/>
        </p:nvSpPr>
        <p:spPr>
          <a:xfrm>
            <a:off x="914400" y="5129784"/>
            <a:ext cx="457200" cy="457200"/>
          </a:xfrm>
          <a:prstGeom prst="ellipse">
            <a:avLst/>
          </a:prstGeom>
          <a:solidFill>
            <a:srgbClr val="D31242"/>
          </a:solidFill>
          <a:ln/>
        </p:spPr>
      </p:sp>
      <p:pic>
        <p:nvPicPr>
          <p:cNvPr id="24" name="Image 5" descr="preencoded.png">    </p:cNvPr>
          <p:cNvPicPr>
            <a:picLocks noChangeAspect="1"/>
          </p:cNvPicPr>
          <p:nvPr/>
        </p:nvPicPr>
        <p:blipFill>
          <a:blip r:embed="rId6"/>
          <a:stretch>
            <a:fillRect/>
          </a:stretch>
        </p:blipFill>
        <p:spPr>
          <a:xfrm>
            <a:off x="1024128" y="5239512"/>
            <a:ext cx="237744" cy="237744"/>
          </a:xfrm>
          <a:prstGeom prst="rect">
            <a:avLst/>
          </a:prstGeom>
        </p:spPr>
      </p:pic>
      <p:sp>
        <p:nvSpPr>
          <p:cNvPr id="25" name="Text 17"/>
          <p:cNvSpPr/>
          <p:nvPr/>
        </p:nvSpPr>
        <p:spPr>
          <a:xfrm>
            <a:off x="155448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The AI Migrator</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Bring preferences over from another assistant.</a:t>
            </a:r>
            <a:endParaRPr lang="en-US" sz="1550" dirty="0"/>
          </a:p>
        </p:txBody>
      </p:sp>
      <p:sp>
        <p:nvSpPr>
          <p:cNvPr id="26" name="Text 18"/>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CLAUDE ESSENTIALS · GOOD TO KNOW</a:t>
            </a:r>
            <a:endParaRPr lang="en-US" sz="850" dirty="0"/>
          </a:p>
        </p:txBody>
      </p:sp>
      <p:sp>
        <p:nvSpPr>
          <p:cNvPr id="27" name="Text 19"/>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RECAP</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Everything you've seen today</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Get oriented</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What Claude is, and picking a model.</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The chat, day to day</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Files, vision, web, analysis, artifacts, real files.</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Set up to work like you</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Profile, Projects, Styles, Memory.</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Connect our tools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Connectors and Enterprise Search.</a:t>
            </a:r>
            <a:endParaRPr lang="en-US" sz="1550" dirty="0"/>
          </a:p>
        </p:txBody>
      </p:sp>
      <p:sp>
        <p:nvSpPr>
          <p:cNvPr id="22" name="Shape 15"/>
          <p:cNvSpPr/>
          <p:nvPr/>
        </p:nvSpPr>
        <p:spPr>
          <a:xfrm>
            <a:off x="640080" y="4745736"/>
            <a:ext cx="5349240" cy="1225296"/>
          </a:xfrm>
          <a:prstGeom prst="roundRect">
            <a:avLst>
              <a:gd name="adj" fmla="val 6716"/>
            </a:avLst>
          </a:prstGeom>
          <a:solidFill>
            <a:srgbClr val="F5F6F8"/>
          </a:solidFill>
          <a:ln w="12700">
            <a:solidFill>
              <a:srgbClr val="E7E9EE"/>
            </a:solidFill>
            <a:prstDash val="solid"/>
          </a:ln>
        </p:spPr>
      </p:sp>
      <p:sp>
        <p:nvSpPr>
          <p:cNvPr id="23" name="Shape 16"/>
          <p:cNvSpPr/>
          <p:nvPr/>
        </p:nvSpPr>
        <p:spPr>
          <a:xfrm>
            <a:off x="914400" y="5129784"/>
            <a:ext cx="457200" cy="457200"/>
          </a:xfrm>
          <a:prstGeom prst="ellipse">
            <a:avLst/>
          </a:prstGeom>
          <a:solidFill>
            <a:srgbClr val="D31242"/>
          </a:solidFill>
          <a:ln/>
        </p:spPr>
      </p:sp>
      <p:pic>
        <p:nvPicPr>
          <p:cNvPr id="24" name="Image 5" descr="preencoded.png">    </p:cNvPr>
          <p:cNvPicPr>
            <a:picLocks noChangeAspect="1"/>
          </p:cNvPicPr>
          <p:nvPr/>
        </p:nvPicPr>
        <p:blipFill>
          <a:blip r:embed="rId6"/>
          <a:stretch>
            <a:fillRect/>
          </a:stretch>
        </p:blipFill>
        <p:spPr>
          <a:xfrm>
            <a:off x="1024128" y="5239512"/>
            <a:ext cx="237744" cy="237744"/>
          </a:xfrm>
          <a:prstGeom prst="rect">
            <a:avLst/>
          </a:prstGeom>
        </p:spPr>
      </p:pic>
      <p:sp>
        <p:nvSpPr>
          <p:cNvPr id="25" name="Text 17"/>
          <p:cNvSpPr/>
          <p:nvPr/>
        </p:nvSpPr>
        <p:spPr>
          <a:xfrm>
            <a:off x="155448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Settings, privacy &amp; safety</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Toggles, data controls, incognito.</a:t>
            </a:r>
            <a:endParaRPr lang="en-US" sz="1550" dirty="0"/>
          </a:p>
        </p:txBody>
      </p:sp>
      <p:sp>
        <p:nvSpPr>
          <p:cNvPr id="26" name="Text 18"/>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CLAUDE ESSENTIALS · RECAP</a:t>
            </a:r>
            <a:endParaRPr lang="en-US" sz="850" dirty="0"/>
          </a:p>
        </p:txBody>
      </p:sp>
      <p:sp>
        <p:nvSpPr>
          <p:cNvPr id="27" name="Text 19"/>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YOU'RE READY</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Go teach one</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Pick one feature from today and show it to a colleague this week. That's how adoption spreads.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Essentials — Every Feature of claude.ai</dc:title>
  <dc:subject>PptxGenJS Presentation</dc:subject>
  <dc:creator>BJ's AI Enablement</dc:creator>
  <cp:lastModifiedBy>BJ's AI Enablement</cp:lastModifiedBy>
  <cp:revision>1</cp:revision>
  <dcterms:created xsi:type="dcterms:W3CDTF">2026-07-12T00:49:35Z</dcterms:created>
  <dcterms:modified xsi:type="dcterms:W3CDTF">2026-07-12T00:49:35Z</dcterms:modified>
</cp:coreProperties>
</file>