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Intermediate level and Module 8. Frame the shift: Beginner was about writing good prompts; Intermediate is about trustworthy results on real work. This module keeps answers tied to a document you provide. Running example all module: answering a member's return-policy question straight from the policy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left to its own memory, the assistant will fill gaps with confident guesses — a made-up policy or figure. Grounding anchors the answer to a source you trust. Introduce the return-policy running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answer only from the document. One line — 'using only the policy below' — stops it wandering into invention. Show the short return-policy excerpt we will use all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quote the evidence first. Asking it to pull the exact line before answering lets you verify in seconds. Point out how it surfaces the 14-day electronics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give it an out. It guesses partly because it feels obliged to answer. Tell it plainly that 'the document doesn't say' is a good answer, and the inventions stop. This is the single biggest fix for made-up replies.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separate fact from assumption. Even grounded answers can hide a quiet inference — like assuming a laptop counts as electronics. Ask it to keep facts and assumptions apart so you can judge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all four moves in one grounded prompt on the laptop-return question. Read it top to bottom — source, question, and how to answer. This is a template they can reuse for any policy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and the heart of the module. Read the from-memory answer — confident and flatly wrong — then the grounded answer that quotes the 14-day rule. On a real member question, that difference matters.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the room which single move they would use first — most will say 'give it an out.'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9, Reasoning — getting the assistant to work through a multi-step problem step by step rather than jumping to an answer.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Two optional habits for long documents, each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with a long document, put it first and the question last. The next page contrasts a buried question with a question kept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the question is pasted above three pages of policy — by the time it finishes reading, the request is far behind and easy to lose. Right: the same policy first, the question last, right where it begins its answer. Put the long material first, the question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for a pile too big to fit at once, summarise in passes then combine. The next page contrasts one giant paste with a pass-by-pass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one giant paste makes it skim, so the summary is shallow. Right: summarising two pages at a time then combining gives each part real attention and a thorough final list. Break big piles into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9. Grounding kept answers tied to facts; this module gets the assistant to reason through a multi-step problem instead of jumping to an answer. Running example all module: a member's water order with a bulk discount and a coupon.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on a few-step problem, an assistant that rushes often skips a step and gets it wrong. Reasoning out loud makes it more accurate and lets you see the working. Introduce the water-order example — note the coupon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ask it to work step by step, then answer. Laying out the steps is what stops it skipping one. Walk the order: subtotal, discount, coupon check,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shortcut. Often you just add 'let's think step by step' and it slows down and shows the working. A tiny phrase, a real improvement — demonstrate it live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read the steps, not just the answer. The point of visible working is that a wrong step is easy to spot. Show how step 3 — the coupon check — is exactly where a rushed answer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when to skip. Do not force step-by-step on a one-line question; it just adds clutter. And the newest 'thinking' models already reason on their own, so you rarely need to ask. Judgement, not a reflex.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step-by-step prompt on the order. Read it top to bottom — task, the order details, and 'think step by step, then give the total.' A reusable shape for any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and the payoff. Read the rushed answer — $14, wrong, because it applied a coupon that doesn't qualify — then the step-by-step answer that lands on $20.40 with visible working. The coupon trap makes the point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the room where the rushed answer went wrong — they will point to the coupon step.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10, Breaking Big Tasks into Steps — for jobs too big for a single prompt.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Two optional habits for cleaner reasoning, each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on longer problems, ask for the working in one labelled section and the answer in another. The next page shows a mixed blob versus two clean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working and answer run together in one blob — the number is buried and awkward to reuse. Right: a 'Working' section and a 'Final answer' section — you can verify the reasoning and copy a clean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for an easy-to-misread question, have it restate the question first. The next page shows a wrong assumption versus catching it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it dives in on a wrong assumption and answers confidently — you only catch the misread afterward. Right: asked to restate first, its paraphrase reveals whether it understood, so you catch confusion before any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10. Module 9 got the assistant to reason through one problem; this module handles jobs too big for a single prompt by breaking them into a chain of steps. Running example all module: turning a month of member survey comments into a one-page 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a big job asked in one line gets a shallow, once-over-lightly answer. Broken into steps, each part gets real attention. Introduce the survey-to-action-plan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break the job down. Contrast the one-line 'write an action plan' with the three-step version — find themes, rank them, write actions. Smaller steps, each building on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extract, transform, produce. A dependable shape for many jobs: pull the raw facts, reshape them, then produce the output. Keeping the stages separate stops it rushing to a half-baked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plan first. For a meaty task, have it lay out its approach before executing, so you can correct the plan cheaply. Far better than fixing a finished piece built the wrong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zoom out. Ask the general question — what makes a good action plan — before the specific one. The answer then rests on principles, not a cold start. A subtle move worth demonstrating.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broken-down prompt on the survey job: task, then extract, transform, produce. Read it top to bottom — it is a reusable chain for any 'turn this pile into that output'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and the payoff. Read the all-at-once plan — vague, misses themes — then the stepped plan with three specific, owned actions. The difference in usefulness is the whole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the room which step they would add to a job they already do.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Module 11, Checking the Work — the last Intermediate module — where the assistant checks and improves its own output. End on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Three optional ways to get deeper thinking on a hard task, each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for a layered question, have it raise and answer its own sub-questions first. The next page shows jumping to actions versus asking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told only to recommend, it leans on whatever it read last. Right: told to answer its own sub-questions first — which theme is biggest, is it quick to fix — it sorts priorities before proposing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before answering, ask it to list the relevant facts first. The next page shows ranking with no frame versus ranking against a list it surfaced.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with no frame, it ranks by gut and puts a minor gripe over a real risk. Right: asked to list what drives members away first, then rank against that list, the important issues rise. Surface the facts, then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for a long piece, get the outline first and approve the shape, then fill it in. The next page shows writing the whole thing versus approving an outline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asked for the whole plan, it commits to a structure you then have to rebuild. Right: it gives just the headings, you approve the shape, then it writes the detail — far less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11, the final Intermediate module. Frame it: the assistant can produce a confident, polished draft that still has a mistake in it. This module makes checking part of the job. Running example all module: catching an error in a draft New Year's Day hours email before it goes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four goals up front, read each aloud, promise to check them off at the end. Under a minute,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message: a sure-sounding draft can be wrong. The fix is to ask the assistant to review its own work before anything reaches a member. Introduce the holiday-hours email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self-refine. Ask it to critique and rewrite its own draft. One pass catches clumsy lines and gaps. Simple and high-value — encourage them to make it a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check each fact one by one. For anything factual, have it confirm each claim against the details you gave. Show how this surfaces the wrong 8 AM–9 PM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grade to a checklist. Give it the standard — correct hours, warm tone, under 60 words — and have it score and fix. It stops guessing what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ask how sure it is. It sounds equally confident when right or guessing, so ask it to flag the shaky parts. That tells you exactly where to double-check.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full check-and-correct prompt: the draft, the true hours, and the instruction to verify, score, flag, and correct. A reusable review step for anything member-facing.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and the payoff. Read the unchecked email with the wrong hours — imagine it in members' inboxes — then the self-checked version that caught and fixed it. This is why checking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against the four objectives. Ask which check they would add to something they send regularly. No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 of the Intermediate level — celebrate it. They can now get trustworthy results on real work. Preview Advanced for power users: reusable prompt systems, using AI to improve prompts, and keeping prompts safe. End with genuine encouragement.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reference only, skip in the live session. Four optional habits for more reliable, repeatable results, each with a concept page and a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for important work, ask for a few versions and pick the best. The next page shows one version versus three-then-pick.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one subject line, no way to know if it's the best. Right: three options and a recommendation — more shots at a great one, and a clear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for a tricky judgement, ask the same thing a couple of ways and see if the answers agree. The next page shows asking once versus asking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a single answer with no read on its reliability. Right: the same question asked two ways — matching answers build trust, and a split would tell you to look harder before relying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for a task you run repeatedly, lock the format and wording so each run matches. The next page shows a loose prompt versus a locked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a loose weekly prompt returns a different shape each time, so recaps are hard to compare. Right: a locked prompt with fixed headings and length makes every run identical. Lock the format for anything recurring.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page: plan the awkward cases — tell it what to do when a detail is missing. The next page shows inventing a detail versus flagging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Left: with no plan for a missing detail, it invents a closing time and a wrong figure reaches members. Right: a planned fallback tells it to mark gaps [TO CONFIRM], so it flags rather than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slideLayout" Target="../slideLayouts/slideLayout1.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2  ·  INTERMEDIATE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200" b="1" spc="-50" kern="0" dirty="0">
                <a:solidFill>
                  <a:srgbClr val="FFFFFF"/>
                </a:solidFill>
                <a:latin typeface="Arial" pitchFamily="34" charset="0"/>
                <a:ea typeface="Arial" pitchFamily="34" charset="-122"/>
                <a:cs typeface="Arial" pitchFamily="34" charset="-120"/>
              </a:rPr>
              <a:t>Module 8 — Grounding &amp; Working with Sources</a:t>
            </a:r>
            <a:endParaRPr lang="en-US" sz="42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Keep the assistant's answers tied to your facts — not to whatever it happens to remember.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Make the assistant answer only from a document you give it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Not from its general memory.</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Have it quote the evidence before it answers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So you can check the source yourself.</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Let it say 'that's not covered' instead of guessing</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Give it permission to bow out.</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Separate what the document says from what it assumes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Facts on one side, guesses flagged.</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assistant will fill gaps with confident guesses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Left to its own memory, the assistant can state a policy or a figure that sounds right but isn't. When real facts are on the line, you want its answer anchored to a document you trust — not to a guess. That is grounding.</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Answering a member's question using BJ's return policy — straight from the policy text.</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ANSWER FROM THE DOCUMENT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Point it at the source, and only the source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Tell the assistant to use only the text you provide, not its general knowledge. This one line keeps it from wandering off into a plausible-sounding invention.</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Point it at the policy</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“Using only the return policy below, answer the member's question.”</a:t>
            </a:r>
            <a:endParaRPr lang="en-US" sz="1450" dirty="0"/>
          </a:p>
          <a:p>
            <a:pPr indent="0" marL="0">
              <a:lnSpc>
                <a:spcPct val="115000"/>
              </a:lnSpc>
              <a:buNone/>
            </a:pPr>
            <a:endParaRPr lang="en-US" sz="1450" dirty="0"/>
          </a:p>
          <a:p>
            <a:pPr indent="0" marL="0">
              <a:lnSpc>
                <a:spcPct val="115000"/>
              </a:lnSpc>
              <a:buNone/>
            </a:pPr>
            <a:r>
              <a:rPr lang="en-US" sz="1450" b="1" dirty="0">
                <a:solidFill>
                  <a:srgbClr val="5E6A78"/>
                </a:solidFill>
                <a:latin typeface="Arial" pitchFamily="34" charset="0"/>
                <a:ea typeface="Arial" pitchFamily="34" charset="-122"/>
                <a:cs typeface="Arial" pitchFamily="34" charset="-120"/>
              </a:rPr>
              <a:t>--- RETURN POLICY ---</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Most items: 30 days with receipt.</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Electronics: within 14 days.</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Perishables: not returnable.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QUOTE THE EVIDENCE FIRST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it show the line before it answers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Ask the assistant to pull the exact wording from the document before giving its answer. Now you can see what it based the answer on — and check it in seconds.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Quote, then answer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“Before answering, quote the exact line from the policy that applies.”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It replies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“Electronics must be returned within 14 days.”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LET IT SAY 'NOT COVERED'</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Give it permission to bow out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assistant guesses partly because it feels it must answer. Tell it explicitly that 'the document doesn't say' is a perfectly good answer, and the invented replies stop.</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An honest way out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“If the policy doesn't cover the question, say so — don't guess.”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A good answer</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“The policy doesn't mention gift returns, so I can't say.”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SEPARATE FACT FROM GUESS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it to flag what it is assuming</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Even a grounded answer can lean on a quiet assumption. Ask the assistant to keep what the document actually says apart from anything it is inferring, so you can judge each.</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Facts on one side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“Separate what the policy says from anything you're assuming.”</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From the policy</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14-day electronics window.</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An assumption</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that a laptop counts as electronics.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grounded prompt</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77440"/>
            <a:ext cx="10058400" cy="2971800"/>
          </a:xfrm>
          <a:prstGeom prst="rect">
            <a:avLst/>
          </a:prstGeom>
          <a:noFill/>
          <a:ln/>
        </p:spPr>
        <p:txBody>
          <a:bodyPr wrap="square" lIns="0" tIns="0" rIns="0" bIns="0" rtlCol="0" anchor="t"/>
          <a:lstStyle/>
          <a:p>
            <a:pPr indent="0" marL="0">
              <a:lnSpc>
                <a:spcPct val="125000"/>
              </a:lnSpc>
              <a:buNone/>
            </a:pPr>
            <a:r>
              <a:rPr lang="en-US" sz="1550" b="1" dirty="0">
                <a:solidFill>
                  <a:srgbClr val="D31242"/>
                </a:solidFill>
                <a:latin typeface="Arial" pitchFamily="34" charset="0"/>
                <a:ea typeface="Arial" pitchFamily="34" charset="-122"/>
                <a:cs typeface="Arial" pitchFamily="34" charset="-120"/>
              </a:rPr>
              <a:t>Source</a:t>
            </a:r>
            <a:pPr indent="0" marL="0">
              <a:lnSpc>
                <a:spcPct val="125000"/>
              </a:lnSpc>
              <a:buNone/>
            </a:pPr>
            <a:r>
              <a:rPr lang="en-US" sz="1550" dirty="0">
                <a:solidFill>
                  <a:srgbClr val="1F2733"/>
                </a:solidFill>
                <a:latin typeface="Arial" pitchFamily="34" charset="0"/>
                <a:ea typeface="Arial" pitchFamily="34" charset="-122"/>
                <a:cs typeface="Arial" pitchFamily="34" charset="-120"/>
              </a:rPr>
              <a:t>   Using only the return policy below…</a:t>
            </a:r>
            <a:endParaRPr lang="en-US" sz="1550" dirty="0"/>
          </a:p>
          <a:p>
            <a:pPr indent="0" marL="0">
              <a:lnSpc>
                <a:spcPct val="125000"/>
              </a:lnSpc>
              <a:buNone/>
            </a:pPr>
            <a:r>
              <a:rPr lang="en-US" sz="1550" dirty="0">
                <a:solidFill>
                  <a:srgbClr val="5E6A78"/>
                </a:solidFill>
                <a:latin typeface="Arial" pitchFamily="34" charset="0"/>
                <a:ea typeface="Arial" pitchFamily="34" charset="-122"/>
                <a:cs typeface="Arial" pitchFamily="34" charset="-120"/>
              </a:rPr>
              <a:t>   --- RETURN POLICY ---  Most items 30 days; electronics 14 days; perishables not returnable.</a:t>
            </a:r>
            <a:endParaRPr lang="en-US" sz="1550" dirty="0"/>
          </a:p>
          <a:p>
            <a:pPr indent="0" marL="0">
              <a:lnSpc>
                <a:spcPct val="125000"/>
              </a:lnSpc>
              <a:buNone/>
            </a:pPr>
            <a:endParaRPr lang="en-US" sz="1550" dirty="0"/>
          </a:p>
          <a:p>
            <a:pPr indent="0" marL="0">
              <a:lnSpc>
                <a:spcPct val="125000"/>
              </a:lnSpc>
              <a:buNone/>
            </a:pPr>
            <a:r>
              <a:rPr lang="en-US" sz="1550" b="1" dirty="0">
                <a:solidFill>
                  <a:srgbClr val="D31242"/>
                </a:solidFill>
                <a:latin typeface="Arial" pitchFamily="34" charset="0"/>
                <a:ea typeface="Arial" pitchFamily="34" charset="-122"/>
                <a:cs typeface="Arial" pitchFamily="34" charset="-120"/>
              </a:rPr>
              <a:t>Question</a:t>
            </a:r>
            <a:pPr indent="0" marL="0">
              <a:lnSpc>
                <a:spcPct val="125000"/>
              </a:lnSpc>
              <a:buNone/>
            </a:pPr>
            <a:r>
              <a:rPr lang="en-US" sz="1550" dirty="0">
                <a:solidFill>
                  <a:srgbClr val="1F2733"/>
                </a:solidFill>
                <a:latin typeface="Arial" pitchFamily="34" charset="0"/>
                <a:ea typeface="Arial" pitchFamily="34" charset="-122"/>
                <a:cs typeface="Arial" pitchFamily="34" charset="-120"/>
              </a:rPr>
              <a:t>   “Can I return a laptop I bought 20 days ago?”</a:t>
            </a:r>
            <a:endParaRPr lang="en-US" sz="1550" dirty="0"/>
          </a:p>
          <a:p>
            <a:pPr indent="0" marL="0">
              <a:lnSpc>
                <a:spcPct val="125000"/>
              </a:lnSpc>
              <a:buNone/>
            </a:pPr>
            <a:endParaRPr lang="en-US" sz="1550" dirty="0"/>
          </a:p>
          <a:p>
            <a:pPr indent="0" marL="0">
              <a:lnSpc>
                <a:spcPct val="125000"/>
              </a:lnSpc>
              <a:buNone/>
            </a:pPr>
            <a:r>
              <a:rPr lang="en-US" sz="1550" b="1" dirty="0">
                <a:solidFill>
                  <a:srgbClr val="D31242"/>
                </a:solidFill>
                <a:latin typeface="Arial" pitchFamily="34" charset="0"/>
                <a:ea typeface="Arial" pitchFamily="34" charset="-122"/>
                <a:cs typeface="Arial" pitchFamily="34" charset="-120"/>
              </a:rPr>
              <a:t>How to answer</a:t>
            </a:r>
            <a:pPr indent="0" marL="0">
              <a:lnSpc>
                <a:spcPct val="125000"/>
              </a:lnSpc>
              <a:buNone/>
            </a:pPr>
            <a:r>
              <a:rPr lang="en-US" sz="1550" dirty="0">
                <a:solidFill>
                  <a:srgbClr val="1F2733"/>
                </a:solidFill>
                <a:latin typeface="Arial" pitchFamily="34" charset="0"/>
                <a:ea typeface="Arial" pitchFamily="34" charset="-122"/>
                <a:cs typeface="Arial" pitchFamily="34" charset="-120"/>
              </a:rPr>
              <a:t>   Quote the rule that applies. If it isn't covered, say so — don't guess.</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same question, guessed versus grounded</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FROM MEMORY, NO DOCUMENT</a:t>
            </a:r>
            <a:endParaRPr lang="en-US" sz="1100" dirty="0"/>
          </a:p>
        </p:txBody>
      </p:sp>
      <p:sp>
        <p:nvSpPr>
          <p:cNvPr id="8" name="Text 5"/>
          <p:cNvSpPr/>
          <p:nvPr/>
        </p:nvSpPr>
        <p:spPr>
          <a:xfrm>
            <a:off x="914400" y="2578608"/>
            <a:ext cx="4754880" cy="50292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“Can I return a laptop I bought 20 days ago?”</a:t>
            </a:r>
            <a:endParaRPr lang="en-US" sz="130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ANSWER YOU GET</a:t>
            </a:r>
            <a:endParaRPr lang="en-US" sz="1100" dirty="0"/>
          </a:p>
        </p:txBody>
      </p:sp>
      <p:sp>
        <p:nvSpPr>
          <p:cNvPr id="10" name="Text 7"/>
          <p:cNvSpPr/>
          <p:nvPr/>
        </p:nvSpPr>
        <p:spPr>
          <a:xfrm>
            <a:off x="914400" y="3520440"/>
            <a:ext cx="4754880" cy="1097280"/>
          </a:xfrm>
          <a:prstGeom prst="rect">
            <a:avLst/>
          </a:prstGeom>
          <a:noFill/>
          <a:ln/>
        </p:spPr>
        <p:txBody>
          <a:bodyPr wrap="square" lIns="0" tIns="0" rIns="0" bIns="0" rtlCol="0" anchor="t"/>
          <a:lstStyle/>
          <a:p>
            <a:pPr indent="0" marL="0">
              <a:lnSpc>
                <a:spcPct val="112000"/>
              </a:lnSpc>
              <a:buNone/>
            </a:pPr>
            <a:r>
              <a:rPr lang="en-US" sz="1450" b="1" dirty="0">
                <a:solidFill>
                  <a:srgbClr val="1F2733"/>
                </a:solidFill>
                <a:latin typeface="Arial" pitchFamily="34" charset="0"/>
                <a:ea typeface="Arial" pitchFamily="34" charset="-122"/>
                <a:cs typeface="Arial" pitchFamily="34" charset="-120"/>
              </a:rPr>
              <a:t>“Yes, you can usually return it within 30 days for a full refund.”</a:t>
            </a:r>
            <a:endParaRPr lang="en-US" sz="145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Confident — and wrong. It invented a rule.</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GROUNDED IN THE POLICY</a:t>
            </a:r>
            <a:endParaRPr lang="en-US" sz="1100" dirty="0"/>
          </a:p>
        </p:txBody>
      </p:sp>
      <p:sp>
        <p:nvSpPr>
          <p:cNvPr id="14" name="Text 11"/>
          <p:cNvSpPr/>
          <p:nvPr/>
        </p:nvSpPr>
        <p:spPr>
          <a:xfrm>
            <a:off x="6492240" y="25786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ANSWER YOU GET</a:t>
            </a:r>
            <a:endParaRPr lang="en-US" sz="1100" dirty="0"/>
          </a:p>
        </p:txBody>
      </p:sp>
      <p:sp>
        <p:nvSpPr>
          <p:cNvPr id="15" name="Text 12"/>
          <p:cNvSpPr/>
          <p:nvPr/>
        </p:nvSpPr>
        <p:spPr>
          <a:xfrm>
            <a:off x="6492240" y="2926080"/>
            <a:ext cx="4754880" cy="17373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“The policy says: 'Electronics must be returned within 14 days.'</a:t>
            </a:r>
            <a:endParaRPr lang="en-US" sz="1400" dirty="0"/>
          </a:p>
          <a:p>
            <a:pPr indent="0" marL="0">
              <a:lnSpc>
                <a:spcPct val="114000"/>
              </a:lnSpc>
              <a:buNone/>
            </a:pPr>
            <a:endParaRPr lang="en-US" sz="1400" dirty="0"/>
          </a:p>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At 20 days, a laptop is past that window — so it can't be returned for a refund.”</a:t>
            </a:r>
            <a:endParaRPr lang="en-US" sz="1400" dirty="0"/>
          </a:p>
        </p:txBody>
      </p:sp>
      <p:sp>
        <p:nvSpPr>
          <p:cNvPr id="16" name="Text 13"/>
          <p:cNvSpPr/>
          <p:nvPr/>
        </p:nvSpPr>
        <p:spPr>
          <a:xfrm>
            <a:off x="6492240" y="507492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Correct — and it points to the exact rule.</a:t>
            </a:r>
            <a:endParaRPr lang="en-US" sz="120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Answer from the document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Tell it to use the source, not its memory.</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Quote the evidence first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See the line the answer rests on.</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Let it say 'not covered'</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Permission to bow out stops the guessing.</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Separate fact from assumption</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Judge what it says and what it infers.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INTERMEDIATE</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000" b="1" spc="-50" kern="0" dirty="0">
                <a:solidFill>
                  <a:srgbClr val="FFFFFF"/>
                </a:solidFill>
                <a:latin typeface="Arial" pitchFamily="34" charset="0"/>
                <a:ea typeface="Arial" pitchFamily="34" charset="-122"/>
                <a:cs typeface="Arial" pitchFamily="34" charset="-120"/>
              </a:rPr>
              <a:t>Next: Reasoning &amp; Working Step by Step</a:t>
            </a:r>
            <a:endParaRPr lang="en-US" sz="4000" dirty="0"/>
          </a:p>
        </p:txBody>
      </p:sp>
      <p:sp>
        <p:nvSpPr>
          <p:cNvPr id="7" name="Text 5"/>
          <p:cNvSpPr/>
          <p:nvPr/>
        </p:nvSpPr>
        <p:spPr>
          <a:xfrm>
            <a:off x="658368" y="3840480"/>
            <a:ext cx="978408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keep answers tied to the facts. Module 9 gets the assistant to reason through a multi-step problem, thinking it out step by step instead of jumping to an answer.</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Two optional habits for working with long documents — for anyone who wants them.</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Put the long text first, the question last</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Order matters with a long document.</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The assistant follows best when the document comes first and your actual question comes at the very end — right where it starts writing its answer.</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Paste the full return policy first, then finish with: “Given the above, can this laptop be returned?” The question sits last, fresh in view.</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Where you put the question changes the answer</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20" kern="0" dirty="0">
                <a:solidFill>
                  <a:srgbClr val="5E6A78"/>
                </a:solidFill>
                <a:latin typeface="Arial" pitchFamily="34" charset="0"/>
                <a:ea typeface="Arial" pitchFamily="34" charset="-122"/>
                <a:cs typeface="Arial" pitchFamily="34" charset="-120"/>
              </a:rPr>
              <a:t>QUESTION BURIED AT THE TOP</a:t>
            </a:r>
            <a:endParaRPr lang="en-US" sz="1100" dirty="0"/>
          </a:p>
        </p:txBody>
      </p:sp>
      <p:sp>
        <p:nvSpPr>
          <p:cNvPr id="8" name="Text 5"/>
          <p:cNvSpPr/>
          <p:nvPr/>
        </p:nvSpPr>
        <p:spPr>
          <a:xfrm>
            <a:off x="914400" y="2578608"/>
            <a:ext cx="4754880" cy="914400"/>
          </a:xfrm>
          <a:prstGeom prst="rect">
            <a:avLst/>
          </a:prstGeom>
          <a:noFill/>
          <a:ln/>
        </p:spPr>
        <p:txBody>
          <a:bodyPr wrap="square" lIns="0" tIns="0" rIns="0" bIns="0" rtlCol="0" anchor="t"/>
          <a:lstStyle/>
          <a:p>
            <a:pPr indent="0" marL="0">
              <a:lnSpc>
                <a:spcPct val="112000"/>
              </a:lnSpc>
              <a:buNone/>
            </a:pPr>
            <a:r>
              <a:rPr lang="en-US" sz="1250" i="1" dirty="0">
                <a:solidFill>
                  <a:srgbClr val="5E6A78"/>
                </a:solidFill>
                <a:latin typeface="Arial" pitchFamily="34" charset="0"/>
                <a:ea typeface="Arial" pitchFamily="34" charset="-122"/>
                <a:cs typeface="Arial" pitchFamily="34" charset="-120"/>
              </a:rPr>
              <a:t>“Can this laptop be returned?  [ …then three pages of policy pasted below… ]”</a:t>
            </a:r>
            <a:endParaRPr lang="en-US" sz="1250" dirty="0"/>
          </a:p>
        </p:txBody>
      </p:sp>
      <p:sp>
        <p:nvSpPr>
          <p:cNvPr id="9" name="Text 6"/>
          <p:cNvSpPr/>
          <p:nvPr/>
        </p:nvSpPr>
        <p:spPr>
          <a:xfrm>
            <a:off x="914400" y="361188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RISK</a:t>
            </a:r>
            <a:endParaRPr lang="en-US" sz="1100" dirty="0"/>
          </a:p>
        </p:txBody>
      </p:sp>
      <p:sp>
        <p:nvSpPr>
          <p:cNvPr id="10" name="Text 7"/>
          <p:cNvSpPr/>
          <p:nvPr/>
        </p:nvSpPr>
        <p:spPr>
          <a:xfrm>
            <a:off x="914400" y="3931920"/>
            <a:ext cx="4754880" cy="109728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By the time it finishes reading, your question is far behind — it can lose the thread.</a:t>
            </a:r>
            <a:endParaRPr lang="en-US" sz="140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20" kern="0" dirty="0">
                <a:solidFill>
                  <a:srgbClr val="15803D"/>
                </a:solidFill>
                <a:latin typeface="Arial" pitchFamily="34" charset="0"/>
                <a:ea typeface="Arial" pitchFamily="34" charset="-122"/>
                <a:cs typeface="Arial" pitchFamily="34" charset="-120"/>
              </a:rPr>
              <a:t>QUESTION LAST, FRESH IN VIEW</a:t>
            </a:r>
            <a:endParaRPr lang="en-US" sz="1100" dirty="0"/>
          </a:p>
        </p:txBody>
      </p:sp>
      <p:sp>
        <p:nvSpPr>
          <p:cNvPr id="13" name="Text 10"/>
          <p:cNvSpPr/>
          <p:nvPr/>
        </p:nvSpPr>
        <p:spPr>
          <a:xfrm>
            <a:off x="6492240" y="2578608"/>
            <a:ext cx="4754880" cy="914400"/>
          </a:xfrm>
          <a:prstGeom prst="rect">
            <a:avLst/>
          </a:prstGeom>
          <a:noFill/>
          <a:ln/>
        </p:spPr>
        <p:txBody>
          <a:bodyPr wrap="square" lIns="0" tIns="0" rIns="0" bIns="0" rtlCol="0" anchor="t"/>
          <a:lstStyle/>
          <a:p>
            <a:pPr indent="0" marL="0">
              <a:lnSpc>
                <a:spcPct val="112000"/>
              </a:lnSpc>
              <a:buNone/>
            </a:pPr>
            <a:r>
              <a:rPr lang="en-US" sz="1250" i="1" dirty="0">
                <a:solidFill>
                  <a:srgbClr val="15803D"/>
                </a:solidFill>
                <a:latin typeface="Arial" pitchFamily="34" charset="0"/>
                <a:ea typeface="Arial" pitchFamily="34" charset="-122"/>
                <a:cs typeface="Arial" pitchFamily="34" charset="-120"/>
              </a:rPr>
              <a:t>“[ …three pages of policy… ]  Given the above, can this laptop be returned?”</a:t>
            </a:r>
            <a:endParaRPr lang="en-US" sz="1250" dirty="0"/>
          </a:p>
        </p:txBody>
      </p:sp>
      <p:sp>
        <p:nvSpPr>
          <p:cNvPr id="14" name="Text 11"/>
          <p:cNvSpPr/>
          <p:nvPr/>
        </p:nvSpPr>
        <p:spPr>
          <a:xfrm>
            <a:off x="6492240" y="361188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PAYOFF</a:t>
            </a:r>
            <a:endParaRPr lang="en-US" sz="1100" dirty="0"/>
          </a:p>
        </p:txBody>
      </p:sp>
      <p:sp>
        <p:nvSpPr>
          <p:cNvPr id="15" name="Text 12"/>
          <p:cNvSpPr/>
          <p:nvPr/>
        </p:nvSpPr>
        <p:spPr>
          <a:xfrm>
            <a:off x="6492240" y="3931920"/>
            <a:ext cx="4754880" cy="109728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The question sits right where it starts writing — sharper and more accurate.</a:t>
            </a:r>
            <a:endParaRPr lang="en-US" sz="14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Summarise a big pile in passes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Too much to fit at once?</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Summarise it in pieces, then summarise the summaries. Break a long report into sections, get a short summary of each, then combine those into one.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Ten pages of member comments? Summarise two pages at a time into three bullets each, then merge those bullets into one final list.</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giant paste versus a few passes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ALL TEN PAGES AT ONCE</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“Summarise these ten pages of member comments.”</a:t>
            </a:r>
            <a:endParaRPr lang="en-US" sz="1300" dirty="0"/>
          </a:p>
        </p:txBody>
      </p:sp>
      <p:sp>
        <p:nvSpPr>
          <p:cNvPr id="9" name="Text 6"/>
          <p:cNvSpPr/>
          <p:nvPr/>
        </p:nvSpPr>
        <p:spPr>
          <a:xfrm>
            <a:off x="914400" y="338328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RESULT</a:t>
            </a:r>
            <a:endParaRPr lang="en-US" sz="1100" dirty="0"/>
          </a:p>
        </p:txBody>
      </p:sp>
      <p:sp>
        <p:nvSpPr>
          <p:cNvPr id="10" name="Text 7"/>
          <p:cNvSpPr/>
          <p:nvPr/>
        </p:nvSpPr>
        <p:spPr>
          <a:xfrm>
            <a:off x="914400" y="3703320"/>
            <a:ext cx="4754880" cy="109728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It skims — the summary is shallow and misses recurring themes.</a:t>
            </a:r>
            <a:endParaRPr lang="en-US" sz="14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SUMMARISED IN PASSES</a:t>
            </a:r>
            <a:endParaRPr lang="en-US" sz="1100" dirty="0"/>
          </a:p>
        </p:txBody>
      </p:sp>
      <p:sp>
        <p:nvSpPr>
          <p:cNvPr id="13" name="Text 10"/>
          <p:cNvSpPr/>
          <p:nvPr/>
        </p:nvSpPr>
        <p:spPr>
          <a:xfrm>
            <a:off x="6492240" y="2578608"/>
            <a:ext cx="4754880" cy="82296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Pages 1–2 → three bullets. Repeat for each pair. Then combine the bullets.</a:t>
            </a:r>
            <a:endParaRPr lang="en-US" sz="1300" dirty="0"/>
          </a:p>
        </p:txBody>
      </p:sp>
      <p:sp>
        <p:nvSpPr>
          <p:cNvPr id="14" name="Text 11"/>
          <p:cNvSpPr/>
          <p:nvPr/>
        </p:nvSpPr>
        <p:spPr>
          <a:xfrm>
            <a:off x="6492240" y="35204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RESULT</a:t>
            </a:r>
            <a:endParaRPr lang="en-US" sz="1100" dirty="0"/>
          </a:p>
        </p:txBody>
      </p:sp>
      <p:sp>
        <p:nvSpPr>
          <p:cNvPr id="15" name="Text 12"/>
          <p:cNvSpPr/>
          <p:nvPr/>
        </p:nvSpPr>
        <p:spPr>
          <a:xfrm>
            <a:off x="6492240" y="3840480"/>
            <a:ext cx="4754880" cy="100584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Each part gets real attention; the final list is thorough.</a:t>
            </a:r>
            <a:endParaRPr lang="en-US" sz="14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8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2  ·  INTERMEDIATE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Module 9 — Reasoning &amp; Chain-of-Thought</a:t>
            </a:r>
            <a:endParaRPr lang="en-US" sz="44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Get the assistant to work through a problem step by step — instead of jumping to an answer.</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Get the assistant to reason through a problem step by step</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For anything with more than one step.</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Use the quick phrase that switches on its working</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Four words that improve tricky answers.</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Read the steps to catch a mistake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See where the answer comes from.</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Know when step-by-step is not worth it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Simple questions and newer models.</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Rushing to an answer is where mistakes happen</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On a problem with a few steps, the assistant that jumps straight to an answer often skips one and gets it wrong. Ask it to reason out loud, and two things improve: it makes fewer mistakes, and you can see exactly how it got there.</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Working out a member's water order — a bulk discount and a coupon — to the correct total.</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ASK IT TO WORK THROUGH 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it reason step by step, then answer</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For anything with more than one step, tell the assistant to work through it in order before giving the final answer. Laying out the steps keeps it from skipping one — the usual cause of a wrong result.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Ask for the steps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“Work out the total step by step, then give the final price.”</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It shows each step: the subtotal, the discount, the coupon check, then the total.</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THE SHORTCUT PHRASE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Four words that switch on the working</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You don't need a long instruction. Just adding 'think step by step' is often enough to make the assistant slow down and show its working — a tiny phrase with a big effect.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magic phrase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Add this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“Let's think step by step.”</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Tack it onto almost any tricky question, and the answer noticeably improves.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CHECK THE STEPS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Read the working, not just the answer</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real payoff of step-by-step is that you can see where an answer comes from. Skim the steps: if one is wrong, you catch it — instead of trusting a number that only looks right.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Catch it in the working</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The steps show: 4 × $6 = $24, then 15% off = $20.40,</a:t>
            </a: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then: is $20.40 over $25? No — so no coupon.</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A wrong step would be easy to spot here.</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KNOW WHEN TO SKIP 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Simple questions don't need it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Step-by-step is for multi-step problems. For a quick fact or a one-line answer, asking it to 'think step by step' just adds clutter. And the newest 'thinking' models already reason on their own — so you rarely need to ask.</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When not to bother</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A simple, one-step question.</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A newer model that already reasons on its own.</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  </a:t>
            </a:r>
            <a:pPr indent="0" marL="0">
              <a:lnSpc>
                <a:spcPct val="115000"/>
              </a:lnSpc>
              <a:buNone/>
            </a:pPr>
            <a:r>
              <a:rPr lang="en-US" sz="1450" dirty="0">
                <a:solidFill>
                  <a:srgbClr val="1F2733"/>
                </a:solidFill>
                <a:latin typeface="Arial" pitchFamily="34" charset="0"/>
                <a:ea typeface="Arial" pitchFamily="34" charset="-122"/>
                <a:cs typeface="Arial" pitchFamily="34" charset="-120"/>
              </a:rPr>
              <a:t>When you just want a short, direct reply.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step-by-step prompt</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77440"/>
            <a:ext cx="10058400" cy="2971800"/>
          </a:xfrm>
          <a:prstGeom prst="rect">
            <a:avLst/>
          </a:prstGeom>
          <a:noFill/>
          <a:ln/>
        </p:spPr>
        <p:txBody>
          <a:bodyPr wrap="square" lIns="0" tIns="0" rIns="0" bIns="0" rtlCol="0" anchor="t"/>
          <a:lstStyle/>
          <a:p>
            <a:pPr indent="0" marL="0">
              <a:lnSpc>
                <a:spcPct val="130000"/>
              </a:lnSpc>
              <a:buNone/>
            </a:pPr>
            <a:r>
              <a:rPr lang="en-US" sz="1600" b="1" dirty="0">
                <a:solidFill>
                  <a:srgbClr val="D31242"/>
                </a:solidFill>
                <a:latin typeface="Arial" pitchFamily="34" charset="0"/>
                <a:ea typeface="Arial" pitchFamily="34" charset="-122"/>
                <a:cs typeface="Arial" pitchFamily="34" charset="-120"/>
              </a:rPr>
              <a:t>Task</a:t>
            </a:r>
            <a:pPr indent="0" marL="0">
              <a:lnSpc>
                <a:spcPct val="130000"/>
              </a:lnSpc>
              <a:buNone/>
            </a:pPr>
            <a:r>
              <a:rPr lang="en-US" sz="1600" dirty="0">
                <a:solidFill>
                  <a:srgbClr val="1F2733"/>
                </a:solidFill>
                <a:latin typeface="Arial" pitchFamily="34" charset="0"/>
                <a:ea typeface="Arial" pitchFamily="34" charset="-122"/>
                <a:cs typeface="Arial" pitchFamily="34" charset="-120"/>
              </a:rPr>
              <a:t>   Work out the total for this order.</a:t>
            </a:r>
            <a:endParaRPr lang="en-US" sz="1600" dirty="0"/>
          </a:p>
          <a:p>
            <a:pPr indent="0" marL="0">
              <a:lnSpc>
                <a:spcPct val="130000"/>
              </a:lnSpc>
              <a:buNone/>
            </a:pPr>
            <a:endParaRPr lang="en-US" sz="1600" dirty="0"/>
          </a:p>
          <a:p>
            <a:pPr indent="0" marL="0">
              <a:lnSpc>
                <a:spcPct val="130000"/>
              </a:lnSpc>
              <a:buNone/>
            </a:pPr>
            <a:r>
              <a:rPr lang="en-US" sz="1600" b="1" dirty="0">
                <a:solidFill>
                  <a:srgbClr val="D31242"/>
                </a:solidFill>
                <a:latin typeface="Arial" pitchFamily="34" charset="0"/>
                <a:ea typeface="Arial" pitchFamily="34" charset="-122"/>
                <a:cs typeface="Arial" pitchFamily="34" charset="-120"/>
              </a:rPr>
              <a:t>The order</a:t>
            </a:r>
            <a:pPr indent="0" marL="0">
              <a:lnSpc>
                <a:spcPct val="130000"/>
              </a:lnSpc>
              <a:buNone/>
            </a:pPr>
            <a:r>
              <a:rPr lang="en-US" sz="1600" dirty="0">
                <a:solidFill>
                  <a:srgbClr val="1F2733"/>
                </a:solidFill>
                <a:latin typeface="Arial" pitchFamily="34" charset="0"/>
                <a:ea typeface="Arial" pitchFamily="34" charset="-122"/>
                <a:cs typeface="Arial" pitchFamily="34" charset="-120"/>
              </a:rPr>
              <a:t>   4 cases of water at $6 each. Promo: 3+ cases get 15% off. Coupon: $10 off orders over $25.</a:t>
            </a:r>
            <a:endParaRPr lang="en-US" sz="1600" dirty="0"/>
          </a:p>
          <a:p>
            <a:pPr indent="0" marL="0">
              <a:lnSpc>
                <a:spcPct val="130000"/>
              </a:lnSpc>
              <a:buNone/>
            </a:pPr>
            <a:endParaRPr lang="en-US" sz="1600" dirty="0"/>
          </a:p>
          <a:p>
            <a:pPr indent="0" marL="0">
              <a:lnSpc>
                <a:spcPct val="130000"/>
              </a:lnSpc>
              <a:buNone/>
            </a:pPr>
            <a:r>
              <a:rPr lang="en-US" sz="1600" b="1" dirty="0">
                <a:solidFill>
                  <a:srgbClr val="D31242"/>
                </a:solidFill>
                <a:latin typeface="Arial" pitchFamily="34" charset="0"/>
                <a:ea typeface="Arial" pitchFamily="34" charset="-122"/>
                <a:cs typeface="Arial" pitchFamily="34" charset="-120"/>
              </a:rPr>
              <a:t>How to answer</a:t>
            </a:r>
            <a:pPr indent="0" marL="0">
              <a:lnSpc>
                <a:spcPct val="130000"/>
              </a:lnSpc>
              <a:buNone/>
            </a:pPr>
            <a:r>
              <a:rPr lang="en-US" sz="1600" dirty="0">
                <a:solidFill>
                  <a:srgbClr val="1F2733"/>
                </a:solidFill>
                <a:latin typeface="Arial" pitchFamily="34" charset="0"/>
                <a:ea typeface="Arial" pitchFamily="34" charset="-122"/>
                <a:cs typeface="Arial" pitchFamily="34" charset="-120"/>
              </a:rPr>
              <a:t>   Think step by step, show each step, then give the final total.</a:t>
            </a:r>
            <a:endParaRPr lang="en-US" sz="160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Straight to an answer versus step by step</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STRAIGHT TO AN ANSWER</a:t>
            </a:r>
            <a:endParaRPr lang="en-US" sz="1100" dirty="0"/>
          </a:p>
        </p:txBody>
      </p:sp>
      <p:sp>
        <p:nvSpPr>
          <p:cNvPr id="8" name="Text 5"/>
          <p:cNvSpPr/>
          <p:nvPr/>
        </p:nvSpPr>
        <p:spPr>
          <a:xfrm>
            <a:off x="914400" y="2578608"/>
            <a:ext cx="4754880" cy="36576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“What's the total?”</a:t>
            </a:r>
            <a:endParaRPr lang="en-US" sz="1300" dirty="0"/>
          </a:p>
        </p:txBody>
      </p:sp>
      <p:sp>
        <p:nvSpPr>
          <p:cNvPr id="9" name="Text 6"/>
          <p:cNvSpPr/>
          <p:nvPr/>
        </p:nvSpPr>
        <p:spPr>
          <a:xfrm>
            <a:off x="914400" y="30632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ANSWER YOU GET</a:t>
            </a:r>
            <a:endParaRPr lang="en-US" sz="1100" dirty="0"/>
          </a:p>
        </p:txBody>
      </p:sp>
      <p:sp>
        <p:nvSpPr>
          <p:cNvPr id="10" name="Text 7"/>
          <p:cNvSpPr/>
          <p:nvPr/>
        </p:nvSpPr>
        <p:spPr>
          <a:xfrm>
            <a:off x="914400" y="3383280"/>
            <a:ext cx="4754880" cy="640080"/>
          </a:xfrm>
          <a:prstGeom prst="rect">
            <a:avLst/>
          </a:prstGeom>
          <a:noFill/>
          <a:ln/>
        </p:spPr>
        <p:txBody>
          <a:bodyPr wrap="square" lIns="0" tIns="0" rIns="0" bIns="0" rtlCol="0" anchor="t"/>
          <a:lstStyle/>
          <a:p>
            <a:pPr indent="0" marL="0">
              <a:buNone/>
            </a:pPr>
            <a:r>
              <a:rPr lang="en-US" sz="2200" b="1" dirty="0">
                <a:solidFill>
                  <a:srgbClr val="1F2733"/>
                </a:solidFill>
                <a:latin typeface="Arial" pitchFamily="34" charset="0"/>
                <a:ea typeface="Arial" pitchFamily="34" charset="-122"/>
                <a:cs typeface="Arial" pitchFamily="34" charset="-120"/>
              </a:rPr>
              <a:t>“$14.00.”</a:t>
            </a:r>
            <a:endParaRPr lang="en-US" sz="2200" dirty="0"/>
          </a:p>
        </p:txBody>
      </p:sp>
      <p:sp>
        <p:nvSpPr>
          <p:cNvPr id="11" name="Text 8"/>
          <p:cNvSpPr/>
          <p:nvPr/>
        </p:nvSpPr>
        <p:spPr>
          <a:xfrm>
            <a:off x="914400" y="4297680"/>
            <a:ext cx="4754880" cy="914400"/>
          </a:xfrm>
          <a:prstGeom prst="rect">
            <a:avLst/>
          </a:prstGeom>
          <a:noFill/>
          <a:ln/>
        </p:spPr>
        <p:txBody>
          <a:bodyPr wrap="square" lIns="0" tIns="0" rIns="0" bIns="0" rtlCol="0" anchor="t"/>
          <a:lstStyle/>
          <a:p>
            <a:pPr indent="0" marL="0">
              <a:lnSpc>
                <a:spcPct val="115000"/>
              </a:lnSpc>
              <a:buNone/>
            </a:pPr>
            <a:r>
              <a:rPr lang="en-US" sz="1300" i="1" dirty="0">
                <a:solidFill>
                  <a:srgbClr val="5E6A78"/>
                </a:solidFill>
                <a:latin typeface="Arial" pitchFamily="34" charset="0"/>
                <a:ea typeface="Arial" pitchFamily="34" charset="-122"/>
                <a:cs typeface="Arial" pitchFamily="34" charset="-120"/>
              </a:rPr>
              <a:t>It subtracted the $10 coupon that doesn't apply — wrong.</a:t>
            </a:r>
            <a:endParaRPr lang="en-US" sz="13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STEP BY STEP</a:t>
            </a:r>
            <a:endParaRPr lang="en-US" sz="1100" dirty="0"/>
          </a:p>
        </p:txBody>
      </p:sp>
      <p:sp>
        <p:nvSpPr>
          <p:cNvPr id="14" name="Text 11"/>
          <p:cNvSpPr/>
          <p:nvPr/>
        </p:nvSpPr>
        <p:spPr>
          <a:xfrm>
            <a:off x="6492240" y="25786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ANSWER YOU GET</a:t>
            </a:r>
            <a:endParaRPr lang="en-US" sz="1100" dirty="0"/>
          </a:p>
        </p:txBody>
      </p:sp>
      <p:sp>
        <p:nvSpPr>
          <p:cNvPr id="15" name="Text 12"/>
          <p:cNvSpPr/>
          <p:nvPr/>
        </p:nvSpPr>
        <p:spPr>
          <a:xfrm>
            <a:off x="6492240" y="2926080"/>
            <a:ext cx="4754880" cy="1828800"/>
          </a:xfrm>
          <a:prstGeom prst="rect">
            <a:avLst/>
          </a:prstGeom>
          <a:noFill/>
          <a:ln/>
        </p:spPr>
        <p:txBody>
          <a:bodyPr wrap="square" lIns="0" tIns="0" rIns="0" bIns="0" rtlCol="0" anchor="t"/>
          <a:lstStyle/>
          <a:p>
            <a:pPr indent="0" marL="0">
              <a:lnSpc>
                <a:spcPct val="125000"/>
              </a:lnSpc>
              <a:buNone/>
            </a:pPr>
            <a:r>
              <a:rPr lang="en-US" sz="1350" b="1" dirty="0">
                <a:solidFill>
                  <a:srgbClr val="1F2733"/>
                </a:solidFill>
                <a:latin typeface="Arial" pitchFamily="34" charset="0"/>
                <a:ea typeface="Arial" pitchFamily="34" charset="-122"/>
                <a:cs typeface="Arial" pitchFamily="34" charset="-120"/>
              </a:rPr>
              <a:t>1.  4 × $6 = $24.00</a:t>
            </a:r>
            <a:endParaRPr lang="en-US" sz="1350" dirty="0"/>
          </a:p>
          <a:p>
            <a:pPr indent="0" marL="0">
              <a:lnSpc>
                <a:spcPct val="125000"/>
              </a:lnSpc>
              <a:buNone/>
            </a:pPr>
            <a:r>
              <a:rPr lang="en-US" sz="1350" b="1" dirty="0">
                <a:solidFill>
                  <a:srgbClr val="1F2733"/>
                </a:solidFill>
                <a:latin typeface="Arial" pitchFamily="34" charset="0"/>
                <a:ea typeface="Arial" pitchFamily="34" charset="-122"/>
                <a:cs typeface="Arial" pitchFamily="34" charset="-120"/>
              </a:rPr>
              <a:t>2.  15% off (3+ cases): $24.00 × 0.85 = $20.40</a:t>
            </a:r>
            <a:endParaRPr lang="en-US" sz="1350" dirty="0"/>
          </a:p>
          <a:p>
            <a:pPr indent="0" marL="0">
              <a:lnSpc>
                <a:spcPct val="125000"/>
              </a:lnSpc>
              <a:buNone/>
            </a:pPr>
            <a:r>
              <a:rPr lang="en-US" sz="1350" b="1" dirty="0">
                <a:solidFill>
                  <a:srgbClr val="1F2733"/>
                </a:solidFill>
                <a:latin typeface="Arial" pitchFamily="34" charset="0"/>
                <a:ea typeface="Arial" pitchFamily="34" charset="-122"/>
                <a:cs typeface="Arial" pitchFamily="34" charset="-120"/>
              </a:rPr>
              <a:t>3.  Over $25? No — the coupon doesn't apply.</a:t>
            </a:r>
            <a:endParaRPr lang="en-US" sz="1350" dirty="0"/>
          </a:p>
          <a:p>
            <a:pPr indent="0" marL="0">
              <a:lnSpc>
                <a:spcPct val="125000"/>
              </a:lnSpc>
              <a:buNone/>
            </a:pPr>
            <a:r>
              <a:rPr lang="en-US" sz="1350" b="1" dirty="0">
                <a:solidFill>
                  <a:srgbClr val="15803D"/>
                </a:solidFill>
                <a:latin typeface="Arial" pitchFamily="34" charset="0"/>
                <a:ea typeface="Arial" pitchFamily="34" charset="-122"/>
                <a:cs typeface="Arial" pitchFamily="34" charset="-120"/>
              </a:rPr>
              <a:t>Total: $20.40</a:t>
            </a:r>
            <a:endParaRPr lang="en-US" sz="1350" dirty="0"/>
          </a:p>
        </p:txBody>
      </p:sp>
      <p:sp>
        <p:nvSpPr>
          <p:cNvPr id="16" name="Text 13"/>
          <p:cNvSpPr/>
          <p:nvPr/>
        </p:nvSpPr>
        <p:spPr>
          <a:xfrm>
            <a:off x="6492240" y="507492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Right answer — and you can see why.</a:t>
            </a:r>
            <a:endParaRPr lang="en-US" sz="120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Ask it to work step by step</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For any problem with more than one step.</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Use the shortcut phrase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'Think step by step' is often all it takes.</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Read the steps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Catch a wrong step before you trust the answer.</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Skip it when it's simple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One-step questions and newer models don't need it.</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INTERMEDIATE</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000" b="1" spc="-50" kern="0" dirty="0">
                <a:solidFill>
                  <a:srgbClr val="FFFFFF"/>
                </a:solidFill>
                <a:latin typeface="Arial" pitchFamily="34" charset="0"/>
                <a:ea typeface="Arial" pitchFamily="34" charset="-122"/>
                <a:cs typeface="Arial" pitchFamily="34" charset="-120"/>
              </a:rPr>
              <a:t>Next: Breaking Big Tasks into Steps</a:t>
            </a:r>
            <a:endParaRPr lang="en-US" sz="4000" dirty="0"/>
          </a:p>
        </p:txBody>
      </p:sp>
      <p:sp>
        <p:nvSpPr>
          <p:cNvPr id="7" name="Text 5"/>
          <p:cNvSpPr/>
          <p:nvPr/>
        </p:nvSpPr>
        <p:spPr>
          <a:xfrm>
            <a:off x="658368" y="3840480"/>
            <a:ext cx="978408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The assistant can reason through one problem. Module 10 handles the big jobs — breaking a large task into a chain of smaller, reliable steps.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Two optional habits for getting cleaner reasoning — for anyone who wants them.</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Keep the working separate from the answer</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On a longer problem, you want both the reasoning and a clean answer.</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Ask the assistant to put its working in one labelled section and its final answer in another. Read the working to check; copy the answer to use.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Ask for a “Working” section and a “Final answer” section. You skim the working to trust it, and copy just the final answer.</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Working and answer, mixed versus split</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ALL IN ONE BLOB</a:t>
            </a:r>
            <a:endParaRPr lang="en-US" sz="1100" dirty="0"/>
          </a:p>
        </p:txBody>
      </p:sp>
      <p:sp>
        <p:nvSpPr>
          <p:cNvPr id="8" name="Text 5"/>
          <p:cNvSpPr/>
          <p:nvPr/>
        </p:nvSpPr>
        <p:spPr>
          <a:xfrm>
            <a:off x="914400" y="2578608"/>
            <a:ext cx="4754880" cy="1280160"/>
          </a:xfrm>
          <a:prstGeom prst="rect">
            <a:avLst/>
          </a:prstGeom>
          <a:noFill/>
          <a:ln/>
        </p:spPr>
        <p:txBody>
          <a:bodyPr wrap="square" lIns="0" tIns="0" rIns="0" bIns="0" rtlCol="0" anchor="t"/>
          <a:lstStyle/>
          <a:p>
            <a:pPr indent="0" marL="0">
              <a:lnSpc>
                <a:spcPct val="112000"/>
              </a:lnSpc>
              <a:buNone/>
            </a:pPr>
            <a:r>
              <a:rPr lang="en-US" sz="1250" i="1" dirty="0">
                <a:solidFill>
                  <a:srgbClr val="5E6A78"/>
                </a:solidFill>
                <a:latin typeface="Arial" pitchFamily="34" charset="0"/>
                <a:ea typeface="Arial" pitchFamily="34" charset="-122"/>
                <a:cs typeface="Arial" pitchFamily="34" charset="-120"/>
              </a:rPr>
              <a:t>“4 × $6 is $24, and with 15% off that's $20.40, and since it's under $25 there's no coupon, so $20.40.”</a:t>
            </a:r>
            <a:endParaRPr lang="en-US" sz="1250" dirty="0"/>
          </a:p>
        </p:txBody>
      </p:sp>
      <p:sp>
        <p:nvSpPr>
          <p:cNvPr id="9" name="Text 6"/>
          <p:cNvSpPr/>
          <p:nvPr/>
        </p:nvSpPr>
        <p:spPr>
          <a:xfrm>
            <a:off x="914400" y="4846320"/>
            <a:ext cx="4754880" cy="640080"/>
          </a:xfrm>
          <a:prstGeom prst="rect">
            <a:avLst/>
          </a:prstGeom>
          <a:noFill/>
          <a:ln/>
        </p:spPr>
        <p:txBody>
          <a:bodyPr wrap="square" lIns="0" tIns="0" rIns="0" bIns="0" rtlCol="0" anchor="t"/>
          <a:lstStyle/>
          <a:p>
            <a:pPr indent="0" marL="0">
              <a:lnSpc>
                <a:spcPct val="114000"/>
              </a:lnSpc>
              <a:buNone/>
            </a:pPr>
            <a:r>
              <a:rPr lang="en-US" sz="1350" b="1" dirty="0">
                <a:solidFill>
                  <a:srgbClr val="1F2733"/>
                </a:solidFill>
                <a:latin typeface="Arial" pitchFamily="34" charset="0"/>
                <a:ea typeface="Arial" pitchFamily="34" charset="-122"/>
                <a:cs typeface="Arial" pitchFamily="34" charset="-120"/>
              </a:rPr>
              <a:t>The number is buried, and you can't copy a clean answer.</a:t>
            </a:r>
            <a:endParaRPr lang="en-US" sz="135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TWO LABELLED SECTIONS</a:t>
            </a:r>
            <a:endParaRPr lang="en-US" sz="1100" dirty="0"/>
          </a:p>
        </p:txBody>
      </p:sp>
      <p:sp>
        <p:nvSpPr>
          <p:cNvPr id="12" name="Text 9"/>
          <p:cNvSpPr/>
          <p:nvPr/>
        </p:nvSpPr>
        <p:spPr>
          <a:xfrm>
            <a:off x="6492240" y="2606040"/>
            <a:ext cx="4754880" cy="1737360"/>
          </a:xfrm>
          <a:prstGeom prst="rect">
            <a:avLst/>
          </a:prstGeom>
          <a:noFill/>
          <a:ln/>
        </p:spPr>
        <p:txBody>
          <a:bodyPr wrap="square" lIns="0" tIns="0" rIns="0" bIns="0" rtlCol="0" anchor="t"/>
          <a:lstStyle/>
          <a:p>
            <a:pPr indent="0" marL="0">
              <a:lnSpc>
                <a:spcPct val="125000"/>
              </a:lnSpc>
              <a:buNone/>
            </a:pPr>
            <a:r>
              <a:rPr lang="en-US" sz="1350" b="1" dirty="0">
                <a:solidFill>
                  <a:srgbClr val="1F2733"/>
                </a:solidFill>
                <a:latin typeface="Arial" pitchFamily="34" charset="0"/>
                <a:ea typeface="Arial" pitchFamily="34" charset="-122"/>
                <a:cs typeface="Arial" pitchFamily="34" charset="-120"/>
              </a:rPr>
              <a:t>Working:  4 × $6 = $24 → 15% off = $20.40</a:t>
            </a:r>
            <a:endParaRPr lang="en-US" sz="1350" dirty="0"/>
          </a:p>
          <a:p>
            <a:pPr indent="0" marL="0">
              <a:lnSpc>
                <a:spcPct val="125000"/>
              </a:lnSpc>
              <a:buNone/>
            </a:pPr>
            <a:r>
              <a:rPr lang="en-US" sz="1350" b="1" dirty="0">
                <a:solidFill>
                  <a:srgbClr val="1F2733"/>
                </a:solidFill>
                <a:latin typeface="Arial" pitchFamily="34" charset="0"/>
                <a:ea typeface="Arial" pitchFamily="34" charset="-122"/>
                <a:cs typeface="Arial" pitchFamily="34" charset="-120"/>
              </a:rPr>
              <a:t>→ under $25, so no coupon.</a:t>
            </a:r>
            <a:endParaRPr lang="en-US" sz="1350" dirty="0"/>
          </a:p>
          <a:p>
            <a:pPr indent="0" marL="0">
              <a:lnSpc>
                <a:spcPct val="125000"/>
              </a:lnSpc>
              <a:buNone/>
            </a:pPr>
            <a:endParaRPr lang="en-US" sz="1350" dirty="0"/>
          </a:p>
          <a:p>
            <a:pPr indent="0" marL="0">
              <a:lnSpc>
                <a:spcPct val="125000"/>
              </a:lnSpc>
              <a:buNone/>
            </a:pPr>
            <a:r>
              <a:rPr lang="en-US" sz="1350" b="1" dirty="0">
                <a:solidFill>
                  <a:srgbClr val="15803D"/>
                </a:solidFill>
                <a:latin typeface="Arial" pitchFamily="34" charset="0"/>
                <a:ea typeface="Arial" pitchFamily="34" charset="-122"/>
                <a:cs typeface="Arial" pitchFamily="34" charset="-120"/>
              </a:rPr>
              <a:t>Final answer:  $20.40</a:t>
            </a:r>
            <a:endParaRPr lang="en-US" sz="1350" dirty="0"/>
          </a:p>
        </p:txBody>
      </p:sp>
      <p:sp>
        <p:nvSpPr>
          <p:cNvPr id="13" name="Text 10"/>
          <p:cNvSpPr/>
          <p:nvPr/>
        </p:nvSpPr>
        <p:spPr>
          <a:xfrm>
            <a:off x="6492240" y="4846320"/>
            <a:ext cx="4754880" cy="54864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Skim the working to trust it; copy just the answer.</a:t>
            </a:r>
            <a:endParaRPr lang="en-US" sz="120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it restate the question first</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If a question is fiddly or easy to misread, have it repeat back what you asked.</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Asking the assistant to restate the question in its own words before answering catches misunderstandings early — and often improves the answer itself.</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Add: “First restate what I'm asking, then answer.” If its restatement is off, you've caught the confusion before the math.</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Catch a misread before the math</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STRAIGHT TO THE MATH</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It assumes the coupon always applies and answers, confidently:</a:t>
            </a:r>
            <a:endParaRPr lang="en-US" sz="1300" dirty="0"/>
          </a:p>
        </p:txBody>
      </p:sp>
      <p:sp>
        <p:nvSpPr>
          <p:cNvPr id="9" name="Text 6"/>
          <p:cNvSpPr/>
          <p:nvPr/>
        </p:nvSpPr>
        <p:spPr>
          <a:xfrm>
            <a:off x="914400" y="3337560"/>
            <a:ext cx="4754880" cy="548640"/>
          </a:xfrm>
          <a:prstGeom prst="rect">
            <a:avLst/>
          </a:prstGeom>
          <a:noFill/>
          <a:ln/>
        </p:spPr>
        <p:txBody>
          <a:bodyPr wrap="square" lIns="0" tIns="0" rIns="0" bIns="0" rtlCol="0" anchor="t"/>
          <a:lstStyle/>
          <a:p>
            <a:pPr indent="0" marL="0">
              <a:buNone/>
            </a:pPr>
            <a:r>
              <a:rPr lang="en-US" sz="1800" b="1" dirty="0">
                <a:solidFill>
                  <a:srgbClr val="1F2733"/>
                </a:solidFill>
                <a:latin typeface="Arial" pitchFamily="34" charset="0"/>
                <a:ea typeface="Arial" pitchFamily="34" charset="-122"/>
                <a:cs typeface="Arial" pitchFamily="34" charset="-120"/>
              </a:rPr>
              <a:t>“That comes to $14.00.”</a:t>
            </a:r>
            <a:endParaRPr lang="en-US" sz="1800" dirty="0"/>
          </a:p>
        </p:txBody>
      </p:sp>
      <p:sp>
        <p:nvSpPr>
          <p:cNvPr id="10" name="Text 7"/>
          <p:cNvSpPr/>
          <p:nvPr/>
        </p:nvSpPr>
        <p:spPr>
          <a:xfrm>
            <a:off x="914400" y="484632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A misread you only spot after the fact.</a:t>
            </a:r>
            <a:endParaRPr lang="en-US" sz="120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RESTATE FIRST</a:t>
            </a:r>
            <a:endParaRPr lang="en-US" sz="1100" dirty="0"/>
          </a:p>
        </p:txBody>
      </p:sp>
      <p:sp>
        <p:nvSpPr>
          <p:cNvPr id="13" name="Text 10"/>
          <p:cNvSpPr/>
          <p:nvPr/>
        </p:nvSpPr>
        <p:spPr>
          <a:xfrm>
            <a:off x="6492240" y="2578608"/>
            <a:ext cx="4754880" cy="457200"/>
          </a:xfrm>
          <a:prstGeom prst="rect">
            <a:avLst/>
          </a:prstGeom>
          <a:noFill/>
          <a:ln/>
        </p:spPr>
        <p:txBody>
          <a:bodyPr wrap="square" lIns="0" tIns="0" rIns="0" bIns="0" rtlCol="0" anchor="t"/>
          <a:lstStyle/>
          <a:p>
            <a:pPr indent="0" marL="0">
              <a:buNone/>
            </a:pPr>
            <a:r>
              <a:rPr lang="en-US" sz="1300" i="1" dirty="0">
                <a:solidFill>
                  <a:srgbClr val="15803D"/>
                </a:solidFill>
                <a:latin typeface="Arial" pitchFamily="34" charset="0"/>
                <a:ea typeface="Arial" pitchFamily="34" charset="-122"/>
                <a:cs typeface="Arial" pitchFamily="34" charset="-120"/>
              </a:rPr>
              <a:t>“First restate what I'm asking.” It replies:</a:t>
            </a:r>
            <a:endParaRPr lang="en-US" sz="1300" dirty="0"/>
          </a:p>
        </p:txBody>
      </p:sp>
      <p:sp>
        <p:nvSpPr>
          <p:cNvPr id="14" name="Text 11"/>
          <p:cNvSpPr/>
          <p:nvPr/>
        </p:nvSpPr>
        <p:spPr>
          <a:xfrm>
            <a:off x="6492240" y="3154680"/>
            <a:ext cx="4754880" cy="137160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“You want the total after the 15% discount, with the $10 coupon only if the order tops $25.”</a:t>
            </a:r>
            <a:endParaRPr lang="en-US" sz="1400" dirty="0"/>
          </a:p>
        </p:txBody>
      </p:sp>
      <p:sp>
        <p:nvSpPr>
          <p:cNvPr id="15" name="Text 12"/>
          <p:cNvSpPr/>
          <p:nvPr/>
        </p:nvSpPr>
        <p:spPr>
          <a:xfrm>
            <a:off x="6492240" y="489204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You can see it understood — before it commits.</a:t>
            </a:r>
            <a:endParaRPr lang="en-US" sz="12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9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2  ·  INTERMEDIATE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300" b="1" spc="-50" kern="0" dirty="0">
                <a:solidFill>
                  <a:srgbClr val="FFFFFF"/>
                </a:solidFill>
                <a:latin typeface="Arial" pitchFamily="34" charset="0"/>
                <a:ea typeface="Arial" pitchFamily="34" charset="-122"/>
                <a:cs typeface="Arial" pitchFamily="34" charset="-120"/>
              </a:rPr>
              <a:t>Module 10 — Breaking Big Tasks into Steps</a:t>
            </a:r>
            <a:endParaRPr lang="en-US" sz="43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Some jobs are too big for one prompt. Split them into a chain of smaller, reliable steps.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Break a big task into smaller steps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Do them in order, each building on the last.</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Use a reliable three-stage shape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Extract the facts, reshape them, produce the output.</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Ask the assistant to plan before it works</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Fix the approach before any effort is spent.</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Zoom out to the bigger question first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Ground the answer in the right principles.</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big, vague ask gets a big, vague answer</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Hand the assistant a large job in one line and you get a shallow, once-over-lightly reply. Break the same job into a few clear steps and each part gets real attention — and the finished result is far stronger.</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Turning a month of member survey comments into a one-page action plan for the club manager.</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BREAK THE JOB DOWN</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Split a big task into smaller steps</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A big, vague request gets a shallow answer. Break it into a few smaller steps and do them in order — each one easier than the whole, and each building on the one before.</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From one big ask to steps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Instead of</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“Write an action plan from these comments.”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Do</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1) find the themes, 2) rank them, 3) write the actions.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EXTRACT, TRANSFORM, PRODUCE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reliable three-stage shape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Many jobs fit one dependable pattern: first pull out the raw facts, then reshape them, then produce the final piece. Keeping the stages apart stops the assistant rushing to an output it hasn't thought through.</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three stages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Extract</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pull the recurring themes from the comments.</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Transform</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group them and rank them.</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Produce</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write the top three actions.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PLAN FIRST, THEN DO IT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for the plan before the work</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For a meaty task, ask the assistant to lay out how it will approach it before it starts. You get to correct the plan up front — far cheaper than fixing a finished piece that was built the wrong way.</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Plan, then execute</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“First, tell me how you'll approach this. Then, once I say go, do it.”</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If the plan looks off, you fix it before any work is wasted.</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ZOOM OUT FIRST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the bigger question before the specific one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Sometimes the best first move is to step back. Ask the general question — 'what makes a good action plan?' — before the specific task. The answer then rests on sound principles instead of a cold start.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The bigger question first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Step back</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“What makes a club action plan genuinely useful?”</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Then</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“Now apply that to these member comments.”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task, broken into a clear chain</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31720"/>
            <a:ext cx="10058400" cy="3063240"/>
          </a:xfrm>
          <a:prstGeom prst="rect">
            <a:avLst/>
          </a:prstGeom>
          <a:noFill/>
          <a:ln/>
        </p:spPr>
        <p:txBody>
          <a:bodyPr wrap="square" lIns="0" tIns="0" rIns="0" bIns="0" rtlCol="0" anchor="t"/>
          <a:lstStyle/>
          <a:p>
            <a:pPr indent="0" marL="0">
              <a:lnSpc>
                <a:spcPct val="128000"/>
              </a:lnSpc>
              <a:buNone/>
            </a:pPr>
            <a:r>
              <a:rPr lang="en-US" sz="1550" b="1" dirty="0">
                <a:solidFill>
                  <a:srgbClr val="D31242"/>
                </a:solidFill>
                <a:latin typeface="Arial" pitchFamily="34" charset="0"/>
                <a:ea typeface="Arial" pitchFamily="34" charset="-122"/>
                <a:cs typeface="Arial" pitchFamily="34" charset="-120"/>
              </a:rPr>
              <a:t>Task</a:t>
            </a:r>
            <a:pPr indent="0" marL="0">
              <a:lnSpc>
                <a:spcPct val="128000"/>
              </a:lnSpc>
              <a:buNone/>
            </a:pPr>
            <a:r>
              <a:rPr lang="en-US" sz="1550" dirty="0">
                <a:solidFill>
                  <a:srgbClr val="1F2733"/>
                </a:solidFill>
                <a:latin typeface="Arial" pitchFamily="34" charset="0"/>
                <a:ea typeface="Arial" pitchFamily="34" charset="-122"/>
                <a:cs typeface="Arial" pitchFamily="34" charset="-120"/>
              </a:rPr>
              <a:t>   Turn the member comments below into a one-page action plan.</a:t>
            </a:r>
            <a:endParaRPr lang="en-US" sz="1550" dirty="0"/>
          </a:p>
          <a:p>
            <a:pPr indent="0" marL="0">
              <a:lnSpc>
                <a:spcPct val="128000"/>
              </a:lnSpc>
              <a:buNone/>
            </a:pPr>
            <a:endParaRPr lang="en-US" sz="1550" dirty="0"/>
          </a:p>
          <a:p>
            <a:pPr indent="0" marL="0">
              <a:lnSpc>
                <a:spcPct val="128000"/>
              </a:lnSpc>
              <a:buNone/>
            </a:pPr>
            <a:r>
              <a:rPr lang="en-US" sz="1550" b="1" dirty="0">
                <a:solidFill>
                  <a:srgbClr val="D31242"/>
                </a:solidFill>
                <a:latin typeface="Arial" pitchFamily="34" charset="0"/>
                <a:ea typeface="Arial" pitchFamily="34" charset="-122"/>
                <a:cs typeface="Arial" pitchFamily="34" charset="-120"/>
              </a:rPr>
              <a:t>Step 1 — Extract</a:t>
            </a:r>
            <a:pPr indent="0" marL="0">
              <a:lnSpc>
                <a:spcPct val="128000"/>
              </a:lnSpc>
              <a:buNone/>
            </a:pPr>
            <a:r>
              <a:rPr lang="en-US" sz="1550" dirty="0">
                <a:solidFill>
                  <a:srgbClr val="1F2733"/>
                </a:solidFill>
                <a:latin typeface="Arial" pitchFamily="34" charset="0"/>
                <a:ea typeface="Arial" pitchFamily="34" charset="-122"/>
                <a:cs typeface="Arial" pitchFamily="34" charset="-120"/>
              </a:rPr>
              <a:t>   First, list the recurring themes.</a:t>
            </a:r>
            <a:endParaRPr lang="en-US" sz="1550" dirty="0"/>
          </a:p>
          <a:p>
            <a:pPr indent="0" marL="0">
              <a:lnSpc>
                <a:spcPct val="128000"/>
              </a:lnSpc>
              <a:buNone/>
            </a:pPr>
            <a:endParaRPr lang="en-US" sz="1550" dirty="0"/>
          </a:p>
          <a:p>
            <a:pPr indent="0" marL="0">
              <a:lnSpc>
                <a:spcPct val="128000"/>
              </a:lnSpc>
              <a:buNone/>
            </a:pPr>
            <a:r>
              <a:rPr lang="en-US" sz="1550" b="1" dirty="0">
                <a:solidFill>
                  <a:srgbClr val="D31242"/>
                </a:solidFill>
                <a:latin typeface="Arial" pitchFamily="34" charset="0"/>
                <a:ea typeface="Arial" pitchFamily="34" charset="-122"/>
                <a:cs typeface="Arial" pitchFamily="34" charset="-120"/>
              </a:rPr>
              <a:t>Step 2 — Transform</a:t>
            </a:r>
            <a:pPr indent="0" marL="0">
              <a:lnSpc>
                <a:spcPct val="128000"/>
              </a:lnSpc>
              <a:buNone/>
            </a:pPr>
            <a:r>
              <a:rPr lang="en-US" sz="1550" dirty="0">
                <a:solidFill>
                  <a:srgbClr val="1F2733"/>
                </a:solidFill>
                <a:latin typeface="Arial" pitchFamily="34" charset="0"/>
                <a:ea typeface="Arial" pitchFamily="34" charset="-122"/>
                <a:cs typeface="Arial" pitchFamily="34" charset="-120"/>
              </a:rPr>
              <a:t>   Then group them and rank by how often they came up.</a:t>
            </a:r>
            <a:endParaRPr lang="en-US" sz="1550" dirty="0"/>
          </a:p>
          <a:p>
            <a:pPr indent="0" marL="0">
              <a:lnSpc>
                <a:spcPct val="128000"/>
              </a:lnSpc>
              <a:buNone/>
            </a:pPr>
            <a:endParaRPr lang="en-US" sz="1550" dirty="0"/>
          </a:p>
          <a:p>
            <a:pPr indent="0" marL="0">
              <a:lnSpc>
                <a:spcPct val="128000"/>
              </a:lnSpc>
              <a:buNone/>
            </a:pPr>
            <a:r>
              <a:rPr lang="en-US" sz="1550" b="1" dirty="0">
                <a:solidFill>
                  <a:srgbClr val="D31242"/>
                </a:solidFill>
                <a:latin typeface="Arial" pitchFamily="34" charset="0"/>
                <a:ea typeface="Arial" pitchFamily="34" charset="-122"/>
                <a:cs typeface="Arial" pitchFamily="34" charset="-120"/>
              </a:rPr>
              <a:t>Step 3 — Produce</a:t>
            </a:r>
            <a:pPr indent="0" marL="0">
              <a:lnSpc>
                <a:spcPct val="128000"/>
              </a:lnSpc>
              <a:buNone/>
            </a:pPr>
            <a:r>
              <a:rPr lang="en-US" sz="1550" dirty="0">
                <a:solidFill>
                  <a:srgbClr val="1F2733"/>
                </a:solidFill>
                <a:latin typeface="Arial" pitchFamily="34" charset="0"/>
                <a:ea typeface="Arial" pitchFamily="34" charset="-122"/>
                <a:cs typeface="Arial" pitchFamily="34" charset="-120"/>
              </a:rPr>
              <a:t>   Then write the top three actions, each with a suggested owner.</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All at once versus broken into steps</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ALL AT ONCE</a:t>
            </a:r>
            <a:endParaRPr lang="en-US" sz="1100" dirty="0"/>
          </a:p>
        </p:txBody>
      </p:sp>
      <p:sp>
        <p:nvSpPr>
          <p:cNvPr id="8" name="Text 5"/>
          <p:cNvSpPr/>
          <p:nvPr/>
        </p:nvSpPr>
        <p:spPr>
          <a:xfrm>
            <a:off x="914400" y="2578608"/>
            <a:ext cx="4754880" cy="50292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“Write an action plan from these comments.”</a:t>
            </a:r>
            <a:endParaRPr lang="en-US" sz="130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PLAN YOU GET</a:t>
            </a:r>
            <a:endParaRPr lang="en-US" sz="1100" dirty="0"/>
          </a:p>
        </p:txBody>
      </p:sp>
      <p:sp>
        <p:nvSpPr>
          <p:cNvPr id="10" name="Text 7"/>
          <p:cNvSpPr/>
          <p:nvPr/>
        </p:nvSpPr>
        <p:spPr>
          <a:xfrm>
            <a:off x="914400" y="3520440"/>
            <a:ext cx="4754880" cy="1188720"/>
          </a:xfrm>
          <a:prstGeom prst="rect">
            <a:avLst/>
          </a:prstGeom>
          <a:noFill/>
          <a:ln/>
        </p:spPr>
        <p:txBody>
          <a:bodyPr wrap="square" lIns="0" tIns="0" rIns="0" bIns="0" rtlCol="0" anchor="t"/>
          <a:lstStyle/>
          <a:p>
            <a:pPr indent="0" marL="0">
              <a:lnSpc>
                <a:spcPct val="112000"/>
              </a:lnSpc>
              <a:buNone/>
            </a:pPr>
            <a:r>
              <a:rPr lang="en-US" sz="1400" b="1" dirty="0">
                <a:solidFill>
                  <a:srgbClr val="1F2733"/>
                </a:solidFill>
                <a:latin typeface="Arial" pitchFamily="34" charset="0"/>
                <a:ea typeface="Arial" pitchFamily="34" charset="-122"/>
                <a:cs typeface="Arial" pitchFamily="34" charset="-120"/>
              </a:rPr>
              <a:t>“Members are happy overall but want shorter lines and more staff. Keep up the good work.”</a:t>
            </a:r>
            <a:endParaRPr lang="en-US" sz="1400" dirty="0"/>
          </a:p>
        </p:txBody>
      </p:sp>
      <p:sp>
        <p:nvSpPr>
          <p:cNvPr id="11" name="Text 8"/>
          <p:cNvSpPr/>
          <p:nvPr/>
        </p:nvSpPr>
        <p:spPr>
          <a:xfrm>
            <a:off x="914400" y="5029200"/>
            <a:ext cx="4754880" cy="457200"/>
          </a:xfrm>
          <a:prstGeom prst="rect">
            <a:avLst/>
          </a:prstGeom>
          <a:noFill/>
          <a:ln/>
        </p:spPr>
        <p:txBody>
          <a:bodyPr wrap="square" lIns="0" tIns="0" rIns="0" bIns="0" rtlCol="0" anchor="t"/>
          <a:lstStyle/>
          <a:p>
            <a:pPr indent="0" marL="0">
              <a:buNone/>
            </a:pPr>
            <a:r>
              <a:rPr lang="en-US" sz="1200" i="1" dirty="0">
                <a:solidFill>
                  <a:srgbClr val="5E6A78"/>
                </a:solidFill>
                <a:latin typeface="Arial" pitchFamily="34" charset="0"/>
                <a:ea typeface="Arial" pitchFamily="34" charset="-122"/>
                <a:cs typeface="Arial" pitchFamily="34" charset="-120"/>
              </a:rPr>
              <a:t>Vague — misses half the themes, no real actions.</a:t>
            </a:r>
            <a:endParaRPr lang="en-US" sz="1200" dirty="0"/>
          </a:p>
        </p:txBody>
      </p:sp>
      <p:sp>
        <p:nvSpPr>
          <p:cNvPr id="12" name="Shape 9"/>
          <p:cNvSpPr/>
          <p:nvPr/>
        </p:nvSpPr>
        <p:spPr>
          <a:xfrm>
            <a:off x="6217920" y="2103120"/>
            <a:ext cx="5303520" cy="3611880"/>
          </a:xfrm>
          <a:prstGeom prst="roundRect">
            <a:avLst>
              <a:gd name="adj" fmla="val 2278"/>
            </a:avLst>
          </a:prstGeom>
          <a:solidFill>
            <a:srgbClr val="DCFCE7"/>
          </a:solidFill>
          <a:ln/>
        </p:spPr>
      </p:sp>
      <p:sp>
        <p:nvSpPr>
          <p:cNvPr id="13" name="Text 10"/>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BROKEN INTO STEPS</a:t>
            </a:r>
            <a:endParaRPr lang="en-US" sz="1100" dirty="0"/>
          </a:p>
        </p:txBody>
      </p:sp>
      <p:sp>
        <p:nvSpPr>
          <p:cNvPr id="14" name="Text 11"/>
          <p:cNvSpPr/>
          <p:nvPr/>
        </p:nvSpPr>
        <p:spPr>
          <a:xfrm>
            <a:off x="6492240" y="2578608"/>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PLAN YOU GET</a:t>
            </a:r>
            <a:endParaRPr lang="en-US" sz="1100" dirty="0"/>
          </a:p>
        </p:txBody>
      </p:sp>
      <p:sp>
        <p:nvSpPr>
          <p:cNvPr id="15" name="Text 12"/>
          <p:cNvSpPr/>
          <p:nvPr/>
        </p:nvSpPr>
        <p:spPr>
          <a:xfrm>
            <a:off x="6492240" y="2926080"/>
            <a:ext cx="4754880" cy="1737360"/>
          </a:xfrm>
          <a:prstGeom prst="rect">
            <a:avLst/>
          </a:prstGeom>
          <a:noFill/>
          <a:ln/>
        </p:spPr>
        <p:txBody>
          <a:bodyPr wrap="square" lIns="0" tIns="0" rIns="0" bIns="0" rtlCol="0" anchor="t"/>
          <a:lstStyle/>
          <a:p>
            <a:pPr indent="0" marL="0">
              <a:lnSpc>
                <a:spcPct val="130000"/>
              </a:lnSpc>
              <a:buNone/>
            </a:pPr>
            <a:r>
              <a:rPr lang="en-US" sz="1350" b="1" dirty="0">
                <a:solidFill>
                  <a:srgbClr val="1F2733"/>
                </a:solidFill>
                <a:latin typeface="Arial" pitchFamily="34" charset="0"/>
                <a:ea typeface="Arial" pitchFamily="34" charset="-122"/>
                <a:cs typeface="Arial" pitchFamily="34" charset="-120"/>
              </a:rPr>
              <a:t>1.  Add a weekend checkout lane — Front End</a:t>
            </a:r>
            <a:endParaRPr lang="en-US" sz="1350" dirty="0"/>
          </a:p>
          <a:p>
            <a:pPr indent="0" marL="0">
              <a:lnSpc>
                <a:spcPct val="130000"/>
              </a:lnSpc>
              <a:buNone/>
            </a:pPr>
            <a:r>
              <a:rPr lang="en-US" sz="1350" b="1" dirty="0">
                <a:solidFill>
                  <a:srgbClr val="1F2733"/>
                </a:solidFill>
                <a:latin typeface="Arial" pitchFamily="34" charset="0"/>
                <a:ea typeface="Arial" pitchFamily="34" charset="-122"/>
                <a:cs typeface="Arial" pitchFamily="34" charset="-120"/>
              </a:rPr>
              <a:t>2.  More rotisserie chicken before noon — Deli</a:t>
            </a:r>
            <a:endParaRPr lang="en-US" sz="1350" dirty="0"/>
          </a:p>
          <a:p>
            <a:pPr indent="0" marL="0">
              <a:lnSpc>
                <a:spcPct val="130000"/>
              </a:lnSpc>
              <a:buNone/>
            </a:pPr>
            <a:r>
              <a:rPr lang="en-US" sz="1350" b="1" dirty="0">
                <a:solidFill>
                  <a:srgbClr val="1F2733"/>
                </a:solidFill>
                <a:latin typeface="Arial" pitchFamily="34" charset="0"/>
                <a:ea typeface="Arial" pitchFamily="34" charset="-122"/>
                <a:cs typeface="Arial" pitchFamily="34" charset="-120"/>
              </a:rPr>
              <a:t>3.  More floor staff on weekends — Club Ops</a:t>
            </a:r>
            <a:endParaRPr lang="en-US" sz="1350" dirty="0"/>
          </a:p>
        </p:txBody>
      </p:sp>
      <p:sp>
        <p:nvSpPr>
          <p:cNvPr id="16" name="Text 13"/>
          <p:cNvSpPr/>
          <p:nvPr/>
        </p:nvSpPr>
        <p:spPr>
          <a:xfrm>
            <a:off x="6492240" y="502920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Specific, ranked, and ready to act on.</a:t>
            </a:r>
            <a:endParaRPr lang="en-US" sz="1200" dirty="0"/>
          </a:p>
        </p:txBody>
      </p:sp>
      <p:sp>
        <p:nvSpPr>
          <p:cNvPr id="17" name="Text 14"/>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18" name="Text 15"/>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Break the job into steps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Smaller pieces, done in order.</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Extract, transform, produce</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A reliable shape for many jobs.</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Plan before the work</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Fix the approach up front, cheaply.</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Zoom out first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Ground it in the right principles.</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INTERMEDIATE</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28600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COMING UP</a:t>
            </a:r>
            <a:endParaRPr lang="en-US" sz="1500" dirty="0"/>
          </a:p>
        </p:txBody>
      </p:sp>
      <p:sp>
        <p:nvSpPr>
          <p:cNvPr id="6" name="Text 4"/>
          <p:cNvSpPr/>
          <p:nvPr/>
        </p:nvSpPr>
        <p:spPr>
          <a:xfrm>
            <a:off x="621792" y="2743200"/>
            <a:ext cx="10881360" cy="91440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Next: Checking the Work</a:t>
            </a:r>
            <a:endParaRPr lang="en-US" sz="4400" dirty="0"/>
          </a:p>
        </p:txBody>
      </p:sp>
      <p:sp>
        <p:nvSpPr>
          <p:cNvPr id="7" name="Text 5"/>
          <p:cNvSpPr/>
          <p:nvPr/>
        </p:nvSpPr>
        <p:spPr>
          <a:xfrm>
            <a:off x="658368" y="3840480"/>
            <a:ext cx="9784080" cy="118872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You can break down and plan a big job. Module 11 — the last in the Intermediate level — gets the assistant to check and improve its own work.</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Three optional ways to get deeper thinking on a hard task — for anyone who wants them.</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Let it ask and answer its own sub-questions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For a layered question, have it raise the smaller questions first.</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Tell the assistant to name the sub-questions it needs to answer, answer each, then use those to reach the final answer.</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“Before recommending an action, ask yourself: which theme came up most? Is it quick to fix? Then decide.”</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the smaller questions first</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20" kern="0" dirty="0">
                <a:solidFill>
                  <a:srgbClr val="5E6A78"/>
                </a:solidFill>
                <a:latin typeface="Arial" pitchFamily="34" charset="0"/>
                <a:ea typeface="Arial" pitchFamily="34" charset="-122"/>
                <a:cs typeface="Arial" pitchFamily="34" charset="-120"/>
              </a:rPr>
              <a:t>JUMPS STRAIGHT TO ACTIONS</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“Recommend actions from this feedback.”</a:t>
            </a:r>
            <a:endParaRPr lang="en-US" sz="130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RESULT</a:t>
            </a:r>
            <a:endParaRPr lang="en-US" sz="1100" dirty="0"/>
          </a:p>
        </p:txBody>
      </p:sp>
      <p:sp>
        <p:nvSpPr>
          <p:cNvPr id="10" name="Text 7"/>
          <p:cNvSpPr/>
          <p:nvPr/>
        </p:nvSpPr>
        <p:spPr>
          <a:xfrm>
            <a:off x="914400" y="3520440"/>
            <a:ext cx="4754880" cy="118872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It picks whatever it read last — not what matters most.</a:t>
            </a:r>
            <a:endParaRPr lang="en-US" sz="14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ASKS ITSELF FIRST</a:t>
            </a:r>
            <a:endParaRPr lang="en-US" sz="1100" dirty="0"/>
          </a:p>
        </p:txBody>
      </p:sp>
      <p:sp>
        <p:nvSpPr>
          <p:cNvPr id="13" name="Text 10"/>
          <p:cNvSpPr/>
          <p:nvPr/>
        </p:nvSpPr>
        <p:spPr>
          <a:xfrm>
            <a:off x="6492240" y="2578608"/>
            <a:ext cx="4754880" cy="82296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“Which theme came up most? Is it quick to fix? Then decide.”</a:t>
            </a:r>
            <a:endParaRPr lang="en-US" sz="1300" dirty="0"/>
          </a:p>
        </p:txBody>
      </p:sp>
      <p:sp>
        <p:nvSpPr>
          <p:cNvPr id="14" name="Text 11"/>
          <p:cNvSpPr/>
          <p:nvPr/>
        </p:nvSpPr>
        <p:spPr>
          <a:xfrm>
            <a:off x="6492240" y="35204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RESULT</a:t>
            </a:r>
            <a:endParaRPr lang="en-US" sz="1100" dirty="0"/>
          </a:p>
        </p:txBody>
      </p:sp>
      <p:sp>
        <p:nvSpPr>
          <p:cNvPr id="15" name="Text 12"/>
          <p:cNvSpPr/>
          <p:nvPr/>
        </p:nvSpPr>
        <p:spPr>
          <a:xfrm>
            <a:off x="6492240" y="3840480"/>
            <a:ext cx="4754880" cy="109728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It answers those first, then recommends — priorities before actions.</a:t>
            </a:r>
            <a:endParaRPr lang="en-US" sz="14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it list what it knows first</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Bringing the relevant facts to the surface first leads to a fuller answer.</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Before it answers, ask the assistant to jot down the facts or considerations that matter — then use that list to work the problem.</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“First, list what makes members leave a club. Then use that list to prioritise these comments.”</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Surface what matters, then judge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RANK WITH NO FRAME</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“Which comments matter most?”</a:t>
            </a:r>
            <a:endParaRPr lang="en-US" sz="130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RESULT</a:t>
            </a:r>
            <a:endParaRPr lang="en-US" sz="1100" dirty="0"/>
          </a:p>
        </p:txBody>
      </p:sp>
      <p:sp>
        <p:nvSpPr>
          <p:cNvPr id="10" name="Text 7"/>
          <p:cNvSpPr/>
          <p:nvPr/>
        </p:nvSpPr>
        <p:spPr>
          <a:xfrm>
            <a:off x="914400" y="352044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It ranks a long-line gripe above a real safety worry — no sense of what drives members away.</a:t>
            </a:r>
            <a:endParaRPr lang="en-US" sz="140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LIST WHAT MATTERS FIRST</a:t>
            </a:r>
            <a:endParaRPr lang="en-US" sz="1100" dirty="0"/>
          </a:p>
        </p:txBody>
      </p:sp>
      <p:sp>
        <p:nvSpPr>
          <p:cNvPr id="13" name="Text 10"/>
          <p:cNvSpPr/>
          <p:nvPr/>
        </p:nvSpPr>
        <p:spPr>
          <a:xfrm>
            <a:off x="6492240" y="2578608"/>
            <a:ext cx="4754880" cy="82296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“First, list what makes members leave.” → long waits, out-of-stock, poor service.</a:t>
            </a:r>
            <a:endParaRPr lang="en-US" sz="1300" dirty="0"/>
          </a:p>
        </p:txBody>
      </p:sp>
      <p:sp>
        <p:nvSpPr>
          <p:cNvPr id="14" name="Text 11"/>
          <p:cNvSpPr/>
          <p:nvPr/>
        </p:nvSpPr>
        <p:spPr>
          <a:xfrm>
            <a:off x="6492240" y="35204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RESULT</a:t>
            </a:r>
            <a:endParaRPr lang="en-US" sz="1100" dirty="0"/>
          </a:p>
        </p:txBody>
      </p:sp>
      <p:sp>
        <p:nvSpPr>
          <p:cNvPr id="15" name="Text 12"/>
          <p:cNvSpPr/>
          <p:nvPr/>
        </p:nvSpPr>
        <p:spPr>
          <a:xfrm>
            <a:off x="6492240" y="3840480"/>
            <a:ext cx="4754880" cy="109728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It ranks the comments against that list — the safety worry rises to the top.</a:t>
            </a:r>
            <a:endParaRPr lang="en-US" sz="14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Get the outline first, then fill it in</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For a long piece, approve the shape before it writes the whole thing.</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Ask for a bare outline first, then have the assistant expand each point once you're happy with the structure.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“Give me just the headings for the action plan first. Once I approve, write the detail under each.”</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Approve the shape before it writes it all</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WRITES THE WHOLE PLAN</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“Write the full action plan.”</a:t>
            </a:r>
            <a:endParaRPr lang="en-US" sz="1300" dirty="0"/>
          </a:p>
        </p:txBody>
      </p:sp>
      <p:sp>
        <p:nvSpPr>
          <p:cNvPr id="9" name="Text 6"/>
          <p:cNvSpPr/>
          <p:nvPr/>
        </p:nvSpPr>
        <p:spPr>
          <a:xfrm>
            <a:off x="914400" y="320040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RESULT</a:t>
            </a:r>
            <a:endParaRPr lang="en-US" sz="1100" dirty="0"/>
          </a:p>
        </p:txBody>
      </p:sp>
      <p:sp>
        <p:nvSpPr>
          <p:cNvPr id="10" name="Text 7"/>
          <p:cNvSpPr/>
          <p:nvPr/>
        </p:nvSpPr>
        <p:spPr>
          <a:xfrm>
            <a:off x="914400" y="3520440"/>
            <a:ext cx="4754880" cy="118872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Three pages in the wrong structure — now you have to unpick and rewrite it.</a:t>
            </a:r>
            <a:endParaRPr lang="en-US" sz="140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OUTLINE FIRST</a:t>
            </a:r>
            <a:endParaRPr lang="en-US" sz="1100" dirty="0"/>
          </a:p>
        </p:txBody>
      </p:sp>
      <p:sp>
        <p:nvSpPr>
          <p:cNvPr id="13" name="Text 10"/>
          <p:cNvSpPr/>
          <p:nvPr/>
        </p:nvSpPr>
        <p:spPr>
          <a:xfrm>
            <a:off x="6492240" y="2578608"/>
            <a:ext cx="4754880" cy="822960"/>
          </a:xfrm>
          <a:prstGeom prst="rect">
            <a:avLst/>
          </a:prstGeom>
          <a:noFill/>
          <a:ln/>
        </p:spPr>
        <p:txBody>
          <a:bodyPr wrap="square" lIns="0" tIns="0" rIns="0" bIns="0" rtlCol="0" anchor="t"/>
          <a:lstStyle/>
          <a:p>
            <a:pPr indent="0" marL="0">
              <a:lnSpc>
                <a:spcPct val="110000"/>
              </a:lnSpc>
              <a:buNone/>
            </a:pPr>
            <a:r>
              <a:rPr lang="en-US" sz="1300" i="1" dirty="0">
                <a:solidFill>
                  <a:srgbClr val="15803D"/>
                </a:solidFill>
                <a:latin typeface="Arial" pitchFamily="34" charset="0"/>
                <a:ea typeface="Arial" pitchFamily="34" charset="-122"/>
                <a:cs typeface="Arial" pitchFamily="34" charset="-120"/>
              </a:rPr>
              <a:t>“Just the headings first.” → Top themes · Quick wins · Owners.</a:t>
            </a:r>
            <a:endParaRPr lang="en-US" sz="1300" dirty="0"/>
          </a:p>
        </p:txBody>
      </p:sp>
      <p:sp>
        <p:nvSpPr>
          <p:cNvPr id="14" name="Text 11"/>
          <p:cNvSpPr/>
          <p:nvPr/>
        </p:nvSpPr>
        <p:spPr>
          <a:xfrm>
            <a:off x="6492240" y="35204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RESULT</a:t>
            </a:r>
            <a:endParaRPr lang="en-US" sz="1100" dirty="0"/>
          </a:p>
        </p:txBody>
      </p:sp>
      <p:sp>
        <p:nvSpPr>
          <p:cNvPr id="15" name="Text 12"/>
          <p:cNvSpPr/>
          <p:nvPr/>
        </p:nvSpPr>
        <p:spPr>
          <a:xfrm>
            <a:off x="6492240" y="3840480"/>
            <a:ext cx="4754880" cy="109728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You approve the shape, then it fills each in — right the first time.</a:t>
            </a:r>
            <a:endParaRPr lang="en-US" sz="140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10  ·  APPENDIX</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48840"/>
            <a:ext cx="10058400" cy="365760"/>
          </a:xfrm>
          <a:prstGeom prst="rect">
            <a:avLst/>
          </a:prstGeom>
          <a:noFill/>
          <a:ln/>
        </p:spPr>
        <p:txBody>
          <a:bodyPr wrap="square" lIns="0" tIns="0" rIns="0" bIns="0" rtlCol="0" anchor="ctr"/>
          <a:lstStyle/>
          <a:p>
            <a:pPr indent="0" marL="0">
              <a:buNone/>
            </a:pPr>
            <a:r>
              <a:rPr lang="en-US" sz="1500" b="1" spc="300" kern="0" dirty="0">
                <a:solidFill>
                  <a:srgbClr val="FCE4EA"/>
                </a:solidFill>
                <a:latin typeface="Arial" pitchFamily="34" charset="0"/>
                <a:ea typeface="Arial" pitchFamily="34" charset="-122"/>
                <a:cs typeface="Arial" pitchFamily="34" charset="-120"/>
              </a:rPr>
              <a:t>LEVEL 2  ·  INTERMEDIATE</a:t>
            </a:r>
            <a:endParaRPr lang="en-US" sz="1500" dirty="0"/>
          </a:p>
        </p:txBody>
      </p:sp>
      <p:sp>
        <p:nvSpPr>
          <p:cNvPr id="6" name="Text 4"/>
          <p:cNvSpPr/>
          <p:nvPr/>
        </p:nvSpPr>
        <p:spPr>
          <a:xfrm>
            <a:off x="621792" y="2606040"/>
            <a:ext cx="10881360" cy="1097280"/>
          </a:xfrm>
          <a:prstGeom prst="rect">
            <a:avLst/>
          </a:prstGeom>
          <a:noFill/>
          <a:ln/>
        </p:spPr>
        <p:txBody>
          <a:bodyPr wrap="square" lIns="0" tIns="0" rIns="0" bIns="0" rtlCol="0" anchor="ctr"/>
          <a:lstStyle/>
          <a:p>
            <a:pPr indent="0" marL="0">
              <a:buNone/>
            </a:pPr>
            <a:r>
              <a:rPr lang="en-US" sz="4600" b="1" spc="-50" kern="0" dirty="0">
                <a:solidFill>
                  <a:srgbClr val="FFFFFF"/>
                </a:solidFill>
                <a:latin typeface="Arial" pitchFamily="34" charset="0"/>
                <a:ea typeface="Arial" pitchFamily="34" charset="-122"/>
                <a:cs typeface="Arial" pitchFamily="34" charset="-120"/>
              </a:rPr>
              <a:t>Module 11 — Checking the Work</a:t>
            </a:r>
            <a:endParaRPr lang="en-US" sz="4600" dirty="0"/>
          </a:p>
        </p:txBody>
      </p:sp>
      <p:sp>
        <p:nvSpPr>
          <p:cNvPr id="7" name="Text 5"/>
          <p:cNvSpPr/>
          <p:nvPr/>
        </p:nvSpPr>
        <p:spPr>
          <a:xfrm>
            <a:off x="658368" y="4069080"/>
            <a:ext cx="9692640" cy="1005840"/>
          </a:xfrm>
          <a:prstGeom prst="rect">
            <a:avLst/>
          </a:prstGeom>
          <a:noFill/>
          <a:ln/>
        </p:spPr>
        <p:txBody>
          <a:bodyPr wrap="square" lIns="0" tIns="0" rIns="0" bIns="0" rtlCol="0" anchor="t"/>
          <a:lstStyle/>
          <a:p>
            <a:pPr indent="0" marL="0">
              <a:lnSpc>
                <a:spcPct val="120000"/>
              </a:lnSpc>
              <a:buNone/>
            </a:pPr>
            <a:r>
              <a:rPr lang="en-US" sz="1800" dirty="0">
                <a:solidFill>
                  <a:srgbClr val="FCE4EA"/>
                </a:solidFill>
                <a:latin typeface="Arial" pitchFamily="34" charset="0"/>
                <a:ea typeface="Arial" pitchFamily="34" charset="-122"/>
                <a:cs typeface="Arial" pitchFamily="34" charset="-120"/>
              </a:rPr>
              <a:t>Get the assistant to check and improve its own work — and catch mistakes before you do.</a:t>
            </a:r>
            <a:endParaRPr lang="en-US" sz="1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LEARNING OBJECTIVES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By the end of this module, you will be able to:</a:t>
            </a:r>
            <a:endParaRPr lang="en-US" sz="3000" dirty="0"/>
          </a:p>
        </p:txBody>
      </p:sp>
      <p:sp>
        <p:nvSpPr>
          <p:cNvPr id="6" name="Shape 3"/>
          <p:cNvSpPr/>
          <p:nvPr/>
        </p:nvSpPr>
        <p:spPr>
          <a:xfrm>
            <a:off x="640080" y="2011680"/>
            <a:ext cx="10881360" cy="896112"/>
          </a:xfrm>
          <a:prstGeom prst="roundRect">
            <a:avLst>
              <a:gd name="adj" fmla="val 9184"/>
            </a:avLst>
          </a:prstGeom>
          <a:solidFill>
            <a:srgbClr val="F5F6F8"/>
          </a:solidFill>
          <a:ln w="12700">
            <a:solidFill>
              <a:srgbClr val="E7E9EE"/>
            </a:solidFill>
            <a:prstDash val="solid"/>
          </a:ln>
        </p:spPr>
      </p:sp>
      <p:sp>
        <p:nvSpPr>
          <p:cNvPr id="7" name="Shape 4"/>
          <p:cNvSpPr/>
          <p:nvPr/>
        </p:nvSpPr>
        <p:spPr>
          <a:xfrm>
            <a:off x="868680" y="2212848"/>
            <a:ext cx="493776" cy="493776"/>
          </a:xfrm>
          <a:prstGeom prst="ellipse">
            <a:avLst/>
          </a:prstGeom>
          <a:solidFill>
            <a:srgbClr val="D31242"/>
          </a:solidFill>
          <a:ln/>
        </p:spPr>
      </p:sp>
      <p:sp>
        <p:nvSpPr>
          <p:cNvPr id="8" name="Text 5"/>
          <p:cNvSpPr/>
          <p:nvPr/>
        </p:nvSpPr>
        <p:spPr>
          <a:xfrm>
            <a:off x="868680" y="2212848"/>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6"/>
          <p:cNvSpPr/>
          <p:nvPr/>
        </p:nvSpPr>
        <p:spPr>
          <a:xfrm>
            <a:off x="1600200" y="2121408"/>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Ask the assistant to critique and improve its own draft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Its first attempt is rarely its best.</a:t>
            </a:r>
            <a:endParaRPr lang="en-US" sz="1600" dirty="0"/>
          </a:p>
        </p:txBody>
      </p:sp>
      <p:sp>
        <p:nvSpPr>
          <p:cNvPr id="10" name="Shape 7"/>
          <p:cNvSpPr/>
          <p:nvPr/>
        </p:nvSpPr>
        <p:spPr>
          <a:xfrm>
            <a:off x="640080" y="3035808"/>
            <a:ext cx="10881360" cy="896112"/>
          </a:xfrm>
          <a:prstGeom prst="roundRect">
            <a:avLst>
              <a:gd name="adj" fmla="val 9184"/>
            </a:avLst>
          </a:prstGeom>
          <a:solidFill>
            <a:srgbClr val="F5F6F8"/>
          </a:solidFill>
          <a:ln w="12700">
            <a:solidFill>
              <a:srgbClr val="E7E9EE"/>
            </a:solidFill>
            <a:prstDash val="solid"/>
          </a:ln>
        </p:spPr>
      </p:sp>
      <p:sp>
        <p:nvSpPr>
          <p:cNvPr id="11" name="Shape 8"/>
          <p:cNvSpPr/>
          <p:nvPr/>
        </p:nvSpPr>
        <p:spPr>
          <a:xfrm>
            <a:off x="868680" y="3236976"/>
            <a:ext cx="493776" cy="493776"/>
          </a:xfrm>
          <a:prstGeom prst="ellipse">
            <a:avLst/>
          </a:prstGeom>
          <a:solidFill>
            <a:srgbClr val="D31242"/>
          </a:solidFill>
          <a:ln/>
        </p:spPr>
      </p:sp>
      <p:sp>
        <p:nvSpPr>
          <p:cNvPr id="12" name="Text 9"/>
          <p:cNvSpPr/>
          <p:nvPr/>
        </p:nvSpPr>
        <p:spPr>
          <a:xfrm>
            <a:off x="868680" y="3236976"/>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3" name="Text 10"/>
          <p:cNvSpPr/>
          <p:nvPr/>
        </p:nvSpPr>
        <p:spPr>
          <a:xfrm>
            <a:off x="1600200" y="3145536"/>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Have it check each fact one at a time</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Catch the slip a quick read misses.</a:t>
            </a:r>
            <a:endParaRPr lang="en-US" sz="1600" dirty="0"/>
          </a:p>
        </p:txBody>
      </p:sp>
      <p:sp>
        <p:nvSpPr>
          <p:cNvPr id="14" name="Shape 11"/>
          <p:cNvSpPr/>
          <p:nvPr/>
        </p:nvSpPr>
        <p:spPr>
          <a:xfrm>
            <a:off x="640080" y="4059936"/>
            <a:ext cx="10881360" cy="896112"/>
          </a:xfrm>
          <a:prstGeom prst="roundRect">
            <a:avLst>
              <a:gd name="adj" fmla="val 9184"/>
            </a:avLst>
          </a:prstGeom>
          <a:solidFill>
            <a:srgbClr val="F5F6F8"/>
          </a:solidFill>
          <a:ln w="12700">
            <a:solidFill>
              <a:srgbClr val="E7E9EE"/>
            </a:solidFill>
            <a:prstDash val="solid"/>
          </a:ln>
        </p:spPr>
      </p:sp>
      <p:sp>
        <p:nvSpPr>
          <p:cNvPr id="15" name="Shape 12"/>
          <p:cNvSpPr/>
          <p:nvPr/>
        </p:nvSpPr>
        <p:spPr>
          <a:xfrm>
            <a:off x="868680" y="4261104"/>
            <a:ext cx="493776" cy="493776"/>
          </a:xfrm>
          <a:prstGeom prst="ellipse">
            <a:avLst/>
          </a:prstGeom>
          <a:solidFill>
            <a:srgbClr val="D31242"/>
          </a:solidFill>
          <a:ln/>
        </p:spPr>
      </p:sp>
      <p:sp>
        <p:nvSpPr>
          <p:cNvPr id="16" name="Text 13"/>
          <p:cNvSpPr/>
          <p:nvPr/>
        </p:nvSpPr>
        <p:spPr>
          <a:xfrm>
            <a:off x="868680" y="4261104"/>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p:nvPr/>
        </p:nvSpPr>
        <p:spPr>
          <a:xfrm>
            <a:off x="1600200" y="4169664"/>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Give it a checklist to grade its work against</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Tell it exactly what 'good' looks like.</a:t>
            </a:r>
            <a:endParaRPr lang="en-US" sz="1600" dirty="0"/>
          </a:p>
        </p:txBody>
      </p:sp>
      <p:sp>
        <p:nvSpPr>
          <p:cNvPr id="18" name="Shape 15"/>
          <p:cNvSpPr/>
          <p:nvPr/>
        </p:nvSpPr>
        <p:spPr>
          <a:xfrm>
            <a:off x="640080" y="5084064"/>
            <a:ext cx="10881360" cy="896112"/>
          </a:xfrm>
          <a:prstGeom prst="roundRect">
            <a:avLst>
              <a:gd name="adj" fmla="val 9184"/>
            </a:avLst>
          </a:prstGeom>
          <a:solidFill>
            <a:srgbClr val="F5F6F8"/>
          </a:solidFill>
          <a:ln w="12700">
            <a:solidFill>
              <a:srgbClr val="E7E9EE"/>
            </a:solidFill>
            <a:prstDash val="solid"/>
          </a:ln>
        </p:spPr>
      </p:sp>
      <p:sp>
        <p:nvSpPr>
          <p:cNvPr id="19" name="Shape 16"/>
          <p:cNvSpPr/>
          <p:nvPr/>
        </p:nvSpPr>
        <p:spPr>
          <a:xfrm>
            <a:off x="868680" y="5285232"/>
            <a:ext cx="493776" cy="493776"/>
          </a:xfrm>
          <a:prstGeom prst="ellipse">
            <a:avLst/>
          </a:prstGeom>
          <a:solidFill>
            <a:srgbClr val="D31242"/>
          </a:solidFill>
          <a:ln/>
        </p:spPr>
      </p:sp>
      <p:sp>
        <p:nvSpPr>
          <p:cNvPr id="20" name="Text 17"/>
          <p:cNvSpPr/>
          <p:nvPr/>
        </p:nvSpPr>
        <p:spPr>
          <a:xfrm>
            <a:off x="868680" y="5285232"/>
            <a:ext cx="493776" cy="49377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8"/>
          <p:cNvSpPr/>
          <p:nvPr/>
        </p:nvSpPr>
        <p:spPr>
          <a:xfrm>
            <a:off x="1600200" y="5193792"/>
            <a:ext cx="9692640" cy="694944"/>
          </a:xfrm>
          <a:prstGeom prst="rect">
            <a:avLst/>
          </a:prstGeom>
          <a:noFill/>
          <a:ln/>
        </p:spPr>
        <p:txBody>
          <a:bodyPr wrap="square" lIns="0" tIns="0" rIns="0" bIns="0" rtlCol="0" anchor="ctr"/>
          <a:lstStyle/>
          <a:p>
            <a:pPr indent="0" marL="0">
              <a:lnSpc>
                <a:spcPct val="105000"/>
              </a:lnSpc>
              <a:buNone/>
            </a:pPr>
            <a:r>
              <a:rPr lang="en-US" sz="1600" b="1" dirty="0">
                <a:solidFill>
                  <a:srgbClr val="1F2733"/>
                </a:solidFill>
                <a:latin typeface="Arial" pitchFamily="34" charset="0"/>
                <a:ea typeface="Arial" pitchFamily="34" charset="-122"/>
                <a:cs typeface="Arial" pitchFamily="34" charset="-120"/>
              </a:rPr>
              <a:t>Ask it to flag what it isn't sure of</a:t>
            </a:r>
            <a:endParaRPr lang="en-US" sz="1600" dirty="0"/>
          </a:p>
          <a:p>
            <a:pPr indent="0" marL="0">
              <a:lnSpc>
                <a:spcPct val="105000"/>
              </a:lnSpc>
              <a:buNone/>
            </a:pPr>
            <a:r>
              <a:rPr lang="en-US" sz="1250" dirty="0">
                <a:solidFill>
                  <a:srgbClr val="5E6A78"/>
                </a:solidFill>
                <a:latin typeface="Arial" pitchFamily="34" charset="0"/>
                <a:ea typeface="Arial" pitchFamily="34" charset="-122"/>
                <a:cs typeface="Arial" pitchFamily="34" charset="-120"/>
              </a:rPr>
              <a:t>Learn where to look before you rely on it.</a:t>
            </a:r>
            <a:endParaRPr lang="en-US" sz="1600" dirty="0"/>
          </a:p>
        </p:txBody>
      </p:sp>
      <p:sp>
        <p:nvSpPr>
          <p:cNvPr id="22" name="Text 19"/>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23" name="Text 20"/>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WHY THIS MATTERS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confident draft can still be wrong</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assistant hands you a polished, sure-sounding draft — and it may have a mistake buried in it. The fix is to make checking part of the job: ask it to review its own work before you send anything to a member.</a:t>
            </a:r>
            <a:endParaRPr lang="en-US" sz="1650" dirty="0"/>
          </a:p>
        </p:txBody>
      </p:sp>
      <p:sp>
        <p:nvSpPr>
          <p:cNvPr id="7" name="Shape 4"/>
          <p:cNvSpPr/>
          <p:nvPr/>
        </p:nvSpPr>
        <p:spPr>
          <a:xfrm>
            <a:off x="7360920" y="2103120"/>
            <a:ext cx="4160520" cy="3108960"/>
          </a:xfrm>
          <a:prstGeom prst="roundRect">
            <a:avLst>
              <a:gd name="adj" fmla="val 2647"/>
            </a:avLst>
          </a:prstGeom>
          <a:solidFill>
            <a:srgbClr val="FCE4EA"/>
          </a:solidFill>
          <a:ln/>
        </p:spPr>
      </p:sp>
      <p:sp>
        <p:nvSpPr>
          <p:cNvPr id="8" name="Text 5"/>
          <p:cNvSpPr/>
          <p:nvPr/>
        </p:nvSpPr>
        <p:spPr>
          <a:xfrm>
            <a:off x="7680960" y="2377440"/>
            <a:ext cx="3566160" cy="457200"/>
          </a:xfrm>
          <a:prstGeom prst="rect">
            <a:avLst/>
          </a:prstGeom>
          <a:noFill/>
          <a:ln/>
        </p:spPr>
        <p:txBody>
          <a:bodyPr wrap="square" lIns="0" tIns="0" rIns="0" bIns="0" rtlCol="0" anchor="ctr"/>
          <a:lstStyle/>
          <a:p>
            <a:pPr indent="0" marL="0">
              <a:buNone/>
            </a:pPr>
            <a:r>
              <a:rPr lang="en-US" sz="1150" b="1" spc="50" kern="0" dirty="0">
                <a:solidFill>
                  <a:srgbClr val="D31242"/>
                </a:solidFill>
                <a:latin typeface="Arial" pitchFamily="34" charset="0"/>
                <a:ea typeface="Arial" pitchFamily="34" charset="-122"/>
                <a:cs typeface="Arial" pitchFamily="34" charset="-120"/>
              </a:rPr>
              <a:t>OUR EXAMPLE — USED ALL MODULE</a:t>
            </a:r>
            <a:endParaRPr lang="en-US" sz="1150" dirty="0"/>
          </a:p>
        </p:txBody>
      </p:sp>
      <p:sp>
        <p:nvSpPr>
          <p:cNvPr id="9" name="Text 6"/>
          <p:cNvSpPr/>
          <p:nvPr/>
        </p:nvSpPr>
        <p:spPr>
          <a:xfrm>
            <a:off x="7680960" y="2971800"/>
            <a:ext cx="3566160" cy="1920240"/>
          </a:xfrm>
          <a:prstGeom prst="rect">
            <a:avLst/>
          </a:prstGeom>
          <a:noFill/>
          <a:ln/>
        </p:spPr>
        <p:txBody>
          <a:bodyPr wrap="square" lIns="0" tIns="0" rIns="0" bIns="0" rtlCol="0" anchor="t"/>
          <a:lstStyle/>
          <a:p>
            <a:pPr indent="0" marL="0">
              <a:lnSpc>
                <a:spcPct val="115000"/>
              </a:lnSpc>
              <a:buNone/>
            </a:pPr>
            <a:r>
              <a:rPr lang="en-US" sz="1800" b="1" dirty="0">
                <a:solidFill>
                  <a:srgbClr val="1F2733"/>
                </a:solidFill>
                <a:latin typeface="Arial" pitchFamily="34" charset="0"/>
                <a:ea typeface="Arial" pitchFamily="34" charset="-122"/>
                <a:cs typeface="Arial" pitchFamily="34" charset="-120"/>
              </a:rPr>
              <a:t>Checking a draft member email about New Year's Day club hours before it goes out.</a:t>
            </a:r>
            <a:endParaRPr lang="en-US" sz="180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1 — ASK IT TO IMPROVE ITS DRAFT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it critique and revise its own work</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assistant's first draft is rarely its best. Ask it to review what it just wrote, name the weak spots, and produce a better version. It often catches its own clumsy lines and gaps.</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One quick self-review</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“Review your draft. What's unclear or wrong? Then rewrite it, better.”</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A single self-review pass lifts most first drafts noticeably.</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2 — CHECK EACH FACT, ONE BY ONE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Verify the claims against the source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For anything with facts in it, have the assistant go through each claim separately and confirm it against the details you provided. Checking one at a time catches the slip a quick read glides past.</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Fact by fact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“Go through each claim in the draft and confirm it against the hours below.”</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It flags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“The draft says 8 AM–9 PM, but the hours say 9 AM–6 PM.”</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3 — GIVE IT A CHECKLIST</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Hand over the standard, and let it grade</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Tell the assistant exactly what a good result looks like — a short checklist — and ask it to grade its own draft against each point. It stops guessing what you want and starts hitting the mark.</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Grade to a checklist</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“Score the draft on: correct hours, warm tone, under 60 words. Fix anything that fails.”</a:t>
            </a:r>
            <a:endParaRPr lang="en-US" sz="1450" dirty="0"/>
          </a:p>
          <a:p>
            <a:pPr indent="0" marL="0">
              <a:lnSpc>
                <a:spcPct val="115000"/>
              </a:lnSpc>
              <a:buNone/>
            </a:pPr>
            <a:endParaRPr lang="en-US" sz="1450" dirty="0"/>
          </a:p>
          <a:p>
            <a:pPr indent="0" marL="0">
              <a:lnSpc>
                <a:spcPct val="115000"/>
              </a:lnSpc>
              <a:buNone/>
            </a:pPr>
            <a:r>
              <a:rPr lang="en-US" sz="1450" dirty="0">
                <a:solidFill>
                  <a:srgbClr val="1F2733"/>
                </a:solidFill>
                <a:latin typeface="Arial" pitchFamily="34" charset="0"/>
                <a:ea typeface="Arial" pitchFamily="34" charset="-122"/>
                <a:cs typeface="Arial" pitchFamily="34" charset="-120"/>
              </a:rPr>
              <a:t>It marks each point pass or fail, then fixes the fails.</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STEP 4 — ASK HOW SURE IT IS</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Have it flag what it isn't confident about</a:t>
            </a:r>
            <a:endParaRPr lang="en-US" sz="3000" dirty="0"/>
          </a:p>
        </p:txBody>
      </p:sp>
      <p:sp>
        <p:nvSpPr>
          <p:cNvPr id="6" name="Text 3"/>
          <p:cNvSpPr/>
          <p:nvPr/>
        </p:nvSpPr>
        <p:spPr>
          <a:xfrm>
            <a:off x="640080" y="2103120"/>
            <a:ext cx="6309360" cy="3108960"/>
          </a:xfrm>
          <a:prstGeom prst="rect">
            <a:avLst/>
          </a:prstGeom>
          <a:noFill/>
          <a:ln/>
        </p:spPr>
        <p:txBody>
          <a:bodyPr wrap="square" lIns="0" tIns="0" rIns="0" bIns="0" rtlCol="0" anchor="t"/>
          <a:lstStyle/>
          <a:p>
            <a:pPr indent="0" marL="0">
              <a:lnSpc>
                <a:spcPct val="120000"/>
              </a:lnSpc>
              <a:buNone/>
            </a:pPr>
            <a:r>
              <a:rPr lang="en-US" sz="1650" dirty="0">
                <a:solidFill>
                  <a:srgbClr val="3A4452"/>
                </a:solidFill>
                <a:latin typeface="Arial" pitchFamily="34" charset="0"/>
                <a:ea typeface="Arial" pitchFamily="34" charset="-122"/>
                <a:cs typeface="Arial" pitchFamily="34" charset="-120"/>
              </a:rPr>
              <a:t>The assistant sounds equally certain whether it's right or guessing. Ask it to flag anything it's unsure of, and you learn exactly where to look before you rely on the answer.</a:t>
            </a:r>
            <a:endParaRPr lang="en-US" sz="1650" dirty="0"/>
          </a:p>
        </p:txBody>
      </p:sp>
      <p:sp>
        <p:nvSpPr>
          <p:cNvPr id="7" name="Shape 4"/>
          <p:cNvSpPr/>
          <p:nvPr/>
        </p:nvSpPr>
        <p:spPr>
          <a:xfrm>
            <a:off x="7269480" y="2103120"/>
            <a:ext cx="4251960" cy="3200400"/>
          </a:xfrm>
          <a:prstGeom prst="roundRect">
            <a:avLst>
              <a:gd name="adj" fmla="val 2571"/>
            </a:avLst>
          </a:prstGeom>
          <a:solidFill>
            <a:srgbClr val="F5F6F8"/>
          </a:solidFill>
          <a:ln w="12700">
            <a:solidFill>
              <a:srgbClr val="E7E9EE"/>
            </a:solidFill>
            <a:prstDash val="solid"/>
          </a:ln>
        </p:spPr>
      </p:sp>
      <p:sp>
        <p:nvSpPr>
          <p:cNvPr id="8" name="Text 5"/>
          <p:cNvSpPr/>
          <p:nvPr/>
        </p:nvSpPr>
        <p:spPr>
          <a:xfrm>
            <a:off x="7589520" y="2377440"/>
            <a:ext cx="3657600" cy="365760"/>
          </a:xfrm>
          <a:prstGeom prst="rect">
            <a:avLst/>
          </a:prstGeom>
          <a:noFill/>
          <a:ln/>
        </p:spPr>
        <p:txBody>
          <a:bodyPr wrap="square" lIns="0" tIns="0" rIns="0" bIns="0" rtlCol="0" anchor="ctr"/>
          <a:lstStyle/>
          <a:p>
            <a:pPr indent="0" marL="0">
              <a:buNone/>
            </a:pPr>
            <a:r>
              <a:rPr lang="en-US" sz="1200" b="1" spc="100" kern="0" dirty="0">
                <a:solidFill>
                  <a:srgbClr val="D31242"/>
                </a:solidFill>
                <a:latin typeface="Arial" pitchFamily="34" charset="0"/>
                <a:ea typeface="Arial" pitchFamily="34" charset="-122"/>
                <a:cs typeface="Arial" pitchFamily="34" charset="-120"/>
              </a:rPr>
              <a:t>Flag the shaky parts</a:t>
            </a:r>
            <a:endParaRPr lang="en-US" sz="1200" dirty="0"/>
          </a:p>
        </p:txBody>
      </p:sp>
      <p:sp>
        <p:nvSpPr>
          <p:cNvPr id="9" name="Text 6"/>
          <p:cNvSpPr/>
          <p:nvPr/>
        </p:nvSpPr>
        <p:spPr>
          <a:xfrm>
            <a:off x="7589520" y="2834640"/>
            <a:ext cx="3657600" cy="2331720"/>
          </a:xfrm>
          <a:prstGeom prst="rect">
            <a:avLst/>
          </a:prstGeom>
          <a:noFill/>
          <a:ln/>
        </p:spPr>
        <p:txBody>
          <a:bodyPr wrap="square" lIns="0" tIns="0" rIns="0" bIns="0" rtlCol="0" anchor="t"/>
          <a:lstStyle/>
          <a:p>
            <a:pPr indent="0" marL="0">
              <a:lnSpc>
                <a:spcPct val="115000"/>
              </a:lnSpc>
              <a:buNone/>
            </a:pPr>
            <a:r>
              <a:rPr lang="en-US" sz="1450" dirty="0">
                <a:solidFill>
                  <a:srgbClr val="1F2733"/>
                </a:solidFill>
                <a:latin typeface="Arial" pitchFamily="34" charset="0"/>
                <a:ea typeface="Arial" pitchFamily="34" charset="-122"/>
                <a:cs typeface="Arial" pitchFamily="34" charset="-120"/>
              </a:rPr>
              <a:t>“Mark anything you're not fully confident about.”</a:t>
            </a:r>
            <a:endParaRPr lang="en-US" sz="1450" dirty="0"/>
          </a:p>
          <a:p>
            <a:pPr indent="0" marL="0">
              <a:lnSpc>
                <a:spcPct val="115000"/>
              </a:lnSpc>
              <a:buNone/>
            </a:pPr>
            <a:endParaRPr lang="en-US" sz="1450" dirty="0"/>
          </a:p>
          <a:p>
            <a:pPr indent="0" marL="0">
              <a:lnSpc>
                <a:spcPct val="115000"/>
              </a:lnSpc>
              <a:buNone/>
            </a:pPr>
            <a:r>
              <a:rPr lang="en-US" sz="1450" b="1" dirty="0">
                <a:solidFill>
                  <a:srgbClr val="D31242"/>
                </a:solidFill>
                <a:latin typeface="Arial" pitchFamily="34" charset="0"/>
                <a:ea typeface="Arial" pitchFamily="34" charset="-122"/>
                <a:cs typeface="Arial" pitchFamily="34" charset="-120"/>
              </a:rPr>
              <a:t>It replies</a:t>
            </a:r>
            <a:pPr indent="0" marL="0">
              <a:lnSpc>
                <a:spcPct val="115000"/>
              </a:lnSpc>
              <a:buNone/>
            </a:pPr>
            <a:r>
              <a:rPr lang="en-US" sz="1450" dirty="0">
                <a:solidFill>
                  <a:srgbClr val="1F2733"/>
                </a:solidFill>
                <a:latin typeface="Arial" pitchFamily="34" charset="0"/>
                <a:ea typeface="Arial" pitchFamily="34" charset="-122"/>
                <a:cs typeface="Arial" pitchFamily="34" charset="-120"/>
              </a:rPr>
              <a:t>   “I'm confident on the hours; I'm unsure whether the café is open.”</a:t>
            </a:r>
            <a:endParaRPr lang="en-US" sz="14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PUT IT ALL TOGETHER</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check-and-correct prompt</a:t>
            </a:r>
            <a:endParaRPr lang="en-US" sz="3000" dirty="0"/>
          </a:p>
        </p:txBody>
      </p:sp>
      <p:sp>
        <p:nvSpPr>
          <p:cNvPr id="6" name="Shape 3"/>
          <p:cNvSpPr/>
          <p:nvPr/>
        </p:nvSpPr>
        <p:spPr>
          <a:xfrm>
            <a:off x="640080" y="2057400"/>
            <a:ext cx="10881360" cy="3566160"/>
          </a:xfrm>
          <a:prstGeom prst="roundRect">
            <a:avLst>
              <a:gd name="adj" fmla="val 2308"/>
            </a:avLst>
          </a:prstGeom>
          <a:solidFill>
            <a:srgbClr val="F5F6F8"/>
          </a:solidFill>
          <a:ln w="12700">
            <a:solidFill>
              <a:srgbClr val="E7E9EE"/>
            </a:solidFill>
            <a:prstDash val="solid"/>
          </a:ln>
        </p:spPr>
      </p:sp>
      <p:sp>
        <p:nvSpPr>
          <p:cNvPr id="7" name="Text 4"/>
          <p:cNvSpPr/>
          <p:nvPr/>
        </p:nvSpPr>
        <p:spPr>
          <a:xfrm>
            <a:off x="1051560" y="2377440"/>
            <a:ext cx="10058400" cy="2971800"/>
          </a:xfrm>
          <a:prstGeom prst="rect">
            <a:avLst/>
          </a:prstGeom>
          <a:noFill/>
          <a:ln/>
        </p:spPr>
        <p:txBody>
          <a:bodyPr wrap="square" lIns="0" tIns="0" rIns="0" bIns="0" rtlCol="0" anchor="t"/>
          <a:lstStyle/>
          <a:p>
            <a:pPr indent="0" marL="0">
              <a:lnSpc>
                <a:spcPct val="128000"/>
              </a:lnSpc>
              <a:buNone/>
            </a:pPr>
            <a:r>
              <a:rPr lang="en-US" sz="1550" b="1" dirty="0">
                <a:solidFill>
                  <a:srgbClr val="D31242"/>
                </a:solidFill>
                <a:latin typeface="Arial" pitchFamily="34" charset="0"/>
                <a:ea typeface="Arial" pitchFamily="34" charset="-122"/>
                <a:cs typeface="Arial" pitchFamily="34" charset="-120"/>
              </a:rPr>
              <a:t>Draft</a:t>
            </a:r>
            <a:pPr indent="0" marL="0">
              <a:lnSpc>
                <a:spcPct val="128000"/>
              </a:lnSpc>
              <a:buNone/>
            </a:pPr>
            <a:r>
              <a:rPr lang="en-US" sz="1550" dirty="0">
                <a:solidFill>
                  <a:srgbClr val="1F2733"/>
                </a:solidFill>
                <a:latin typeface="Arial" pitchFamily="34" charset="0"/>
                <a:ea typeface="Arial" pitchFamily="34" charset="-122"/>
                <a:cs typeface="Arial" pitchFamily="34" charset="-120"/>
              </a:rPr>
              <a:t>   Here's my draft New Year's Day email. [ the draft ]</a:t>
            </a:r>
            <a:endParaRPr lang="en-US" sz="1550" dirty="0"/>
          </a:p>
          <a:p>
            <a:pPr indent="0" marL="0">
              <a:lnSpc>
                <a:spcPct val="128000"/>
              </a:lnSpc>
              <a:buNone/>
            </a:pPr>
            <a:endParaRPr lang="en-US" sz="1550" dirty="0"/>
          </a:p>
          <a:p>
            <a:pPr indent="0" marL="0">
              <a:lnSpc>
                <a:spcPct val="128000"/>
              </a:lnSpc>
              <a:buNone/>
            </a:pPr>
            <a:r>
              <a:rPr lang="en-US" sz="1550" b="1" dirty="0">
                <a:solidFill>
                  <a:srgbClr val="D31242"/>
                </a:solidFill>
                <a:latin typeface="Arial" pitchFamily="34" charset="0"/>
                <a:ea typeface="Arial" pitchFamily="34" charset="-122"/>
                <a:cs typeface="Arial" pitchFamily="34" charset="-120"/>
              </a:rPr>
              <a:t>The facts</a:t>
            </a:r>
            <a:pPr indent="0" marL="0">
              <a:lnSpc>
                <a:spcPct val="128000"/>
              </a:lnSpc>
              <a:buNone/>
            </a:pPr>
            <a:r>
              <a:rPr lang="en-US" sz="1550" dirty="0">
                <a:solidFill>
                  <a:srgbClr val="1F2733"/>
                </a:solidFill>
                <a:latin typeface="Arial" pitchFamily="34" charset="0"/>
                <a:ea typeface="Arial" pitchFamily="34" charset="-122"/>
                <a:cs typeface="Arial" pitchFamily="34" charset="-120"/>
              </a:rPr>
              <a:t>   New Year's Day hours: 9 AM–6 PM (shorter than usual).</a:t>
            </a:r>
            <a:endParaRPr lang="en-US" sz="1550" dirty="0"/>
          </a:p>
          <a:p>
            <a:pPr indent="0" marL="0">
              <a:lnSpc>
                <a:spcPct val="128000"/>
              </a:lnSpc>
              <a:buNone/>
            </a:pPr>
            <a:endParaRPr lang="en-US" sz="1550" dirty="0"/>
          </a:p>
          <a:p>
            <a:pPr indent="0" marL="0">
              <a:lnSpc>
                <a:spcPct val="128000"/>
              </a:lnSpc>
              <a:buNone/>
            </a:pPr>
            <a:r>
              <a:rPr lang="en-US" sz="1550" b="1" dirty="0">
                <a:solidFill>
                  <a:srgbClr val="D31242"/>
                </a:solidFill>
                <a:latin typeface="Arial" pitchFamily="34" charset="0"/>
                <a:ea typeface="Arial" pitchFamily="34" charset="-122"/>
                <a:cs typeface="Arial" pitchFamily="34" charset="-120"/>
              </a:rPr>
              <a:t>Check it</a:t>
            </a:r>
            <a:pPr indent="0" marL="0">
              <a:lnSpc>
                <a:spcPct val="128000"/>
              </a:lnSpc>
              <a:buNone/>
            </a:pPr>
            <a:r>
              <a:rPr lang="en-US" sz="1550" dirty="0">
                <a:solidFill>
                  <a:srgbClr val="1F2733"/>
                </a:solidFill>
                <a:latin typeface="Arial" pitchFamily="34" charset="0"/>
                <a:ea typeface="Arial" pitchFamily="34" charset="-122"/>
                <a:cs typeface="Arial" pitchFamily="34" charset="-120"/>
              </a:rPr>
              <a:t>   Verify each fact against the hours, score it for tone and length, and flag anything you're unsure of. Then give me the corrected email.</a:t>
            </a:r>
            <a:endParaRPr lang="en-US" sz="1550" dirty="0"/>
          </a:p>
        </p:txBody>
      </p:sp>
      <p:sp>
        <p:nvSpPr>
          <p:cNvPr id="8" name="Text 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9" name="Text 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SEE THE DIFFERENCE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The draft that ships versus the one that's checked</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FIRST DRAFT, UNCHECKED</a:t>
            </a:r>
            <a:endParaRPr lang="en-US" sz="1100" dirty="0"/>
          </a:p>
        </p:txBody>
      </p:sp>
      <p:sp>
        <p:nvSpPr>
          <p:cNvPr id="8" name="Text 5"/>
          <p:cNvSpPr/>
          <p:nvPr/>
        </p:nvSpPr>
        <p:spPr>
          <a:xfrm>
            <a:off x="914400" y="2606040"/>
            <a:ext cx="4754880" cy="274320"/>
          </a:xfrm>
          <a:prstGeom prst="rect">
            <a:avLst/>
          </a:prstGeom>
          <a:noFill/>
          <a:ln/>
        </p:spPr>
        <p:txBody>
          <a:bodyPr wrap="square" lIns="0" tIns="0" rIns="0" bIns="0" rtlCol="0" anchor="ctr"/>
          <a:lstStyle/>
          <a:p>
            <a:pPr indent="0" marL="0">
              <a:buNone/>
            </a:pPr>
            <a:r>
              <a:rPr lang="en-US" sz="1100" b="1" spc="100" kern="0" dirty="0">
                <a:solidFill>
                  <a:srgbClr val="B91C1C"/>
                </a:solidFill>
                <a:latin typeface="Arial" pitchFamily="34" charset="0"/>
                <a:ea typeface="Arial" pitchFamily="34" charset="-122"/>
                <a:cs typeface="Arial" pitchFamily="34" charset="-120"/>
              </a:rPr>
              <a:t>THE EMAIL THAT GOES OUT</a:t>
            </a:r>
            <a:endParaRPr lang="en-US" sz="1100" dirty="0"/>
          </a:p>
        </p:txBody>
      </p:sp>
      <p:sp>
        <p:nvSpPr>
          <p:cNvPr id="9" name="Text 6"/>
          <p:cNvSpPr/>
          <p:nvPr/>
        </p:nvSpPr>
        <p:spPr>
          <a:xfrm>
            <a:off x="914400" y="2926080"/>
            <a:ext cx="4754880" cy="128016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“Happy New Year! We're open our regular 8 AM–9 PM today. See you at the club!”</a:t>
            </a:r>
            <a:endParaRPr lang="en-US" sz="1450" dirty="0"/>
          </a:p>
        </p:txBody>
      </p:sp>
      <p:sp>
        <p:nvSpPr>
          <p:cNvPr id="10" name="Text 7"/>
          <p:cNvSpPr/>
          <p:nvPr/>
        </p:nvSpPr>
        <p:spPr>
          <a:xfrm>
            <a:off x="914400" y="4846320"/>
            <a:ext cx="4754880" cy="640080"/>
          </a:xfrm>
          <a:prstGeom prst="rect">
            <a:avLst/>
          </a:prstGeom>
          <a:noFill/>
          <a:ln/>
        </p:spPr>
        <p:txBody>
          <a:bodyPr wrap="square" lIns="0" tIns="0" rIns="0" bIns="0" rtlCol="0" anchor="t"/>
          <a:lstStyle/>
          <a:p>
            <a:pPr indent="0" marL="0">
              <a:lnSpc>
                <a:spcPct val="112000"/>
              </a:lnSpc>
              <a:buNone/>
            </a:pPr>
            <a:r>
              <a:rPr lang="en-US" sz="1250" i="1" dirty="0">
                <a:solidFill>
                  <a:srgbClr val="5E6A78"/>
                </a:solidFill>
                <a:latin typeface="Arial" pitchFamily="34" charset="0"/>
                <a:ea typeface="Arial" pitchFamily="34" charset="-122"/>
                <a:cs typeface="Arial" pitchFamily="34" charset="-120"/>
              </a:rPr>
              <a:t>Wrong hours — and it's already in members' inboxes.</a:t>
            </a:r>
            <a:endParaRPr lang="en-US" sz="1250" dirty="0"/>
          </a:p>
        </p:txBody>
      </p:sp>
      <p:sp>
        <p:nvSpPr>
          <p:cNvPr id="11" name="Shape 8"/>
          <p:cNvSpPr/>
          <p:nvPr/>
        </p:nvSpPr>
        <p:spPr>
          <a:xfrm>
            <a:off x="6217920" y="2103120"/>
            <a:ext cx="5303520" cy="3611880"/>
          </a:xfrm>
          <a:prstGeom prst="roundRect">
            <a:avLst>
              <a:gd name="adj" fmla="val 2278"/>
            </a:avLst>
          </a:prstGeom>
          <a:solidFill>
            <a:srgbClr val="DCFCE7"/>
          </a:solidFill>
          <a:ln/>
        </p:spPr>
      </p:sp>
      <p:sp>
        <p:nvSpPr>
          <p:cNvPr id="12" name="Text 9"/>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AFTER A SELF-CHECK</a:t>
            </a:r>
            <a:endParaRPr lang="en-US" sz="1100" dirty="0"/>
          </a:p>
        </p:txBody>
      </p:sp>
      <p:sp>
        <p:nvSpPr>
          <p:cNvPr id="13" name="Text 10"/>
          <p:cNvSpPr/>
          <p:nvPr/>
        </p:nvSpPr>
        <p:spPr>
          <a:xfrm>
            <a:off x="6492240" y="2606040"/>
            <a:ext cx="4754880" cy="274320"/>
          </a:xfrm>
          <a:prstGeom prst="rect">
            <a:avLst/>
          </a:prstGeom>
          <a:noFill/>
          <a:ln/>
        </p:spPr>
        <p:txBody>
          <a:bodyPr wrap="square" lIns="0" tIns="0" rIns="0" bIns="0" rtlCol="0" anchor="ctr"/>
          <a:lstStyle/>
          <a:p>
            <a:pPr indent="0" marL="0">
              <a:buNone/>
            </a:pPr>
            <a:r>
              <a:rPr lang="en-US" sz="1100" b="1" spc="100" kern="0" dirty="0">
                <a:solidFill>
                  <a:srgbClr val="15803D"/>
                </a:solidFill>
                <a:latin typeface="Arial" pitchFamily="34" charset="0"/>
                <a:ea typeface="Arial" pitchFamily="34" charset="-122"/>
                <a:cs typeface="Arial" pitchFamily="34" charset="-120"/>
              </a:rPr>
              <a:t>THE EMAIL THAT GOES OUT</a:t>
            </a:r>
            <a:endParaRPr lang="en-US" sz="1100" dirty="0"/>
          </a:p>
        </p:txBody>
      </p:sp>
      <p:sp>
        <p:nvSpPr>
          <p:cNvPr id="14" name="Text 11"/>
          <p:cNvSpPr/>
          <p:nvPr/>
        </p:nvSpPr>
        <p:spPr>
          <a:xfrm>
            <a:off x="6492240" y="2926080"/>
            <a:ext cx="4754880" cy="146304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“Happy New Year! We're open 9 AM–6 PM today — a little shorter for the holiday. See you at the club!”</a:t>
            </a:r>
            <a:endParaRPr lang="en-US" sz="1450" dirty="0"/>
          </a:p>
        </p:txBody>
      </p:sp>
      <p:sp>
        <p:nvSpPr>
          <p:cNvPr id="15" name="Text 12"/>
          <p:cNvSpPr/>
          <p:nvPr/>
        </p:nvSpPr>
        <p:spPr>
          <a:xfrm>
            <a:off x="6492240" y="5029200"/>
            <a:ext cx="4754880" cy="457200"/>
          </a:xfrm>
          <a:prstGeom prst="rect">
            <a:avLst/>
          </a:prstGeom>
          <a:noFill/>
          <a:ln/>
        </p:spPr>
        <p:txBody>
          <a:bodyPr wrap="square" lIns="0" tIns="0" rIns="0" bIns="0" rtlCol="0" anchor="t"/>
          <a:lstStyle/>
          <a:p>
            <a:pPr indent="0" marL="0">
              <a:buNone/>
            </a:pPr>
            <a:r>
              <a:rPr lang="en-US" sz="1250" i="1" dirty="0">
                <a:solidFill>
                  <a:srgbClr val="15803D"/>
                </a:solidFill>
                <a:latin typeface="Arial" pitchFamily="34" charset="0"/>
                <a:ea typeface="Arial" pitchFamily="34" charset="-122"/>
                <a:cs typeface="Arial" pitchFamily="34" charset="-120"/>
              </a:rPr>
              <a:t>Caught the error before anyone saw it.</a:t>
            </a:r>
            <a:endParaRPr lang="en-US" sz="1250" dirty="0"/>
          </a:p>
        </p:txBody>
      </p:sp>
      <p:sp>
        <p:nvSpPr>
          <p:cNvPr id="16" name="Text 13"/>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17" name="Text 14"/>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D31242"/>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D31242"/>
                </a:solidFill>
                <a:latin typeface="Arial" pitchFamily="34" charset="0"/>
                <a:ea typeface="Arial" pitchFamily="34" charset="-122"/>
                <a:cs typeface="Arial" pitchFamily="34" charset="-120"/>
              </a:rPr>
              <a:t>WHAT YOU CAN NOW DO</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You have met every goal we set at the start</a:t>
            </a:r>
            <a:endParaRPr lang="en-US" sz="3000" dirty="0"/>
          </a:p>
        </p:txBody>
      </p:sp>
      <p:sp>
        <p:nvSpPr>
          <p:cNvPr id="6" name="Shape 3"/>
          <p:cNvSpPr/>
          <p:nvPr/>
        </p:nvSpPr>
        <p:spPr>
          <a:xfrm>
            <a:off x="640080" y="2148840"/>
            <a:ext cx="5349240" cy="1600200"/>
          </a:xfrm>
          <a:prstGeom prst="roundRect">
            <a:avLst>
              <a:gd name="adj" fmla="val 5143"/>
            </a:avLst>
          </a:prstGeom>
          <a:solidFill>
            <a:srgbClr val="F5F6F8"/>
          </a:solidFill>
          <a:ln w="12700">
            <a:solidFill>
              <a:srgbClr val="E7E9EE"/>
            </a:solidFill>
            <a:prstDash val="solid"/>
          </a:ln>
        </p:spPr>
      </p:sp>
      <p:sp>
        <p:nvSpPr>
          <p:cNvPr id="7" name="Shape 4"/>
          <p:cNvSpPr/>
          <p:nvPr/>
        </p:nvSpPr>
        <p:spPr>
          <a:xfrm>
            <a:off x="914400" y="2651760"/>
            <a:ext cx="548640" cy="548640"/>
          </a:xfrm>
          <a:prstGeom prst="ellipse">
            <a:avLst/>
          </a:prstGeom>
          <a:solidFill>
            <a:srgbClr val="D31242"/>
          </a:solidFill>
          <a:ln/>
        </p:spPr>
      </p:sp>
      <p:pic>
        <p:nvPicPr>
          <p:cNvPr id="8" name="Image 1" descr="preencoded.png">    </p:cNvPr>
          <p:cNvPicPr>
            <a:picLocks noChangeAspect="1"/>
          </p:cNvPicPr>
          <p:nvPr/>
        </p:nvPicPr>
        <p:blipFill>
          <a:blip r:embed="rId2"/>
          <a:stretch>
            <a:fillRect/>
          </a:stretch>
        </p:blipFill>
        <p:spPr>
          <a:xfrm>
            <a:off x="1042416" y="2779776"/>
            <a:ext cx="292608" cy="292608"/>
          </a:xfrm>
          <a:prstGeom prst="rect">
            <a:avLst/>
          </a:prstGeom>
        </p:spPr>
      </p:pic>
      <p:sp>
        <p:nvSpPr>
          <p:cNvPr id="9" name="Text 5"/>
          <p:cNvSpPr/>
          <p:nvPr/>
        </p:nvSpPr>
        <p:spPr>
          <a:xfrm>
            <a:off x="164592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Improve its own draft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One self-review pass lifts most drafts.</a:t>
            </a:r>
            <a:endParaRPr lang="en-US" sz="1600" dirty="0"/>
          </a:p>
        </p:txBody>
      </p:sp>
      <p:sp>
        <p:nvSpPr>
          <p:cNvPr id="10" name="Shape 6"/>
          <p:cNvSpPr/>
          <p:nvPr/>
        </p:nvSpPr>
        <p:spPr>
          <a:xfrm>
            <a:off x="6172200" y="2148840"/>
            <a:ext cx="5349240" cy="1600200"/>
          </a:xfrm>
          <a:prstGeom prst="roundRect">
            <a:avLst>
              <a:gd name="adj" fmla="val 5143"/>
            </a:avLst>
          </a:prstGeom>
          <a:solidFill>
            <a:srgbClr val="F5F6F8"/>
          </a:solidFill>
          <a:ln w="12700">
            <a:solidFill>
              <a:srgbClr val="E7E9EE"/>
            </a:solidFill>
            <a:prstDash val="solid"/>
          </a:ln>
        </p:spPr>
      </p:sp>
      <p:sp>
        <p:nvSpPr>
          <p:cNvPr id="11" name="Shape 7"/>
          <p:cNvSpPr/>
          <p:nvPr/>
        </p:nvSpPr>
        <p:spPr>
          <a:xfrm>
            <a:off x="6446520" y="2651760"/>
            <a:ext cx="548640" cy="548640"/>
          </a:xfrm>
          <a:prstGeom prst="ellipse">
            <a:avLst/>
          </a:prstGeom>
          <a:solidFill>
            <a:srgbClr val="D31242"/>
          </a:solidFill>
          <a:ln/>
        </p:spPr>
      </p:sp>
      <p:pic>
        <p:nvPicPr>
          <p:cNvPr id="12" name="Image 2" descr="preencoded.png">    </p:cNvPr>
          <p:cNvPicPr>
            <a:picLocks noChangeAspect="1"/>
          </p:cNvPicPr>
          <p:nvPr/>
        </p:nvPicPr>
        <p:blipFill>
          <a:blip r:embed="rId3"/>
          <a:stretch>
            <a:fillRect/>
          </a:stretch>
        </p:blipFill>
        <p:spPr>
          <a:xfrm>
            <a:off x="6574536" y="2779776"/>
            <a:ext cx="292608" cy="292608"/>
          </a:xfrm>
          <a:prstGeom prst="rect">
            <a:avLst/>
          </a:prstGeom>
        </p:spPr>
      </p:pic>
      <p:sp>
        <p:nvSpPr>
          <p:cNvPr id="13" name="Text 8"/>
          <p:cNvSpPr/>
          <p:nvPr/>
        </p:nvSpPr>
        <p:spPr>
          <a:xfrm>
            <a:off x="7178040" y="237744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Check each fact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One claim at a time catches the slip.</a:t>
            </a:r>
            <a:endParaRPr lang="en-US" sz="1600" dirty="0"/>
          </a:p>
        </p:txBody>
      </p:sp>
      <p:sp>
        <p:nvSpPr>
          <p:cNvPr id="14" name="Shape 9"/>
          <p:cNvSpPr/>
          <p:nvPr/>
        </p:nvSpPr>
        <p:spPr>
          <a:xfrm>
            <a:off x="640080" y="3931920"/>
            <a:ext cx="5349240" cy="1600200"/>
          </a:xfrm>
          <a:prstGeom prst="roundRect">
            <a:avLst>
              <a:gd name="adj" fmla="val 5143"/>
            </a:avLst>
          </a:prstGeom>
          <a:solidFill>
            <a:srgbClr val="F5F6F8"/>
          </a:solidFill>
          <a:ln w="12700">
            <a:solidFill>
              <a:srgbClr val="E7E9EE"/>
            </a:solidFill>
            <a:prstDash val="solid"/>
          </a:ln>
        </p:spPr>
      </p:sp>
      <p:sp>
        <p:nvSpPr>
          <p:cNvPr id="15" name="Shape 10"/>
          <p:cNvSpPr/>
          <p:nvPr/>
        </p:nvSpPr>
        <p:spPr>
          <a:xfrm>
            <a:off x="914400" y="4434840"/>
            <a:ext cx="548640" cy="548640"/>
          </a:xfrm>
          <a:prstGeom prst="ellipse">
            <a:avLst/>
          </a:prstGeom>
          <a:solidFill>
            <a:srgbClr val="D31242"/>
          </a:solidFill>
          <a:ln/>
        </p:spPr>
      </p:sp>
      <p:pic>
        <p:nvPicPr>
          <p:cNvPr id="16" name="Image 3" descr="preencoded.png">    </p:cNvPr>
          <p:cNvPicPr>
            <a:picLocks noChangeAspect="1"/>
          </p:cNvPicPr>
          <p:nvPr/>
        </p:nvPicPr>
        <p:blipFill>
          <a:blip r:embed="rId4"/>
          <a:stretch>
            <a:fillRect/>
          </a:stretch>
        </p:blipFill>
        <p:spPr>
          <a:xfrm>
            <a:off x="1042416" y="4562856"/>
            <a:ext cx="292608" cy="292608"/>
          </a:xfrm>
          <a:prstGeom prst="rect">
            <a:avLst/>
          </a:prstGeom>
        </p:spPr>
      </p:pic>
      <p:sp>
        <p:nvSpPr>
          <p:cNvPr id="17" name="Text 11"/>
          <p:cNvSpPr/>
          <p:nvPr/>
        </p:nvSpPr>
        <p:spPr>
          <a:xfrm>
            <a:off x="164592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Grade to a checklist</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Tell it exactly what good looks like.</a:t>
            </a:r>
            <a:endParaRPr lang="en-US" sz="1600" dirty="0"/>
          </a:p>
        </p:txBody>
      </p:sp>
      <p:sp>
        <p:nvSpPr>
          <p:cNvPr id="18" name="Shape 12"/>
          <p:cNvSpPr/>
          <p:nvPr/>
        </p:nvSpPr>
        <p:spPr>
          <a:xfrm>
            <a:off x="6172200" y="3931920"/>
            <a:ext cx="5349240" cy="1600200"/>
          </a:xfrm>
          <a:prstGeom prst="roundRect">
            <a:avLst>
              <a:gd name="adj" fmla="val 5143"/>
            </a:avLst>
          </a:prstGeom>
          <a:solidFill>
            <a:srgbClr val="F5F6F8"/>
          </a:solidFill>
          <a:ln w="12700">
            <a:solidFill>
              <a:srgbClr val="E7E9EE"/>
            </a:solidFill>
            <a:prstDash val="solid"/>
          </a:ln>
        </p:spPr>
      </p:sp>
      <p:sp>
        <p:nvSpPr>
          <p:cNvPr id="19" name="Shape 13"/>
          <p:cNvSpPr/>
          <p:nvPr/>
        </p:nvSpPr>
        <p:spPr>
          <a:xfrm>
            <a:off x="6446520" y="4434840"/>
            <a:ext cx="548640" cy="548640"/>
          </a:xfrm>
          <a:prstGeom prst="ellipse">
            <a:avLst/>
          </a:prstGeom>
          <a:solidFill>
            <a:srgbClr val="D31242"/>
          </a:solidFill>
          <a:ln/>
        </p:spPr>
      </p:sp>
      <p:pic>
        <p:nvPicPr>
          <p:cNvPr id="20" name="Image 4" descr="preencoded.png">    </p:cNvPr>
          <p:cNvPicPr>
            <a:picLocks noChangeAspect="1"/>
          </p:cNvPicPr>
          <p:nvPr/>
        </p:nvPicPr>
        <p:blipFill>
          <a:blip r:embed="rId5"/>
          <a:stretch>
            <a:fillRect/>
          </a:stretch>
        </p:blipFill>
        <p:spPr>
          <a:xfrm>
            <a:off x="6574536" y="4562856"/>
            <a:ext cx="292608" cy="292608"/>
          </a:xfrm>
          <a:prstGeom prst="rect">
            <a:avLst/>
          </a:prstGeom>
        </p:spPr>
      </p:pic>
      <p:sp>
        <p:nvSpPr>
          <p:cNvPr id="21" name="Text 14"/>
          <p:cNvSpPr/>
          <p:nvPr/>
        </p:nvSpPr>
        <p:spPr>
          <a:xfrm>
            <a:off x="7178040" y="4160520"/>
            <a:ext cx="4114800" cy="1188720"/>
          </a:xfrm>
          <a:prstGeom prst="rect">
            <a:avLst/>
          </a:prstGeom>
          <a:noFill/>
          <a:ln/>
        </p:spPr>
        <p:txBody>
          <a:bodyPr wrap="square" lIns="0" tIns="0" rIns="0" bIns="0" rtlCol="0" anchor="ctr"/>
          <a:lstStyle/>
          <a:p>
            <a:pPr indent="0" marL="0">
              <a:lnSpc>
                <a:spcPct val="110000"/>
              </a:lnSpc>
              <a:buNone/>
            </a:pPr>
            <a:r>
              <a:rPr lang="en-US" sz="1600" b="1" dirty="0">
                <a:solidFill>
                  <a:srgbClr val="1F2733"/>
                </a:solidFill>
                <a:latin typeface="Arial" pitchFamily="34" charset="0"/>
                <a:ea typeface="Arial" pitchFamily="34" charset="-122"/>
                <a:cs typeface="Arial" pitchFamily="34" charset="-120"/>
              </a:rPr>
              <a:t>Ask how sure it is</a:t>
            </a:r>
            <a:endParaRPr lang="en-US" sz="1600" dirty="0"/>
          </a:p>
          <a:p>
            <a:pPr indent="0" marL="0">
              <a:lnSpc>
                <a:spcPct val="110000"/>
              </a:lnSpc>
              <a:buNone/>
            </a:pPr>
            <a:endParaRPr lang="en-US" sz="1600" dirty="0"/>
          </a:p>
          <a:p>
            <a:pPr indent="0" marL="0">
              <a:lnSpc>
                <a:spcPct val="110000"/>
              </a:lnSpc>
              <a:buNone/>
            </a:pPr>
            <a:r>
              <a:rPr lang="en-US" sz="1250" dirty="0">
                <a:solidFill>
                  <a:srgbClr val="5E6A78"/>
                </a:solidFill>
                <a:latin typeface="Arial" pitchFamily="34" charset="0"/>
                <a:ea typeface="Arial" pitchFamily="34" charset="-122"/>
                <a:cs typeface="Arial" pitchFamily="34" charset="-120"/>
              </a:rPr>
              <a:t>Flag the shaky parts before you rely on it.</a:t>
            </a:r>
            <a:endParaRPr lang="en-US" sz="1600" dirty="0"/>
          </a:p>
        </p:txBody>
      </p:sp>
      <p:sp>
        <p:nvSpPr>
          <p:cNvPr id="22" name="Text 15"/>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INTERMEDIATE</a:t>
            </a:r>
            <a:endParaRPr lang="en-US" sz="850" dirty="0"/>
          </a:p>
        </p:txBody>
      </p:sp>
      <p:sp>
        <p:nvSpPr>
          <p:cNvPr id="23" name="Text 16"/>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D31242"/>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7E0A27"/>
          </a:solidFill>
          <a:ln/>
        </p:spPr>
      </p:sp>
      <p:sp>
        <p:nvSpPr>
          <p:cNvPr id="3" name="Shape 1"/>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4" name="Text 2"/>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5" name="Text 3"/>
          <p:cNvSpPr/>
          <p:nvPr/>
        </p:nvSpPr>
        <p:spPr>
          <a:xfrm>
            <a:off x="658368" y="2194560"/>
            <a:ext cx="10515600" cy="365760"/>
          </a:xfrm>
          <a:prstGeom prst="rect">
            <a:avLst/>
          </a:prstGeom>
          <a:noFill/>
          <a:ln/>
        </p:spPr>
        <p:txBody>
          <a:bodyPr wrap="square" lIns="0" tIns="0" rIns="0" bIns="0" rtlCol="0" anchor="ctr"/>
          <a:lstStyle/>
          <a:p>
            <a:pPr indent="0" marL="0">
              <a:buNone/>
            </a:pPr>
            <a:r>
              <a:rPr lang="en-US" sz="1500" b="1" spc="250" kern="0" dirty="0">
                <a:solidFill>
                  <a:srgbClr val="FCE4EA"/>
                </a:solidFill>
                <a:latin typeface="Arial" pitchFamily="34" charset="0"/>
                <a:ea typeface="Arial" pitchFamily="34" charset="-122"/>
                <a:cs typeface="Arial" pitchFamily="34" charset="-120"/>
              </a:rPr>
              <a:t>THAT COMPLETES THE INTERMEDIATE LEVEL</a:t>
            </a:r>
            <a:endParaRPr lang="en-US" sz="1500" dirty="0"/>
          </a:p>
        </p:txBody>
      </p:sp>
      <p:sp>
        <p:nvSpPr>
          <p:cNvPr id="6" name="Text 4"/>
          <p:cNvSpPr/>
          <p:nvPr/>
        </p:nvSpPr>
        <p:spPr>
          <a:xfrm>
            <a:off x="621792" y="2651760"/>
            <a:ext cx="10881360" cy="1005840"/>
          </a:xfrm>
          <a:prstGeom prst="rect">
            <a:avLst/>
          </a:prstGeom>
          <a:noFill/>
          <a:ln/>
        </p:spPr>
        <p:txBody>
          <a:bodyPr wrap="square" lIns="0" tIns="0" rIns="0" bIns="0" rtlCol="0" anchor="ctr"/>
          <a:lstStyle/>
          <a:p>
            <a:pPr indent="0" marL="0">
              <a:buNone/>
            </a:pPr>
            <a:r>
              <a:rPr lang="en-US" sz="3600" b="1" spc="-50" kern="0" dirty="0">
                <a:solidFill>
                  <a:srgbClr val="FFFFFF"/>
                </a:solidFill>
                <a:latin typeface="Arial" pitchFamily="34" charset="0"/>
                <a:ea typeface="Arial" pitchFamily="34" charset="-122"/>
                <a:cs typeface="Arial" pitchFamily="34" charset="-120"/>
              </a:rPr>
              <a:t>You can get trustworthy results on real work</a:t>
            </a:r>
            <a:endParaRPr lang="en-US" sz="3600" dirty="0"/>
          </a:p>
        </p:txBody>
      </p:sp>
      <p:sp>
        <p:nvSpPr>
          <p:cNvPr id="7" name="Text 5"/>
          <p:cNvSpPr/>
          <p:nvPr/>
        </p:nvSpPr>
        <p:spPr>
          <a:xfrm>
            <a:off x="658368" y="3794760"/>
            <a:ext cx="9966960" cy="1280160"/>
          </a:xfrm>
          <a:prstGeom prst="rect">
            <a:avLst/>
          </a:prstGeom>
          <a:noFill/>
          <a:ln/>
        </p:spPr>
        <p:txBody>
          <a:bodyPr wrap="square" lIns="0" tIns="0" rIns="0" bIns="0" rtlCol="0" anchor="t"/>
          <a:lstStyle/>
          <a:p>
            <a:pPr indent="0" marL="0">
              <a:lnSpc>
                <a:spcPct val="120000"/>
              </a:lnSpc>
              <a:buNone/>
            </a:pPr>
            <a:r>
              <a:rPr lang="en-US" sz="1600" dirty="0">
                <a:solidFill>
                  <a:srgbClr val="FCE4EA"/>
                </a:solidFill>
                <a:latin typeface="Arial" pitchFamily="34" charset="0"/>
                <a:ea typeface="Arial" pitchFamily="34" charset="-122"/>
                <a:cs typeface="Arial" pitchFamily="34" charset="-120"/>
              </a:rPr>
              <a:t>Grounded answers, step-by-step reasoning, big jobs broken down, and work that checks itself. The Advanced level is for power users — building reusable prompt systems, using AI to improve your prompts, and keeping them safe.</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F2733"/>
        </a:solidFill>
      </p:bgPr>
    </p:bg>
    <p:spTree>
      <p:nvGrpSpPr>
        <p:cNvPr id="1" name=""/>
        <p:cNvGrpSpPr/>
        <p:nvPr/>
      </p:nvGrpSpPr>
      <p:grpSpPr>
        <a:xfrm>
          <a:off x="0" y="0"/>
          <a:ext cx="0" cy="0"/>
          <a:chOff x="0" y="0"/>
          <a:chExt cx="0" cy="0"/>
        </a:xfrm>
      </p:grpSpPr>
      <p:sp>
        <p:nvSpPr>
          <p:cNvPr id="2" name="Shape 0"/>
          <p:cNvSpPr/>
          <p:nvPr/>
        </p:nvSpPr>
        <p:spPr>
          <a:xfrm>
            <a:off x="640080" y="548640"/>
            <a:ext cx="1371600" cy="658368"/>
          </a:xfrm>
          <a:prstGeom prst="roundRect">
            <a:avLst>
              <a:gd name="adj" fmla="val 13889"/>
            </a:avLst>
          </a:prstGeom>
          <a:solidFill>
            <a:srgbClr val="FFFFFF"/>
          </a:solidFill>
          <a:ln w="12700">
            <a:solidFill>
              <a:srgbClr val="FFFFFF"/>
            </a:solidFill>
            <a:prstDash val="solid"/>
          </a:ln>
          <a:effectLst>
            <a:outerShdw sx="100000" sy="100000" kx="0" ky="0" algn="bl" rotWithShape="0" blurRad="88900" dist="38100" dir="5400000">
              <a:srgbClr val="1F2733">
                <a:alpha val="10000"/>
              </a:srgbClr>
            </a:outerShdw>
          </a:effectLst>
        </p:spPr>
      </p:sp>
      <p:sp>
        <p:nvSpPr>
          <p:cNvPr id="3" name="Text 1"/>
          <p:cNvSpPr/>
          <p:nvPr/>
        </p:nvSpPr>
        <p:spPr>
          <a:xfrm>
            <a:off x="640080" y="548640"/>
            <a:ext cx="1371600" cy="658368"/>
          </a:xfrm>
          <a:prstGeom prst="rect">
            <a:avLst/>
          </a:prstGeom>
          <a:noFill/>
          <a:ln/>
        </p:spPr>
        <p:txBody>
          <a:bodyPr wrap="square" lIns="0" tIns="0" rIns="0" bIns="0" rtlCol="0" anchor="ctr"/>
          <a:lstStyle/>
          <a:p>
            <a:pPr algn="ctr" indent="0" marL="0">
              <a:lnSpc>
                <a:spcPct val="90000"/>
              </a:lnSpc>
              <a:buNone/>
            </a:pPr>
            <a:r>
              <a:rPr lang="en-US" sz="2000" b="1" spc="-100" kern="0" dirty="0">
                <a:solidFill>
                  <a:srgbClr val="D31242"/>
                </a:solidFill>
                <a:latin typeface="Arial" pitchFamily="34" charset="0"/>
                <a:ea typeface="Arial" pitchFamily="34" charset="-122"/>
                <a:cs typeface="Arial" pitchFamily="34" charset="-120"/>
              </a:rPr>
              <a:t>BJ's</a:t>
            </a:r>
            <a:endParaRPr lang="en-US" sz="2000" dirty="0"/>
          </a:p>
          <a:p>
            <a:pPr algn="ctr" indent="0" marL="0">
              <a:lnSpc>
                <a:spcPct val="90000"/>
              </a:lnSpc>
              <a:buNone/>
            </a:pPr>
            <a:r>
              <a:rPr lang="en-US" sz="600" b="1" spc="200" kern="0" dirty="0">
                <a:solidFill>
                  <a:srgbClr val="D31242"/>
                </a:solidFill>
                <a:latin typeface="Arial" pitchFamily="34" charset="0"/>
                <a:ea typeface="Arial" pitchFamily="34" charset="-122"/>
                <a:cs typeface="Arial" pitchFamily="34" charset="-120"/>
              </a:rPr>
              <a:t>WHOLESALE CLUB</a:t>
            </a:r>
            <a:endParaRPr lang="en-US" sz="2000" dirty="0"/>
          </a:p>
        </p:txBody>
      </p:sp>
      <p:sp>
        <p:nvSpPr>
          <p:cNvPr id="4" name="Shape 2"/>
          <p:cNvSpPr/>
          <p:nvPr/>
        </p:nvSpPr>
        <p:spPr>
          <a:xfrm>
            <a:off x="658368" y="2148840"/>
            <a:ext cx="3246120" cy="457200"/>
          </a:xfrm>
          <a:prstGeom prst="roundRect">
            <a:avLst>
              <a:gd name="adj" fmla="val 24000"/>
            </a:avLst>
          </a:prstGeom>
          <a:solidFill>
            <a:srgbClr val="D31242"/>
          </a:solidFill>
          <a:ln/>
        </p:spPr>
      </p:sp>
      <p:sp>
        <p:nvSpPr>
          <p:cNvPr id="5" name="Text 3"/>
          <p:cNvSpPr/>
          <p:nvPr/>
        </p:nvSpPr>
        <p:spPr>
          <a:xfrm>
            <a:off x="658368" y="2148840"/>
            <a:ext cx="3246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OPTIONAL — GO DEEPER</a:t>
            </a:r>
            <a:endParaRPr lang="en-US" sz="1100" dirty="0"/>
          </a:p>
        </p:txBody>
      </p:sp>
      <p:sp>
        <p:nvSpPr>
          <p:cNvPr id="6" name="Text 4"/>
          <p:cNvSpPr/>
          <p:nvPr/>
        </p:nvSpPr>
        <p:spPr>
          <a:xfrm>
            <a:off x="621792" y="2788920"/>
            <a:ext cx="10881360" cy="1005840"/>
          </a:xfrm>
          <a:prstGeom prst="rect">
            <a:avLst/>
          </a:prstGeom>
          <a:noFill/>
          <a:ln/>
        </p:spPr>
        <p:txBody>
          <a:bodyPr wrap="square" lIns="0" tIns="0" rIns="0" bIns="0" rtlCol="0" anchor="ctr"/>
          <a:lstStyle/>
          <a:p>
            <a:pPr indent="0" marL="0">
              <a:buNone/>
            </a:pPr>
            <a:r>
              <a:rPr lang="en-US" sz="5000" b="1" spc="-50" kern="0" dirty="0">
                <a:solidFill>
                  <a:srgbClr val="FFFFFF"/>
                </a:solidFill>
                <a:latin typeface="Arial" pitchFamily="34" charset="0"/>
                <a:ea typeface="Arial" pitchFamily="34" charset="-122"/>
                <a:cs typeface="Arial" pitchFamily="34" charset="-120"/>
              </a:rPr>
              <a:t>Appendix</a:t>
            </a:r>
            <a:endParaRPr lang="en-US" sz="5000" dirty="0"/>
          </a:p>
        </p:txBody>
      </p:sp>
      <p:sp>
        <p:nvSpPr>
          <p:cNvPr id="7" name="Text 5"/>
          <p:cNvSpPr/>
          <p:nvPr/>
        </p:nvSpPr>
        <p:spPr>
          <a:xfrm>
            <a:off x="658368" y="3977640"/>
            <a:ext cx="9601200" cy="1188720"/>
          </a:xfrm>
          <a:prstGeom prst="rect">
            <a:avLst/>
          </a:prstGeom>
          <a:noFill/>
          <a:ln/>
        </p:spPr>
        <p:txBody>
          <a:bodyPr wrap="square" lIns="0" tIns="0" rIns="0" bIns="0" rtlCol="0" anchor="t"/>
          <a:lstStyle/>
          <a:p>
            <a:pPr indent="0" marL="0">
              <a:lnSpc>
                <a:spcPct val="120000"/>
              </a:lnSpc>
              <a:buNone/>
            </a:pPr>
            <a:r>
              <a:rPr lang="en-US" sz="1800" dirty="0">
                <a:solidFill>
                  <a:srgbClr val="C8CDD4"/>
                </a:solidFill>
                <a:latin typeface="Arial" pitchFamily="34" charset="0"/>
                <a:ea typeface="Arial" pitchFamily="34" charset="-122"/>
                <a:cs typeface="Arial" pitchFamily="34" charset="-120"/>
              </a:rPr>
              <a:t>Four optional habits for more reliable, repeatable results — for anyone who wants them.</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for a few versions, then pick</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For something important, don't settle for the first version.</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Ask for two or three different takes and choose the best — or have the assistant recommend the strongest. More shots, better odds of a great one.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“Give me three subject lines for this email, then tell me which is strongest and why.”</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One version versus three, then pick</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JUST ONE</a:t>
            </a:r>
            <a:endParaRPr lang="en-US" sz="1100" dirty="0"/>
          </a:p>
        </p:txBody>
      </p:sp>
      <p:sp>
        <p:nvSpPr>
          <p:cNvPr id="8" name="Text 5"/>
          <p:cNvSpPr/>
          <p:nvPr/>
        </p:nvSpPr>
        <p:spPr>
          <a:xfrm>
            <a:off x="914400" y="2578608"/>
            <a:ext cx="4754880" cy="914400"/>
          </a:xfrm>
          <a:prstGeom prst="rect">
            <a:avLst/>
          </a:prstGeom>
          <a:noFill/>
          <a:ln/>
        </p:spPr>
        <p:txBody>
          <a:bodyPr wrap="square" lIns="0" tIns="0" rIns="0" bIns="0" rtlCol="0" anchor="t"/>
          <a:lstStyle/>
          <a:p>
            <a:pPr indent="0" marL="0">
              <a:lnSpc>
                <a:spcPct val="112000"/>
              </a:lnSpc>
              <a:buNone/>
            </a:pPr>
            <a:r>
              <a:rPr lang="en-US" sz="1300" i="1" dirty="0">
                <a:solidFill>
                  <a:srgbClr val="5E6A78"/>
                </a:solidFill>
                <a:latin typeface="Arial" pitchFamily="34" charset="0"/>
                <a:ea typeface="Arial" pitchFamily="34" charset="-122"/>
                <a:cs typeface="Arial" pitchFamily="34" charset="-120"/>
              </a:rPr>
              <a:t>“Write a subject line for the holiday-hours email.”  →  “Holiday Hours Update.”</a:t>
            </a:r>
            <a:endParaRPr lang="en-US" sz="1300" dirty="0"/>
          </a:p>
        </p:txBody>
      </p:sp>
      <p:sp>
        <p:nvSpPr>
          <p:cNvPr id="9" name="Text 6"/>
          <p:cNvSpPr/>
          <p:nvPr/>
        </p:nvSpPr>
        <p:spPr>
          <a:xfrm>
            <a:off x="914400" y="3749040"/>
            <a:ext cx="4754880" cy="100584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Fine — but is it the best you could get? No way to tell.</a:t>
            </a:r>
            <a:endParaRPr lang="en-US" sz="140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THREE, THEN CHOOSE</a:t>
            </a:r>
            <a:endParaRPr lang="en-US" sz="1100" dirty="0"/>
          </a:p>
        </p:txBody>
      </p:sp>
      <p:sp>
        <p:nvSpPr>
          <p:cNvPr id="12" name="Text 9"/>
          <p:cNvSpPr/>
          <p:nvPr/>
        </p:nvSpPr>
        <p:spPr>
          <a:xfrm>
            <a:off x="6492240" y="2578608"/>
            <a:ext cx="4754880" cy="1828800"/>
          </a:xfrm>
          <a:prstGeom prst="rect">
            <a:avLst/>
          </a:prstGeom>
          <a:noFill/>
          <a:ln/>
        </p:spPr>
        <p:txBody>
          <a:bodyPr wrap="square" lIns="0" tIns="0" rIns="0" bIns="0" rtlCol="0" anchor="t"/>
          <a:lstStyle/>
          <a:p>
            <a:pPr indent="0" marL="0">
              <a:lnSpc>
                <a:spcPct val="125000"/>
              </a:lnSpc>
              <a:buNone/>
            </a:pPr>
            <a:r>
              <a:rPr lang="en-US" sz="1300" b="1" i="1" dirty="0">
                <a:solidFill>
                  <a:srgbClr val="15803D"/>
                </a:solidFill>
                <a:latin typeface="Arial" pitchFamily="34" charset="0"/>
                <a:ea typeface="Arial" pitchFamily="34" charset="-122"/>
                <a:cs typeface="Arial" pitchFamily="34" charset="-120"/>
              </a:rPr>
              <a:t>“Give three, then recommend the strongest.”</a:t>
            </a:r>
            <a:endParaRPr lang="en-US" sz="1300" dirty="0"/>
          </a:p>
          <a:p>
            <a:pPr indent="0" marL="0">
              <a:lnSpc>
                <a:spcPct val="125000"/>
              </a:lnSpc>
              <a:buNone/>
            </a:pPr>
            <a:r>
              <a:rPr lang="en-US" sz="1300" b="1" dirty="0">
                <a:solidFill>
                  <a:srgbClr val="1F2733"/>
                </a:solidFill>
                <a:latin typeface="Arial" pitchFamily="34" charset="0"/>
                <a:ea typeface="Arial" pitchFamily="34" charset="-122"/>
                <a:cs typeface="Arial" pitchFamily="34" charset="-120"/>
              </a:rPr>
              <a:t>•  Holiday Hours Inside</a:t>
            </a:r>
            <a:endParaRPr lang="en-US" sz="1300" dirty="0"/>
          </a:p>
          <a:p>
            <a:pPr indent="0" marL="0">
              <a:lnSpc>
                <a:spcPct val="125000"/>
              </a:lnSpc>
              <a:buNone/>
            </a:pPr>
            <a:r>
              <a:rPr lang="en-US" sz="1300" b="1" dirty="0">
                <a:solidFill>
                  <a:srgbClr val="1F2733"/>
                </a:solidFill>
                <a:latin typeface="Arial" pitchFamily="34" charset="0"/>
                <a:ea typeface="Arial" pitchFamily="34" charset="-122"/>
                <a:cs typeface="Arial" pitchFamily="34" charset="-120"/>
              </a:rPr>
              <a:t>•  We're Open Jan 1, 9–6</a:t>
            </a:r>
            <a:endParaRPr lang="en-US" sz="1300" dirty="0"/>
          </a:p>
          <a:p>
            <a:pPr indent="0" marL="0">
              <a:lnSpc>
                <a:spcPct val="125000"/>
              </a:lnSpc>
              <a:buNone/>
            </a:pPr>
            <a:r>
              <a:rPr lang="en-US" sz="1300" b="1" dirty="0">
                <a:solidFill>
                  <a:srgbClr val="1F2733"/>
                </a:solidFill>
                <a:latin typeface="Arial" pitchFamily="34" charset="0"/>
                <a:ea typeface="Arial" pitchFamily="34" charset="-122"/>
                <a:cs typeface="Arial" pitchFamily="34" charset="-120"/>
              </a:rPr>
              <a:t>•  Your New Year's Day Club Hours</a:t>
            </a:r>
            <a:endParaRPr lang="en-US" sz="1300" dirty="0"/>
          </a:p>
        </p:txBody>
      </p:sp>
      <p:sp>
        <p:nvSpPr>
          <p:cNvPr id="13" name="Text 10"/>
          <p:cNvSpPr/>
          <p:nvPr/>
        </p:nvSpPr>
        <p:spPr>
          <a:xfrm>
            <a:off x="6492240" y="4892040"/>
            <a:ext cx="4754880" cy="457200"/>
          </a:xfrm>
          <a:prstGeom prst="rect">
            <a:avLst/>
          </a:prstGeom>
          <a:noFill/>
          <a:ln/>
        </p:spPr>
        <p:txBody>
          <a:bodyPr wrap="square" lIns="0" tIns="0" rIns="0" bIns="0" rtlCol="0" anchor="t"/>
          <a:lstStyle/>
          <a:p>
            <a:pPr indent="0" marL="0">
              <a:buNone/>
            </a:pPr>
            <a:r>
              <a:rPr lang="en-US" sz="1200" i="1" dirty="0">
                <a:solidFill>
                  <a:srgbClr val="15803D"/>
                </a:solidFill>
                <a:latin typeface="Arial" pitchFamily="34" charset="0"/>
                <a:ea typeface="Arial" pitchFamily="34" charset="-122"/>
                <a:cs typeface="Arial" pitchFamily="34" charset="-120"/>
              </a:rPr>
              <a:t>More shots — and a clear winner to pick.</a:t>
            </a:r>
            <a:endParaRPr lang="en-US" sz="120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the same question a few ways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For a tricky judgement, ask more than once and see if the answers agree.</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Ask the question again, worded differently. Agreement is a good sign; disagreement tells you to dig deeper before trusting it.</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Ask “is this eligible for the refund?” twice, worded differently. If both say no, you can trust it more.</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Ask once, or ask twice and compare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ASKED ONCE</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“Is this laptop eligible for a refund?”  →  “Yes.”</a:t>
            </a:r>
            <a:endParaRPr lang="en-US" sz="1300" dirty="0"/>
          </a:p>
        </p:txBody>
      </p:sp>
      <p:sp>
        <p:nvSpPr>
          <p:cNvPr id="9" name="Text 6"/>
          <p:cNvSpPr/>
          <p:nvPr/>
        </p:nvSpPr>
        <p:spPr>
          <a:xfrm>
            <a:off x="914400" y="3383280"/>
            <a:ext cx="4754880" cy="1097280"/>
          </a:xfrm>
          <a:prstGeom prst="rect">
            <a:avLst/>
          </a:prstGeom>
          <a:noFill/>
          <a:ln/>
        </p:spPr>
        <p:txBody>
          <a:bodyPr wrap="square" lIns="0" tIns="0" rIns="0" bIns="0" rtlCol="0" anchor="t"/>
          <a:lstStyle/>
          <a:p>
            <a:pPr indent="0" marL="0">
              <a:lnSpc>
                <a:spcPct val="114000"/>
              </a:lnSpc>
              <a:buNone/>
            </a:pPr>
            <a:r>
              <a:rPr lang="en-US" sz="1450" b="1" dirty="0">
                <a:solidFill>
                  <a:srgbClr val="1F2733"/>
                </a:solidFill>
                <a:latin typeface="Arial" pitchFamily="34" charset="0"/>
                <a:ea typeface="Arial" pitchFamily="34" charset="-122"/>
                <a:cs typeface="Arial" pitchFamily="34" charset="-120"/>
              </a:rPr>
              <a:t>One answer, and no idea how solid it is.</a:t>
            </a:r>
            <a:endParaRPr lang="en-US" sz="145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ASKED TWO WAYS</a:t>
            </a:r>
            <a:endParaRPr lang="en-US" sz="1100" dirty="0"/>
          </a:p>
        </p:txBody>
      </p:sp>
      <p:sp>
        <p:nvSpPr>
          <p:cNvPr id="12" name="Text 9"/>
          <p:cNvSpPr/>
          <p:nvPr/>
        </p:nvSpPr>
        <p:spPr>
          <a:xfrm>
            <a:off x="6492240" y="2578608"/>
            <a:ext cx="4754880" cy="914400"/>
          </a:xfrm>
          <a:prstGeom prst="rect">
            <a:avLst/>
          </a:prstGeom>
          <a:noFill/>
          <a:ln/>
        </p:spPr>
        <p:txBody>
          <a:bodyPr wrap="square" lIns="0" tIns="0" rIns="0" bIns="0" rtlCol="0" anchor="t"/>
          <a:lstStyle/>
          <a:p>
            <a:pPr indent="0" marL="0">
              <a:lnSpc>
                <a:spcPct val="112000"/>
              </a:lnSpc>
              <a:buNone/>
            </a:pPr>
            <a:r>
              <a:rPr lang="en-US" sz="1300" i="1" dirty="0">
                <a:solidFill>
                  <a:srgbClr val="15803D"/>
                </a:solidFill>
                <a:latin typeface="Arial" pitchFamily="34" charset="0"/>
                <a:ea typeface="Arial" pitchFamily="34" charset="-122"/>
                <a:cs typeface="Arial" pitchFamily="34" charset="-120"/>
              </a:rPr>
              <a:t>Ask again, worded differently. Both times: “No — it's past the 14-day window.”</a:t>
            </a:r>
            <a:endParaRPr lang="en-US" sz="1300" dirty="0"/>
          </a:p>
        </p:txBody>
      </p:sp>
      <p:sp>
        <p:nvSpPr>
          <p:cNvPr id="13" name="Text 10"/>
          <p:cNvSpPr/>
          <p:nvPr/>
        </p:nvSpPr>
        <p:spPr>
          <a:xfrm>
            <a:off x="6492240" y="3703320"/>
            <a:ext cx="4754880" cy="109728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They agree — so you can trust it. If they'd split, dig deeper.</a:t>
            </a:r>
            <a:endParaRPr lang="en-US" sz="140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Lock the format so every run matches</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Running the same task each week? Make each run come back the same.</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Pin down the exact format, wording, and rules in the prompt. The tighter the instructions, the more identical each run looks.</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For a weekly recap, keep one fixed prompt with the exact headings and length — so every week's looks the same.</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A loose prompt versus a locked one</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LOOSE PROMPT EACH WEEK</a:t>
            </a:r>
            <a:endParaRPr lang="en-US" sz="1100" dirty="0"/>
          </a:p>
        </p:txBody>
      </p:sp>
      <p:sp>
        <p:nvSpPr>
          <p:cNvPr id="8" name="Text 5"/>
          <p:cNvSpPr/>
          <p:nvPr/>
        </p:nvSpPr>
        <p:spPr>
          <a:xfrm>
            <a:off x="914400" y="2578608"/>
            <a:ext cx="4754880" cy="457200"/>
          </a:xfrm>
          <a:prstGeom prst="rect">
            <a:avLst/>
          </a:prstGeom>
          <a:noFill/>
          <a:ln/>
        </p:spPr>
        <p:txBody>
          <a:bodyPr wrap="square" lIns="0" tIns="0" rIns="0" bIns="0" rtlCol="0" anchor="t"/>
          <a:lstStyle/>
          <a:p>
            <a:pPr indent="0" marL="0">
              <a:buNone/>
            </a:pPr>
            <a:r>
              <a:rPr lang="en-US" sz="1300" i="1" dirty="0">
                <a:solidFill>
                  <a:srgbClr val="5E6A78"/>
                </a:solidFill>
                <a:latin typeface="Arial" pitchFamily="34" charset="0"/>
                <a:ea typeface="Arial" pitchFamily="34" charset="-122"/>
                <a:cs typeface="Arial" pitchFamily="34" charset="-120"/>
              </a:rPr>
              <a:t>“Summarise this week's numbers.”</a:t>
            </a:r>
            <a:endParaRPr lang="en-US" sz="1300" dirty="0"/>
          </a:p>
        </p:txBody>
      </p:sp>
      <p:sp>
        <p:nvSpPr>
          <p:cNvPr id="9" name="Text 6"/>
          <p:cNvSpPr/>
          <p:nvPr/>
        </p:nvSpPr>
        <p:spPr>
          <a:xfrm>
            <a:off x="914400" y="3200400"/>
            <a:ext cx="4754880" cy="137160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Different shape every week — headings move, length drifts, hard to compare.</a:t>
            </a:r>
            <a:endParaRPr lang="en-US" sz="140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ONE LOCKED PROMPT</a:t>
            </a:r>
            <a:endParaRPr lang="en-US" sz="1100" dirty="0"/>
          </a:p>
        </p:txBody>
      </p:sp>
      <p:sp>
        <p:nvSpPr>
          <p:cNvPr id="12" name="Text 9"/>
          <p:cNvSpPr/>
          <p:nvPr/>
        </p:nvSpPr>
        <p:spPr>
          <a:xfrm>
            <a:off x="6492240" y="2578608"/>
            <a:ext cx="4754880" cy="914400"/>
          </a:xfrm>
          <a:prstGeom prst="rect">
            <a:avLst/>
          </a:prstGeom>
          <a:noFill/>
          <a:ln/>
        </p:spPr>
        <p:txBody>
          <a:bodyPr wrap="square" lIns="0" tIns="0" rIns="0" bIns="0" rtlCol="0" anchor="t"/>
          <a:lstStyle/>
          <a:p>
            <a:pPr indent="0" marL="0">
              <a:lnSpc>
                <a:spcPct val="112000"/>
              </a:lnSpc>
              <a:buNone/>
            </a:pPr>
            <a:r>
              <a:rPr lang="en-US" sz="1300" i="1" dirty="0">
                <a:solidFill>
                  <a:srgbClr val="15803D"/>
                </a:solidFill>
                <a:latin typeface="Arial" pitchFamily="34" charset="0"/>
                <a:ea typeface="Arial" pitchFamily="34" charset="-122"/>
                <a:cs typeface="Arial" pitchFamily="34" charset="-120"/>
              </a:rPr>
              <a:t>Fixed headings (Sales · Members · Notes), fixed length, same rules — every time.</a:t>
            </a:r>
            <a:endParaRPr lang="en-US" sz="1300" dirty="0"/>
          </a:p>
        </p:txBody>
      </p:sp>
      <p:sp>
        <p:nvSpPr>
          <p:cNvPr id="13" name="Text 10"/>
          <p:cNvSpPr/>
          <p:nvPr/>
        </p:nvSpPr>
        <p:spPr>
          <a:xfrm>
            <a:off x="6492240" y="3703320"/>
            <a:ext cx="4754880" cy="109728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Every week's recap looks identical — easy to scan and compare.</a:t>
            </a:r>
            <a:endParaRPr lang="en-US" sz="140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OPTIONAL</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Tell it what to do when something's off</a:t>
            </a:r>
            <a:endParaRPr lang="en-US" sz="3000" dirty="0"/>
          </a:p>
        </p:txBody>
      </p:sp>
      <p:sp>
        <p:nvSpPr>
          <p:cNvPr id="6" name="Text 3"/>
          <p:cNvSpPr/>
          <p:nvPr/>
        </p:nvSpPr>
        <p:spPr>
          <a:xfrm>
            <a:off x="640080" y="2103120"/>
            <a:ext cx="6400800" cy="3108960"/>
          </a:xfrm>
          <a:prstGeom prst="rect">
            <a:avLst/>
          </a:prstGeom>
          <a:noFill/>
          <a:ln/>
        </p:spPr>
        <p:txBody>
          <a:bodyPr wrap="square" lIns="0" tIns="0" rIns="0" bIns="0" rtlCol="0" anchor="t"/>
          <a:lstStyle/>
          <a:p>
            <a:pPr indent="0" marL="0">
              <a:lnSpc>
                <a:spcPct val="118000"/>
              </a:lnSpc>
              <a:buNone/>
            </a:pPr>
            <a:r>
              <a:rPr lang="en-US" sz="1650" b="1" dirty="0">
                <a:solidFill>
                  <a:srgbClr val="1F2733"/>
                </a:solidFill>
                <a:latin typeface="Arial" pitchFamily="34" charset="0"/>
                <a:ea typeface="Arial" pitchFamily="34" charset="-122"/>
                <a:cs typeface="Arial" pitchFamily="34" charset="-120"/>
              </a:rPr>
              <a:t>Plan for the awkward cases before they happen.</a:t>
            </a:r>
            <a:endParaRPr lang="en-US" sz="1650" dirty="0"/>
          </a:p>
          <a:p>
            <a:pPr indent="0" marL="0">
              <a:lnSpc>
                <a:spcPct val="118000"/>
              </a:lnSpc>
              <a:buNone/>
            </a:pPr>
            <a:endParaRPr lang="en-US" sz="1650" dirty="0"/>
          </a:p>
          <a:p>
            <a:pPr indent="0" marL="0">
              <a:lnSpc>
                <a:spcPct val="118000"/>
              </a:lnSpc>
              <a:buNone/>
            </a:pPr>
            <a:r>
              <a:rPr lang="en-US" sz="1650" dirty="0">
                <a:solidFill>
                  <a:srgbClr val="3A4452"/>
                </a:solidFill>
                <a:latin typeface="Arial" pitchFamily="34" charset="0"/>
                <a:ea typeface="Arial" pitchFamily="34" charset="-122"/>
                <a:cs typeface="Arial" pitchFamily="34" charset="-120"/>
              </a:rPr>
              <a:t>Say up front how to handle missing information or a question it can't answer. A planned fallback beats an improvised guess every time.</a:t>
            </a:r>
            <a:endParaRPr lang="en-US" sz="1650" dirty="0"/>
          </a:p>
        </p:txBody>
      </p:sp>
      <p:sp>
        <p:nvSpPr>
          <p:cNvPr id="7" name="Shape 4"/>
          <p:cNvSpPr/>
          <p:nvPr/>
        </p:nvSpPr>
        <p:spPr>
          <a:xfrm>
            <a:off x="7360920" y="2103120"/>
            <a:ext cx="4160520" cy="3108960"/>
          </a:xfrm>
          <a:prstGeom prst="roundRect">
            <a:avLst>
              <a:gd name="adj" fmla="val 2647"/>
            </a:avLst>
          </a:prstGeom>
          <a:solidFill>
            <a:srgbClr val="F5F6F8"/>
          </a:solidFill>
          <a:ln w="12700">
            <a:solidFill>
              <a:srgbClr val="E7E9EE"/>
            </a:solidFill>
            <a:prstDash val="solid"/>
          </a:ln>
        </p:spPr>
      </p:sp>
      <p:sp>
        <p:nvSpPr>
          <p:cNvPr id="8" name="Text 5"/>
          <p:cNvSpPr/>
          <p:nvPr/>
        </p:nvSpPr>
        <p:spPr>
          <a:xfrm>
            <a:off x="7680960" y="2377440"/>
            <a:ext cx="3566160" cy="365760"/>
          </a:xfrm>
          <a:prstGeom prst="rect">
            <a:avLst/>
          </a:prstGeom>
          <a:noFill/>
          <a:ln/>
        </p:spPr>
        <p:txBody>
          <a:bodyPr wrap="square" lIns="0" tIns="0" rIns="0" bIns="0" rtlCol="0" anchor="ctr"/>
          <a:lstStyle/>
          <a:p>
            <a:pPr indent="0" marL="0">
              <a:buNone/>
            </a:pPr>
            <a:r>
              <a:rPr lang="en-US" sz="1200" b="1" spc="100" kern="0" dirty="0">
                <a:solidFill>
                  <a:srgbClr val="5E6A78"/>
                </a:solidFill>
                <a:latin typeface="Arial" pitchFamily="34" charset="0"/>
                <a:ea typeface="Arial" pitchFamily="34" charset="-122"/>
                <a:cs typeface="Arial" pitchFamily="34" charset="-120"/>
              </a:rPr>
              <a:t>In practice</a:t>
            </a:r>
            <a:endParaRPr lang="en-US" sz="1200" dirty="0"/>
          </a:p>
        </p:txBody>
      </p:sp>
      <p:sp>
        <p:nvSpPr>
          <p:cNvPr id="9" name="Text 6"/>
          <p:cNvSpPr/>
          <p:nvPr/>
        </p:nvSpPr>
        <p:spPr>
          <a:xfrm>
            <a:off x="7680960" y="2834640"/>
            <a:ext cx="3566160" cy="2103120"/>
          </a:xfrm>
          <a:prstGeom prst="rect">
            <a:avLst/>
          </a:prstGeom>
          <a:noFill/>
          <a:ln/>
        </p:spPr>
        <p:txBody>
          <a:bodyPr wrap="square" lIns="0" tIns="0" rIns="0" bIns="0" rtlCol="0" anchor="t"/>
          <a:lstStyle/>
          <a:p>
            <a:pPr indent="0" marL="0">
              <a:lnSpc>
                <a:spcPct val="112000"/>
              </a:lnSpc>
              <a:buNone/>
            </a:pPr>
            <a:r>
              <a:rPr lang="en-US" sz="1550" b="1" dirty="0">
                <a:solidFill>
                  <a:srgbClr val="1F2733"/>
                </a:solidFill>
                <a:latin typeface="Arial" pitchFamily="34" charset="0"/>
                <a:ea typeface="Arial" pitchFamily="34" charset="-122"/>
                <a:cs typeface="Arial" pitchFamily="34" charset="-120"/>
              </a:rPr>
              <a:t>“If a detail is missing, leave a clearly marked [TO CONFIRM] rather than making one up.”</a:t>
            </a:r>
            <a:endParaRPr lang="en-US" sz="1550" dirty="0"/>
          </a:p>
        </p:txBody>
      </p:sp>
      <p:sp>
        <p:nvSpPr>
          <p:cNvPr id="10" name="Text 7"/>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APPENDIX</a:t>
            </a:r>
            <a:endParaRPr lang="en-US" sz="850" dirty="0"/>
          </a:p>
        </p:txBody>
      </p:sp>
      <p:sp>
        <p:nvSpPr>
          <p:cNvPr id="11" name="Text 8"/>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841248" cy="841248"/>
          </a:xfrm>
          <a:prstGeom prst="ellipse">
            <a:avLst/>
          </a:prstGeom>
          <a:solidFill>
            <a:srgbClr val="5E6A78"/>
          </a:solidFill>
          <a:ln/>
          <a:effectLst>
            <a:outerShdw sx="100000" sy="100000" kx="0" ky="0" algn="bl" rotWithShape="0" blurRad="88900" dist="38100" dir="5400000">
              <a:srgbClr val="1F2733">
                <a:alpha val="10000"/>
              </a:srgbClr>
            </a:outerShdw>
          </a:effectLst>
        </p:spPr>
      </p:sp>
      <p:pic>
        <p:nvPicPr>
          <p:cNvPr id="3" name="Image 0" descr="preencoded.png">    </p:cNvPr>
          <p:cNvPicPr>
            <a:picLocks noChangeAspect="1"/>
          </p:cNvPicPr>
          <p:nvPr/>
        </p:nvPicPr>
        <p:blipFill>
          <a:blip r:embed="rId1"/>
          <a:stretch>
            <a:fillRect/>
          </a:stretch>
        </p:blipFill>
        <p:spPr>
          <a:xfrm>
            <a:off x="859536" y="786384"/>
            <a:ext cx="402336" cy="402336"/>
          </a:xfrm>
          <a:prstGeom prst="rect">
            <a:avLst/>
          </a:prstGeom>
        </p:spPr>
      </p:pic>
      <p:sp>
        <p:nvSpPr>
          <p:cNvPr id="4" name="Text 1"/>
          <p:cNvSpPr/>
          <p:nvPr/>
        </p:nvSpPr>
        <p:spPr>
          <a:xfrm>
            <a:off x="1664208" y="548640"/>
            <a:ext cx="9875520" cy="292608"/>
          </a:xfrm>
          <a:prstGeom prst="rect">
            <a:avLst/>
          </a:prstGeom>
          <a:noFill/>
          <a:ln/>
        </p:spPr>
        <p:txBody>
          <a:bodyPr wrap="square" lIns="0" tIns="0" rIns="0" bIns="0" rtlCol="0" anchor="ctr"/>
          <a:lstStyle/>
          <a:p>
            <a:pPr indent="0" marL="0">
              <a:buNone/>
            </a:pPr>
            <a:r>
              <a:rPr lang="en-US" sz="1200" b="1" spc="200" kern="0" dirty="0">
                <a:solidFill>
                  <a:srgbClr val="5E6A78"/>
                </a:solidFill>
                <a:latin typeface="Arial" pitchFamily="34" charset="0"/>
                <a:ea typeface="Arial" pitchFamily="34" charset="-122"/>
                <a:cs typeface="Arial" pitchFamily="34" charset="-120"/>
              </a:rPr>
              <a:t>EXAMPLE</a:t>
            </a:r>
            <a:endParaRPr lang="en-US" sz="1200" dirty="0"/>
          </a:p>
        </p:txBody>
      </p:sp>
      <p:sp>
        <p:nvSpPr>
          <p:cNvPr id="5" name="Text 2"/>
          <p:cNvSpPr/>
          <p:nvPr/>
        </p:nvSpPr>
        <p:spPr>
          <a:xfrm>
            <a:off x="1664208" y="841248"/>
            <a:ext cx="10058400" cy="658368"/>
          </a:xfrm>
          <a:prstGeom prst="rect">
            <a:avLst/>
          </a:prstGeom>
          <a:noFill/>
          <a:ln/>
        </p:spPr>
        <p:txBody>
          <a:bodyPr wrap="square" lIns="0" tIns="0" rIns="0" bIns="0" rtlCol="0" anchor="ctr"/>
          <a:lstStyle/>
          <a:p>
            <a:pPr indent="0" marL="0">
              <a:buNone/>
            </a:pPr>
            <a:r>
              <a:rPr lang="en-US" sz="3000" b="1" spc="-30" kern="0" dirty="0">
                <a:solidFill>
                  <a:srgbClr val="1F2733"/>
                </a:solidFill>
                <a:latin typeface="Arial" pitchFamily="34" charset="0"/>
                <a:ea typeface="Arial" pitchFamily="34" charset="-122"/>
                <a:cs typeface="Arial" pitchFamily="34" charset="-120"/>
              </a:rPr>
              <a:t>Invent the gap, or flag it</a:t>
            </a:r>
            <a:endParaRPr lang="en-US" sz="3000" dirty="0"/>
          </a:p>
        </p:txBody>
      </p:sp>
      <p:sp>
        <p:nvSpPr>
          <p:cNvPr id="6" name="Shape 3"/>
          <p:cNvSpPr/>
          <p:nvPr/>
        </p:nvSpPr>
        <p:spPr>
          <a:xfrm>
            <a:off x="640080" y="2103120"/>
            <a:ext cx="5303520" cy="3611880"/>
          </a:xfrm>
          <a:prstGeom prst="roundRect">
            <a:avLst>
              <a:gd name="adj" fmla="val 2278"/>
            </a:avLst>
          </a:prstGeom>
          <a:solidFill>
            <a:srgbClr val="F5F6F8"/>
          </a:solidFill>
          <a:ln w="12700">
            <a:solidFill>
              <a:srgbClr val="E7E9EE"/>
            </a:solidFill>
            <a:prstDash val="solid"/>
          </a:ln>
        </p:spPr>
      </p:sp>
      <p:sp>
        <p:nvSpPr>
          <p:cNvPr id="7" name="Text 4"/>
          <p:cNvSpPr/>
          <p:nvPr/>
        </p:nvSpPr>
        <p:spPr>
          <a:xfrm>
            <a:off x="914400" y="2286000"/>
            <a:ext cx="4754880" cy="274320"/>
          </a:xfrm>
          <a:prstGeom prst="rect">
            <a:avLst/>
          </a:prstGeom>
          <a:noFill/>
          <a:ln/>
        </p:spPr>
        <p:txBody>
          <a:bodyPr wrap="square" lIns="0" tIns="0" rIns="0" bIns="0" rtlCol="0" anchor="ctr"/>
          <a:lstStyle/>
          <a:p>
            <a:pPr indent="0" marL="0">
              <a:buNone/>
            </a:pPr>
            <a:r>
              <a:rPr lang="en-US" sz="1100" b="1" spc="150" kern="0" dirty="0">
                <a:solidFill>
                  <a:srgbClr val="5E6A78"/>
                </a:solidFill>
                <a:latin typeface="Arial" pitchFamily="34" charset="0"/>
                <a:ea typeface="Arial" pitchFamily="34" charset="-122"/>
                <a:cs typeface="Arial" pitchFamily="34" charset="-120"/>
              </a:rPr>
              <a:t>NO PLAN FOR GAPS</a:t>
            </a:r>
            <a:endParaRPr lang="en-US" sz="1100" dirty="0"/>
          </a:p>
        </p:txBody>
      </p:sp>
      <p:sp>
        <p:nvSpPr>
          <p:cNvPr id="8" name="Text 5"/>
          <p:cNvSpPr/>
          <p:nvPr/>
        </p:nvSpPr>
        <p:spPr>
          <a:xfrm>
            <a:off x="914400" y="2578608"/>
            <a:ext cx="4754880" cy="640080"/>
          </a:xfrm>
          <a:prstGeom prst="rect">
            <a:avLst/>
          </a:prstGeom>
          <a:noFill/>
          <a:ln/>
        </p:spPr>
        <p:txBody>
          <a:bodyPr wrap="square" lIns="0" tIns="0" rIns="0" bIns="0" rtlCol="0" anchor="t"/>
          <a:lstStyle/>
          <a:p>
            <a:pPr indent="0" marL="0">
              <a:lnSpc>
                <a:spcPct val="110000"/>
              </a:lnSpc>
              <a:buNone/>
            </a:pPr>
            <a:r>
              <a:rPr lang="en-US" sz="1300" i="1" dirty="0">
                <a:solidFill>
                  <a:srgbClr val="5E6A78"/>
                </a:solidFill>
                <a:latin typeface="Arial" pitchFamily="34" charset="0"/>
                <a:ea typeface="Arial" pitchFamily="34" charset="-122"/>
                <a:cs typeface="Arial" pitchFamily="34" charset="-120"/>
              </a:rPr>
              <a:t>The New Year's Day closing time is missing from your notes.</a:t>
            </a:r>
            <a:endParaRPr lang="en-US" sz="1300" dirty="0"/>
          </a:p>
        </p:txBody>
      </p:sp>
      <p:sp>
        <p:nvSpPr>
          <p:cNvPr id="9" name="Text 6"/>
          <p:cNvSpPr/>
          <p:nvPr/>
        </p:nvSpPr>
        <p:spPr>
          <a:xfrm>
            <a:off x="914400" y="3383280"/>
            <a:ext cx="4754880" cy="128016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“…open 9 AM to 8 PM.”  —  it invented a time, and a wrong one slips into the email.</a:t>
            </a:r>
            <a:endParaRPr lang="en-US" sz="1400" dirty="0"/>
          </a:p>
        </p:txBody>
      </p:sp>
      <p:sp>
        <p:nvSpPr>
          <p:cNvPr id="10" name="Shape 7"/>
          <p:cNvSpPr/>
          <p:nvPr/>
        </p:nvSpPr>
        <p:spPr>
          <a:xfrm>
            <a:off x="6217920" y="2103120"/>
            <a:ext cx="5303520" cy="3611880"/>
          </a:xfrm>
          <a:prstGeom prst="roundRect">
            <a:avLst>
              <a:gd name="adj" fmla="val 2278"/>
            </a:avLst>
          </a:prstGeom>
          <a:solidFill>
            <a:srgbClr val="DCFCE7"/>
          </a:solidFill>
          <a:ln/>
        </p:spPr>
      </p:sp>
      <p:sp>
        <p:nvSpPr>
          <p:cNvPr id="11" name="Text 8"/>
          <p:cNvSpPr/>
          <p:nvPr/>
        </p:nvSpPr>
        <p:spPr>
          <a:xfrm>
            <a:off x="6492240" y="2286000"/>
            <a:ext cx="4754880" cy="274320"/>
          </a:xfrm>
          <a:prstGeom prst="rect">
            <a:avLst/>
          </a:prstGeom>
          <a:noFill/>
          <a:ln/>
        </p:spPr>
        <p:txBody>
          <a:bodyPr wrap="square" lIns="0" tIns="0" rIns="0" bIns="0" rtlCol="0" anchor="ctr"/>
          <a:lstStyle/>
          <a:p>
            <a:pPr indent="0" marL="0">
              <a:buNone/>
            </a:pPr>
            <a:r>
              <a:rPr lang="en-US" sz="1100" b="1" spc="150" kern="0" dirty="0">
                <a:solidFill>
                  <a:srgbClr val="15803D"/>
                </a:solidFill>
                <a:latin typeface="Arial" pitchFamily="34" charset="0"/>
                <a:ea typeface="Arial" pitchFamily="34" charset="-122"/>
                <a:cs typeface="Arial" pitchFamily="34" charset="-120"/>
              </a:rPr>
              <a:t>A PLANNED FALLBACK</a:t>
            </a:r>
            <a:endParaRPr lang="en-US" sz="1100" dirty="0"/>
          </a:p>
        </p:txBody>
      </p:sp>
      <p:sp>
        <p:nvSpPr>
          <p:cNvPr id="12" name="Text 9"/>
          <p:cNvSpPr/>
          <p:nvPr/>
        </p:nvSpPr>
        <p:spPr>
          <a:xfrm>
            <a:off x="6492240" y="2578608"/>
            <a:ext cx="4754880" cy="822960"/>
          </a:xfrm>
          <a:prstGeom prst="rect">
            <a:avLst/>
          </a:prstGeom>
          <a:noFill/>
          <a:ln/>
        </p:spPr>
        <p:txBody>
          <a:bodyPr wrap="square" lIns="0" tIns="0" rIns="0" bIns="0" rtlCol="0" anchor="t"/>
          <a:lstStyle/>
          <a:p>
            <a:pPr indent="0" marL="0">
              <a:lnSpc>
                <a:spcPct val="112000"/>
              </a:lnSpc>
              <a:buNone/>
            </a:pPr>
            <a:r>
              <a:rPr lang="en-US" sz="1300" i="1" dirty="0">
                <a:solidFill>
                  <a:srgbClr val="15803D"/>
                </a:solidFill>
                <a:latin typeface="Arial" pitchFamily="34" charset="0"/>
                <a:ea typeface="Arial" pitchFamily="34" charset="-122"/>
                <a:cs typeface="Arial" pitchFamily="34" charset="-120"/>
              </a:rPr>
              <a:t>“If a detail is missing, mark it [TO CONFIRM] rather than guessing.”</a:t>
            </a:r>
            <a:endParaRPr lang="en-US" sz="1300" dirty="0"/>
          </a:p>
        </p:txBody>
      </p:sp>
      <p:sp>
        <p:nvSpPr>
          <p:cNvPr id="13" name="Text 10"/>
          <p:cNvSpPr/>
          <p:nvPr/>
        </p:nvSpPr>
        <p:spPr>
          <a:xfrm>
            <a:off x="6492240" y="3611880"/>
            <a:ext cx="4754880" cy="1188720"/>
          </a:xfrm>
          <a:prstGeom prst="rect">
            <a:avLst/>
          </a:prstGeom>
          <a:noFill/>
          <a:ln/>
        </p:spPr>
        <p:txBody>
          <a:bodyPr wrap="square" lIns="0" tIns="0" rIns="0" bIns="0" rtlCol="0" anchor="t"/>
          <a:lstStyle/>
          <a:p>
            <a:pPr indent="0" marL="0">
              <a:lnSpc>
                <a:spcPct val="114000"/>
              </a:lnSpc>
              <a:buNone/>
            </a:pPr>
            <a:r>
              <a:rPr lang="en-US" sz="1400" b="1" dirty="0">
                <a:solidFill>
                  <a:srgbClr val="1F2733"/>
                </a:solidFill>
                <a:latin typeface="Arial" pitchFamily="34" charset="0"/>
                <a:ea typeface="Arial" pitchFamily="34" charset="-122"/>
                <a:cs typeface="Arial" pitchFamily="34" charset="-120"/>
              </a:rPr>
              <a:t>“…open 9 AM to [ TO CONFIRM ].”  —  it flags the gap instead of inventing one.</a:t>
            </a:r>
            <a:endParaRPr lang="en-US" sz="1400" dirty="0"/>
          </a:p>
        </p:txBody>
      </p:sp>
      <p:sp>
        <p:nvSpPr>
          <p:cNvPr id="14" name="Text 11"/>
          <p:cNvSpPr/>
          <p:nvPr/>
        </p:nvSpPr>
        <p:spPr>
          <a:xfrm>
            <a:off x="640080" y="6419088"/>
            <a:ext cx="4572000" cy="274320"/>
          </a:xfrm>
          <a:prstGeom prst="rect">
            <a:avLst/>
          </a:prstGeom>
          <a:noFill/>
          <a:ln/>
        </p:spPr>
        <p:txBody>
          <a:bodyPr wrap="square" lIns="0" tIns="0" rIns="0" bIns="0" rtlCol="0" anchor="ctr"/>
          <a:lstStyle/>
          <a:p>
            <a:pPr indent="0" marL="0">
              <a:buNone/>
            </a:pPr>
            <a:r>
              <a:rPr lang="en-US" sz="850" b="1" spc="150" kern="0" dirty="0">
                <a:solidFill>
                  <a:srgbClr val="8A93A0"/>
                </a:solidFill>
                <a:latin typeface="Arial" pitchFamily="34" charset="0"/>
                <a:ea typeface="Arial" pitchFamily="34" charset="-122"/>
                <a:cs typeface="Arial" pitchFamily="34" charset="-120"/>
              </a:rPr>
              <a:t>MODULE 11  ·  APPENDIX</a:t>
            </a:r>
            <a:endParaRPr lang="en-US" sz="850" dirty="0"/>
          </a:p>
        </p:txBody>
      </p:sp>
      <p:sp>
        <p:nvSpPr>
          <p:cNvPr id="15" name="Text 12"/>
          <p:cNvSpPr/>
          <p:nvPr/>
        </p:nvSpPr>
        <p:spPr>
          <a:xfrm>
            <a:off x="6519672" y="6419088"/>
            <a:ext cx="5029200" cy="274320"/>
          </a:xfrm>
          <a:prstGeom prst="rect">
            <a:avLst/>
          </a:prstGeom>
          <a:noFill/>
          <a:ln/>
        </p:spPr>
        <p:txBody>
          <a:bodyPr wrap="square" lIns="0" tIns="0" rIns="0" bIns="0" rtlCol="0" anchor="ctr"/>
          <a:lstStyle/>
          <a:p>
            <a:pPr algn="r" indent="0" marL="0">
              <a:buNone/>
            </a:pPr>
            <a:r>
              <a:rPr lang="en-US" sz="850" i="1" dirty="0">
                <a:solidFill>
                  <a:srgbClr val="8A93A0"/>
                </a:solidFill>
                <a:latin typeface="Arial" pitchFamily="34" charset="0"/>
                <a:ea typeface="Arial" pitchFamily="34" charset="-122"/>
                <a:cs typeface="Arial" pitchFamily="34" charset="-120"/>
              </a:rPr>
              <a:t>Illustrative training material — not an official BJ's publication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 Intermediate (Module 8)</dc:title>
  <dc:subject>PptxGenJS Presentation</dc:subject>
  <dc:creator>BJ's AI Enablement</dc:creator>
  <cp:lastModifiedBy>BJ's AI Enablement</cp:lastModifiedBy>
  <cp:revision>1</cp:revision>
  <dcterms:created xsi:type="dcterms:W3CDTF">2026-07-05T18:49:06Z</dcterms:created>
  <dcterms:modified xsi:type="dcterms:W3CDTF">2026-07-05T18:49:06Z</dcterms:modified>
</cp:coreProperties>
</file>