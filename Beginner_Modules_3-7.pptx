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Beginner level and Module 3. Frame it simply: they now have the mindset and the recipe; this module drills the single most valuable everyday habit — writing a clear instruction. Keep it practical and encouraging.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Tell them you will return to this list at the end and check each one off.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core message: most disappointing answers trace back to a vague instruction, not a weak tool. 'Vague in, vague out.' This reframes the fix as something in their control — which is empowering. Invite a quick example of a vague prompt someone has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building our staff note: be clear and direct. Contrast the vague 'help me with the staff note' against a direct instruction that names the output and the audience. This is the first layer of the one note we build across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be specific. Now we add the real details to the same note — the three perks and the 9 AM start. Point out how naming these facts removes all guesswork. Keep pointing back to the note we started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rank what matters with must / should / avoid, still on the same note. The rotisserie chicken voucher and the 9 AM start are must-haves; upbeat tone is a should; corporate phrasing is an avoid. This protects the non-negotiables.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set the limits on the same note — under 90 words, plain words, three bullets. Reframe limits as design tools, not restrictions. By now the class has watched one note grow from a vague ask into a fully specified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all four habits in one instruction. Read it top to bottom. This is the payoff slide — the same four moves, combined into something they could paste in today for a real membership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interactive. Read the vague version, ask what breaks, then show the clear version and the better result. Mirrors the before-and-after they have seen in earlier modules, now focused on instruction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Return to the four objectives and check each off against these cards. Ask someone to recite the four habits — direct, specific, ranked, limits. No new material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4, Structure &amp; Formatting. They can now write a clear instruction; next they will learn to keep that instruction separate from the information they paste in, so the assistant never confuses the two.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Point curious learners here. Two optional habits,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decide what 'good' looks like before writing — picture the finished answer and its must-haves. The next page works it through on our membership-drive staff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the target — the must-haves for the membership-drive note, decided before writing. Right: the note that satisfies every one. The point — name the target up front and the output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the assistant follows positive instructions ('do this') more reliably than negative ones ('don't do that'). The next page shows the two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told only what to avoid, the assistant sidesteps the don'ts but still lands flat — nothing to aim at. Right: told what to do, it produces a warm, short note. Positive instructions steer better than negative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4. They can now write a clear instruction; this module keeps that instruction separate from the information they paste in, so the assistant never confuses the two. Practical and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and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when the instruction and the pasted content run together as one block, the assistant cannot reliably tell your request from your material — and may act on the wrong line. Structure prevents this. Show a messy paste if you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fence your content. Using our three real member comments, show how a simple label or line of dashes tells the assistant where the pasted feedback begins and ends. Reassure them it need not be fancy — a clear marker is plenty.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keep request and content apart, still using the same feedback. Instruction first, in their own words; the comments underneath, labelled. Point out how run-together text lets the assistant mistake a comment for an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ask for the answer in labelled sections — 'Top themes' and 'Quick wins' for our huddle summary. Small habit, big payoff: they can grab just the part they need without hunting through a wall of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lay the prompt out cleanly — short, numbered steps over the same feedback. A tidy prompt gets a tidy answer, and the layout helps them notice anything they forgot to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all four moves in one structured prompt. Read it top to bottom. This is the payoff — instruction, fenced material, and labelled output, all in one place they could paste in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Read the run-together blob and ask what the assistant might get wrong; then show the structured version. The contrast makes the point better than any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someone to name the four habits — fence, separate, label, lay out.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5, Roles, Personas and Audience — giving the assistant a role so its voice and expertise fit the task.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Two optional structuring habits for bigger jobs,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when you give it more than one document, label each and fence it off so it can tell them apart. The next page shows a muddled compare versus a clean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two months' feedback in one unlabelled blob — it can't reliably tell them apart, so the comparison is muddled. Right: each month fenced and labelled, and it compares cleanly. Label every document when you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save the parts of a working prompt as reusable blocks, so next time you only swap in new material. The next page shows rebuilding each week versus reusing a saved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rebuilding the whole prompt weekly is slow and inconsistent. Right: a saved shell where only the pasted comments change — fast and identical each week. This is the seed of the reusable-systems idea that returns in the Advanced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5. They can now write a clear, well-structured instruction; this module is about voice — telling the assistant who to be and who it is writing for. Our running example all module is helping a member use the new BJ's scan-and-go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and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the same facts land very differently depending on who is speaking and who is listening. Introduce the running example — writing about the new app — which we will shape four ways across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give it a role. A role sets the assistant's knowledge, vocabulary, and assumptions before it writes. Contrast the blank 'explain the app' with 'you are a friendly club associate.' Ask the room what role fits a task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keep it in character. Add a few traits — patient, upbeat, never technical — and the voice holds across follow-ups, not just the first reply. The more specific the persona, the steadier the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reshape for the reader. Same app, three audiences — members, floor staff, leadership — each needs different wording and emphasis. Show how the facts stay but the framing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steer the tone with concrete anchors. 'Friendly' is vague; 'like a helpful associate at the door, not a press release' is something the assistant can picture. Anchors beat adjectives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role, persona, audience, and tone combined in one prompt about the app. Read it top to bottom — this is the whole voice set in a few lines, ready to paste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Read the blank 'explain the app' reply — correct but cold — then the version with a role and tone. The warmth and clarity of the second is the entire point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someone to name the four moves — role, character, audience, tone.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6, Learn by Showing — giving the assistant examples of what 'good' looks like. They can set the voice; next they will show the standard.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One optional habit — saving a role so you do not retype it —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save a role as a standing instruction so you never retype it. The next page shows retyping every time versus setting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retype the whole role at the start of every chat — tedious and easy to forget. Right: save it once as a standing instruction, and a bare 'Explain the app' already comes back in the friendly associate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6. They can set a clear instruction, structure it, and set the voice. This module adds the single most powerful beginner move: showing examples. Our running example all module is writing a short BJ's shelf-sign blurb in a house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describing a style in words is slow and vague; showing two or three examples is fast and precise. Introduce the running example — house-style shelf blurbs — which we teach purely by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zero versus a few examples. With none, the assistant guesses your style; with two or three worked examples, it copies the pattern. Demonstrate live if you can — the difference is dramatic and convincing.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design examples that show the pattern. The assistant copies exactly what it sees, so the example must be clear, representative, and in the precise shape you want. Point out the one-benefit-plus-detail pattern in the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contrastive good-versus-bad. When the boundary matters, show a labelled bad example next to the good one. It teaches the difference, not just the target. Keep the bad example obviously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quantity, selection, order. Two or three is plenty; pick varied product types; and put the strongest example last, since the assistant leans on the most recent one. More is not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full show-by-example prompt: the task, two example blurbs, then the new product. Read it top to bottom — this is few-shot prompting in one screen, ready to reuse for any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Read the no-examples blurb — flat and off-brand — then the with-examples blurb that matches the house style instantly. The contrast is the whole argument for showing over telling.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someone to state the rule of thumb — two or three varied examples, best one last.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7, Controlling the Output — the final Beginner module. They can set the style; next they lock the exact shape of the answer. End on encouragement: they are one module from finishing the Beginner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7, the final Beginner module. They can write clearly, structure, set the voice, and show examples. This module locks the last piece: the exact shape of the answer. Our running example is laying out this weekend's three club events for the staff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the assistant can be completely correct and still hand back the wrong shape — a paragraph when you needed a table. Saying the shape up front saves all the reformatting. Introduce the club-events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name the shape — an output contract. Spell out the columns, sections, or one-line format you want. Walk the 'table with three columns' example for the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give it a template. Hand over the blank skeleton and let it fill the gaps. Great when you want the same fields every time, like an events or shift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pick the right format. Table for scannable rows, list for a few items, paragraph for a written summary. The point is to choose on purpose and say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start the answer. A quiet trick — write the header row or first bullet yourself, and the assistant continues in that exact shape. Demonstrate seeding the table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all four moves in one prompt for the events board. Read it top to bottom — task, the facts, the shape, and the seeded header — everything needed to get a clean table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Read the loose paragraph version — correct but hard to scan — then show the clean table. On a busy staff board, the table wins every time. This is the payoff of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someone to name the four moves — name the shape, give a template, pick the format, start the answer.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of the Beginner level — celebrate it. They can now write prompts that reliably work. Preview the Intermediate level: working with their own documents, getting the assistant to reason, and checking its work. End on genuine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One optional, more technical habit for when output feeds another system —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when the output feeds a system rather than a person, ask for a strict structured format. More technical — most everyday tasks never need it. The next page contrasts a human table with a machine-readable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the events as a plain table — perfect for a person to read on the board. Right: the same events as structured records with named fields — ready to feed a spreadsheet or system. Ask for data only when a machine, not a person, is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slideLayout" Target="../slideLayouts/slideLayout1.xm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slideLayout" Target="../slideLayouts/slideLayout1.xml"/><Relationship Id="rId7"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1  ·  BEGINNER</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600" b="1" spc="-50" kern="0" dirty="0">
                <a:solidFill>
                  <a:srgbClr val="FFFFFF"/>
                </a:solidFill>
                <a:latin typeface="Arial" pitchFamily="34" charset="0"/>
                <a:ea typeface="Arial" pitchFamily="34" charset="-122"/>
                <a:cs typeface="Arial" pitchFamily="34" charset="-120"/>
              </a:rPr>
              <a:t>Module 3 — Writing Clear Instructions</a:t>
            </a:r>
            <a:endParaRPr lang="en-US" sz="46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The everyday habit that fixes most weak results: telling it exactly what you want.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Give a clear, direct instruction the assistant can follow</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Say exactly what you want, plainly.</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Make an instruction specific enough to remove guesswork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Spell out the details that matter.</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Show which requirements are non-negotiable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Rank them: must, should, avoid.</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Use limits to shape the result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Length, reading level, and format.</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Weak answers usually come from weak instructions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Most disappointing answers trace back to a vague instruction, not a weak tool. Vague in, vague out. So this module fixes the input — and we will do it by building one real note together, one step at a time.</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A short note to weekend floor staff about Saturday's membership sign-up drive.</a:t>
            </a:r>
            <a:endParaRPr lang="en-US" sz="1800" dirty="0"/>
          </a:p>
          <a:p>
            <a:pPr indent="0" marL="0">
              <a:lnSpc>
                <a:spcPct val="115000"/>
              </a:lnSpc>
              <a:buNone/>
            </a:pPr>
            <a:endParaRPr lang="en-US" sz="1800" dirty="0"/>
          </a:p>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Each step adds one layer to it.</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BE CLEAR AND DIRECT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Say exactly what you want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Start by naming the output plainly: what to produce and who it is for. Leave nothing to interpretation. A direct instruction beats a clever one every time.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Building our staff note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Vague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“Help me with the staff note.”</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Direct</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“Write a short note for weekend floor staff about Saturday's membership sign-up drive.”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BE SPECIFIC</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Leave no room for guessing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Now add the details that matter, so nothing is left to guesswork. These are the facts the note must actually contain.</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Adding the specifics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“Cover the three new-member perks —</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$25 in club rewards, a free rotisserie chicken voucher, and no first-month fee —</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and that it starts Saturday at 9 AM by the entrance.”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RANK WHAT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Say which requirements are non-negotiable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Some details cannot be dropped; others are nice to have. Flag the essentials as must, the preferences as should, and the things to steer clear of as avoid.</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Ranking the note's requirements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Must</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include the rotisserie chicken voucher and the 9 AM start.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Should</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sound upbeat and encouraging.</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Avoid</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corporate phrasing like “value proposition.”</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SET SENSIBLE LIMITS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Use limits to shape the answer</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Finally, set the limits that shape the note — its length, its words, and its format. Limits are not restrictions; they are design tools that steer the result.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Setting the note's limits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“Keep it under 90 words.</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Use plain, everyday words — no jargon.</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Format it as three short bullet points.”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clear instruction, all four at work</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26080"/>
          </a:xfrm>
          <a:prstGeom prst="rect">
            <a:avLst/>
          </a:prstGeom>
          <a:noFill/>
          <a:ln/>
        </p:spPr>
        <p:txBody>
          <a:bodyPr wrap="square" lIns="0" tIns="0" rIns="0" bIns="0" rtlCol="0" anchor="t"/>
          <a:lstStyle/>
          <a:p>
            <a:pPr indent="0" marL="0">
              <a:lnSpc>
                <a:spcPct val="120000"/>
              </a:lnSpc>
              <a:buNone/>
            </a:pPr>
            <a:r>
              <a:rPr lang="en-US" sz="1650" b="1" dirty="0">
                <a:solidFill>
                  <a:srgbClr val="D31242"/>
                </a:solidFill>
                <a:latin typeface="Arial" pitchFamily="34" charset="0"/>
                <a:ea typeface="Arial" pitchFamily="34" charset="-122"/>
                <a:cs typeface="Arial" pitchFamily="34" charset="-120"/>
              </a:rPr>
              <a:t>Direct</a:t>
            </a:r>
            <a:pPr indent="0" marL="0">
              <a:lnSpc>
                <a:spcPct val="120000"/>
              </a:lnSpc>
              <a:buNone/>
            </a:pPr>
            <a:r>
              <a:rPr lang="en-US" sz="1650" dirty="0">
                <a:solidFill>
                  <a:srgbClr val="1F2733"/>
                </a:solidFill>
                <a:latin typeface="Arial" pitchFamily="34" charset="0"/>
                <a:ea typeface="Arial" pitchFamily="34" charset="-122"/>
                <a:cs typeface="Arial" pitchFamily="34" charset="-120"/>
              </a:rPr>
              <a:t>   Write a short note for weekend floor staff about Saturday's membership sign-up drive.</a:t>
            </a:r>
            <a:endParaRPr lang="en-US" sz="1650" dirty="0"/>
          </a:p>
          <a:p>
            <a:pPr indent="0" marL="0">
              <a:lnSpc>
                <a:spcPct val="120000"/>
              </a:lnSpc>
              <a:buNone/>
            </a:pPr>
            <a:endParaRPr lang="en-US" sz="1650" dirty="0"/>
          </a:p>
          <a:p>
            <a:pPr indent="0" marL="0">
              <a:lnSpc>
                <a:spcPct val="120000"/>
              </a:lnSpc>
              <a:buNone/>
            </a:pPr>
            <a:r>
              <a:rPr lang="en-US" sz="1650" b="1" dirty="0">
                <a:solidFill>
                  <a:srgbClr val="D31242"/>
                </a:solidFill>
                <a:latin typeface="Arial" pitchFamily="34" charset="0"/>
                <a:ea typeface="Arial" pitchFamily="34" charset="-122"/>
                <a:cs typeface="Arial" pitchFamily="34" charset="-120"/>
              </a:rPr>
              <a:t>Specific</a:t>
            </a:r>
            <a:pPr indent="0" marL="0">
              <a:lnSpc>
                <a:spcPct val="120000"/>
              </a:lnSpc>
              <a:buNone/>
            </a:pPr>
            <a:r>
              <a:rPr lang="en-US" sz="1650" dirty="0">
                <a:solidFill>
                  <a:srgbClr val="1F2733"/>
                </a:solidFill>
                <a:latin typeface="Arial" pitchFamily="34" charset="0"/>
                <a:ea typeface="Arial" pitchFamily="34" charset="-122"/>
                <a:cs typeface="Arial" pitchFamily="34" charset="-120"/>
              </a:rPr>
              <a:t>   Cover the three perks — $25 club rewards, a free rotisserie chicken voucher, no first-month fee — and the 9 AM start at the entrance.</a:t>
            </a:r>
            <a:endParaRPr lang="en-US" sz="1650" dirty="0"/>
          </a:p>
          <a:p>
            <a:pPr indent="0" marL="0">
              <a:lnSpc>
                <a:spcPct val="120000"/>
              </a:lnSpc>
              <a:buNone/>
            </a:pPr>
            <a:endParaRPr lang="en-US" sz="1650" dirty="0"/>
          </a:p>
          <a:p>
            <a:pPr indent="0" marL="0">
              <a:lnSpc>
                <a:spcPct val="120000"/>
              </a:lnSpc>
              <a:buNone/>
            </a:pPr>
            <a:r>
              <a:rPr lang="en-US" sz="1650" b="1" dirty="0">
                <a:solidFill>
                  <a:srgbClr val="D31242"/>
                </a:solidFill>
                <a:latin typeface="Arial" pitchFamily="34" charset="0"/>
                <a:ea typeface="Arial" pitchFamily="34" charset="-122"/>
                <a:cs typeface="Arial" pitchFamily="34" charset="-120"/>
              </a:rPr>
              <a:t>Ranked</a:t>
            </a:r>
            <a:pPr indent="0" marL="0">
              <a:lnSpc>
                <a:spcPct val="120000"/>
              </a:lnSpc>
              <a:buNone/>
            </a:pPr>
            <a:r>
              <a:rPr lang="en-US" sz="1650" dirty="0">
                <a:solidFill>
                  <a:srgbClr val="1F2733"/>
                </a:solidFill>
                <a:latin typeface="Arial" pitchFamily="34" charset="0"/>
                <a:ea typeface="Arial" pitchFamily="34" charset="-122"/>
                <a:cs typeface="Arial" pitchFamily="34" charset="-120"/>
              </a:rPr>
              <a:t>   Must include the rotisserie chicken voucher and the 9 AM start; should sound upbeat; avoid corporate phrasing.</a:t>
            </a:r>
            <a:endParaRPr lang="en-US" sz="1650" dirty="0"/>
          </a:p>
          <a:p>
            <a:pPr indent="0" marL="0">
              <a:lnSpc>
                <a:spcPct val="120000"/>
              </a:lnSpc>
              <a:buNone/>
            </a:pPr>
            <a:endParaRPr lang="en-US" sz="1650" dirty="0"/>
          </a:p>
          <a:p>
            <a:pPr indent="0" marL="0">
              <a:lnSpc>
                <a:spcPct val="120000"/>
              </a:lnSpc>
              <a:buNone/>
            </a:pPr>
            <a:r>
              <a:rPr lang="en-US" sz="1650" b="1" dirty="0">
                <a:solidFill>
                  <a:srgbClr val="D31242"/>
                </a:solidFill>
                <a:latin typeface="Arial" pitchFamily="34" charset="0"/>
                <a:ea typeface="Arial" pitchFamily="34" charset="-122"/>
                <a:cs typeface="Arial" pitchFamily="34" charset="-120"/>
              </a:rPr>
              <a:t>Limits</a:t>
            </a:r>
            <a:pPr indent="0" marL="0">
              <a:lnSpc>
                <a:spcPct val="120000"/>
              </a:lnSpc>
              <a:buNone/>
            </a:pPr>
            <a:r>
              <a:rPr lang="en-US" sz="1650" dirty="0">
                <a:solidFill>
                  <a:srgbClr val="1F2733"/>
                </a:solidFill>
                <a:latin typeface="Arial" pitchFamily="34" charset="0"/>
                <a:ea typeface="Arial" pitchFamily="34" charset="-122"/>
                <a:cs typeface="Arial" pitchFamily="34" charset="-120"/>
              </a:rPr>
              <a:t>   Under 90 words, three short bullets, plain words.</a:t>
            </a:r>
            <a:endParaRPr lang="en-US" sz="16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two instructions, and the notes they produce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VAGUE INSTRUCTION</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“Write about the membership drive.”</a:t>
            </a:r>
            <a:endParaRPr lang="en-US" sz="1300" dirty="0"/>
          </a:p>
        </p:txBody>
      </p:sp>
      <p:sp>
        <p:nvSpPr>
          <p:cNvPr id="9" name="Text 6"/>
          <p:cNvSpPr/>
          <p:nvPr/>
        </p:nvSpPr>
        <p:spPr>
          <a:xfrm>
            <a:off x="914400" y="315468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NOTE YOU GET</a:t>
            </a:r>
            <a:endParaRPr lang="en-US" sz="1100" dirty="0"/>
          </a:p>
        </p:txBody>
      </p:sp>
      <p:sp>
        <p:nvSpPr>
          <p:cNvPr id="10" name="Text 7"/>
          <p:cNvSpPr/>
          <p:nvPr/>
        </p:nvSpPr>
        <p:spPr>
          <a:xfrm>
            <a:off x="914400" y="3474720"/>
            <a:ext cx="4754880" cy="1005840"/>
          </a:xfrm>
          <a:prstGeom prst="rect">
            <a:avLst/>
          </a:prstGeom>
          <a:noFill/>
          <a:ln/>
        </p:spPr>
        <p:txBody>
          <a:bodyPr wrap="square" lIns="0" tIns="0" rIns="0" bIns="0" rtlCol="0" anchor="t"/>
          <a:lstStyle/>
          <a:p>
            <a:pPr indent="0" marL="0">
              <a:lnSpc>
                <a:spcPct val="112000"/>
              </a:lnSpc>
              <a:buNone/>
            </a:pPr>
            <a:r>
              <a:rPr lang="en-US" sz="1500" b="1" dirty="0">
                <a:solidFill>
                  <a:srgbClr val="1F2733"/>
                </a:solidFill>
                <a:latin typeface="Arial" pitchFamily="34" charset="0"/>
                <a:ea typeface="Arial" pitchFamily="34" charset="-122"/>
                <a:cs typeface="Arial" pitchFamily="34" charset="-120"/>
              </a:rPr>
              <a:t>“Come to our membership event this weekend — great deals, sign up today!”</a:t>
            </a:r>
            <a:endParaRPr lang="en-US" sz="1500" dirty="0"/>
          </a:p>
        </p:txBody>
      </p:sp>
      <p:sp>
        <p:nvSpPr>
          <p:cNvPr id="11" name="Text 8"/>
          <p:cNvSpPr/>
          <p:nvPr/>
        </p:nvSpPr>
        <p:spPr>
          <a:xfrm>
            <a:off x="914400" y="4892040"/>
            <a:ext cx="4754880" cy="685800"/>
          </a:xfrm>
          <a:prstGeom prst="rect">
            <a:avLst/>
          </a:prstGeom>
          <a:noFill/>
          <a:ln/>
        </p:spPr>
        <p:txBody>
          <a:bodyPr wrap="square" lIns="0" tIns="0" rIns="0" bIns="0" rtlCol="0" anchor="t"/>
          <a:lstStyle/>
          <a:p>
            <a:pPr indent="0" marL="0">
              <a:lnSpc>
                <a:spcPct val="112000"/>
              </a:lnSpc>
              <a:buNone/>
            </a:pPr>
            <a:r>
              <a:rPr lang="en-US" sz="1250" i="1" dirty="0">
                <a:solidFill>
                  <a:srgbClr val="5E6A78"/>
                </a:solidFill>
                <a:latin typeface="Arial" pitchFamily="34" charset="0"/>
                <a:ea typeface="Arial" pitchFamily="34" charset="-122"/>
                <a:cs typeface="Arial" pitchFamily="34" charset="-120"/>
              </a:rPr>
              <a:t>Misses the perks, the 9 AM start, and the team voice.</a:t>
            </a:r>
            <a:endParaRPr lang="en-US" sz="125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CLEAR INSTRUCTION</a:t>
            </a:r>
            <a:endParaRPr lang="en-US" sz="1100" dirty="0"/>
          </a:p>
        </p:txBody>
      </p:sp>
      <p:sp>
        <p:nvSpPr>
          <p:cNvPr id="14" name="Text 11"/>
          <p:cNvSpPr/>
          <p:nvPr/>
        </p:nvSpPr>
        <p:spPr>
          <a:xfrm>
            <a:off x="6492240" y="2578608"/>
            <a:ext cx="4754880" cy="365760"/>
          </a:xfrm>
          <a:prstGeom prst="rect">
            <a:avLst/>
          </a:prstGeom>
          <a:noFill/>
          <a:ln/>
        </p:spPr>
        <p:txBody>
          <a:bodyPr wrap="square" lIns="0" tIns="0" rIns="0" bIns="0" rtlCol="0" anchor="t"/>
          <a:lstStyle/>
          <a:p>
            <a:pPr indent="0" marL="0">
              <a:buNone/>
            </a:pPr>
            <a:r>
              <a:rPr lang="en-US" sz="1300" i="1" dirty="0">
                <a:solidFill>
                  <a:srgbClr val="15803D"/>
                </a:solidFill>
                <a:latin typeface="Arial" pitchFamily="34" charset="0"/>
                <a:ea typeface="Arial" pitchFamily="34" charset="-122"/>
                <a:cs typeface="Arial" pitchFamily="34" charset="-120"/>
              </a:rPr>
              <a:t>The four-step instruction we built.</a:t>
            </a:r>
            <a:endParaRPr lang="en-US" sz="1300" dirty="0"/>
          </a:p>
        </p:txBody>
      </p:sp>
      <p:sp>
        <p:nvSpPr>
          <p:cNvPr id="15" name="Text 12"/>
          <p:cNvSpPr/>
          <p:nvPr/>
        </p:nvSpPr>
        <p:spPr>
          <a:xfrm>
            <a:off x="6492240" y="30358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NOTE YOU GET</a:t>
            </a:r>
            <a:endParaRPr lang="en-US" sz="1100" dirty="0"/>
          </a:p>
        </p:txBody>
      </p:sp>
      <p:sp>
        <p:nvSpPr>
          <p:cNvPr id="16" name="Text 13"/>
          <p:cNvSpPr/>
          <p:nvPr/>
        </p:nvSpPr>
        <p:spPr>
          <a:xfrm>
            <a:off x="6492240" y="3346704"/>
            <a:ext cx="4754880" cy="2240280"/>
          </a:xfrm>
          <a:prstGeom prst="rect">
            <a:avLst/>
          </a:prstGeom>
          <a:noFill/>
          <a:ln/>
        </p:spPr>
        <p:txBody>
          <a:bodyPr wrap="square" lIns="0" tIns="0" rIns="0" bIns="0" rtlCol="0" anchor="t"/>
          <a:lstStyle/>
          <a:p>
            <a:pPr indent="0" marL="0">
              <a:lnSpc>
                <a:spcPct val="112000"/>
              </a:lnSpc>
              <a:buNone/>
            </a:pPr>
            <a:r>
              <a:rPr lang="en-US" sz="1300" b="1" dirty="0">
                <a:solidFill>
                  <a:srgbClr val="1F2733"/>
                </a:solidFill>
                <a:latin typeface="Arial" pitchFamily="34" charset="0"/>
                <a:ea typeface="Arial" pitchFamily="34" charset="-122"/>
                <a:cs typeface="Arial" pitchFamily="34" charset="-120"/>
              </a:rPr>
              <a:t>Team — this Saturday from 9 AM we're signing up new members at the entrance. Three things to share:</a:t>
            </a:r>
            <a:endParaRPr lang="en-US" sz="1300" dirty="0"/>
          </a:p>
          <a:p>
            <a:pPr indent="0" marL="0">
              <a:lnSpc>
                <a:spcPct val="112000"/>
              </a:lnSpc>
              <a:buNone/>
            </a:pPr>
            <a:r>
              <a:rPr lang="en-US" sz="1300" b="1" dirty="0">
                <a:solidFill>
                  <a:srgbClr val="1F2733"/>
                </a:solidFill>
                <a:latin typeface="Arial" pitchFamily="34" charset="0"/>
                <a:ea typeface="Arial" pitchFamily="34" charset="-122"/>
                <a:cs typeface="Arial" pitchFamily="34" charset="-120"/>
              </a:rPr>
              <a:t>•  $25 in club rewards</a:t>
            </a:r>
            <a:endParaRPr lang="en-US" sz="1300" dirty="0"/>
          </a:p>
          <a:p>
            <a:pPr indent="0" marL="0">
              <a:lnSpc>
                <a:spcPct val="112000"/>
              </a:lnSpc>
              <a:buNone/>
            </a:pPr>
            <a:r>
              <a:rPr lang="en-US" sz="1300" b="1" dirty="0">
                <a:solidFill>
                  <a:srgbClr val="1F2733"/>
                </a:solidFill>
                <a:latin typeface="Arial" pitchFamily="34" charset="0"/>
                <a:ea typeface="Arial" pitchFamily="34" charset="-122"/>
                <a:cs typeface="Arial" pitchFamily="34" charset="-120"/>
              </a:rPr>
              <a:t>•  A free rotisserie chicken voucher</a:t>
            </a:r>
            <a:endParaRPr lang="en-US" sz="1300" dirty="0"/>
          </a:p>
          <a:p>
            <a:pPr indent="0" marL="0">
              <a:lnSpc>
                <a:spcPct val="112000"/>
              </a:lnSpc>
              <a:buNone/>
            </a:pPr>
            <a:r>
              <a:rPr lang="en-US" sz="1300" b="1" dirty="0">
                <a:solidFill>
                  <a:srgbClr val="1F2733"/>
                </a:solidFill>
                <a:latin typeface="Arial" pitchFamily="34" charset="0"/>
                <a:ea typeface="Arial" pitchFamily="34" charset="-122"/>
                <a:cs typeface="Arial" pitchFamily="34" charset="-120"/>
              </a:rPr>
              <a:t>•  No fee for the first month</a:t>
            </a:r>
            <a:endParaRPr lang="en-US" sz="1300" dirty="0"/>
          </a:p>
          <a:p>
            <a:pPr indent="0" marL="0">
              <a:lnSpc>
                <a:spcPct val="112000"/>
              </a:lnSpc>
              <a:buNone/>
            </a:pPr>
            <a:r>
              <a:rPr lang="en-US" sz="1300" b="1" dirty="0">
                <a:solidFill>
                  <a:srgbClr val="1F2733"/>
                </a:solidFill>
                <a:latin typeface="Arial" pitchFamily="34" charset="0"/>
                <a:ea typeface="Arial" pitchFamily="34" charset="-122"/>
                <a:cs typeface="Arial" pitchFamily="34" charset="-120"/>
              </a:rPr>
              <a:t>Let's make it a great day!</a:t>
            </a:r>
            <a:endParaRPr lang="en-US" sz="13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Give a clear, direct instruction</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Say exactly what you want, plainly.</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Be specific</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Spell out the details and remove the guesswork.</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Rank what matters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Must, should, and avoid make priorities clear.</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Use limits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Length, reading level, and format shape the answer.</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BEGINNER</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Next: Structure &amp; Formatting</a:t>
            </a:r>
            <a:endParaRPr lang="en-US" sz="4400" dirty="0"/>
          </a:p>
        </p:txBody>
      </p:sp>
      <p:sp>
        <p:nvSpPr>
          <p:cNvPr id="7" name="Text 5"/>
          <p:cNvSpPr/>
          <p:nvPr/>
        </p:nvSpPr>
        <p:spPr>
          <a:xfrm>
            <a:off x="658368" y="3840480"/>
            <a:ext cx="969264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write a clear instruction. Module 4 keeps your instructions and your information from blurring together — so the assistant never mixes the two up.</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Two optional habits that sharpen your instructions even further — for anyone who wants them.</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Decide what 'good' looks like first</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Before you write, picture the finished answer.</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What would make it genuinely useful? Describing that target first makes your instruction almost write itself — you are aiming at something, not hoping for it.</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For our staff note, 'good' means: under 90 words, names the three perks and the 9 AM start, and sounds upbeat enough that staff want to share it.</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target, then the note it produces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331720"/>
            <a:ext cx="4754880" cy="274320"/>
          </a:xfrm>
          <a:prstGeom prst="rect">
            <a:avLst/>
          </a:prstGeom>
          <a:noFill/>
          <a:ln/>
        </p:spPr>
        <p:txBody>
          <a:bodyPr wrap="square" lIns="0" tIns="0" rIns="0" bIns="0" rtlCol="0" anchor="ctr"/>
          <a:lstStyle/>
          <a:p>
            <a:pPr indent="0" marL="0">
              <a:buNone/>
            </a:pPr>
            <a:r>
              <a:rPr lang="en-US" sz="1100" b="1" spc="120" kern="0" dirty="0">
                <a:solidFill>
                  <a:srgbClr val="5E6A78"/>
                </a:solidFill>
                <a:latin typeface="Arial" pitchFamily="34" charset="0"/>
                <a:ea typeface="Arial" pitchFamily="34" charset="-122"/>
                <a:cs typeface="Arial" pitchFamily="34" charset="-120"/>
              </a:rPr>
              <a:t>FIRST, DECIDE WHAT 'GOOD' IS</a:t>
            </a:r>
            <a:endParaRPr lang="en-US" sz="1100" dirty="0"/>
          </a:p>
        </p:txBody>
      </p:sp>
      <p:sp>
        <p:nvSpPr>
          <p:cNvPr id="8" name="Text 5"/>
          <p:cNvSpPr/>
          <p:nvPr/>
        </p:nvSpPr>
        <p:spPr>
          <a:xfrm>
            <a:off x="914400" y="2788920"/>
            <a:ext cx="4754880" cy="2468880"/>
          </a:xfrm>
          <a:prstGeom prst="rect">
            <a:avLst/>
          </a:prstGeom>
          <a:noFill/>
          <a:ln/>
        </p:spPr>
        <p:txBody>
          <a:bodyPr wrap="square" lIns="0" tIns="0" rIns="0" bIns="0" rtlCol="0" anchor="t"/>
          <a:lstStyle/>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Under 90 words</a:t>
            </a:r>
            <a:endParaRPr lang="en-US" sz="1550" dirty="0"/>
          </a:p>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Names the three perks</a:t>
            </a:r>
            <a:endParaRPr lang="en-US" sz="1550" dirty="0"/>
          </a:p>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States the 9 AM start</a:t>
            </a:r>
            <a:endParaRPr lang="en-US" sz="1550" dirty="0"/>
          </a:p>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Sounds upbeat</a:t>
            </a:r>
            <a:endParaRPr lang="en-US" sz="1550" dirty="0"/>
          </a:p>
        </p:txBody>
      </p:sp>
      <p:sp>
        <p:nvSpPr>
          <p:cNvPr id="9" name="Shape 6"/>
          <p:cNvSpPr/>
          <p:nvPr/>
        </p:nvSpPr>
        <p:spPr>
          <a:xfrm>
            <a:off x="6217920" y="2103120"/>
            <a:ext cx="5303520" cy="3611880"/>
          </a:xfrm>
          <a:prstGeom prst="roundRect">
            <a:avLst>
              <a:gd name="adj" fmla="val 2278"/>
            </a:avLst>
          </a:prstGeom>
          <a:solidFill>
            <a:srgbClr val="DCFCE7"/>
          </a:solidFill>
          <a:ln/>
        </p:spPr>
      </p:sp>
      <p:sp>
        <p:nvSpPr>
          <p:cNvPr id="10" name="Text 7"/>
          <p:cNvSpPr/>
          <p:nvPr/>
        </p:nvSpPr>
        <p:spPr>
          <a:xfrm>
            <a:off x="6492240" y="2331720"/>
            <a:ext cx="4754880" cy="274320"/>
          </a:xfrm>
          <a:prstGeom prst="rect">
            <a:avLst/>
          </a:prstGeom>
          <a:noFill/>
          <a:ln/>
        </p:spPr>
        <p:txBody>
          <a:bodyPr wrap="square" lIns="0" tIns="0" rIns="0" bIns="0" rtlCol="0" anchor="ctr"/>
          <a:lstStyle/>
          <a:p>
            <a:pPr indent="0" marL="0">
              <a:buNone/>
            </a:pPr>
            <a:r>
              <a:rPr lang="en-US" sz="1100" b="1" spc="120" kern="0" dirty="0">
                <a:solidFill>
                  <a:srgbClr val="15803D"/>
                </a:solidFill>
                <a:latin typeface="Arial" pitchFamily="34" charset="0"/>
                <a:ea typeface="Arial" pitchFamily="34" charset="-122"/>
                <a:cs typeface="Arial" pitchFamily="34" charset="-120"/>
              </a:rPr>
              <a:t>THE NOTE THAT HITS EVERY MARK</a:t>
            </a:r>
            <a:endParaRPr lang="en-US" sz="1100" dirty="0"/>
          </a:p>
        </p:txBody>
      </p:sp>
      <p:sp>
        <p:nvSpPr>
          <p:cNvPr id="11" name="Text 8"/>
          <p:cNvSpPr/>
          <p:nvPr/>
        </p:nvSpPr>
        <p:spPr>
          <a:xfrm>
            <a:off x="6492240" y="2743200"/>
            <a:ext cx="4754880" cy="2514600"/>
          </a:xfrm>
          <a:prstGeom prst="rect">
            <a:avLst/>
          </a:prstGeom>
          <a:noFill/>
          <a:ln/>
        </p:spPr>
        <p:txBody>
          <a:bodyPr wrap="square" lIns="0" tIns="0" rIns="0" bIns="0" rtlCol="0" anchor="t"/>
          <a:lstStyle/>
          <a:p>
            <a:pPr indent="0" marL="0">
              <a:lnSpc>
                <a:spcPct val="120000"/>
              </a:lnSpc>
              <a:buNone/>
            </a:pPr>
            <a:r>
              <a:rPr lang="en-US" sz="1300" b="1" dirty="0">
                <a:solidFill>
                  <a:srgbClr val="1F2733"/>
                </a:solidFill>
                <a:latin typeface="Arial" pitchFamily="34" charset="0"/>
                <a:ea typeface="Arial" pitchFamily="34" charset="-122"/>
                <a:cs typeface="Arial" pitchFamily="34" charset="-120"/>
              </a:rPr>
              <a:t>Team — this Saturday from 9 AM we're signing up new members at the entrance. Three wins to share:</a:t>
            </a:r>
            <a:endParaRPr lang="en-US" sz="1300" dirty="0"/>
          </a:p>
          <a:p>
            <a:pPr indent="0" marL="0">
              <a:lnSpc>
                <a:spcPct val="120000"/>
              </a:lnSpc>
              <a:buNone/>
            </a:pPr>
            <a:r>
              <a:rPr lang="en-US" sz="1300" b="1" dirty="0">
                <a:solidFill>
                  <a:srgbClr val="1F2733"/>
                </a:solidFill>
                <a:latin typeface="Arial" pitchFamily="34" charset="0"/>
                <a:ea typeface="Arial" pitchFamily="34" charset="-122"/>
                <a:cs typeface="Arial" pitchFamily="34" charset="-120"/>
              </a:rPr>
              <a:t>•  $25 in club rewards</a:t>
            </a:r>
            <a:endParaRPr lang="en-US" sz="1300" dirty="0"/>
          </a:p>
          <a:p>
            <a:pPr indent="0" marL="0">
              <a:lnSpc>
                <a:spcPct val="120000"/>
              </a:lnSpc>
              <a:buNone/>
            </a:pPr>
            <a:r>
              <a:rPr lang="en-US" sz="1300" b="1" dirty="0">
                <a:solidFill>
                  <a:srgbClr val="1F2733"/>
                </a:solidFill>
                <a:latin typeface="Arial" pitchFamily="34" charset="0"/>
                <a:ea typeface="Arial" pitchFamily="34" charset="-122"/>
                <a:cs typeface="Arial" pitchFamily="34" charset="-120"/>
              </a:rPr>
              <a:t>•  A free rotisserie chicken voucher</a:t>
            </a:r>
            <a:endParaRPr lang="en-US" sz="1300" dirty="0"/>
          </a:p>
          <a:p>
            <a:pPr indent="0" marL="0">
              <a:lnSpc>
                <a:spcPct val="120000"/>
              </a:lnSpc>
              <a:buNone/>
            </a:pPr>
            <a:r>
              <a:rPr lang="en-US" sz="1300" b="1" dirty="0">
                <a:solidFill>
                  <a:srgbClr val="1F2733"/>
                </a:solidFill>
                <a:latin typeface="Arial" pitchFamily="34" charset="0"/>
                <a:ea typeface="Arial" pitchFamily="34" charset="-122"/>
                <a:cs typeface="Arial" pitchFamily="34" charset="-120"/>
              </a:rPr>
              <a:t>•  No first-month fee</a:t>
            </a:r>
            <a:endParaRPr lang="en-US" sz="1300" dirty="0"/>
          </a:p>
          <a:p>
            <a:pPr indent="0" marL="0">
              <a:lnSpc>
                <a:spcPct val="120000"/>
              </a:lnSpc>
              <a:buNone/>
            </a:pPr>
            <a:r>
              <a:rPr lang="en-US" sz="1300" b="1" dirty="0">
                <a:solidFill>
                  <a:srgbClr val="1F2733"/>
                </a:solidFill>
                <a:latin typeface="Arial" pitchFamily="34" charset="0"/>
                <a:ea typeface="Arial" pitchFamily="34" charset="-122"/>
                <a:cs typeface="Arial" pitchFamily="34" charset="-120"/>
              </a:rPr>
              <a:t>Let's make it a great day!</a:t>
            </a:r>
            <a:endParaRPr lang="en-US" sz="1300" dirty="0"/>
          </a:p>
        </p:txBody>
      </p:sp>
      <p:sp>
        <p:nvSpPr>
          <p:cNvPr id="12" name="Text 9"/>
          <p:cNvSpPr/>
          <p:nvPr/>
        </p:nvSpPr>
        <p:spPr>
          <a:xfrm>
            <a:off x="640080" y="5852160"/>
            <a:ext cx="10881360" cy="365760"/>
          </a:xfrm>
          <a:prstGeom prst="rect">
            <a:avLst/>
          </a:prstGeom>
          <a:noFill/>
          <a:ln/>
        </p:spPr>
        <p:txBody>
          <a:bodyPr wrap="square" lIns="0" tIns="0" rIns="0" bIns="0" rtlCol="0" anchor="ctr"/>
          <a:lstStyle/>
          <a:p>
            <a:pPr algn="ctr" indent="0" marL="0">
              <a:buNone/>
            </a:pPr>
            <a:r>
              <a:rPr lang="en-US" sz="1300" i="1" dirty="0">
                <a:solidFill>
                  <a:srgbClr val="5E6A78"/>
                </a:solidFill>
                <a:latin typeface="Arial" pitchFamily="34" charset="0"/>
                <a:ea typeface="Arial" pitchFamily="34" charset="-122"/>
                <a:cs typeface="Arial" pitchFamily="34" charset="-120"/>
              </a:rPr>
              <a:t>Name the target first, and the prompt almost writes itself.</a:t>
            </a:r>
            <a:endParaRPr lang="en-US" sz="1300" dirty="0"/>
          </a:p>
        </p:txBody>
      </p:sp>
      <p:sp>
        <p:nvSpPr>
          <p:cNvPr id="13" name="Text 1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APPENDIX</a:t>
            </a:r>
            <a:endParaRPr lang="en-US" sz="850" dirty="0"/>
          </a:p>
        </p:txBody>
      </p:sp>
      <p:sp>
        <p:nvSpPr>
          <p:cNvPr id="14" name="Text 1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Say what to do, not just what to avoid</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The assistant follows positive instructions more reliably than negative ones.</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Instead of a list of don'ts, describe the behaviour you want. 'Keep it warm and simple' works better than 'don't be so formal.'</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450" b="1" dirty="0">
                <a:solidFill>
                  <a:srgbClr val="B91C1C"/>
                </a:solidFill>
                <a:latin typeface="Arial" pitchFamily="34" charset="0"/>
                <a:ea typeface="Arial" pitchFamily="34" charset="-122"/>
                <a:cs typeface="Arial" pitchFamily="34" charset="-120"/>
              </a:rPr>
              <a:t>Instead of:</a:t>
            </a:r>
            <a:endParaRPr lang="en-US" sz="1450" dirty="0"/>
          </a:p>
          <a:p>
            <a:pPr indent="0" marL="0">
              <a:lnSpc>
                <a:spcPct val="112000"/>
              </a:lnSpc>
              <a:buNone/>
            </a:pPr>
            <a:r>
              <a:rPr lang="en-US" sz="1450" b="1" dirty="0">
                <a:solidFill>
                  <a:srgbClr val="1F2733"/>
                </a:solidFill>
                <a:latin typeface="Arial" pitchFamily="34" charset="0"/>
                <a:ea typeface="Arial" pitchFamily="34" charset="-122"/>
                <a:cs typeface="Arial" pitchFamily="34" charset="-120"/>
              </a:rPr>
              <a:t>“Don't be so corporate and don't make it long.”</a:t>
            </a:r>
            <a:endParaRPr lang="en-US" sz="1450" dirty="0"/>
          </a:p>
          <a:p>
            <a:pPr indent="0" marL="0">
              <a:lnSpc>
                <a:spcPct val="112000"/>
              </a:lnSpc>
              <a:buNone/>
            </a:pPr>
            <a:endParaRPr lang="en-US" sz="1450" dirty="0"/>
          </a:p>
          <a:p>
            <a:pPr indent="0" marL="0">
              <a:lnSpc>
                <a:spcPct val="112000"/>
              </a:lnSpc>
              <a:buNone/>
            </a:pPr>
            <a:r>
              <a:rPr lang="en-US" sz="1450" b="1" dirty="0">
                <a:solidFill>
                  <a:srgbClr val="15803D"/>
                </a:solidFill>
                <a:latin typeface="Arial" pitchFamily="34" charset="0"/>
                <a:ea typeface="Arial" pitchFamily="34" charset="-122"/>
                <a:cs typeface="Arial" pitchFamily="34" charset="-120"/>
              </a:rPr>
              <a:t>Try:</a:t>
            </a:r>
            <a:endParaRPr lang="en-US" sz="1450" dirty="0"/>
          </a:p>
          <a:p>
            <a:pPr indent="0" marL="0">
              <a:lnSpc>
                <a:spcPct val="112000"/>
              </a:lnSpc>
              <a:buNone/>
            </a:pPr>
            <a:r>
              <a:rPr lang="en-US" sz="1450" b="1" dirty="0">
                <a:solidFill>
                  <a:srgbClr val="1F2733"/>
                </a:solidFill>
                <a:latin typeface="Arial" pitchFamily="34" charset="0"/>
                <a:ea typeface="Arial" pitchFamily="34" charset="-122"/>
                <a:cs typeface="Arial" pitchFamily="34" charset="-120"/>
              </a:rPr>
              <a:t>“Sound upbeat and friendly, and keep it under 90 words.”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Say what to do, and see the difference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TOLD WHAT TO AVOID</a:t>
            </a:r>
            <a:endParaRPr lang="en-US" sz="1100" dirty="0"/>
          </a:p>
        </p:txBody>
      </p:sp>
      <p:sp>
        <p:nvSpPr>
          <p:cNvPr id="8" name="Text 5"/>
          <p:cNvSpPr/>
          <p:nvPr/>
        </p:nvSpPr>
        <p:spPr>
          <a:xfrm>
            <a:off x="914400" y="2578608"/>
            <a:ext cx="4754880" cy="50292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“Don't be so corporate and don't make it long.”</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NOTE YOU GET</a:t>
            </a:r>
            <a:endParaRPr lang="en-US" sz="1100" dirty="0"/>
          </a:p>
        </p:txBody>
      </p:sp>
      <p:sp>
        <p:nvSpPr>
          <p:cNvPr id="10" name="Text 7"/>
          <p:cNvSpPr/>
          <p:nvPr/>
        </p:nvSpPr>
        <p:spPr>
          <a:xfrm>
            <a:off x="914400" y="3520440"/>
            <a:ext cx="4754880" cy="1280160"/>
          </a:xfrm>
          <a:prstGeom prst="rect">
            <a:avLst/>
          </a:prstGeom>
          <a:noFill/>
          <a:ln/>
        </p:spPr>
        <p:txBody>
          <a:bodyPr wrap="square" lIns="0" tIns="0" rIns="0" bIns="0" rtlCol="0" anchor="t"/>
          <a:lstStyle/>
          <a:p>
            <a:pPr indent="0" marL="0">
              <a:lnSpc>
                <a:spcPct val="114000"/>
              </a:lnSpc>
              <a:buNone/>
            </a:pPr>
            <a:r>
              <a:rPr lang="en-US" sz="1350" b="1" dirty="0">
                <a:solidFill>
                  <a:srgbClr val="1F2733"/>
                </a:solidFill>
                <a:latin typeface="Arial" pitchFamily="34" charset="0"/>
                <a:ea typeface="Arial" pitchFamily="34" charset="-122"/>
                <a:cs typeface="Arial" pitchFamily="34" charset="-120"/>
              </a:rPr>
              <a:t>“Please be advised the membership event takes place this weekend. Your attendance is encouraged.”</a:t>
            </a:r>
            <a:endParaRPr lang="en-US" sz="135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It dodged the don'ts, but had no direction to aim for.</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TOLD WHAT TO DO</a:t>
            </a:r>
            <a:endParaRPr lang="en-US" sz="1100" dirty="0"/>
          </a:p>
        </p:txBody>
      </p:sp>
      <p:sp>
        <p:nvSpPr>
          <p:cNvPr id="14" name="Text 11"/>
          <p:cNvSpPr/>
          <p:nvPr/>
        </p:nvSpPr>
        <p:spPr>
          <a:xfrm>
            <a:off x="6492240" y="2578608"/>
            <a:ext cx="4754880" cy="50292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“Sound upbeat and friendly, and keep it under 90 words.”</a:t>
            </a:r>
            <a:endParaRPr lang="en-US" sz="1300" dirty="0"/>
          </a:p>
        </p:txBody>
      </p:sp>
      <p:sp>
        <p:nvSpPr>
          <p:cNvPr id="15" name="Text 12"/>
          <p:cNvSpPr/>
          <p:nvPr/>
        </p:nvSpPr>
        <p:spPr>
          <a:xfrm>
            <a:off x="6492240" y="320040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NOTE YOU GET</a:t>
            </a:r>
            <a:endParaRPr lang="en-US" sz="1100" dirty="0"/>
          </a:p>
        </p:txBody>
      </p:sp>
      <p:sp>
        <p:nvSpPr>
          <p:cNvPr id="16" name="Text 13"/>
          <p:cNvSpPr/>
          <p:nvPr/>
        </p:nvSpPr>
        <p:spPr>
          <a:xfrm>
            <a:off x="6492240" y="3520440"/>
            <a:ext cx="4754880" cy="137160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“Team — this Saturday's membership drive is going to be great. Come say hi and help new members sign up!”</a:t>
            </a:r>
            <a:endParaRPr lang="en-US" sz="1400" dirty="0"/>
          </a:p>
        </p:txBody>
      </p:sp>
      <p:sp>
        <p:nvSpPr>
          <p:cNvPr id="17" name="Text 14"/>
          <p:cNvSpPr/>
          <p:nvPr/>
        </p:nvSpPr>
        <p:spPr>
          <a:xfrm>
            <a:off x="6492240" y="5120640"/>
            <a:ext cx="4754880" cy="36576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Clear direction — warm and on target.</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3  ·  APPENDIX</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1  ·  BEGINNER</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600" b="1" spc="-50" kern="0" dirty="0">
                <a:solidFill>
                  <a:srgbClr val="FFFFFF"/>
                </a:solidFill>
                <a:latin typeface="Arial" pitchFamily="34" charset="0"/>
                <a:ea typeface="Arial" pitchFamily="34" charset="-122"/>
                <a:cs typeface="Arial" pitchFamily="34" charset="-120"/>
              </a:rPr>
              <a:t>Module 4 — Structure &amp; Formatting</a:t>
            </a:r>
            <a:endParaRPr lang="en-US" sz="46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Keep your instructions and your information from blurring together.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Mark clearly where your material starts and stops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So the assistant knows what you pasted in.</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Keep your request separate from your content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Instruction first, material clearly labelled.</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Ask for the answer in labelled parts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So you can find and reuse just what you need.</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Lay out a prompt so it is easy to follow</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Short sections, headings, and steps.</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When it all runs together, things get mixed up</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If your instruction and the text you paste run together as one block, the assistant cannot always tell your request from your material — and may follow a line of your content as if it were an instruction. A little structure prevents that. We will work one real job all module.</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Turning a handful of member comments into a summary for the weekly club huddle.</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MARK YOUR CONTENT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Put a clear fence around what you paste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When you paste the member comments into your request, put a clear marker around them so the assistant knows exactly where your material starts and stops. A simple label or a line of dashes is enough.</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Fencing our feedback</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Summarise the member feedback below.</a:t>
            </a:r>
            <a:endParaRPr lang="en-US" sz="1450" dirty="0"/>
          </a:p>
          <a:p>
            <a:pPr indent="0" marL="0">
              <a:lnSpc>
                <a:spcPct val="115000"/>
              </a:lnSpc>
              <a:buNone/>
            </a:pPr>
            <a:r>
              <a:rPr lang="en-US" sz="1450" b="1" dirty="0">
                <a:solidFill>
                  <a:srgbClr val="5E6A78"/>
                </a:solidFill>
                <a:latin typeface="Arial" pitchFamily="34" charset="0"/>
                <a:ea typeface="Arial" pitchFamily="34" charset="-122"/>
                <a:cs typeface="Arial" pitchFamily="34" charset="-120"/>
              </a:rPr>
              <a:t>--- MEMBER FEEDBACK ---</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 Checkout lines were long Saturday.</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 Rotisserie chicken sold out by noon.</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 Members love the organic produce.</a:t>
            </a:r>
            <a:endParaRPr lang="en-US" sz="1450" dirty="0"/>
          </a:p>
          <a:p>
            <a:pPr indent="0" marL="0">
              <a:lnSpc>
                <a:spcPct val="115000"/>
              </a:lnSpc>
              <a:buNone/>
            </a:pPr>
            <a:r>
              <a:rPr lang="en-US" sz="1450" b="1" dirty="0">
                <a:solidFill>
                  <a:srgbClr val="5E6A78"/>
                </a:solidFill>
                <a:latin typeface="Arial" pitchFamily="34" charset="0"/>
                <a:ea typeface="Arial" pitchFamily="34" charset="-122"/>
                <a:cs typeface="Arial" pitchFamily="34" charset="-120"/>
              </a:rPr>
              <a:t>--- END ---</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KEEP THE TWO APART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Keep your request separate from your content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Put your instruction first, in your own words. Then the feedback underneath, clearly labelled. Run them together and the assistant may read a comment as if it were an instruction.</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Instruction, then feedback</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Instruction</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Pull out the top themes from the feedback below.</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Feedback</a:t>
            </a:r>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 Long checkout lines Saturday</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 Chicken sold out by noon</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 Loved the organic produce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LABEL THE ANSWER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for the answer in labelled parts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Tell the assistant to put its answer under clear headings. Then you can grab just the part you need for the huddle — without hunting through a wall of text.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Name the sections you want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Give the answer in two labelled sections: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Top themes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what members mention most.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Quick wins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easy fixes we could make.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LAY IT OUT CLEARLY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Structure the prompt so it is easy to follow</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tidy prompt gets a tidy answer. Use short, numbered steps rather than one long paragraph. It helps the assistant follow your request in order — and helps you spot anything missing.</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tidy, numbered prompt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1.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What I need: the main themes from this week's feedback.</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2.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The feedback: the three comments above.</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3.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How to answer: two sections, plain words.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well-structured prompt</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31720"/>
            <a:ext cx="10058400" cy="3063240"/>
          </a:xfrm>
          <a:prstGeom prst="rect">
            <a:avLst/>
          </a:prstGeom>
          <a:noFill/>
          <a:ln/>
        </p:spPr>
        <p:txBody>
          <a:bodyPr wrap="square" lIns="0" tIns="0" rIns="0" bIns="0" rtlCol="0" anchor="t"/>
          <a:lstStyle/>
          <a:p>
            <a:pPr indent="0" marL="0">
              <a:lnSpc>
                <a:spcPct val="120000"/>
              </a:lnSpc>
              <a:buNone/>
            </a:pPr>
            <a:r>
              <a:rPr lang="en-US" sz="1500" b="1" dirty="0">
                <a:solidFill>
                  <a:srgbClr val="D31242"/>
                </a:solidFill>
                <a:latin typeface="Arial" pitchFamily="34" charset="0"/>
                <a:ea typeface="Arial" pitchFamily="34" charset="-122"/>
                <a:cs typeface="Arial" pitchFamily="34" charset="-120"/>
              </a:rPr>
              <a:t>Instruction</a:t>
            </a:r>
            <a:pPr indent="0" marL="0">
              <a:lnSpc>
                <a:spcPct val="120000"/>
              </a:lnSpc>
              <a:buNone/>
            </a:pPr>
            <a:r>
              <a:rPr lang="en-US" sz="1500" dirty="0">
                <a:solidFill>
                  <a:srgbClr val="1F2733"/>
                </a:solidFill>
                <a:latin typeface="Arial" pitchFamily="34" charset="0"/>
                <a:ea typeface="Arial" pitchFamily="34" charset="-122"/>
                <a:cs typeface="Arial" pitchFamily="34" charset="-120"/>
              </a:rPr>
              <a:t>   Summarise the member feedback below for our weekly club huddle.</a:t>
            </a:r>
            <a:endParaRPr lang="en-US" sz="1500" dirty="0"/>
          </a:p>
          <a:p>
            <a:pPr indent="0" marL="0">
              <a:lnSpc>
                <a:spcPct val="120000"/>
              </a:lnSpc>
              <a:buNone/>
            </a:pPr>
            <a:r>
              <a:rPr lang="en-US" sz="1500" b="1" dirty="0">
                <a:solidFill>
                  <a:srgbClr val="5E6A78"/>
                </a:solidFill>
                <a:latin typeface="Arial" pitchFamily="34" charset="0"/>
                <a:ea typeface="Arial" pitchFamily="34" charset="-122"/>
                <a:cs typeface="Arial" pitchFamily="34" charset="-120"/>
              </a:rPr>
              <a:t>   --- MEMBER FEEDBACK ---</a:t>
            </a:r>
            <a:endParaRPr lang="en-US" sz="1500" dirty="0"/>
          </a:p>
          <a:p>
            <a:pPr indent="0" marL="0">
              <a:lnSpc>
                <a:spcPct val="120000"/>
              </a:lnSpc>
              <a:buNone/>
            </a:pPr>
            <a:r>
              <a:rPr lang="en-US" sz="1500" dirty="0">
                <a:solidFill>
                  <a:srgbClr val="1F2733"/>
                </a:solidFill>
                <a:latin typeface="Arial" pitchFamily="34" charset="0"/>
                <a:ea typeface="Arial" pitchFamily="34" charset="-122"/>
                <a:cs typeface="Arial" pitchFamily="34" charset="-120"/>
              </a:rPr>
              <a:t>   • Checkout lines were long Saturday afternoon.</a:t>
            </a:r>
            <a:endParaRPr lang="en-US" sz="1500" dirty="0"/>
          </a:p>
          <a:p>
            <a:pPr indent="0" marL="0">
              <a:lnSpc>
                <a:spcPct val="120000"/>
              </a:lnSpc>
              <a:buNone/>
            </a:pPr>
            <a:r>
              <a:rPr lang="en-US" sz="1500" dirty="0">
                <a:solidFill>
                  <a:srgbClr val="1F2733"/>
                </a:solidFill>
                <a:latin typeface="Arial" pitchFamily="34" charset="0"/>
                <a:ea typeface="Arial" pitchFamily="34" charset="-122"/>
                <a:cs typeface="Arial" pitchFamily="34" charset="-120"/>
              </a:rPr>
              <a:t>   • Rotisserie chicken sold out by noon.</a:t>
            </a:r>
            <a:endParaRPr lang="en-US" sz="1500" dirty="0"/>
          </a:p>
          <a:p>
            <a:pPr indent="0" marL="0">
              <a:lnSpc>
                <a:spcPct val="120000"/>
              </a:lnSpc>
              <a:buNone/>
            </a:pPr>
            <a:r>
              <a:rPr lang="en-US" sz="1500" dirty="0">
                <a:solidFill>
                  <a:srgbClr val="1F2733"/>
                </a:solidFill>
                <a:latin typeface="Arial" pitchFamily="34" charset="0"/>
                <a:ea typeface="Arial" pitchFamily="34" charset="-122"/>
                <a:cs typeface="Arial" pitchFamily="34" charset="-120"/>
              </a:rPr>
              <a:t>   • Members love the new organic produce section.</a:t>
            </a:r>
            <a:endParaRPr lang="en-US" sz="1500" dirty="0"/>
          </a:p>
          <a:p>
            <a:pPr indent="0" marL="0">
              <a:lnSpc>
                <a:spcPct val="120000"/>
              </a:lnSpc>
              <a:buNone/>
            </a:pPr>
            <a:r>
              <a:rPr lang="en-US" sz="1500" b="1" dirty="0">
                <a:solidFill>
                  <a:srgbClr val="5E6A78"/>
                </a:solidFill>
                <a:latin typeface="Arial" pitchFamily="34" charset="0"/>
                <a:ea typeface="Arial" pitchFamily="34" charset="-122"/>
                <a:cs typeface="Arial" pitchFamily="34" charset="-120"/>
              </a:rPr>
              <a:t>   --- END ---</a:t>
            </a:r>
            <a:endParaRPr lang="en-US" sz="1500" dirty="0"/>
          </a:p>
          <a:p>
            <a:pPr indent="0" marL="0">
              <a:lnSpc>
                <a:spcPct val="120000"/>
              </a:lnSpc>
              <a:buNone/>
            </a:pPr>
            <a:r>
              <a:rPr lang="en-US" sz="1500" b="1" dirty="0">
                <a:solidFill>
                  <a:srgbClr val="D31242"/>
                </a:solidFill>
                <a:latin typeface="Arial" pitchFamily="34" charset="0"/>
                <a:ea typeface="Arial" pitchFamily="34" charset="-122"/>
                <a:cs typeface="Arial" pitchFamily="34" charset="-120"/>
              </a:rPr>
              <a:t>How to answer</a:t>
            </a:r>
            <a:pPr indent="0" marL="0">
              <a:lnSpc>
                <a:spcPct val="120000"/>
              </a:lnSpc>
              <a:buNone/>
            </a:pPr>
            <a:r>
              <a:rPr lang="en-US" sz="1500" dirty="0">
                <a:solidFill>
                  <a:srgbClr val="1F2733"/>
                </a:solidFill>
                <a:latin typeface="Arial" pitchFamily="34" charset="0"/>
                <a:ea typeface="Arial" pitchFamily="34" charset="-122"/>
                <a:cs typeface="Arial" pitchFamily="34" charset="-120"/>
              </a:rPr>
              <a:t>   Two labelled sections — “Top themes” and “Quick wins” — plain words.</a:t>
            </a:r>
            <a:endParaRPr lang="en-US" sz="150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block versus a structured prompt</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ALL RUN TOGETHER</a:t>
            </a:r>
            <a:endParaRPr lang="en-US" sz="1100" dirty="0"/>
          </a:p>
        </p:txBody>
      </p:sp>
      <p:sp>
        <p:nvSpPr>
          <p:cNvPr id="8" name="Text 5"/>
          <p:cNvSpPr/>
          <p:nvPr/>
        </p:nvSpPr>
        <p:spPr>
          <a:xfrm>
            <a:off x="914400" y="2578608"/>
            <a:ext cx="4754880" cy="1051560"/>
          </a:xfrm>
          <a:prstGeom prst="rect">
            <a:avLst/>
          </a:prstGeom>
          <a:noFill/>
          <a:ln/>
        </p:spPr>
        <p:txBody>
          <a:bodyPr wrap="square" lIns="0" tIns="0" rIns="0" bIns="0" rtlCol="0" anchor="t"/>
          <a:lstStyle/>
          <a:p>
            <a:pPr indent="0" marL="0">
              <a:lnSpc>
                <a:spcPct val="112000"/>
              </a:lnSpc>
              <a:buNone/>
            </a:pPr>
            <a:r>
              <a:rPr lang="en-US" sz="1300" i="1" dirty="0">
                <a:solidFill>
                  <a:srgbClr val="5E6A78"/>
                </a:solidFill>
                <a:latin typeface="Arial" pitchFamily="34" charset="0"/>
                <a:ea typeface="Arial" pitchFamily="34" charset="-122"/>
                <a:cs typeface="Arial" pitchFamily="34" charset="-120"/>
              </a:rPr>
              <a:t>“Summarise this feedback keep it short lines long chicken sold out and tell me what to do.”</a:t>
            </a:r>
            <a:endParaRPr lang="en-US" sz="1300" dirty="0"/>
          </a:p>
        </p:txBody>
      </p:sp>
      <p:sp>
        <p:nvSpPr>
          <p:cNvPr id="9" name="Text 6"/>
          <p:cNvSpPr/>
          <p:nvPr/>
        </p:nvSpPr>
        <p:spPr>
          <a:xfrm>
            <a:off x="914400" y="37033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RESULT</a:t>
            </a:r>
            <a:endParaRPr lang="en-US" sz="1100" dirty="0"/>
          </a:p>
        </p:txBody>
      </p:sp>
      <p:sp>
        <p:nvSpPr>
          <p:cNvPr id="10" name="Text 7"/>
          <p:cNvSpPr/>
          <p:nvPr/>
        </p:nvSpPr>
        <p:spPr>
          <a:xfrm>
            <a:off x="914400" y="4023360"/>
            <a:ext cx="4754880" cy="1508760"/>
          </a:xfrm>
          <a:prstGeom prst="rect">
            <a:avLst/>
          </a:prstGeom>
          <a:noFill/>
          <a:ln/>
        </p:spPr>
        <p:txBody>
          <a:bodyPr wrap="square" lIns="0" tIns="0" rIns="0" bIns="0" rtlCol="0" anchor="t"/>
          <a:lstStyle/>
          <a:p>
            <a:pPr indent="0" marL="0">
              <a:lnSpc>
                <a:spcPct val="115000"/>
              </a:lnSpc>
              <a:buNone/>
            </a:pPr>
            <a:r>
              <a:rPr lang="en-US" sz="1350" b="1" dirty="0">
                <a:solidFill>
                  <a:srgbClr val="1F2733"/>
                </a:solidFill>
                <a:latin typeface="Arial" pitchFamily="34" charset="0"/>
                <a:ea typeface="Arial" pitchFamily="34" charset="-122"/>
                <a:cs typeface="Arial" pitchFamily="34" charset="-120"/>
              </a:rPr>
              <a:t>A muddled paragraph — it treats “keep it short” and “tell me what to do” as if they were part of the feedback.</a:t>
            </a:r>
            <a:endParaRPr lang="en-US" sz="13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CLEARLY STRUCTURED</a:t>
            </a:r>
            <a:endParaRPr lang="en-US" sz="1100" dirty="0"/>
          </a:p>
        </p:txBody>
      </p:sp>
      <p:sp>
        <p:nvSpPr>
          <p:cNvPr id="13" name="Text 10"/>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SUMMARY YOU GET</a:t>
            </a:r>
            <a:endParaRPr lang="en-US" sz="1100" dirty="0"/>
          </a:p>
        </p:txBody>
      </p:sp>
      <p:sp>
        <p:nvSpPr>
          <p:cNvPr id="14" name="Text 11"/>
          <p:cNvSpPr/>
          <p:nvPr/>
        </p:nvSpPr>
        <p:spPr>
          <a:xfrm>
            <a:off x="6492240" y="2898648"/>
            <a:ext cx="4754880" cy="2651760"/>
          </a:xfrm>
          <a:prstGeom prst="rect">
            <a:avLst/>
          </a:prstGeom>
          <a:noFill/>
          <a:ln/>
        </p:spPr>
        <p:txBody>
          <a:bodyPr wrap="square" lIns="0" tIns="0" rIns="0" bIns="0" rtlCol="0" anchor="t"/>
          <a:lstStyle/>
          <a:p>
            <a:pPr indent="0" marL="0">
              <a:lnSpc>
                <a:spcPct val="112000"/>
              </a:lnSpc>
              <a:buNone/>
            </a:pPr>
            <a:r>
              <a:rPr lang="en-US" sz="1250" b="1" dirty="0">
                <a:solidFill>
                  <a:srgbClr val="D31242"/>
                </a:solidFill>
                <a:latin typeface="Arial" pitchFamily="34" charset="0"/>
                <a:ea typeface="Arial" pitchFamily="34" charset="-122"/>
                <a:cs typeface="Arial" pitchFamily="34" charset="-120"/>
              </a:rPr>
              <a:t>Top themes</a:t>
            </a:r>
            <a:endParaRPr lang="en-US" sz="1250" dirty="0"/>
          </a:p>
          <a:p>
            <a:pPr indent="0" marL="0">
              <a:lnSpc>
                <a:spcPct val="112000"/>
              </a:lnSpc>
              <a:buNone/>
            </a:pPr>
            <a:r>
              <a:rPr lang="en-US" sz="1250" b="1" dirty="0">
                <a:solidFill>
                  <a:srgbClr val="1F2733"/>
                </a:solidFill>
                <a:latin typeface="Arial" pitchFamily="34" charset="0"/>
                <a:ea typeface="Arial" pitchFamily="34" charset="-122"/>
                <a:cs typeface="Arial" pitchFamily="34" charset="-120"/>
              </a:rPr>
              <a:t>•  Long checkout waits on weekends</a:t>
            </a:r>
            <a:endParaRPr lang="en-US" sz="1250" dirty="0"/>
          </a:p>
          <a:p>
            <a:pPr indent="0" marL="0">
              <a:lnSpc>
                <a:spcPct val="112000"/>
              </a:lnSpc>
              <a:buNone/>
            </a:pPr>
            <a:r>
              <a:rPr lang="en-US" sz="1250" b="1" dirty="0">
                <a:solidFill>
                  <a:srgbClr val="1F2733"/>
                </a:solidFill>
                <a:latin typeface="Arial" pitchFamily="34" charset="0"/>
                <a:ea typeface="Arial" pitchFamily="34" charset="-122"/>
                <a:cs typeface="Arial" pitchFamily="34" charset="-120"/>
              </a:rPr>
              <a:t>•  Popular items selling out (chicken)</a:t>
            </a:r>
            <a:endParaRPr lang="en-US" sz="1250" dirty="0"/>
          </a:p>
          <a:p>
            <a:pPr indent="0" marL="0">
              <a:lnSpc>
                <a:spcPct val="112000"/>
              </a:lnSpc>
              <a:buNone/>
            </a:pPr>
            <a:r>
              <a:rPr lang="en-US" sz="1250" b="1" dirty="0">
                <a:solidFill>
                  <a:srgbClr val="1F2733"/>
                </a:solidFill>
                <a:latin typeface="Arial" pitchFamily="34" charset="0"/>
                <a:ea typeface="Arial" pitchFamily="34" charset="-122"/>
                <a:cs typeface="Arial" pitchFamily="34" charset="-120"/>
              </a:rPr>
              <a:t>•  Organic produce is a hit</a:t>
            </a:r>
            <a:endParaRPr lang="en-US" sz="1250" dirty="0"/>
          </a:p>
          <a:p>
            <a:pPr indent="0" marL="0">
              <a:lnSpc>
                <a:spcPct val="112000"/>
              </a:lnSpc>
              <a:buNone/>
            </a:pPr>
            <a:r>
              <a:rPr lang="en-US" sz="1250" b="1" dirty="0">
                <a:solidFill>
                  <a:srgbClr val="D31242"/>
                </a:solidFill>
                <a:latin typeface="Arial" pitchFamily="34" charset="0"/>
                <a:ea typeface="Arial" pitchFamily="34" charset="-122"/>
                <a:cs typeface="Arial" pitchFamily="34" charset="-120"/>
              </a:rPr>
              <a:t>Quick wins</a:t>
            </a:r>
            <a:endParaRPr lang="en-US" sz="1250" dirty="0"/>
          </a:p>
          <a:p>
            <a:pPr indent="0" marL="0">
              <a:lnSpc>
                <a:spcPct val="112000"/>
              </a:lnSpc>
              <a:buNone/>
            </a:pPr>
            <a:r>
              <a:rPr lang="en-US" sz="1250" b="1" dirty="0">
                <a:solidFill>
                  <a:srgbClr val="1F2733"/>
                </a:solidFill>
                <a:latin typeface="Arial" pitchFamily="34" charset="0"/>
                <a:ea typeface="Arial" pitchFamily="34" charset="-122"/>
                <a:cs typeface="Arial" pitchFamily="34" charset="-120"/>
              </a:rPr>
              <a:t>•  Add a checkout lane Saturday afternoons</a:t>
            </a:r>
            <a:endParaRPr lang="en-US" sz="1250" dirty="0"/>
          </a:p>
          <a:p>
            <a:pPr indent="0" marL="0">
              <a:lnSpc>
                <a:spcPct val="112000"/>
              </a:lnSpc>
              <a:buNone/>
            </a:pPr>
            <a:r>
              <a:rPr lang="en-US" sz="1250" b="1" dirty="0">
                <a:solidFill>
                  <a:srgbClr val="1F2733"/>
                </a:solidFill>
                <a:latin typeface="Arial" pitchFamily="34" charset="0"/>
                <a:ea typeface="Arial" pitchFamily="34" charset="-122"/>
                <a:cs typeface="Arial" pitchFamily="34" charset="-120"/>
              </a:rPr>
              <a:t>•  Stock more chicken before noon</a:t>
            </a:r>
            <a:endParaRPr lang="en-US" sz="1250" dirty="0"/>
          </a:p>
        </p:txBody>
      </p:sp>
      <p:sp>
        <p:nvSpPr>
          <p:cNvPr id="15" name="Text 1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16" name="Text 1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Fence your content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Mark where pasted material starts and stops.</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Separate request from content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Instruction first, material clearly labelled.</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Label the answer</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Ask for named sections you can reuse.</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Lay it out clearly</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Short sections, headings, and numbered steps.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BEGINNER</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200" b="1" spc="-50" kern="0" dirty="0">
                <a:solidFill>
                  <a:srgbClr val="FFFFFF"/>
                </a:solidFill>
                <a:latin typeface="Arial" pitchFamily="34" charset="0"/>
                <a:ea typeface="Arial" pitchFamily="34" charset="-122"/>
                <a:cs typeface="Arial" pitchFamily="34" charset="-120"/>
              </a:rPr>
              <a:t>Next: Roles, Personas &amp; Audience</a:t>
            </a:r>
            <a:endParaRPr lang="en-US" sz="4200" dirty="0"/>
          </a:p>
        </p:txBody>
      </p:sp>
      <p:sp>
        <p:nvSpPr>
          <p:cNvPr id="7" name="Text 5"/>
          <p:cNvSpPr/>
          <p:nvPr/>
        </p:nvSpPr>
        <p:spPr>
          <a:xfrm>
            <a:off x="658368" y="3840480"/>
            <a:ext cx="969264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Your prompt is clear and well-structured. Module 5 gives the assistant a role — so its voice, expertise, and tone fit the job in front of it.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Two optional structuring habits for bigger jobs — for anyone who wants them.</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Label each document when you compare several</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Giving the assistant more than one document?</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Put a clear label on each one, and fence each off, so the assistant can tell them apart and compare them cleanly.</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Comparing this month's member feedback with last month's? Label them “This month” and “Last month”, fence each off, then ask what changed.</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Label each one, and the compare gets clean</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ONE UNLABELLED BLOB</a:t>
            </a:r>
            <a:endParaRPr lang="en-US" sz="1100" dirty="0"/>
          </a:p>
        </p:txBody>
      </p:sp>
      <p:sp>
        <p:nvSpPr>
          <p:cNvPr id="8" name="Text 5"/>
          <p:cNvSpPr/>
          <p:nvPr/>
        </p:nvSpPr>
        <p:spPr>
          <a:xfrm>
            <a:off x="914400" y="2578608"/>
            <a:ext cx="4754880" cy="50292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Both months' comments pasted together, with no labels.</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520440"/>
            <a:ext cx="4754880" cy="137160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“It's hard to tell which comment came from which month — the comparison gets muddled.”</a:t>
            </a:r>
            <a:endParaRPr lang="en-US" sz="14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EACH FENCED AND LABELLED</a:t>
            </a:r>
            <a:endParaRPr lang="en-US" sz="1100" dirty="0"/>
          </a:p>
        </p:txBody>
      </p:sp>
      <p:sp>
        <p:nvSpPr>
          <p:cNvPr id="13" name="Text 10"/>
          <p:cNvSpPr/>
          <p:nvPr/>
        </p:nvSpPr>
        <p:spPr>
          <a:xfrm>
            <a:off x="6492240" y="2578608"/>
            <a:ext cx="4754880" cy="502920"/>
          </a:xfrm>
          <a:prstGeom prst="rect">
            <a:avLst/>
          </a:prstGeom>
          <a:noFill/>
          <a:ln/>
        </p:spPr>
        <p:txBody>
          <a:bodyPr wrap="square" lIns="0" tIns="0" rIns="0" bIns="0" rtlCol="0" anchor="t"/>
          <a:lstStyle/>
          <a:p>
            <a:pPr indent="0" marL="0">
              <a:lnSpc>
                <a:spcPct val="110000"/>
              </a:lnSpc>
              <a:buNone/>
            </a:pPr>
            <a:r>
              <a:rPr lang="en-US" sz="1200" i="1" dirty="0">
                <a:solidFill>
                  <a:srgbClr val="15803D"/>
                </a:solidFill>
                <a:latin typeface="Arial" pitchFamily="34" charset="0"/>
                <a:ea typeface="Arial" pitchFamily="34" charset="-122"/>
                <a:cs typeface="Arial" pitchFamily="34" charset="-120"/>
              </a:rPr>
              <a:t>“--- THIS MONTH ---  [ … ]   --- LAST MONTH ---  [ … ]”</a:t>
            </a:r>
            <a:endParaRPr lang="en-US" sz="1200" dirty="0"/>
          </a:p>
        </p:txBody>
      </p:sp>
      <p:sp>
        <p:nvSpPr>
          <p:cNvPr id="14" name="Text 11"/>
          <p:cNvSpPr/>
          <p:nvPr/>
        </p:nvSpPr>
        <p:spPr>
          <a:xfrm>
            <a:off x="6492240" y="320040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5" name="Text 12"/>
          <p:cNvSpPr/>
          <p:nvPr/>
        </p:nvSpPr>
        <p:spPr>
          <a:xfrm>
            <a:off x="6492240" y="3520440"/>
            <a:ext cx="4754880" cy="146304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“Checkout complaints dropped since last month; rotisserie chicken stockouts are new this month.”</a:t>
            </a:r>
            <a:endParaRPr lang="en-US" sz="14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 prompts from parts you can reuse</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Once a prompt works, do not rebuild it from scratch next time.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Save its parts — the role, the labels, the output format — as reusable building blocks. Next time you only swap in fresh material.</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Keep a saved shell: your instruction line, a “MEMBER FEEDBACK” label to paste under, and your two headings — “Top themes” and “Quick wins”. Reuse it every week.</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 the shell once, reuse it every week</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WITHOUT A SHELL</a:t>
            </a:r>
            <a:endParaRPr lang="en-US" sz="1100" dirty="0"/>
          </a:p>
        </p:txBody>
      </p:sp>
      <p:sp>
        <p:nvSpPr>
          <p:cNvPr id="8" name="Text 5"/>
          <p:cNvSpPr/>
          <p:nvPr/>
        </p:nvSpPr>
        <p:spPr>
          <a:xfrm>
            <a:off x="914400" y="2578608"/>
            <a:ext cx="4754880" cy="822960"/>
          </a:xfrm>
          <a:prstGeom prst="rect">
            <a:avLst/>
          </a:prstGeom>
          <a:noFill/>
          <a:ln/>
        </p:spPr>
        <p:txBody>
          <a:bodyPr wrap="square" lIns="0" tIns="0" rIns="0" bIns="0" rtlCol="0" anchor="t"/>
          <a:lstStyle/>
          <a:p>
            <a:pPr indent="0" marL="0">
              <a:lnSpc>
                <a:spcPct val="112000"/>
              </a:lnSpc>
              <a:buNone/>
            </a:pPr>
            <a:r>
              <a:rPr lang="en-US" sz="1300" i="1" dirty="0">
                <a:solidFill>
                  <a:srgbClr val="5E6A78"/>
                </a:solidFill>
                <a:latin typeface="Arial" pitchFamily="34" charset="0"/>
                <a:ea typeface="Arial" pitchFamily="34" charset="-122"/>
                <a:cs typeface="Arial" pitchFamily="34" charset="-120"/>
              </a:rPr>
              <a:t>Rewrite the whole prompt from scratch every Monday — role, labels, headings, all of it.</a:t>
            </a:r>
            <a:endParaRPr lang="en-US" sz="1300" dirty="0"/>
          </a:p>
        </p:txBody>
      </p:sp>
      <p:sp>
        <p:nvSpPr>
          <p:cNvPr id="9" name="Text 6"/>
          <p:cNvSpPr/>
          <p:nvPr/>
        </p:nvSpPr>
        <p:spPr>
          <a:xfrm>
            <a:off x="914400" y="35204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WEEKLY EXPERIENCE</a:t>
            </a:r>
            <a:endParaRPr lang="en-US" sz="1100" dirty="0"/>
          </a:p>
        </p:txBody>
      </p:sp>
      <p:sp>
        <p:nvSpPr>
          <p:cNvPr id="10" name="Text 7"/>
          <p:cNvSpPr/>
          <p:nvPr/>
        </p:nvSpPr>
        <p:spPr>
          <a:xfrm>
            <a:off x="914400" y="3840480"/>
            <a:ext cx="4754880" cy="914400"/>
          </a:xfrm>
          <a:prstGeom prst="rect">
            <a:avLst/>
          </a:prstGeom>
          <a:noFill/>
          <a:ln/>
        </p:spPr>
        <p:txBody>
          <a:bodyPr wrap="square" lIns="0" tIns="0" rIns="0" bIns="0" rtlCol="0" anchor="t"/>
          <a:lstStyle/>
          <a:p>
            <a:pPr indent="0" marL="0">
              <a:lnSpc>
                <a:spcPct val="114000"/>
              </a:lnSpc>
              <a:buNone/>
            </a:pPr>
            <a:r>
              <a:rPr lang="en-US" sz="1500" b="1" dirty="0">
                <a:solidFill>
                  <a:srgbClr val="1F2733"/>
                </a:solidFill>
                <a:latin typeface="Arial" pitchFamily="34" charset="0"/>
                <a:ea typeface="Arial" pitchFamily="34" charset="-122"/>
                <a:cs typeface="Arial" pitchFamily="34" charset="-120"/>
              </a:rPr>
              <a:t>Slow, and it comes out a little different each time.</a:t>
            </a:r>
            <a:endParaRPr lang="en-US" sz="15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WITH A SAVED SHELL</a:t>
            </a:r>
            <a:endParaRPr lang="en-US" sz="1100" dirty="0"/>
          </a:p>
        </p:txBody>
      </p:sp>
      <p:sp>
        <p:nvSpPr>
          <p:cNvPr id="13" name="Text 10"/>
          <p:cNvSpPr/>
          <p:nvPr/>
        </p:nvSpPr>
        <p:spPr>
          <a:xfrm>
            <a:off x="6492240" y="2578608"/>
            <a:ext cx="4754880" cy="914400"/>
          </a:xfrm>
          <a:prstGeom prst="rect">
            <a:avLst/>
          </a:prstGeom>
          <a:noFill/>
          <a:ln/>
        </p:spPr>
        <p:txBody>
          <a:bodyPr wrap="square" lIns="0" tIns="0" rIns="0" bIns="0" rtlCol="0" anchor="t"/>
          <a:lstStyle/>
          <a:p>
            <a:pPr indent="0" marL="0">
              <a:lnSpc>
                <a:spcPct val="112000"/>
              </a:lnSpc>
              <a:buNone/>
            </a:pPr>
            <a:r>
              <a:rPr lang="en-US" sz="1300" i="1" dirty="0">
                <a:solidFill>
                  <a:srgbClr val="15803D"/>
                </a:solidFill>
                <a:latin typeface="Arial" pitchFamily="34" charset="0"/>
                <a:ea typeface="Arial" pitchFamily="34" charset="-122"/>
                <a:cs typeface="Arial" pitchFamily="34" charset="-120"/>
              </a:rPr>
              <a:t>Keep one shell — role, a MEMBER FEEDBACK label, the two headings. Each week, paste new comments into the blank.</a:t>
            </a:r>
            <a:endParaRPr lang="en-US" sz="1300" dirty="0"/>
          </a:p>
        </p:txBody>
      </p:sp>
      <p:sp>
        <p:nvSpPr>
          <p:cNvPr id="14" name="Text 11"/>
          <p:cNvSpPr/>
          <p:nvPr/>
        </p:nvSpPr>
        <p:spPr>
          <a:xfrm>
            <a:off x="6492240" y="361188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WEEKLY EXPERIENCE</a:t>
            </a:r>
            <a:endParaRPr lang="en-US" sz="1100" dirty="0"/>
          </a:p>
        </p:txBody>
      </p:sp>
      <p:sp>
        <p:nvSpPr>
          <p:cNvPr id="15" name="Text 12"/>
          <p:cNvSpPr/>
          <p:nvPr/>
        </p:nvSpPr>
        <p:spPr>
          <a:xfrm>
            <a:off x="6492240" y="3931920"/>
            <a:ext cx="4754880" cy="914400"/>
          </a:xfrm>
          <a:prstGeom prst="rect">
            <a:avLst/>
          </a:prstGeom>
          <a:noFill/>
          <a:ln/>
        </p:spPr>
        <p:txBody>
          <a:bodyPr wrap="square" lIns="0" tIns="0" rIns="0" bIns="0" rtlCol="0" anchor="t"/>
          <a:lstStyle/>
          <a:p>
            <a:pPr indent="0" marL="0">
              <a:lnSpc>
                <a:spcPct val="114000"/>
              </a:lnSpc>
              <a:buNone/>
            </a:pPr>
            <a:r>
              <a:rPr lang="en-US" sz="1500" b="1" dirty="0">
                <a:solidFill>
                  <a:srgbClr val="1F2733"/>
                </a:solidFill>
                <a:latin typeface="Arial" pitchFamily="34" charset="0"/>
                <a:ea typeface="Arial" pitchFamily="34" charset="-122"/>
                <a:cs typeface="Arial" pitchFamily="34" charset="-120"/>
              </a:rPr>
              <a:t>Same prompt, seconds to run — identical shape every week.</a:t>
            </a:r>
            <a:endParaRPr lang="en-US" sz="15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4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1  ·  BEGINNER</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Module 5 — Roles, Personas &amp; Audience</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Set the assistant's voice, expertise, and point of view — so it sounds right for the job.</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Give the assistant a role so its voice fits the task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Point its knowledge and vocabulary the right way.</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Keep it in character across a whole conversation</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Traits that hold the voice, not just the first reply.</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Reshape the same message for a different audience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Same facts, wording that fits the reader.</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Steer the tone with concrete anchors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Not vague words like 'friendly' or 'professional'.</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facts can land completely differently</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Who is 'speaking' and who is listening changes everything. A role and a tone turn a flat, generic reply into one that sounds like BJ's — and fits the person reading it. This module is about that voice.</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Helping a member use the new BJ's app to scan items as they shop.</a:t>
            </a:r>
            <a:endParaRPr lang="en-US" sz="1800" dirty="0"/>
          </a:p>
          <a:p>
            <a:pPr indent="0" marL="0">
              <a:lnSpc>
                <a:spcPct val="115000"/>
              </a:lnSpc>
              <a:buNone/>
            </a:pPr>
            <a:endParaRPr lang="en-US" sz="1800" dirty="0"/>
          </a:p>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We shape how the assistant writes about it.</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GIVE IT A ROLE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Tell it who to be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role points the assistant's knowledge, vocabulary, and assumptions in the right direction before it writes a word. The same question answered 'as a club associate' reads very differently from a blank, generic reply.</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Setting the role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No role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“Explain the new app.”</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With a role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“You are a friendly BJ's club associate helping a member. Explain the new app.”</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KEEP IT IN CHARACTER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Give the role enough detail to hold the voice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Add a few traits and the assistant holds that voice across the whole conversation — not just the first reply. The more specific the character, the more the tone stays put as you ask follow-ups.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Adding a persona</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“You are patient and upbeat, great with first-time app users, and you never get technical.”</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Keep this same voice for every follow-up question, too.</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RESHAPE FOR THE READER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Same facts, different audience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same message should sound different depending on who is reading it. Keep the facts; change the wording, the detail, and the emphasis to fit the audience in front of you.</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One message, three readers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Members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simple, friendly, benefit-first.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Floor staff</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quick steps they can act on.</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Leadership</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the impact, in a line or two.</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STEER THE TONE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Use concrete anchors, not vague words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Words like 'professional' or 'friendly' mean something different to everyone. Anchor the tone to something concrete instead — a person, a place, a voice the assistant can actually picture.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Anchoring the tone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Vague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“Make it friendly.”</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Anchored</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“Sound like a helpful associate showing a member the app at the door — not a corporate press release.”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prompt that sets the whole voice</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31720"/>
            <a:ext cx="10058400" cy="3063240"/>
          </a:xfrm>
          <a:prstGeom prst="rect">
            <a:avLst/>
          </a:prstGeom>
          <a:noFill/>
          <a:ln/>
        </p:spPr>
        <p:txBody>
          <a:bodyPr wrap="square" lIns="0" tIns="0" rIns="0" bIns="0" rtlCol="0" anchor="t"/>
          <a:lstStyle/>
          <a:p>
            <a:pPr indent="0" marL="0">
              <a:lnSpc>
                <a:spcPct val="120000"/>
              </a:lnSpc>
              <a:buNone/>
            </a:pPr>
            <a:r>
              <a:rPr lang="en-US" sz="1550" b="1" dirty="0">
                <a:solidFill>
                  <a:srgbClr val="D31242"/>
                </a:solidFill>
                <a:latin typeface="Arial" pitchFamily="34" charset="0"/>
                <a:ea typeface="Arial" pitchFamily="34" charset="-122"/>
                <a:cs typeface="Arial" pitchFamily="34" charset="-120"/>
              </a:rPr>
              <a:t>Role</a:t>
            </a:r>
            <a:pPr indent="0" marL="0">
              <a:lnSpc>
                <a:spcPct val="120000"/>
              </a:lnSpc>
              <a:buNone/>
            </a:pPr>
            <a:r>
              <a:rPr lang="en-US" sz="1550" dirty="0">
                <a:solidFill>
                  <a:srgbClr val="1F2733"/>
                </a:solidFill>
                <a:latin typeface="Arial" pitchFamily="34" charset="0"/>
                <a:ea typeface="Arial" pitchFamily="34" charset="-122"/>
                <a:cs typeface="Arial" pitchFamily="34" charset="-120"/>
              </a:rPr>
              <a:t>   You are a friendly BJ's club associate.</a:t>
            </a:r>
            <a:endParaRPr lang="en-US" sz="1550" dirty="0"/>
          </a:p>
          <a:p>
            <a:pPr indent="0" marL="0">
              <a:lnSpc>
                <a:spcPct val="120000"/>
              </a:lnSpc>
              <a:buNone/>
            </a:pPr>
            <a:endParaRPr lang="en-US" sz="1550" dirty="0"/>
          </a:p>
          <a:p>
            <a:pPr indent="0" marL="0">
              <a:lnSpc>
                <a:spcPct val="120000"/>
              </a:lnSpc>
              <a:buNone/>
            </a:pPr>
            <a:r>
              <a:rPr lang="en-US" sz="1550" b="1" dirty="0">
                <a:solidFill>
                  <a:srgbClr val="D31242"/>
                </a:solidFill>
                <a:latin typeface="Arial" pitchFamily="34" charset="0"/>
                <a:ea typeface="Arial" pitchFamily="34" charset="-122"/>
                <a:cs typeface="Arial" pitchFamily="34" charset="-120"/>
              </a:rPr>
              <a:t>Persona</a:t>
            </a:r>
            <a:pPr indent="0" marL="0">
              <a:lnSpc>
                <a:spcPct val="120000"/>
              </a:lnSpc>
              <a:buNone/>
            </a:pPr>
            <a:r>
              <a:rPr lang="en-US" sz="1550" dirty="0">
                <a:solidFill>
                  <a:srgbClr val="1F2733"/>
                </a:solidFill>
                <a:latin typeface="Arial" pitchFamily="34" charset="0"/>
                <a:ea typeface="Arial" pitchFamily="34" charset="-122"/>
                <a:cs typeface="Arial" pitchFamily="34" charset="-120"/>
              </a:rPr>
              <a:t>   Patient and upbeat, great with first-time app users, and never gets technical.</a:t>
            </a:r>
            <a:endParaRPr lang="en-US" sz="1550" dirty="0"/>
          </a:p>
          <a:p>
            <a:pPr indent="0" marL="0">
              <a:lnSpc>
                <a:spcPct val="120000"/>
              </a:lnSpc>
              <a:buNone/>
            </a:pPr>
            <a:endParaRPr lang="en-US" sz="1550" dirty="0"/>
          </a:p>
          <a:p>
            <a:pPr indent="0" marL="0">
              <a:lnSpc>
                <a:spcPct val="120000"/>
              </a:lnSpc>
              <a:buNone/>
            </a:pPr>
            <a:r>
              <a:rPr lang="en-US" sz="1550" b="1" dirty="0">
                <a:solidFill>
                  <a:srgbClr val="D31242"/>
                </a:solidFill>
                <a:latin typeface="Arial" pitchFamily="34" charset="0"/>
                <a:ea typeface="Arial" pitchFamily="34" charset="-122"/>
                <a:cs typeface="Arial" pitchFamily="34" charset="-120"/>
              </a:rPr>
              <a:t>Audience</a:t>
            </a:r>
            <a:pPr indent="0" marL="0">
              <a:lnSpc>
                <a:spcPct val="120000"/>
              </a:lnSpc>
              <a:buNone/>
            </a:pPr>
            <a:r>
              <a:rPr lang="en-US" sz="1550" dirty="0">
                <a:solidFill>
                  <a:srgbClr val="1F2733"/>
                </a:solidFill>
                <a:latin typeface="Arial" pitchFamily="34" charset="0"/>
                <a:ea typeface="Arial" pitchFamily="34" charset="-122"/>
                <a:cs typeface="Arial" pitchFamily="34" charset="-120"/>
              </a:rPr>
              <a:t>   Writing for members who have never used the app.</a:t>
            </a:r>
            <a:endParaRPr lang="en-US" sz="1550" dirty="0"/>
          </a:p>
          <a:p>
            <a:pPr indent="0" marL="0">
              <a:lnSpc>
                <a:spcPct val="120000"/>
              </a:lnSpc>
              <a:buNone/>
            </a:pPr>
            <a:endParaRPr lang="en-US" sz="1550" dirty="0"/>
          </a:p>
          <a:p>
            <a:pPr indent="0" marL="0">
              <a:lnSpc>
                <a:spcPct val="120000"/>
              </a:lnSpc>
              <a:buNone/>
            </a:pPr>
            <a:r>
              <a:rPr lang="en-US" sz="1550" b="1" dirty="0">
                <a:solidFill>
                  <a:srgbClr val="D31242"/>
                </a:solidFill>
                <a:latin typeface="Arial" pitchFamily="34" charset="0"/>
                <a:ea typeface="Arial" pitchFamily="34" charset="-122"/>
                <a:cs typeface="Arial" pitchFamily="34" charset="-120"/>
              </a:rPr>
              <a:t>Tone</a:t>
            </a:r>
            <a:pPr indent="0" marL="0">
              <a:lnSpc>
                <a:spcPct val="120000"/>
              </a:lnSpc>
              <a:buNone/>
            </a:pPr>
            <a:r>
              <a:rPr lang="en-US" sz="1550" dirty="0">
                <a:solidFill>
                  <a:srgbClr val="1F2733"/>
                </a:solidFill>
                <a:latin typeface="Arial" pitchFamily="34" charset="0"/>
                <a:ea typeface="Arial" pitchFamily="34" charset="-122"/>
                <a:cs typeface="Arial" pitchFamily="34" charset="-120"/>
              </a:rPr>
              <a:t>   Warm and encouraging — like showing a member the app at the door, not a press release.</a:t>
            </a:r>
            <a:endParaRPr lang="en-US" sz="1550" dirty="0"/>
          </a:p>
          <a:p>
            <a:pPr indent="0" marL="0">
              <a:lnSpc>
                <a:spcPct val="120000"/>
              </a:lnSpc>
              <a:buNone/>
            </a:pPr>
            <a:endParaRPr lang="en-US" sz="1550" dirty="0"/>
          </a:p>
          <a:p>
            <a:pPr indent="0" marL="0">
              <a:lnSpc>
                <a:spcPct val="120000"/>
              </a:lnSpc>
              <a:buNone/>
            </a:pPr>
            <a:r>
              <a:rPr lang="en-US" sz="1550" b="1" dirty="0">
                <a:solidFill>
                  <a:srgbClr val="D31242"/>
                </a:solidFill>
                <a:latin typeface="Arial" pitchFamily="34" charset="0"/>
                <a:ea typeface="Arial" pitchFamily="34" charset="-122"/>
                <a:cs typeface="Arial" pitchFamily="34" charset="-120"/>
              </a:rPr>
              <a:t>Task</a:t>
            </a:r>
            <a:pPr indent="0" marL="0">
              <a:lnSpc>
                <a:spcPct val="120000"/>
              </a:lnSpc>
              <a:buNone/>
            </a:pPr>
            <a:r>
              <a:rPr lang="en-US" sz="1550" dirty="0">
                <a:solidFill>
                  <a:srgbClr val="1F2733"/>
                </a:solidFill>
                <a:latin typeface="Arial" pitchFamily="34" charset="0"/>
                <a:ea typeface="Arial" pitchFamily="34" charset="-122"/>
                <a:cs typeface="Arial" pitchFamily="34" charset="-120"/>
              </a:rPr>
              <a:t>   In four simple steps, explain how to scan items with the new app.</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task, with and without a voice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NO ROLE OR TONE</a:t>
            </a:r>
            <a:endParaRPr lang="en-US" sz="1100" dirty="0"/>
          </a:p>
        </p:txBody>
      </p:sp>
      <p:sp>
        <p:nvSpPr>
          <p:cNvPr id="8" name="Text 5"/>
          <p:cNvSpPr/>
          <p:nvPr/>
        </p:nvSpPr>
        <p:spPr>
          <a:xfrm>
            <a:off x="914400" y="2578608"/>
            <a:ext cx="4754880" cy="36576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“Explain the app.”</a:t>
            </a:r>
            <a:endParaRPr lang="en-US" sz="1300" dirty="0"/>
          </a:p>
        </p:txBody>
      </p:sp>
      <p:sp>
        <p:nvSpPr>
          <p:cNvPr id="9" name="Text 6"/>
          <p:cNvSpPr/>
          <p:nvPr/>
        </p:nvSpPr>
        <p:spPr>
          <a:xfrm>
            <a:off x="914400" y="30632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REPLY YOU GET</a:t>
            </a:r>
            <a:endParaRPr lang="en-US" sz="1100" dirty="0"/>
          </a:p>
        </p:txBody>
      </p:sp>
      <p:sp>
        <p:nvSpPr>
          <p:cNvPr id="10" name="Text 7"/>
          <p:cNvSpPr/>
          <p:nvPr/>
        </p:nvSpPr>
        <p:spPr>
          <a:xfrm>
            <a:off x="914400" y="3383280"/>
            <a:ext cx="4754880" cy="1371600"/>
          </a:xfrm>
          <a:prstGeom prst="rect">
            <a:avLst/>
          </a:prstGeom>
          <a:noFill/>
          <a:ln/>
        </p:spPr>
        <p:txBody>
          <a:bodyPr wrap="square" lIns="0" tIns="0" rIns="0" bIns="0" rtlCol="0" anchor="t"/>
          <a:lstStyle/>
          <a:p>
            <a:pPr indent="0" marL="0">
              <a:lnSpc>
                <a:spcPct val="112000"/>
              </a:lnSpc>
              <a:buNone/>
            </a:pPr>
            <a:r>
              <a:rPr lang="en-US" sz="1350" b="1" dirty="0">
                <a:solidFill>
                  <a:srgbClr val="1F2733"/>
                </a:solidFill>
                <a:latin typeface="Arial" pitchFamily="34" charset="0"/>
                <a:ea typeface="Arial" pitchFamily="34" charset="-122"/>
                <a:cs typeface="Arial" pitchFamily="34" charset="-120"/>
              </a:rPr>
              <a:t>“The BJ's mobile application enables users to scan products and check out electronically. Ensure Bluetooth is enabled.”</a:t>
            </a:r>
            <a:endParaRPr lang="en-US" sz="135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50" i="1" dirty="0">
                <a:solidFill>
                  <a:srgbClr val="5E6A78"/>
                </a:solidFill>
                <a:latin typeface="Arial" pitchFamily="34" charset="0"/>
                <a:ea typeface="Arial" pitchFamily="34" charset="-122"/>
                <a:cs typeface="Arial" pitchFamily="34" charset="-120"/>
              </a:rPr>
              <a:t>Correct, but cold and hard to follow.</a:t>
            </a:r>
            <a:endParaRPr lang="en-US" sz="125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WITH ROLE, PERSONA &amp; TONE</a:t>
            </a:r>
            <a:endParaRPr lang="en-US" sz="1100" dirty="0"/>
          </a:p>
        </p:txBody>
      </p:sp>
      <p:sp>
        <p:nvSpPr>
          <p:cNvPr id="14" name="Text 11"/>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REPLY YOU GET</a:t>
            </a:r>
            <a:endParaRPr lang="en-US" sz="1100" dirty="0"/>
          </a:p>
        </p:txBody>
      </p:sp>
      <p:sp>
        <p:nvSpPr>
          <p:cNvPr id="15" name="Text 12"/>
          <p:cNvSpPr/>
          <p:nvPr/>
        </p:nvSpPr>
        <p:spPr>
          <a:xfrm>
            <a:off x="6492240" y="2898648"/>
            <a:ext cx="4754880" cy="2651760"/>
          </a:xfrm>
          <a:prstGeom prst="rect">
            <a:avLst/>
          </a:prstGeom>
          <a:noFill/>
          <a:ln/>
        </p:spPr>
        <p:txBody>
          <a:bodyPr wrap="square" lIns="0" tIns="0" rIns="0" bIns="0" rtlCol="0" anchor="t"/>
          <a:lstStyle/>
          <a:p>
            <a:pPr indent="0" marL="0">
              <a:lnSpc>
                <a:spcPct val="114000"/>
              </a:lnSpc>
              <a:buNone/>
            </a:pPr>
            <a:r>
              <a:rPr lang="en-US" sz="1300" b="1" dirty="0">
                <a:solidFill>
                  <a:srgbClr val="1F2733"/>
                </a:solidFill>
                <a:latin typeface="Arial" pitchFamily="34" charset="0"/>
                <a:ea typeface="Arial" pitchFamily="34" charset="-122"/>
                <a:cs typeface="Arial" pitchFamily="34" charset="-120"/>
              </a:rPr>
              <a:t>New here? The app makes shopping quicker:</a:t>
            </a:r>
            <a:endParaRPr lang="en-US" sz="1300" dirty="0"/>
          </a:p>
          <a:p>
            <a:pPr indent="0" marL="0">
              <a:lnSpc>
                <a:spcPct val="114000"/>
              </a:lnSpc>
              <a:buNone/>
            </a:pPr>
            <a:r>
              <a:rPr lang="en-US" sz="1300" b="1" dirty="0">
                <a:solidFill>
                  <a:srgbClr val="1F2733"/>
                </a:solidFill>
                <a:latin typeface="Arial" pitchFamily="34" charset="0"/>
                <a:ea typeface="Arial" pitchFamily="34" charset="-122"/>
                <a:cs typeface="Arial" pitchFamily="34" charset="-120"/>
              </a:rPr>
              <a:t>1.  Open the app and tap “Scan &amp; Go.”</a:t>
            </a:r>
            <a:endParaRPr lang="en-US" sz="1300" dirty="0"/>
          </a:p>
          <a:p>
            <a:pPr indent="0" marL="0">
              <a:lnSpc>
                <a:spcPct val="114000"/>
              </a:lnSpc>
              <a:buNone/>
            </a:pPr>
            <a:r>
              <a:rPr lang="en-US" sz="1300" b="1" dirty="0">
                <a:solidFill>
                  <a:srgbClr val="1F2733"/>
                </a:solidFill>
                <a:latin typeface="Arial" pitchFamily="34" charset="0"/>
                <a:ea typeface="Arial" pitchFamily="34" charset="-122"/>
                <a:cs typeface="Arial" pitchFamily="34" charset="-120"/>
              </a:rPr>
              <a:t>2.  Scan each item's barcode as it goes in your cart.</a:t>
            </a:r>
            <a:endParaRPr lang="en-US" sz="1300" dirty="0"/>
          </a:p>
          <a:p>
            <a:pPr indent="0" marL="0">
              <a:lnSpc>
                <a:spcPct val="114000"/>
              </a:lnSpc>
              <a:buNone/>
            </a:pPr>
            <a:r>
              <a:rPr lang="en-US" sz="1300" b="1" dirty="0">
                <a:solidFill>
                  <a:srgbClr val="1F2733"/>
                </a:solidFill>
                <a:latin typeface="Arial" pitchFamily="34" charset="0"/>
                <a:ea typeface="Arial" pitchFamily="34" charset="-122"/>
                <a:cs typeface="Arial" pitchFamily="34" charset="-120"/>
              </a:rPr>
              <a:t>3.  Watch your total add up as you shop.</a:t>
            </a:r>
            <a:endParaRPr lang="en-US" sz="1300" dirty="0"/>
          </a:p>
          <a:p>
            <a:pPr indent="0" marL="0">
              <a:lnSpc>
                <a:spcPct val="114000"/>
              </a:lnSpc>
              <a:buNone/>
            </a:pPr>
            <a:r>
              <a:rPr lang="en-US" sz="1300" b="1" dirty="0">
                <a:solidFill>
                  <a:srgbClr val="1F2733"/>
                </a:solidFill>
                <a:latin typeface="Arial" pitchFamily="34" charset="0"/>
                <a:ea typeface="Arial" pitchFamily="34" charset="-122"/>
                <a:cs typeface="Arial" pitchFamily="34" charset="-120"/>
              </a:rPr>
              <a:t>4.  Tap “Check out” and skip the line. Happy shopping!</a:t>
            </a:r>
            <a:endParaRPr lang="en-US" sz="13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Give it a role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It points the assistant's knowledge and voice.</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Keep it in character</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 few traits hold the voice across the chat.</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Reshape for the reader</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Same facts, wording that fits the audience.</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Steer tone with anchors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Concrete comparisons beat vague adjectives.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BEGINNER</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Next: Learn by Showing</a:t>
            </a:r>
            <a:endParaRPr lang="en-US" sz="4400" dirty="0"/>
          </a:p>
        </p:txBody>
      </p:sp>
      <p:sp>
        <p:nvSpPr>
          <p:cNvPr id="7" name="Text 5"/>
          <p:cNvSpPr/>
          <p:nvPr/>
        </p:nvSpPr>
        <p:spPr>
          <a:xfrm>
            <a:off x="658368" y="3840480"/>
            <a:ext cx="969264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set the voice. Module 6 shows the assistant what 'good' looks like by giving it a few examples to follow.</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habit for setting a role once and reusing it — for anyone who wants it.</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Set a role once, and reuse it</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Retyping the same role every time gets old.</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Most tools let you save a role or a set of standing instructions — so the assistant always acts as your BJ's associate without you asking each time.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Save “You are a friendly BJ's club associate, patient with first-time users” as a standing instruction. Every new chat then starts in that voice automatically.</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Set the role once, not every time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RETYPE IT EVERY TIME</a:t>
            </a:r>
            <a:endParaRPr lang="en-US" sz="1100" dirty="0"/>
          </a:p>
        </p:txBody>
      </p:sp>
      <p:sp>
        <p:nvSpPr>
          <p:cNvPr id="8" name="Text 5"/>
          <p:cNvSpPr/>
          <p:nvPr/>
        </p:nvSpPr>
        <p:spPr>
          <a:xfrm>
            <a:off x="914400" y="2578608"/>
            <a:ext cx="4754880" cy="36576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The start of every single chat:</a:t>
            </a:r>
            <a:endParaRPr lang="en-US" sz="1300" dirty="0"/>
          </a:p>
        </p:txBody>
      </p:sp>
      <p:sp>
        <p:nvSpPr>
          <p:cNvPr id="9" name="Text 6"/>
          <p:cNvSpPr/>
          <p:nvPr/>
        </p:nvSpPr>
        <p:spPr>
          <a:xfrm>
            <a:off x="914400" y="3063240"/>
            <a:ext cx="4754880" cy="15544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“You are a friendly BJ's club associate, patient with first-time users. Now, explain the app.”</a:t>
            </a:r>
            <a:endParaRPr lang="en-US" sz="1400" dirty="0"/>
          </a:p>
        </p:txBody>
      </p:sp>
      <p:sp>
        <p:nvSpPr>
          <p:cNvPr id="10" name="Text 7"/>
          <p:cNvSpPr/>
          <p:nvPr/>
        </p:nvSpPr>
        <p:spPr>
          <a:xfrm>
            <a:off x="914400" y="5074920"/>
            <a:ext cx="4754880" cy="36576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Easy to forget — and tedious.</a:t>
            </a:r>
            <a:endParaRPr lang="en-US" sz="12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SAVE IT ONCE</a:t>
            </a:r>
            <a:endParaRPr lang="en-US" sz="1100" dirty="0"/>
          </a:p>
        </p:txBody>
      </p:sp>
      <p:sp>
        <p:nvSpPr>
          <p:cNvPr id="13" name="Text 10"/>
          <p:cNvSpPr/>
          <p:nvPr/>
        </p:nvSpPr>
        <p:spPr>
          <a:xfrm>
            <a:off x="6492240" y="2578608"/>
            <a:ext cx="4754880" cy="54864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Set the role as a standing instruction. Then every chat just needs:</a:t>
            </a:r>
            <a:endParaRPr lang="en-US" sz="1300" dirty="0"/>
          </a:p>
        </p:txBody>
      </p:sp>
      <p:sp>
        <p:nvSpPr>
          <p:cNvPr id="14" name="Text 11"/>
          <p:cNvSpPr/>
          <p:nvPr/>
        </p:nvSpPr>
        <p:spPr>
          <a:xfrm>
            <a:off x="6492240" y="3337560"/>
            <a:ext cx="4754880" cy="640080"/>
          </a:xfrm>
          <a:prstGeom prst="rect">
            <a:avLst/>
          </a:prstGeom>
          <a:noFill/>
          <a:ln/>
        </p:spPr>
        <p:txBody>
          <a:bodyPr wrap="square" lIns="0" tIns="0" rIns="0" bIns="0" rtlCol="0" anchor="t"/>
          <a:lstStyle/>
          <a:p>
            <a:pPr indent="0" marL="0">
              <a:buNone/>
            </a:pPr>
            <a:r>
              <a:rPr lang="en-US" sz="2000" b="1" dirty="0">
                <a:solidFill>
                  <a:srgbClr val="1F2733"/>
                </a:solidFill>
                <a:latin typeface="Arial" pitchFamily="34" charset="0"/>
                <a:ea typeface="Arial" pitchFamily="34" charset="-122"/>
                <a:cs typeface="Arial" pitchFamily="34" charset="-120"/>
              </a:rPr>
              <a:t>“Explain the app.”</a:t>
            </a:r>
            <a:endParaRPr lang="en-US" sz="2000" dirty="0"/>
          </a:p>
        </p:txBody>
      </p:sp>
      <p:sp>
        <p:nvSpPr>
          <p:cNvPr id="15" name="Text 12"/>
          <p:cNvSpPr/>
          <p:nvPr/>
        </p:nvSpPr>
        <p:spPr>
          <a:xfrm>
            <a:off x="6492240" y="493776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It already speaks as the associate, automatically.</a:t>
            </a:r>
            <a:endParaRPr lang="en-US" sz="12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5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1  ·  BEGINNER</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Module 6 — Examples: Learn by Showing</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The fastest way to get the style you want: show the assistant a few examples to copy.</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Show the assistant examples instead of just describing</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couple of examples beats a paragraph of instructions.</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Design examples that clearly show the pattern</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Representative, done exactly the way you want.</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Add a 'good vs. bad' pair when the line matters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Show what to do and what to avoid.</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Choose how many examples, which ones, and their order</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few varied examples, best one last.</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Showing beats telling</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You can describe the style you want in a paragraph — or you can just show a couple of examples and let the assistant copy the pattern. Showing is faster, clearer, and far more reliable.</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Writing a short blurb for a BJ's shelf sign, in our house style.</a:t>
            </a:r>
            <a:endParaRPr lang="en-US" sz="1800" dirty="0"/>
          </a:p>
          <a:p>
            <a:pPr indent="0" marL="0">
              <a:lnSpc>
                <a:spcPct val="115000"/>
              </a:lnSpc>
              <a:buNone/>
            </a:pPr>
            <a:endParaRPr lang="en-US" sz="1800" dirty="0"/>
          </a:p>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We teach that style by example.</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SHOW A FEW EXAMPLES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Give it a couple of examples to copy</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Telling the assistant your style works; showing it works better. With no examples, it guesses. Give it two or three worked examples first, and it copies the pattern almost exactly.</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With and without examples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No examples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“Write a blurb for our laundry detergent.” → it guesses the style.</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A few examples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Show two example blurbs first, then ask → it matches them.</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MAKE THEM SHOW THE PATTERN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Design examples that show exactly what you want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assistant copies what it sees, so show the real thing done right. A good example is clear, representative, and lays out the exact shape you are after.</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One clear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Paper Towels →</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“Big rolls, fewer changes. Strong enough for the messiest spills.”</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One benefit line, then one short detail. That is the pattern to show.</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SHOW A GOOD ONE AND A BAD ONE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'good vs. bad' pair sharpens the line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Sometimes it helps to show what NOT to do, clearly labelled. A good example next to a bad one makes the boundary obvious — the assistant learns the difference, not just the target.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Good vs. avoid</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15803D"/>
                </a:solidFill>
                <a:latin typeface="Arial" pitchFamily="34" charset="0"/>
                <a:ea typeface="Arial" pitchFamily="34" charset="-122"/>
                <a:cs typeface="Arial" pitchFamily="34" charset="-120"/>
              </a:rPr>
              <a:t>Good</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“Big rolls, fewer changes. Strong enough for the messiest spills.”</a:t>
            </a:r>
            <a:endParaRPr lang="en-US" sz="1450" dirty="0"/>
          </a:p>
          <a:p>
            <a:pPr indent="0" marL="0">
              <a:lnSpc>
                <a:spcPct val="115000"/>
              </a:lnSpc>
              <a:buNone/>
            </a:pPr>
            <a:endParaRPr lang="en-US" sz="1450" dirty="0"/>
          </a:p>
          <a:p>
            <a:pPr indent="0" marL="0">
              <a:lnSpc>
                <a:spcPct val="115000"/>
              </a:lnSpc>
              <a:buNone/>
            </a:pPr>
            <a:r>
              <a:rPr lang="en-US" sz="1450" b="1" dirty="0">
                <a:solidFill>
                  <a:srgbClr val="B91C1C"/>
                </a:solidFill>
                <a:latin typeface="Arial" pitchFamily="34" charset="0"/>
                <a:ea typeface="Arial" pitchFamily="34" charset="-122"/>
                <a:cs typeface="Arial" pitchFamily="34" charset="-120"/>
              </a:rPr>
              <a:t>Avoid</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“This is a paper towel used for cleaning. It has many uses.”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HOW MANY, WHICH, WHAT ORDER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few good examples, chosen and ordered well</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You do not need many. Two or three is usually plenty. Pick varied, representative examples rather than near-identical ones — and mind the order, because the assistant leans on the most recent one.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good rule of thumb</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Two or three examples — not ten.</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Pick different product types, not near-identical ones.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Put your best example last.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show-by-example prompt in our house style</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26080"/>
          </a:xfrm>
          <a:prstGeom prst="rect">
            <a:avLst/>
          </a:prstGeom>
          <a:noFill/>
          <a:ln/>
        </p:spPr>
        <p:txBody>
          <a:bodyPr wrap="square" lIns="0" tIns="0" rIns="0" bIns="0" rtlCol="0" anchor="t"/>
          <a:lstStyle/>
          <a:p>
            <a:pPr indent="0" marL="0">
              <a:lnSpc>
                <a:spcPct val="125000"/>
              </a:lnSpc>
              <a:buNone/>
            </a:pPr>
            <a:r>
              <a:rPr lang="en-US" sz="1550" b="1" dirty="0">
                <a:solidFill>
                  <a:srgbClr val="D31242"/>
                </a:solidFill>
                <a:latin typeface="Arial" pitchFamily="34" charset="0"/>
                <a:ea typeface="Arial" pitchFamily="34" charset="-122"/>
                <a:cs typeface="Arial" pitchFamily="34" charset="-120"/>
              </a:rPr>
              <a:t>Task</a:t>
            </a:r>
            <a:pPr indent="0" marL="0">
              <a:lnSpc>
                <a:spcPct val="125000"/>
              </a:lnSpc>
              <a:buNone/>
            </a:pPr>
            <a:r>
              <a:rPr lang="en-US" sz="1550" dirty="0">
                <a:solidFill>
                  <a:srgbClr val="1F2733"/>
                </a:solidFill>
                <a:latin typeface="Arial" pitchFamily="34" charset="0"/>
                <a:ea typeface="Arial" pitchFamily="34" charset="-122"/>
                <a:cs typeface="Arial" pitchFamily="34" charset="-120"/>
              </a:rPr>
              <a:t>   Write a one-line shelf blurb in our house style.</a:t>
            </a:r>
            <a:endParaRPr lang="en-US" sz="1550" dirty="0"/>
          </a:p>
          <a:p>
            <a:pPr indent="0" marL="0">
              <a:lnSpc>
                <a:spcPct val="125000"/>
              </a:lnSpc>
              <a:buNone/>
            </a:pPr>
            <a:r>
              <a:rPr lang="en-US" sz="1550" b="1" dirty="0">
                <a:solidFill>
                  <a:srgbClr val="D31242"/>
                </a:solidFill>
                <a:latin typeface="Arial" pitchFamily="34" charset="0"/>
                <a:ea typeface="Arial" pitchFamily="34" charset="-122"/>
                <a:cs typeface="Arial" pitchFamily="34" charset="-120"/>
              </a:rPr>
              <a:t>Examples</a:t>
            </a:r>
            <a:pPr indent="0" marL="0">
              <a:lnSpc>
                <a:spcPct val="125000"/>
              </a:lnSpc>
              <a:buNone/>
            </a:pPr>
            <a:endParaRPr lang="en-US" sz="1550" dirty="0"/>
          </a:p>
          <a:p>
            <a:pPr indent="0" marL="0">
              <a:lnSpc>
                <a:spcPct val="125000"/>
              </a:lnSpc>
              <a:buNone/>
            </a:pPr>
            <a:r>
              <a:rPr lang="en-US" sz="1550" dirty="0">
                <a:solidFill>
                  <a:srgbClr val="1F2733"/>
                </a:solidFill>
                <a:latin typeface="Arial" pitchFamily="34" charset="0"/>
                <a:ea typeface="Arial" pitchFamily="34" charset="-122"/>
                <a:cs typeface="Arial" pitchFamily="34" charset="-120"/>
              </a:rPr>
              <a:t>   Paper Towels → “Big rolls, fewer changes. Strong enough for the messiest spills.”</a:t>
            </a:r>
            <a:endParaRPr lang="en-US" sz="1550" dirty="0"/>
          </a:p>
          <a:p>
            <a:pPr indent="0" marL="0">
              <a:lnSpc>
                <a:spcPct val="125000"/>
              </a:lnSpc>
              <a:buNone/>
            </a:pPr>
            <a:r>
              <a:rPr lang="en-US" sz="1550" dirty="0">
                <a:solidFill>
                  <a:srgbClr val="1F2733"/>
                </a:solidFill>
                <a:latin typeface="Arial" pitchFamily="34" charset="0"/>
                <a:ea typeface="Arial" pitchFamily="34" charset="-122"/>
                <a:cs typeface="Arial" pitchFamily="34" charset="-120"/>
              </a:rPr>
              <a:t>   Trail Mix → “A handful of energy for busy days. Nuts, fruit, and a little chocolate.”</a:t>
            </a:r>
            <a:endParaRPr lang="en-US" sz="1550" dirty="0"/>
          </a:p>
          <a:p>
            <a:pPr indent="0" marL="0">
              <a:lnSpc>
                <a:spcPct val="125000"/>
              </a:lnSpc>
              <a:buNone/>
            </a:pPr>
            <a:endParaRPr lang="en-US" sz="1550" dirty="0"/>
          </a:p>
          <a:p>
            <a:pPr indent="0" marL="0">
              <a:lnSpc>
                <a:spcPct val="125000"/>
              </a:lnSpc>
              <a:buNone/>
            </a:pPr>
            <a:r>
              <a:rPr lang="en-US" sz="1550" b="1" dirty="0">
                <a:solidFill>
                  <a:srgbClr val="D31242"/>
                </a:solidFill>
                <a:latin typeface="Arial" pitchFamily="34" charset="0"/>
                <a:ea typeface="Arial" pitchFamily="34" charset="-122"/>
                <a:cs typeface="Arial" pitchFamily="34" charset="-120"/>
              </a:rPr>
              <a:t>Now you</a:t>
            </a:r>
            <a:pPr indent="0" marL="0">
              <a:lnSpc>
                <a:spcPct val="125000"/>
              </a:lnSpc>
              <a:buNone/>
            </a:pPr>
            <a:r>
              <a:rPr lang="en-US" sz="1550" dirty="0">
                <a:solidFill>
                  <a:srgbClr val="1F2733"/>
                </a:solidFill>
                <a:latin typeface="Arial" pitchFamily="34" charset="0"/>
                <a:ea typeface="Arial" pitchFamily="34" charset="-122"/>
                <a:cs typeface="Arial" pitchFamily="34" charset="-120"/>
              </a:rPr>
              <a:t>   Laundry Detergent →  ?</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task, with and without examples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NO EXAMPLES</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“Write a blurb for our laundry detergent.”</a:t>
            </a:r>
            <a:endParaRPr lang="en-US" sz="1300" dirty="0"/>
          </a:p>
        </p:txBody>
      </p:sp>
      <p:sp>
        <p:nvSpPr>
          <p:cNvPr id="9" name="Text 6"/>
          <p:cNvSpPr/>
          <p:nvPr/>
        </p:nvSpPr>
        <p:spPr>
          <a:xfrm>
            <a:off x="914400" y="315468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BLURB YOU GET</a:t>
            </a:r>
            <a:endParaRPr lang="en-US" sz="1100" dirty="0"/>
          </a:p>
        </p:txBody>
      </p:sp>
      <p:sp>
        <p:nvSpPr>
          <p:cNvPr id="10" name="Text 7"/>
          <p:cNvSpPr/>
          <p:nvPr/>
        </p:nvSpPr>
        <p:spPr>
          <a:xfrm>
            <a:off x="914400" y="3474720"/>
            <a:ext cx="4754880" cy="1097280"/>
          </a:xfrm>
          <a:prstGeom prst="rect">
            <a:avLst/>
          </a:prstGeom>
          <a:noFill/>
          <a:ln/>
        </p:spPr>
        <p:txBody>
          <a:bodyPr wrap="square" lIns="0" tIns="0" rIns="0" bIns="0" rtlCol="0" anchor="t"/>
          <a:lstStyle/>
          <a:p>
            <a:pPr indent="0" marL="0">
              <a:lnSpc>
                <a:spcPct val="112000"/>
              </a:lnSpc>
              <a:buNone/>
            </a:pPr>
            <a:r>
              <a:rPr lang="en-US" sz="1400" b="1" dirty="0">
                <a:solidFill>
                  <a:srgbClr val="1F2733"/>
                </a:solidFill>
                <a:latin typeface="Arial" pitchFamily="34" charset="0"/>
                <a:ea typeface="Arial" pitchFamily="34" charset="-122"/>
                <a:cs typeface="Arial" pitchFamily="34" charset="-120"/>
              </a:rPr>
              <a:t>“Our laundry detergent cleans clothes effectively and is available in-store.”</a:t>
            </a:r>
            <a:endParaRPr lang="en-US" sz="1400" dirty="0"/>
          </a:p>
        </p:txBody>
      </p:sp>
      <p:sp>
        <p:nvSpPr>
          <p:cNvPr id="11" name="Text 8"/>
          <p:cNvSpPr/>
          <p:nvPr/>
        </p:nvSpPr>
        <p:spPr>
          <a:xfrm>
            <a:off x="914400" y="4937760"/>
            <a:ext cx="4754880" cy="548640"/>
          </a:xfrm>
          <a:prstGeom prst="rect">
            <a:avLst/>
          </a:prstGeom>
          <a:noFill/>
          <a:ln/>
        </p:spPr>
        <p:txBody>
          <a:bodyPr wrap="square" lIns="0" tIns="0" rIns="0" bIns="0" rtlCol="0" anchor="t"/>
          <a:lstStyle/>
          <a:p>
            <a:pPr indent="0" marL="0">
              <a:buNone/>
            </a:pPr>
            <a:r>
              <a:rPr lang="en-US" sz="1250" i="1" dirty="0">
                <a:solidFill>
                  <a:srgbClr val="5E6A78"/>
                </a:solidFill>
                <a:latin typeface="Arial" pitchFamily="34" charset="0"/>
                <a:ea typeface="Arial" pitchFamily="34" charset="-122"/>
                <a:cs typeface="Arial" pitchFamily="34" charset="-120"/>
              </a:rPr>
              <a:t>Off-style and flat — nothing like our signs.</a:t>
            </a:r>
            <a:endParaRPr lang="en-US" sz="125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WITH TWO EXAMPLES</a:t>
            </a:r>
            <a:endParaRPr lang="en-US" sz="1100" dirty="0"/>
          </a:p>
        </p:txBody>
      </p:sp>
      <p:sp>
        <p:nvSpPr>
          <p:cNvPr id="14" name="Text 11"/>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BLURB YOU GET</a:t>
            </a:r>
            <a:endParaRPr lang="en-US" sz="1100" dirty="0"/>
          </a:p>
        </p:txBody>
      </p:sp>
      <p:sp>
        <p:nvSpPr>
          <p:cNvPr id="15" name="Text 12"/>
          <p:cNvSpPr/>
          <p:nvPr/>
        </p:nvSpPr>
        <p:spPr>
          <a:xfrm>
            <a:off x="6492240" y="2926080"/>
            <a:ext cx="4754880" cy="1188720"/>
          </a:xfrm>
          <a:prstGeom prst="rect">
            <a:avLst/>
          </a:prstGeom>
          <a:noFill/>
          <a:ln/>
        </p:spPr>
        <p:txBody>
          <a:bodyPr wrap="square" lIns="0" tIns="0" rIns="0" bIns="0" rtlCol="0" anchor="t"/>
          <a:lstStyle/>
          <a:p>
            <a:pPr indent="0" marL="0">
              <a:lnSpc>
                <a:spcPct val="115000"/>
              </a:lnSpc>
              <a:buNone/>
            </a:pPr>
            <a:r>
              <a:rPr lang="en-US" sz="1700" b="1" dirty="0">
                <a:solidFill>
                  <a:srgbClr val="1F2733"/>
                </a:solidFill>
                <a:latin typeface="Arial" pitchFamily="34" charset="0"/>
                <a:ea typeface="Arial" pitchFamily="34" charset="-122"/>
                <a:cs typeface="Arial" pitchFamily="34" charset="-120"/>
              </a:rPr>
              <a:t>“Tough on stains, gentle on budgets. One bottle lasts for months.”</a:t>
            </a:r>
            <a:endParaRPr lang="en-US" sz="1700" dirty="0"/>
          </a:p>
        </p:txBody>
      </p:sp>
      <p:sp>
        <p:nvSpPr>
          <p:cNvPr id="16" name="Text 13"/>
          <p:cNvSpPr/>
          <p:nvPr/>
        </p:nvSpPr>
        <p:spPr>
          <a:xfrm>
            <a:off x="6492240" y="4937760"/>
            <a:ext cx="4754880" cy="54864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Matches the house style right away.</a:t>
            </a:r>
            <a:endParaRPr lang="en-US" sz="12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Show, don't just tell</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 couple of examples beats a description.</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Make examples show the pattern</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Clear, representative, done the right way.</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Add a bad example when it helps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 good-versus-bad pair sharpens the line.</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Choose and order examples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 few varied ones, your best one last.</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6  ·  BEGINNER</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Next: Controlling the Output</a:t>
            </a:r>
            <a:endParaRPr lang="en-US" sz="4400" dirty="0"/>
          </a:p>
        </p:txBody>
      </p:sp>
      <p:sp>
        <p:nvSpPr>
          <p:cNvPr id="7" name="Text 5"/>
          <p:cNvSpPr/>
          <p:nvPr/>
        </p:nvSpPr>
        <p:spPr>
          <a:xfrm>
            <a:off x="658368" y="3840480"/>
            <a:ext cx="969264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show the assistant the style. Module 7 — the last in the Beginner level — locks the exact shape of the answer: its format, its length, its structure.</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1  ·  BEGINNER</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600" b="1" spc="-50" kern="0" dirty="0">
                <a:solidFill>
                  <a:srgbClr val="FFFFFF"/>
                </a:solidFill>
                <a:latin typeface="Arial" pitchFamily="34" charset="0"/>
                <a:ea typeface="Arial" pitchFamily="34" charset="-122"/>
                <a:cs typeface="Arial" pitchFamily="34" charset="-120"/>
              </a:rPr>
              <a:t>Module 7 — Controlling the Output</a:t>
            </a:r>
            <a:endParaRPr lang="en-US" sz="46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Get the answer back in the exact shape you need — a table, a list, a fixed format.</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Ask for the answer in an exact shape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table, three sections, a one-line reply.</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Give the assistant a template to fill in</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fixed skeleton with blanks it completes.</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Pick the right format for the job</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Table, list, or paragraph.</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Start the answer to lock the format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Begin it, and the assistant continues the shape.</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right answer in the wrong shape still needs work</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assistant can be completely correct and still hand you a wall of text when you needed a table. When you say the exact shape you want up front, the answer comes back ready to use — no reformatting.</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Laying out this weekend's three club events in a clean format for the staff board.</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NAME THE SHAPE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Say exactly what shape you want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Do not leave the format to chance. Spell out the shape of the answer up front — a table with these columns, three named sections, or a single line. The assistant will hand it back exactly that way.</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Naming the shape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“Give me a table with three columns:</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Event, Day &amp; Time, and Where.</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One row per event.”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GIVE IT A TEMPLATE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Hand over a skeleton to fill in</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Sometimes the easiest way to get a shape is to give the assistant the blank form and let it fill in the gaps. It follows your template exactly, every time.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fill-in template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Event:  ______</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When:   ______</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Where:  ______</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“Fill this in for each of the three events.”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PICK THE RIGHT FORMAT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Match the format to the job</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Different jobs want different shapes. A table is best for scannable rows and columns; a list for a few short items; a paragraph for a flowing summary. Choose on purpose, and say which one you want.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Which format when</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Table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for rows and columns you can scan.</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List</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for a few short, simple items.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Paragraph</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for a flowing, written summary.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START THE ANSWER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Begin it yourself to lock the format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quiet trick: write the first line of the answer yourself. Start the table header or the first bullet, and the assistant simply continues in that exact shape.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Seeding the format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Begin the answer for it: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Event   |   Day &amp; Time   |   Where</a:t>
            </a:r>
            <a:endParaRPr lang="en-US" sz="1450" dirty="0"/>
          </a:p>
          <a:p>
            <a:pPr indent="0" marL="0">
              <a:lnSpc>
                <a:spcPct val="115000"/>
              </a:lnSpc>
              <a:buNone/>
            </a:pPr>
            <a:r>
              <a:rPr lang="en-US" sz="1450" dirty="0">
                <a:solidFill>
                  <a:srgbClr val="5E6A78"/>
                </a:solidFill>
                <a:latin typeface="Arial" pitchFamily="34" charset="0"/>
                <a:ea typeface="Arial" pitchFamily="34" charset="-122"/>
                <a:cs typeface="Arial" pitchFamily="34" charset="-120"/>
              </a:rPr>
              <a:t>…and it fills in the rows below.</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prompt that locks the exact output</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31720"/>
            <a:ext cx="10058400" cy="3063240"/>
          </a:xfrm>
          <a:prstGeom prst="rect">
            <a:avLst/>
          </a:prstGeom>
          <a:noFill/>
          <a:ln/>
        </p:spPr>
        <p:txBody>
          <a:bodyPr wrap="square" lIns="0" tIns="0" rIns="0" bIns="0" rtlCol="0" anchor="t"/>
          <a:lstStyle/>
          <a:p>
            <a:pPr indent="0" marL="0">
              <a:lnSpc>
                <a:spcPct val="122000"/>
              </a:lnSpc>
              <a:buNone/>
            </a:pPr>
            <a:r>
              <a:rPr lang="en-US" sz="1550" b="1" dirty="0">
                <a:solidFill>
                  <a:srgbClr val="D31242"/>
                </a:solidFill>
                <a:latin typeface="Arial" pitchFamily="34" charset="0"/>
                <a:ea typeface="Arial" pitchFamily="34" charset="-122"/>
                <a:cs typeface="Arial" pitchFamily="34" charset="-120"/>
              </a:rPr>
              <a:t>Task</a:t>
            </a:r>
            <a:pPr indent="0" marL="0">
              <a:lnSpc>
                <a:spcPct val="122000"/>
              </a:lnSpc>
              <a:buNone/>
            </a:pPr>
            <a:r>
              <a:rPr lang="en-US" sz="1550" dirty="0">
                <a:solidFill>
                  <a:srgbClr val="1F2733"/>
                </a:solidFill>
                <a:latin typeface="Arial" pitchFamily="34" charset="0"/>
                <a:ea typeface="Arial" pitchFamily="34" charset="-122"/>
                <a:cs typeface="Arial" pitchFamily="34" charset="-120"/>
              </a:rPr>
              <a:t>   Lay out this weekend's three club events for the staff board.</a:t>
            </a:r>
            <a:endParaRPr lang="en-US" sz="1550" dirty="0"/>
          </a:p>
          <a:p>
            <a:pPr indent="0" marL="0">
              <a:lnSpc>
                <a:spcPct val="122000"/>
              </a:lnSpc>
              <a:buNone/>
            </a:pPr>
            <a:r>
              <a:rPr lang="en-US" sz="1550" b="1" dirty="0">
                <a:solidFill>
                  <a:srgbClr val="D31242"/>
                </a:solidFill>
                <a:latin typeface="Arial" pitchFamily="34" charset="0"/>
                <a:ea typeface="Arial" pitchFamily="34" charset="-122"/>
                <a:cs typeface="Arial" pitchFamily="34" charset="-120"/>
              </a:rPr>
              <a:t>The events</a:t>
            </a:r>
            <a:pPr indent="0" marL="0">
              <a:lnSpc>
                <a:spcPct val="122000"/>
              </a:lnSpc>
              <a:buNone/>
            </a:pPr>
            <a:r>
              <a:rPr lang="en-US" sz="1550" dirty="0">
                <a:solidFill>
                  <a:srgbClr val="1F2733"/>
                </a:solidFill>
                <a:latin typeface="Arial" pitchFamily="34" charset="0"/>
                <a:ea typeface="Arial" pitchFamily="34" charset="-122"/>
                <a:cs typeface="Arial" pitchFamily="34" charset="-120"/>
              </a:rPr>
              <a:t>   Membership drive (Sat 9 AM, entrance); Free sampling (Sat 12 PM, grocery); Tire center special (Sun all day, auto).</a:t>
            </a:r>
            <a:endParaRPr lang="en-US" sz="1550" dirty="0"/>
          </a:p>
          <a:p>
            <a:pPr indent="0" marL="0">
              <a:lnSpc>
                <a:spcPct val="122000"/>
              </a:lnSpc>
              <a:buNone/>
            </a:pPr>
            <a:endParaRPr lang="en-US" sz="1550" dirty="0"/>
          </a:p>
          <a:p>
            <a:pPr indent="0" marL="0">
              <a:lnSpc>
                <a:spcPct val="122000"/>
              </a:lnSpc>
              <a:buNone/>
            </a:pPr>
            <a:r>
              <a:rPr lang="en-US" sz="1550" b="1" dirty="0">
                <a:solidFill>
                  <a:srgbClr val="D31242"/>
                </a:solidFill>
                <a:latin typeface="Arial" pitchFamily="34" charset="0"/>
                <a:ea typeface="Arial" pitchFamily="34" charset="-122"/>
                <a:cs typeface="Arial" pitchFamily="34" charset="-120"/>
              </a:rPr>
              <a:t>Shape</a:t>
            </a:r>
            <a:pPr indent="0" marL="0">
              <a:lnSpc>
                <a:spcPct val="122000"/>
              </a:lnSpc>
              <a:buNone/>
            </a:pPr>
            <a:r>
              <a:rPr lang="en-US" sz="1550" dirty="0">
                <a:solidFill>
                  <a:srgbClr val="1F2733"/>
                </a:solidFill>
                <a:latin typeface="Arial" pitchFamily="34" charset="0"/>
                <a:ea typeface="Arial" pitchFamily="34" charset="-122"/>
                <a:cs typeface="Arial" pitchFamily="34" charset="-120"/>
              </a:rPr>
              <a:t>   A table with three columns: Event, Day &amp; Time, Where. One row per event.</a:t>
            </a:r>
            <a:endParaRPr lang="en-US" sz="1550" dirty="0"/>
          </a:p>
          <a:p>
            <a:pPr indent="0" marL="0">
              <a:lnSpc>
                <a:spcPct val="122000"/>
              </a:lnSpc>
              <a:buNone/>
            </a:pPr>
            <a:endParaRPr lang="en-US" sz="1550" dirty="0"/>
          </a:p>
          <a:p>
            <a:pPr indent="0" marL="0">
              <a:lnSpc>
                <a:spcPct val="122000"/>
              </a:lnSpc>
              <a:buNone/>
            </a:pPr>
            <a:r>
              <a:rPr lang="en-US" sz="1550" b="1" dirty="0">
                <a:solidFill>
                  <a:srgbClr val="D31242"/>
                </a:solidFill>
                <a:latin typeface="Arial" pitchFamily="34" charset="0"/>
                <a:ea typeface="Arial" pitchFamily="34" charset="-122"/>
                <a:cs typeface="Arial" pitchFamily="34" charset="-120"/>
              </a:rPr>
              <a:t>Start it</a:t>
            </a:r>
            <a:pPr indent="0" marL="0">
              <a:lnSpc>
                <a:spcPct val="122000"/>
              </a:lnSpc>
              <a:buNone/>
            </a:pPr>
            <a:r>
              <a:rPr lang="en-US" sz="1550" dirty="0">
                <a:solidFill>
                  <a:srgbClr val="1F2733"/>
                </a:solidFill>
                <a:latin typeface="Arial" pitchFamily="34" charset="0"/>
                <a:ea typeface="Arial" pitchFamily="34" charset="-122"/>
                <a:cs typeface="Arial" pitchFamily="34" charset="-120"/>
              </a:rPr>
              <a:t>   Begin with the header row: Event | Day &amp; Time | Where.</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facts, loose versus locked</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NO SHAPE ASKED FOR</a:t>
            </a:r>
            <a:endParaRPr lang="en-US" sz="1100" dirty="0"/>
          </a:p>
        </p:txBody>
      </p:sp>
      <p:sp>
        <p:nvSpPr>
          <p:cNvPr id="8" name="Text 5"/>
          <p:cNvSpPr/>
          <p:nvPr/>
        </p:nvSpPr>
        <p:spPr>
          <a:xfrm>
            <a:off x="914400" y="2578608"/>
            <a:ext cx="4754880" cy="36576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“List this weekend's events.”</a:t>
            </a:r>
            <a:endParaRPr lang="en-US" sz="1300" dirty="0"/>
          </a:p>
        </p:txBody>
      </p:sp>
      <p:sp>
        <p:nvSpPr>
          <p:cNvPr id="9" name="Text 6"/>
          <p:cNvSpPr/>
          <p:nvPr/>
        </p:nvSpPr>
        <p:spPr>
          <a:xfrm>
            <a:off x="914400" y="30632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383280"/>
            <a:ext cx="4754880" cy="1463040"/>
          </a:xfrm>
          <a:prstGeom prst="rect">
            <a:avLst/>
          </a:prstGeom>
          <a:noFill/>
          <a:ln/>
        </p:spPr>
        <p:txBody>
          <a:bodyPr wrap="square" lIns="0" tIns="0" rIns="0" bIns="0" rtlCol="0" anchor="t"/>
          <a:lstStyle/>
          <a:p>
            <a:pPr indent="0" marL="0">
              <a:lnSpc>
                <a:spcPct val="114000"/>
              </a:lnSpc>
              <a:buNone/>
            </a:pPr>
            <a:r>
              <a:rPr lang="en-US" sz="1350" b="1" dirty="0">
                <a:solidFill>
                  <a:srgbClr val="1F2733"/>
                </a:solidFill>
                <a:latin typeface="Arial" pitchFamily="34" charset="0"/>
                <a:ea typeface="Arial" pitchFamily="34" charset="-122"/>
                <a:cs typeface="Arial" pitchFamily="34" charset="-120"/>
              </a:rPr>
              <a:t>“This weekend there's a membership drive on Saturday morning, free sampling in grocery, and a tire center special on Sunday.”</a:t>
            </a:r>
            <a:endParaRPr lang="en-US" sz="1350" dirty="0"/>
          </a:p>
        </p:txBody>
      </p:sp>
      <p:sp>
        <p:nvSpPr>
          <p:cNvPr id="11" name="Text 8"/>
          <p:cNvSpPr/>
          <p:nvPr/>
        </p:nvSpPr>
        <p:spPr>
          <a:xfrm>
            <a:off x="914400" y="507492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Correct, but hard to scan on a busy board.</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ASKED FOR A TABLE</a:t>
            </a:r>
            <a:endParaRPr lang="en-US" sz="1100" dirty="0"/>
          </a:p>
        </p:txBody>
      </p:sp>
      <p:sp>
        <p:nvSpPr>
          <p:cNvPr id="14" name="Text 11"/>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92240" y="2926080"/>
          <a:ext cx="4754880" cy="914400"/>
        </p:xfrm>
        <a:graphic>
          <a:graphicData uri="http://schemas.openxmlformats.org/drawingml/2006/table">
            <a:tbl>
              <a:tblPr/>
              <a:tblGrid>
                <a:gridCol w="1874520"/>
                <a:gridCol w="1600200"/>
                <a:gridCol w="1280160"/>
              </a:tblGrid>
              <a:tr h="36576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 Event</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D31242"/>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 Day &amp; Time</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D31242"/>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 Where</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D31242"/>
                    </a:solidFill>
                  </a:tcPr>
                </a:tc>
              </a:tr>
              <a:tr h="457200">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Membership drive</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Sat, 9 AM</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Entrance</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Free sampling</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Sat, 12 PM</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Grocery</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Tire center special</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Sun, all day</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733"/>
                          </a:solidFill>
                          <a:latin typeface="Arial" pitchFamily="34" charset="0"/>
                          <a:ea typeface="Arial" pitchFamily="34" charset="-122"/>
                          <a:cs typeface="Arial" pitchFamily="34" charset="-120"/>
                        </a:rPr>
                        <a:t> Auto center</a:t>
                      </a:r>
                      <a:endParaRPr lang="en-US" sz="1050" dirty="0">
                        <a:latin typeface="Arial" charset="0"/>
                        <a:ea typeface="Arial" charset="0"/>
                        <a:cs typeface="Arial" charset="0"/>
                      </a:endParaRPr>
                    </a:p>
                  </a:txBody>
                  <a:tcPr marL="91440" marR="91440" marT="45720" marB="45720" anchor="ctr">
                    <a:lnL w="6350" cap="flat" cmpd="sng" algn="ctr">
                      <a:solidFill>
                        <a:srgbClr val="E7E9EE"/>
                      </a:solidFill>
                      <a:prstDash val="solid"/>
                      <a:round/>
                      <a:headEnd type="none" w="med" len="med"/>
                      <a:tailEnd type="none" w="med" len="med"/>
                    </a:lnL>
                    <a:lnR w="6350" cap="flat" cmpd="sng" algn="ctr">
                      <a:solidFill>
                        <a:srgbClr val="E7E9EE"/>
                      </a:solidFill>
                      <a:prstDash val="solid"/>
                      <a:round/>
                      <a:headEnd type="none" w="med" len="med"/>
                      <a:tailEnd type="none" w="med" len="med"/>
                    </a:lnR>
                    <a:lnT w="6350" cap="flat" cmpd="sng" algn="ctr">
                      <a:solidFill>
                        <a:srgbClr val="E7E9EE"/>
                      </a:solidFill>
                      <a:prstDash val="solid"/>
                      <a:round/>
                      <a:headEnd type="none" w="med" len="med"/>
                      <a:tailEnd type="none" w="med" len="med"/>
                    </a:lnT>
                    <a:lnB w="6350" cap="flat" cmpd="sng" algn="ctr">
                      <a:solidFill>
                        <a:srgbClr val="E7E9EE"/>
                      </a:solidFill>
                      <a:prstDash val="solid"/>
                      <a:round/>
                      <a:headEnd type="none" w="med" len="med"/>
                      <a:tailEnd type="none" w="med" len="med"/>
                    </a:lnB>
                    <a:solidFill>
                      <a:srgbClr val="FFFFFF"/>
                    </a:solidFill>
                  </a:tcPr>
                </a:tc>
              </a:tr>
            </a:tbl>
          </a:graphicData>
        </a:graphic>
      </p:graphicFrame>
      <p:sp>
        <p:nvSpPr>
          <p:cNvPr id="16" name="Text 12"/>
          <p:cNvSpPr/>
          <p:nvPr/>
        </p:nvSpPr>
        <p:spPr>
          <a:xfrm>
            <a:off x="6492240" y="5166360"/>
            <a:ext cx="4754880" cy="36576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Ready to pin up as-is.</a:t>
            </a:r>
            <a:endParaRPr lang="en-US" sz="1200" dirty="0"/>
          </a:p>
        </p:txBody>
      </p:sp>
      <p:sp>
        <p:nvSpPr>
          <p:cNvPr id="17"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18"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Name the shape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Ask for a table, sections, or a one-liner.</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Give it a template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Hand over a skeleton and it fills the blanks.</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Pick the right format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Table, list, or paragraph — on purpose.</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Start the answer</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Begin the shape and it continues it.</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BEGINNER</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94560"/>
            <a:ext cx="10058400" cy="365760"/>
          </a:xfrm>
          <a:prstGeom prst="rect">
            <a:avLst/>
          </a:prstGeom>
          <a:noFill/>
          <a:ln/>
        </p:spPr>
        <p:txBody>
          <a:bodyPr wrap="square" lIns="0" tIns="0" rIns="0" bIns="0" rtlCol="0" anchor="ctr"/>
          <a:lstStyle/>
          <a:p>
            <a:pPr indent="0" marL="0">
              <a:buNone/>
            </a:pPr>
            <a:r>
              <a:rPr lang="en-US" sz="1500" b="1" spc="250" kern="0" dirty="0">
                <a:solidFill>
                  <a:srgbClr val="FCE4EA"/>
                </a:solidFill>
                <a:latin typeface="Arial" pitchFamily="34" charset="0"/>
                <a:ea typeface="Arial" pitchFamily="34" charset="-122"/>
                <a:cs typeface="Arial" pitchFamily="34" charset="-120"/>
              </a:rPr>
              <a:t>THAT COMPLETES THE BEGINNER LEVEL</a:t>
            </a:r>
            <a:endParaRPr lang="en-US" sz="1500" dirty="0"/>
          </a:p>
        </p:txBody>
      </p:sp>
      <p:sp>
        <p:nvSpPr>
          <p:cNvPr id="6" name="Text 4"/>
          <p:cNvSpPr/>
          <p:nvPr/>
        </p:nvSpPr>
        <p:spPr>
          <a:xfrm>
            <a:off x="621792" y="2651760"/>
            <a:ext cx="10881360" cy="1005840"/>
          </a:xfrm>
          <a:prstGeom prst="rect">
            <a:avLst/>
          </a:prstGeom>
          <a:noFill/>
          <a:ln/>
        </p:spPr>
        <p:txBody>
          <a:bodyPr wrap="square" lIns="0" tIns="0" rIns="0" bIns="0" rtlCol="0" anchor="ctr"/>
          <a:lstStyle/>
          <a:p>
            <a:pPr indent="0" marL="0">
              <a:buNone/>
            </a:pPr>
            <a:r>
              <a:rPr lang="en-US" sz="3800" b="1" spc="-50" kern="0" dirty="0">
                <a:solidFill>
                  <a:srgbClr val="FFFFFF"/>
                </a:solidFill>
                <a:latin typeface="Arial" pitchFamily="34" charset="0"/>
                <a:ea typeface="Arial" pitchFamily="34" charset="-122"/>
                <a:cs typeface="Arial" pitchFamily="34" charset="-120"/>
              </a:rPr>
              <a:t>Nicely done — you can write prompts that work</a:t>
            </a:r>
            <a:endParaRPr lang="en-US" sz="3800" dirty="0"/>
          </a:p>
        </p:txBody>
      </p:sp>
      <p:sp>
        <p:nvSpPr>
          <p:cNvPr id="7" name="Text 5"/>
          <p:cNvSpPr/>
          <p:nvPr/>
        </p:nvSpPr>
        <p:spPr>
          <a:xfrm>
            <a:off x="658368" y="3794760"/>
            <a:ext cx="9875520" cy="1280160"/>
          </a:xfrm>
          <a:prstGeom prst="rect">
            <a:avLst/>
          </a:prstGeom>
          <a:noFill/>
          <a:ln/>
        </p:spPr>
        <p:txBody>
          <a:bodyPr wrap="square" lIns="0" tIns="0" rIns="0" bIns="0" rtlCol="0" anchor="t"/>
          <a:lstStyle/>
          <a:p>
            <a:pPr indent="0" marL="0">
              <a:lnSpc>
                <a:spcPct val="120000"/>
              </a:lnSpc>
              <a:buNone/>
            </a:pPr>
            <a:r>
              <a:rPr lang="en-US" sz="1700" dirty="0">
                <a:solidFill>
                  <a:srgbClr val="FCE4EA"/>
                </a:solidFill>
                <a:latin typeface="Arial" pitchFamily="34" charset="0"/>
                <a:ea typeface="Arial" pitchFamily="34" charset="-122"/>
                <a:cs typeface="Arial" pitchFamily="34" charset="-120"/>
              </a:rPr>
              <a:t>Clear instructions, clean structure, the right voice, examples to follow, and output in the exact shape you need. Next comes the Intermediate level — working with your own documents, getting the assistant to reason, and checking its work.</a:t>
            </a:r>
            <a:endParaRPr lang="en-US" sz="17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more technical habit for when the output feeds another system — for anyone who wants it.</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for the answer as data</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Sometimes the answer is not for a person — it feeds a spreadsheet or another system.</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In that case you can ask for a strict, structured format that machines read cleanly. It is more technical, and most everyday tasks never need it.</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Ask for “the three events as a structured list of records, each with an event, time, and location field.” Handy when the output goes straight into another tool.</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events, for a person or a system</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FOR A PERSON — A TABLE</a:t>
            </a:r>
            <a:endParaRPr lang="en-US" sz="1100" dirty="0"/>
          </a:p>
        </p:txBody>
      </p:sp>
      <p:sp>
        <p:nvSpPr>
          <p:cNvPr id="8" name="Text 5"/>
          <p:cNvSpPr/>
          <p:nvPr/>
        </p:nvSpPr>
        <p:spPr>
          <a:xfrm>
            <a:off x="914400" y="2834640"/>
            <a:ext cx="4754880" cy="2011680"/>
          </a:xfrm>
          <a:prstGeom prst="rect">
            <a:avLst/>
          </a:prstGeom>
          <a:noFill/>
          <a:ln/>
        </p:spPr>
        <p:txBody>
          <a:bodyPr wrap="square" lIns="0" tIns="0" rIns="0" bIns="0" rtlCol="0" anchor="t"/>
          <a:lstStyle/>
          <a:p>
            <a:pPr indent="0" marL="0">
              <a:lnSpc>
                <a:spcPct val="140000"/>
              </a:lnSpc>
              <a:buNone/>
            </a:pPr>
            <a:r>
              <a:rPr lang="en-US" sz="1350" b="1" dirty="0">
                <a:solidFill>
                  <a:srgbClr val="1F2733"/>
                </a:solidFill>
                <a:latin typeface="Arial" pitchFamily="34" charset="0"/>
                <a:ea typeface="Arial" pitchFamily="34" charset="-122"/>
                <a:cs typeface="Arial" pitchFamily="34" charset="-120"/>
              </a:rPr>
              <a:t>Membership drive — Sat 9 AM — Entrance</a:t>
            </a:r>
            <a:endParaRPr lang="en-US" sz="1350" dirty="0"/>
          </a:p>
          <a:p>
            <a:pPr indent="0" marL="0">
              <a:lnSpc>
                <a:spcPct val="140000"/>
              </a:lnSpc>
              <a:buNone/>
            </a:pPr>
            <a:r>
              <a:rPr lang="en-US" sz="1350" b="1" dirty="0">
                <a:solidFill>
                  <a:srgbClr val="1F2733"/>
                </a:solidFill>
                <a:latin typeface="Arial" pitchFamily="34" charset="0"/>
                <a:ea typeface="Arial" pitchFamily="34" charset="-122"/>
                <a:cs typeface="Arial" pitchFamily="34" charset="-120"/>
              </a:rPr>
              <a:t>Free sampling — Sat 12 PM — Grocery</a:t>
            </a:r>
            <a:endParaRPr lang="en-US" sz="1350" dirty="0"/>
          </a:p>
          <a:p>
            <a:pPr indent="0" marL="0">
              <a:lnSpc>
                <a:spcPct val="140000"/>
              </a:lnSpc>
              <a:buNone/>
            </a:pPr>
            <a:r>
              <a:rPr lang="en-US" sz="1350" b="1" dirty="0">
                <a:solidFill>
                  <a:srgbClr val="1F2733"/>
                </a:solidFill>
                <a:latin typeface="Arial" pitchFamily="34" charset="0"/>
                <a:ea typeface="Arial" pitchFamily="34" charset="-122"/>
                <a:cs typeface="Arial" pitchFamily="34" charset="-120"/>
              </a:rPr>
              <a:t>Tire center special — Sun all day — Auto</a:t>
            </a:r>
            <a:endParaRPr lang="en-US" sz="1350" dirty="0"/>
          </a:p>
        </p:txBody>
      </p:sp>
      <p:sp>
        <p:nvSpPr>
          <p:cNvPr id="9" name="Text 6"/>
          <p:cNvSpPr/>
          <p:nvPr/>
        </p:nvSpPr>
        <p:spPr>
          <a:xfrm>
            <a:off x="914400" y="5074920"/>
            <a:ext cx="4754880" cy="36576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Perfect for a person to scan.</a:t>
            </a:r>
            <a:endParaRPr lang="en-US" sz="120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20" kern="0" dirty="0">
                <a:solidFill>
                  <a:srgbClr val="15803D"/>
                </a:solidFill>
                <a:latin typeface="Arial" pitchFamily="34" charset="0"/>
                <a:ea typeface="Arial" pitchFamily="34" charset="-122"/>
                <a:cs typeface="Arial" pitchFamily="34" charset="-120"/>
              </a:rPr>
              <a:t>FOR A SYSTEM — STRUCTURED DATA</a:t>
            </a:r>
            <a:endParaRPr lang="en-US" sz="1100" dirty="0"/>
          </a:p>
        </p:txBody>
      </p:sp>
      <p:sp>
        <p:nvSpPr>
          <p:cNvPr id="12" name="Text 9"/>
          <p:cNvSpPr/>
          <p:nvPr/>
        </p:nvSpPr>
        <p:spPr>
          <a:xfrm>
            <a:off x="6492240" y="2834640"/>
            <a:ext cx="4754880" cy="2011680"/>
          </a:xfrm>
          <a:prstGeom prst="rect">
            <a:avLst/>
          </a:prstGeom>
          <a:noFill/>
          <a:ln/>
        </p:spPr>
        <p:txBody>
          <a:bodyPr wrap="square" lIns="0" tIns="0" rIns="0" bIns="0" rtlCol="0" anchor="t"/>
          <a:lstStyle/>
          <a:p>
            <a:pPr indent="0" marL="0">
              <a:lnSpc>
                <a:spcPct val="145000"/>
              </a:lnSpc>
              <a:buNone/>
            </a:pPr>
            <a:r>
              <a:rPr lang="en-US" sz="1150" b="1" dirty="0">
                <a:solidFill>
                  <a:srgbClr val="1F2733"/>
                </a:solidFill>
                <a:latin typeface="Arial" pitchFamily="34" charset="0"/>
                <a:ea typeface="Arial" pitchFamily="34" charset="-122"/>
                <a:cs typeface="Arial" pitchFamily="34" charset="-120"/>
              </a:rPr>
              <a:t>{ event: Membership drive, time: Sat 9 AM, where: Entrance }</a:t>
            </a:r>
            <a:endParaRPr lang="en-US" sz="1150" dirty="0"/>
          </a:p>
          <a:p>
            <a:pPr indent="0" marL="0">
              <a:lnSpc>
                <a:spcPct val="145000"/>
              </a:lnSpc>
              <a:buNone/>
            </a:pPr>
            <a:r>
              <a:rPr lang="en-US" sz="1150" b="1" dirty="0">
                <a:solidFill>
                  <a:srgbClr val="1F2733"/>
                </a:solidFill>
                <a:latin typeface="Arial" pitchFamily="34" charset="0"/>
                <a:ea typeface="Arial" pitchFamily="34" charset="-122"/>
                <a:cs typeface="Arial" pitchFamily="34" charset="-120"/>
              </a:rPr>
              <a:t>{ event: Free sampling, time: Sat 12 PM, where: Grocery }</a:t>
            </a:r>
            <a:endParaRPr lang="en-US" sz="1150" dirty="0"/>
          </a:p>
          <a:p>
            <a:pPr indent="0" marL="0">
              <a:lnSpc>
                <a:spcPct val="145000"/>
              </a:lnSpc>
              <a:buNone/>
            </a:pPr>
            <a:r>
              <a:rPr lang="en-US" sz="1150" b="1" dirty="0">
                <a:solidFill>
                  <a:srgbClr val="1F2733"/>
                </a:solidFill>
                <a:latin typeface="Arial" pitchFamily="34" charset="0"/>
                <a:ea typeface="Arial" pitchFamily="34" charset="-122"/>
                <a:cs typeface="Arial" pitchFamily="34" charset="-120"/>
              </a:rPr>
              <a:t>{ event: Tire special, time: Sun all day, where: Auto }</a:t>
            </a:r>
            <a:endParaRPr lang="en-US" sz="1150" dirty="0"/>
          </a:p>
        </p:txBody>
      </p:sp>
      <p:sp>
        <p:nvSpPr>
          <p:cNvPr id="13" name="Text 10"/>
          <p:cNvSpPr/>
          <p:nvPr/>
        </p:nvSpPr>
        <p:spPr>
          <a:xfrm>
            <a:off x="6492240" y="5074920"/>
            <a:ext cx="4754880" cy="36576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Ready to drop straight into a spreadsheet or tool.</a:t>
            </a:r>
            <a:endParaRPr lang="en-US" sz="120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7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 Beginner (Module 3)</dc:title>
  <dc:subject>PptxGenJS Presentation</dc:subject>
  <dc:creator>BJ's AI Enablement</dc:creator>
  <cp:lastModifiedBy>BJ's AI Enablement</cp:lastModifiedBy>
  <cp:revision>1</cp:revision>
  <dcterms:created xsi:type="dcterms:W3CDTF">2026-07-05T18:41:32Z</dcterms:created>
  <dcterms:modified xsi:type="dcterms:W3CDTF">2026-07-05T18:41:32Z</dcterms:modified>
</cp:coreProperties>
</file>