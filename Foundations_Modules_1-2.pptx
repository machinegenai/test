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Module 1 of the AI enablement program — the foundations. No technical background is needed; if you can brief a coworker, you can do this. Set expectations: this module is about understanding how these tools think, so the hands-on techniques in later modules make sense. Keep it relaxed and conversational.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goals before any content — this is standard training practice and it tells the room exactly what they will get. Read each of the four objectives aloud in plain language. Tell them this list IS the whole module, and that at the very end you will return to it and show they have hit every one. Keep this under a minute, then move into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prompt engineering in plain terms: it is simply the practice of asking well. Name the term once so people recognise it elsewhere, then move on — do not dwell on the label. Reassure the room this is not coding; the strongest prompt writers are clear communicators, not engineers. Invite a show of hands: who briefs people regularly? Those abilities transfer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mental model in the whole program, so land it well. The 'brilliant new hire on day one' framing does two jobs: it sets the assistant's capability high (brilliant) and its context to zero (day one). Everything else — give background, be specific, show an example — follows naturally. Ask the group how they would onboard a sharp new hire; their answers ARE prompt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concept: the model predicts the next words from patterns, it does not retrieve facts from a database. Avoid the word 'tokens' here — that is in the appendix. Use the well-read-colleague analogy: fluent, fast, answering from memory, not reading from a file. This one idea sets up the next two slides, so make sure it lands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safety point in the module. Because it predicts, it can be fluent and wrong at the same time — this is often called 'hallucination', but you do not need that word with the class. Use the membership-renewal-price example: it will produce a confident, specific, made-up number. Stress the habit: check anything that matters. Reassure them the fix is literally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previous slide with the solution. The assistant starts blank every time — no memory of your files, systems, or past chats unless you include them. Use the supplier-email contrast on screen: no material means it guesses; paste the email and it works from reality. This is the bridge from 'it can be wrong' to 'here is how you prevent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of a limit to how much it can hold at once — the 'desk that fits only so many papers' picture. The technical name is the context window; keep that in the appendix. The practical habit is what matters: break long documents into focused pieces and put important information where it counts. Tie back to a real BJ's task like a long policy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some variation is built in on purpose, so identical requests can read differently. Head off the common worry that a changed answer means something broke — it does not. Tell them to judge the substance, not the exact words. If someone asks how to get the same output every time, acknowledge it is possible and flag it for a later module rather than diving in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converts understanding into behaviour — the three habits are the takeaway of the module. Be clear and specific; give it the background; check what matters. Connect each habit back to the concept that motivates it: specific because it is literal, background because it starts blank, check because it predicts. If you only have five minutes, teach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interactive. Read the unclear request and ask the room what could go wrong — they will spot the guessed details themselves. Then read the clear request and point out the parts: a role, the real material, the audience, a length limit. Note that these parts are exactly what Module 2 formalises. Keep it a BJ's scenario so it feels like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Go back to the four learning objectives from the start of the module and show, one by one, that each is now met — this is the payoff of the objectives slide and the moment the story lands. The four cards here map directly to those four goals. Ask the group to explain, in their own words, how the assistant produces an answer, or to name the three habits. A quick recall here locks it in. Do not add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2 (The Anatomy of a Prompt) as the natural next step: it turns today's understanding into a repeatable recipe. Confirm logistics — when Module 2 runs and that both foundation modules are the prerequisite before the Beginner level. End on encouragement: they already understand the hardest part, which is how the tool actually thinks.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appendix — reference material, not part of the live session. Skip these pages when presenting. Point people here if they are curious or ask deeper 'but how does it actually work' questions. Each concept now has a worked example on the page right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the assistant breaks text into small pieces and works with those, not whole words. Technical name, for the curious: 'tokenization', the pieces are 'tokens'. Why it matters: it can miscount letters or trip on odd spellings and product codes. The next page shows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of the 'reads in pieces' idea. Left: asked straight, it miscounts the R's in strawberry because it sees chunks, not letters. Right: told to spell it out and count one by one, it's correct. The takeaway — for anything about exact characters or counts, make it go slow, or check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a hidden setting controls how much the wording varies. Technical names, for the curious: 'sampling' and 'temperature'. Low = steady and repeatable; high = varied and creative. The next page shows the same request at both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of the 'variety dial'. Left: dialed low, the same tagline request comes back nearly identical each time — good for consistent, factual work. Right: dialed high, you get three fresh, different taglines — good for brainstorming. Low for consistency; high for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there's a limit to how much text it can hold at once, shared across your instructions, pasted material, and the whole conversation. Technical name, for the curious: the 'context window'. In a long chat, the earliest details can drop off. The next page shows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of the 'holding limit'. Left: mention a detail early in a long chat and it can quietly fall off the edge — ask for it later and it's gone. Right: restate the key detail right next to your question and it's back in view. Habit: keep important facts near your request in long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2 by connecting back to Module 1: they now understand how the assistant thinks, and this module gives them the repeatable recipe you promised — the parts a good prompt is built from. Keep it short and energising.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same as Module 1. Read each aloud. Tell them you will return to this list at the end and check off every one. Keep it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module as four plain questions. Do not rush this — it is the mental scaffold everything else hangs on. Point out that the four questions group into three parts they will learn next: the Setup, the Material, and the Shaping.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role and task. The role sets who the assistant acts as; the task says exactly what to do. Walk the BJ's shift-note example. Ask the room what role they would set for one of their own everyday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context and information. Call back to Module 1 — it only knows what you give it. Show that pasting the real rollout steps is what separates a useful note from a guess. Push the habit of always bringing the real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format, length, and tone. This is the part people most often skip, and it is what makes output ready to use rather than merely correct. Walk the three example lines and tie tone back to BJ's warm, member-first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assembled prompt with all four parts labelled. Read it top to bottom so they see the whole recipe in one place. This is the payoff slide — the parts they just learned, combined into something they could paste in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interactive. Read the bare request and ask what could go wrong; they will spot the gaps. Then show the complete prompt and the stronger result. It mirrors the before-and-after from Module 1, now with named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tool. Encourage them to keep the seven-part checklist handy and run down it before sending a prompt. Stress that not every prompt needs all seven — it is a prompt, not a form — but the list reliably catches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Return to the four objectives from the start and check each off, one to one with these cards. Ask someone to name the three parts — Setup, Material, Shaping. No new material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the Beginner level. They now have the mindset from Module 1 and the recipe from Module 2 — together the groundwork for everything that follows. Next comes practising the everyday patterns, starting with writing clear instructions.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2 appendix — reference only, skip in the live session. Point curious or advanced learners here. Two optional techniques,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decide what 'good' looks like before you write — picture the finished answer and its must-haves first. The next page works it through on our self-checkout shift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the target we set before writing — the must-haves for the self-checkout shift note. Right: the note that satisfies every one of them. Land the point — name the target up front and the prompt and the output follow almost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rank instructions as must / should / avoid so the assistant knows which requirements are non-negotiable. The next page shows what happens with and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with no ranking, the note reads fine but silently drops the override step — the one thing that truly matters. Right: marking the override as a 'must' guarantees it appears. The lesson — ranking protects the non-negotiables.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AI ENABLEMENT &amp; ADOPTION</a:t>
            </a:r>
            <a:endParaRPr lang="en-US" sz="1500" dirty="0"/>
          </a:p>
        </p:txBody>
      </p:sp>
      <p:sp>
        <p:nvSpPr>
          <p:cNvPr id="6" name="Text 4"/>
          <p:cNvSpPr/>
          <p:nvPr/>
        </p:nvSpPr>
        <p:spPr>
          <a:xfrm>
            <a:off x="621792" y="2606040"/>
            <a:ext cx="10881360" cy="1554480"/>
          </a:xfrm>
          <a:prstGeom prst="rect">
            <a:avLst/>
          </a:prstGeom>
          <a:noFill/>
          <a:ln/>
        </p:spPr>
        <p:txBody>
          <a:bodyPr wrap="square" lIns="0" tIns="0" rIns="0" bIns="0" rtlCol="0" anchor="ctr"/>
          <a:lstStyle/>
          <a:p>
            <a:pPr indent="0" marL="0">
              <a:lnSpc>
                <a:spcPct val="100000"/>
              </a:lnSpc>
              <a:buNone/>
            </a:pPr>
            <a:r>
              <a:rPr lang="en-US" sz="5200" b="1" spc="-50" kern="0" dirty="0">
                <a:solidFill>
                  <a:srgbClr val="FFFFFF"/>
                </a:solidFill>
                <a:latin typeface="Arial" pitchFamily="34" charset="0"/>
                <a:ea typeface="Arial" pitchFamily="34" charset="-122"/>
                <a:cs typeface="Arial" pitchFamily="34" charset="-120"/>
              </a:rPr>
              <a:t>Getting Great Results from AI Assistants</a:t>
            </a:r>
            <a:endParaRPr lang="en-US" sz="5200" dirty="0"/>
          </a:p>
        </p:txBody>
      </p:sp>
      <p:sp>
        <p:nvSpPr>
          <p:cNvPr id="7" name="Text 5"/>
          <p:cNvSpPr/>
          <p:nvPr/>
        </p:nvSpPr>
        <p:spPr>
          <a:xfrm>
            <a:off x="658368" y="4343400"/>
            <a:ext cx="100584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Module 1  ·  The Foundations</a:t>
            </a:r>
            <a:endParaRPr lang="en-US" sz="2200" dirty="0"/>
          </a:p>
        </p:txBody>
      </p:sp>
      <p:sp>
        <p:nvSpPr>
          <p:cNvPr id="8" name="Text 6"/>
          <p:cNvSpPr/>
          <p:nvPr/>
        </p:nvSpPr>
        <p:spPr>
          <a:xfrm>
            <a:off x="658368" y="5623560"/>
            <a:ext cx="10058400" cy="457200"/>
          </a:xfrm>
          <a:prstGeom prst="rect">
            <a:avLst/>
          </a:prstGeom>
          <a:noFill/>
          <a:ln/>
        </p:spPr>
        <p:txBody>
          <a:bodyPr wrap="square" lIns="0" tIns="0" rIns="0" bIns="0" rtlCol="0" anchor="ctr"/>
          <a:lstStyle/>
          <a:p>
            <a:pPr indent="0" marL="0">
              <a:buNone/>
            </a:pPr>
            <a:r>
              <a:rPr lang="en-US" sz="1400" i="1" dirty="0">
                <a:solidFill>
                  <a:srgbClr val="FCE4EA"/>
                </a:solidFill>
                <a:latin typeface="Arial" pitchFamily="34" charset="0"/>
                <a:ea typeface="Arial" pitchFamily="34" charset="-122"/>
                <a:cs typeface="Arial" pitchFamily="34" charset="-120"/>
              </a:rPr>
              <a:t>A plain-language start. No technical background needed.</a:t>
            </a:r>
            <a:endParaRPr lang="en-US" sz="1400" dirty="0"/>
          </a:p>
        </p:txBody>
      </p:sp>
      <p:sp>
        <p:nvSpPr>
          <p:cNvPr id="9" name="Text 7"/>
          <p:cNvSpPr/>
          <p:nvPr/>
        </p:nvSpPr>
        <p:spPr>
          <a:xfrm>
            <a:off x="6519672" y="6309360"/>
            <a:ext cx="5029200" cy="274320"/>
          </a:xfrm>
          <a:prstGeom prst="rect">
            <a:avLst/>
          </a:prstGeom>
          <a:noFill/>
          <a:ln/>
        </p:spPr>
        <p:txBody>
          <a:bodyPr wrap="square" lIns="0" tIns="0" rIns="0" bIns="0" rtlCol="0" anchor="ctr"/>
          <a:lstStyle/>
          <a:p>
            <a:pPr algn="r" indent="0" marL="0">
              <a:buNone/>
            </a:pPr>
            <a:r>
              <a:rPr lang="en-US" sz="900" i="1" dirty="0">
                <a:solidFill>
                  <a:srgbClr val="F5C9D5"/>
                </a:solidFill>
                <a:latin typeface="Arial" pitchFamily="34" charset="0"/>
                <a:ea typeface="Arial" pitchFamily="34" charset="-122"/>
                <a:cs typeface="Arial" pitchFamily="34" charset="-120"/>
              </a:rPr>
              <a:t>Illustrative training material — not an official BJ's publication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Explain, in plain words, how an AI assistant comes up with its answers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So it stops feeling like magic and starts feeling predictable.</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Spot when an answer might be wrong, and know to check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Because a confident reply is not always a correct one.</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Give the assistant the background it needs to do a task well</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 starts every task knowing nothing about your work.</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Use three simple habits that get a reliable result every time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same three habits, no matter what you are asking for.</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THIS IS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Clear instructions get better results</a:t>
            </a:r>
            <a:endParaRPr lang="en-US" sz="3000" dirty="0"/>
          </a:p>
        </p:txBody>
      </p:sp>
      <p:sp>
        <p:nvSpPr>
          <p:cNvPr id="6" name="Text 3"/>
          <p:cNvSpPr/>
          <p:nvPr/>
        </p:nvSpPr>
        <p:spPr>
          <a:xfrm>
            <a:off x="640080" y="2103120"/>
            <a:ext cx="6492240" cy="2926080"/>
          </a:xfrm>
          <a:prstGeom prst="rect">
            <a:avLst/>
          </a:prstGeom>
          <a:noFill/>
          <a:ln/>
        </p:spPr>
        <p:txBody>
          <a:bodyPr wrap="square" lIns="0" tIns="0" rIns="0" bIns="0" rtlCol="0" anchor="t"/>
          <a:lstStyle/>
          <a:p>
            <a:pPr indent="0" marL="0">
              <a:lnSpc>
                <a:spcPct val="115000"/>
              </a:lnSpc>
              <a:buNone/>
            </a:pPr>
            <a:r>
              <a:rPr lang="en-US" sz="1700" dirty="0">
                <a:solidFill>
                  <a:srgbClr val="3A4452"/>
                </a:solidFill>
                <a:latin typeface="Arial" pitchFamily="34" charset="0"/>
                <a:ea typeface="Arial" pitchFamily="34" charset="-122"/>
                <a:cs typeface="Arial" pitchFamily="34" charset="-120"/>
              </a:rPr>
              <a:t>An AI assistant does its best work when you tell it clearly what you need.</a:t>
            </a:r>
            <a:endParaRPr lang="en-US" sz="1700" dirty="0"/>
          </a:p>
          <a:p>
            <a:pPr indent="0" marL="0">
              <a:lnSpc>
                <a:spcPct val="115000"/>
              </a:lnSpc>
              <a:buNone/>
            </a:pPr>
            <a:endParaRPr lang="en-US" sz="1700" dirty="0"/>
          </a:p>
          <a:p>
            <a:pPr indent="0" marL="0">
              <a:lnSpc>
                <a:spcPct val="115000"/>
              </a:lnSpc>
              <a:buNone/>
            </a:pPr>
            <a:r>
              <a:rPr lang="en-US" sz="1700" dirty="0">
                <a:solidFill>
                  <a:srgbClr val="3A4452"/>
                </a:solidFill>
                <a:latin typeface="Arial" pitchFamily="34" charset="0"/>
                <a:ea typeface="Arial" pitchFamily="34" charset="-122"/>
                <a:cs typeface="Arial" pitchFamily="34" charset="-120"/>
              </a:rPr>
              <a:t>Writing those instructions well has a name: </a:t>
            </a:r>
            <a:pPr indent="0" marL="0">
              <a:lnSpc>
                <a:spcPct val="115000"/>
              </a:lnSpc>
              <a:buNone/>
            </a:pPr>
            <a:r>
              <a:rPr lang="en-US" sz="1700" b="1" dirty="0">
                <a:solidFill>
                  <a:srgbClr val="D31242"/>
                </a:solidFill>
                <a:latin typeface="Arial" pitchFamily="34" charset="0"/>
                <a:ea typeface="Arial" pitchFamily="34" charset="-122"/>
                <a:cs typeface="Arial" pitchFamily="34" charset="-120"/>
              </a:rPr>
              <a:t>prompt engineering</a:t>
            </a:r>
            <a:pPr indent="0" marL="0">
              <a:lnSpc>
                <a:spcPct val="115000"/>
              </a:lnSpc>
              <a:buNone/>
            </a:pPr>
            <a:r>
              <a:rPr lang="en-US" sz="1700" dirty="0">
                <a:solidFill>
                  <a:srgbClr val="3A4452"/>
                </a:solidFill>
                <a:latin typeface="Arial" pitchFamily="34" charset="0"/>
                <a:ea typeface="Arial" pitchFamily="34" charset="-122"/>
                <a:cs typeface="Arial" pitchFamily="34" charset="-120"/>
              </a:rPr>
              <a:t>.</a:t>
            </a:r>
            <a:endParaRPr lang="en-US" sz="1700" dirty="0"/>
          </a:p>
          <a:p>
            <a:pPr indent="0" marL="0">
              <a:lnSpc>
                <a:spcPct val="115000"/>
              </a:lnSpc>
              <a:buNone/>
            </a:pPr>
            <a:endParaRPr lang="en-US" sz="1700" dirty="0"/>
          </a:p>
          <a:p>
            <a:pPr indent="0" marL="0">
              <a:lnSpc>
                <a:spcPct val="115000"/>
              </a:lnSpc>
              <a:buNone/>
            </a:pPr>
            <a:r>
              <a:rPr lang="en-US" sz="1700" dirty="0">
                <a:solidFill>
                  <a:srgbClr val="3A4452"/>
                </a:solidFill>
                <a:latin typeface="Arial" pitchFamily="34" charset="0"/>
                <a:ea typeface="Arial" pitchFamily="34" charset="-122"/>
                <a:cs typeface="Arial" pitchFamily="34" charset="-120"/>
              </a:rPr>
              <a:t>It is not coding. It is careful, clear communication — and anyone can get good at it.</a:t>
            </a:r>
            <a:endParaRPr lang="en-US" sz="1700" dirty="0"/>
          </a:p>
        </p:txBody>
      </p:sp>
      <p:sp>
        <p:nvSpPr>
          <p:cNvPr id="7" name="Shape 4"/>
          <p:cNvSpPr/>
          <p:nvPr/>
        </p:nvSpPr>
        <p:spPr>
          <a:xfrm>
            <a:off x="7452360" y="2103120"/>
            <a:ext cx="4069080" cy="3017520"/>
          </a:xfrm>
          <a:prstGeom prst="roundRect">
            <a:avLst>
              <a:gd name="adj" fmla="val 2727"/>
            </a:avLst>
          </a:prstGeom>
          <a:solidFill>
            <a:srgbClr val="FCE4EA"/>
          </a:solidFill>
          <a:ln/>
        </p:spPr>
      </p:sp>
      <p:sp>
        <p:nvSpPr>
          <p:cNvPr id="8" name="Text 5"/>
          <p:cNvSpPr/>
          <p:nvPr/>
        </p:nvSpPr>
        <p:spPr>
          <a:xfrm>
            <a:off x="7772400" y="2377440"/>
            <a:ext cx="3474720" cy="365760"/>
          </a:xfrm>
          <a:prstGeom prst="rect">
            <a:avLst/>
          </a:prstGeom>
          <a:noFill/>
          <a:ln/>
        </p:spPr>
        <p:txBody>
          <a:bodyPr wrap="square" lIns="0" tIns="0" rIns="0" bIns="0" rtlCol="0" anchor="ctr"/>
          <a:lstStyle/>
          <a:p>
            <a:pPr indent="0" marL="0">
              <a:buNone/>
            </a:pPr>
            <a:r>
              <a:rPr lang="en-US" sz="1200" b="1" spc="150" kern="0" dirty="0">
                <a:solidFill>
                  <a:srgbClr val="D31242"/>
                </a:solidFill>
                <a:latin typeface="Arial" pitchFamily="34" charset="0"/>
                <a:ea typeface="Arial" pitchFamily="34" charset="-122"/>
                <a:cs typeface="Arial" pitchFamily="34" charset="-120"/>
              </a:rPr>
              <a:t>The takeaway</a:t>
            </a:r>
            <a:endParaRPr lang="en-US" sz="1200" dirty="0"/>
          </a:p>
        </p:txBody>
      </p:sp>
      <p:sp>
        <p:nvSpPr>
          <p:cNvPr id="9" name="Text 6"/>
          <p:cNvSpPr/>
          <p:nvPr/>
        </p:nvSpPr>
        <p:spPr>
          <a:xfrm>
            <a:off x="7772400" y="2788920"/>
            <a:ext cx="3474720" cy="2103120"/>
          </a:xfrm>
          <a:prstGeom prst="rect">
            <a:avLst/>
          </a:prstGeom>
          <a:noFill/>
          <a:ln/>
        </p:spPr>
        <p:txBody>
          <a:bodyPr wrap="square" lIns="0" tIns="0" rIns="0" bIns="0" rtlCol="0" anchor="t"/>
          <a:lstStyle/>
          <a:p>
            <a:pPr indent="0" marL="0">
              <a:lnSpc>
                <a:spcPct val="112000"/>
              </a:lnSpc>
              <a:buNone/>
            </a:pPr>
            <a:r>
              <a:rPr lang="en-US" sz="1800" b="1" dirty="0">
                <a:solidFill>
                  <a:srgbClr val="1F2733"/>
                </a:solidFill>
                <a:latin typeface="Arial" pitchFamily="34" charset="0"/>
                <a:ea typeface="Arial" pitchFamily="34" charset="-122"/>
                <a:cs typeface="Arial" pitchFamily="34" charset="-120"/>
              </a:rPr>
              <a:t>You are not learning to program. You are learning to ask well — the same thing that makes you good at briefing a colleague.</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ONE IDEA TO REMEMBER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Treat it like a brilliant new hire on day one</a:t>
            </a:r>
            <a:endParaRPr lang="en-US" sz="3000" dirty="0"/>
          </a:p>
        </p:txBody>
      </p:sp>
      <p:sp>
        <p:nvSpPr>
          <p:cNvPr id="6" name="Text 3"/>
          <p:cNvSpPr/>
          <p:nvPr/>
        </p:nvSpPr>
        <p:spPr>
          <a:xfrm>
            <a:off x="640080" y="2103120"/>
            <a:ext cx="6126480" cy="1920240"/>
          </a:xfrm>
          <a:prstGeom prst="rect">
            <a:avLst/>
          </a:prstGeom>
          <a:noFill/>
          <a:ln/>
        </p:spPr>
        <p:txBody>
          <a:bodyPr wrap="square" lIns="0" tIns="0" rIns="0" bIns="0" rtlCol="0" anchor="t"/>
          <a:lstStyle/>
          <a:p>
            <a:pPr indent="0" marL="0">
              <a:lnSpc>
                <a:spcPct val="120000"/>
              </a:lnSpc>
              <a:buNone/>
            </a:pPr>
            <a:r>
              <a:rPr lang="en-US" sz="1700" dirty="0">
                <a:solidFill>
                  <a:srgbClr val="3A4452"/>
                </a:solidFill>
                <a:latin typeface="Arial" pitchFamily="34" charset="0"/>
                <a:ea typeface="Arial" pitchFamily="34" charset="-122"/>
                <a:cs typeface="Arial" pitchFamily="34" charset="-120"/>
              </a:rPr>
              <a:t>Picture a sharp new team member. Eager, capable, quick to learn — but on their first morning they know nothing about BJ's, your club, or the task in front of them.</a:t>
            </a:r>
            <a:endParaRPr lang="en-US" sz="1700" dirty="0"/>
          </a:p>
        </p:txBody>
      </p:sp>
      <p:sp>
        <p:nvSpPr>
          <p:cNvPr id="7" name="Text 4"/>
          <p:cNvSpPr/>
          <p:nvPr/>
        </p:nvSpPr>
        <p:spPr>
          <a:xfrm>
            <a:off x="640080" y="4114800"/>
            <a:ext cx="6126480" cy="14630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You would give them background, be specific, and show them what good looks like. The AI assistant is exactly the same.</a:t>
            </a:r>
            <a:endParaRPr lang="en-US" sz="1800" dirty="0"/>
          </a:p>
        </p:txBody>
      </p:sp>
      <p:sp>
        <p:nvSpPr>
          <p:cNvPr id="8" name="Shape 5"/>
          <p:cNvSpPr/>
          <p:nvPr/>
        </p:nvSpPr>
        <p:spPr>
          <a:xfrm>
            <a:off x="7086600" y="2103120"/>
            <a:ext cx="4434840" cy="1170432"/>
          </a:xfrm>
          <a:prstGeom prst="roundRect">
            <a:avLst>
              <a:gd name="adj" fmla="val 7031"/>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9" name="Shape 6"/>
          <p:cNvSpPr/>
          <p:nvPr/>
        </p:nvSpPr>
        <p:spPr>
          <a:xfrm>
            <a:off x="7315200" y="2468880"/>
            <a:ext cx="438912" cy="438912"/>
          </a:xfrm>
          <a:prstGeom prst="ellipse">
            <a:avLst/>
          </a:prstGeom>
          <a:solidFill>
            <a:srgbClr val="D31242"/>
          </a:solidFill>
          <a:ln/>
        </p:spPr>
      </p:sp>
      <p:pic>
        <p:nvPicPr>
          <p:cNvPr id="10" name="Image 1" descr="preencoded.png">    </p:cNvPr>
          <p:cNvPicPr>
            <a:picLocks noChangeAspect="1"/>
          </p:cNvPicPr>
          <p:nvPr/>
        </p:nvPicPr>
        <p:blipFill>
          <a:blip r:embed="rId2"/>
          <a:stretch>
            <a:fillRect/>
          </a:stretch>
        </p:blipFill>
        <p:spPr>
          <a:xfrm>
            <a:off x="7415784" y="2569464"/>
            <a:ext cx="237744" cy="237744"/>
          </a:xfrm>
          <a:prstGeom prst="rect">
            <a:avLst/>
          </a:prstGeom>
        </p:spPr>
      </p:pic>
      <p:sp>
        <p:nvSpPr>
          <p:cNvPr id="11" name="Text 7"/>
          <p:cNvSpPr/>
          <p:nvPr/>
        </p:nvSpPr>
        <p:spPr>
          <a:xfrm>
            <a:off x="7909560" y="2267712"/>
            <a:ext cx="3429000" cy="868680"/>
          </a:xfrm>
          <a:prstGeom prst="rect">
            <a:avLst/>
          </a:prstGeom>
          <a:noFill/>
          <a:ln/>
        </p:spPr>
        <p:txBody>
          <a:bodyPr wrap="square" lIns="0" tIns="0" rIns="0" bIns="0" rtlCol="0" anchor="ctr"/>
          <a:lstStyle/>
          <a:p>
            <a:pPr indent="0" marL="0">
              <a:lnSpc>
                <a:spcPct val="105000"/>
              </a:lnSpc>
              <a:buNone/>
            </a:pPr>
            <a:r>
              <a:rPr lang="en-US" sz="1450" b="1" dirty="0">
                <a:solidFill>
                  <a:srgbClr val="1F2733"/>
                </a:solidFill>
                <a:latin typeface="Arial" pitchFamily="34" charset="0"/>
                <a:ea typeface="Arial" pitchFamily="34" charset="-122"/>
                <a:cs typeface="Arial" pitchFamily="34" charset="-120"/>
              </a:rPr>
              <a:t>Give them the background</a:t>
            </a:r>
            <a:endParaRPr lang="en-US" sz="1450" dirty="0"/>
          </a:p>
          <a:p>
            <a:pPr indent="0" marL="0">
              <a:lnSpc>
                <a:spcPct val="105000"/>
              </a:lnSpc>
              <a:buNone/>
            </a:pPr>
            <a:r>
              <a:rPr lang="en-US" sz="1150" dirty="0">
                <a:solidFill>
                  <a:srgbClr val="5E6A78"/>
                </a:solidFill>
                <a:latin typeface="Arial" pitchFamily="34" charset="0"/>
                <a:ea typeface="Arial" pitchFamily="34" charset="-122"/>
                <a:cs typeface="Arial" pitchFamily="34" charset="-120"/>
              </a:rPr>
              <a:t>It cannot know what you do not tell it.</a:t>
            </a:r>
            <a:endParaRPr lang="en-US" sz="1450" dirty="0"/>
          </a:p>
        </p:txBody>
      </p:sp>
      <p:sp>
        <p:nvSpPr>
          <p:cNvPr id="12" name="Shape 8"/>
          <p:cNvSpPr/>
          <p:nvPr/>
        </p:nvSpPr>
        <p:spPr>
          <a:xfrm>
            <a:off x="7086600" y="3401568"/>
            <a:ext cx="4434840" cy="1170432"/>
          </a:xfrm>
          <a:prstGeom prst="roundRect">
            <a:avLst>
              <a:gd name="adj" fmla="val 7031"/>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3" name="Shape 9"/>
          <p:cNvSpPr/>
          <p:nvPr/>
        </p:nvSpPr>
        <p:spPr>
          <a:xfrm>
            <a:off x="7315200" y="3767328"/>
            <a:ext cx="438912" cy="438912"/>
          </a:xfrm>
          <a:prstGeom prst="ellipse">
            <a:avLst/>
          </a:prstGeom>
          <a:solidFill>
            <a:srgbClr val="D31242"/>
          </a:solidFill>
          <a:ln/>
        </p:spPr>
      </p:sp>
      <p:pic>
        <p:nvPicPr>
          <p:cNvPr id="14" name="Image 2" descr="preencoded.png">    </p:cNvPr>
          <p:cNvPicPr>
            <a:picLocks noChangeAspect="1"/>
          </p:cNvPicPr>
          <p:nvPr/>
        </p:nvPicPr>
        <p:blipFill>
          <a:blip r:embed="rId3"/>
          <a:stretch>
            <a:fillRect/>
          </a:stretch>
        </p:blipFill>
        <p:spPr>
          <a:xfrm>
            <a:off x="7415784" y="3867912"/>
            <a:ext cx="237744" cy="237744"/>
          </a:xfrm>
          <a:prstGeom prst="rect">
            <a:avLst/>
          </a:prstGeom>
        </p:spPr>
      </p:pic>
      <p:sp>
        <p:nvSpPr>
          <p:cNvPr id="15" name="Text 10"/>
          <p:cNvSpPr/>
          <p:nvPr/>
        </p:nvSpPr>
        <p:spPr>
          <a:xfrm>
            <a:off x="7909560" y="3566160"/>
            <a:ext cx="3429000" cy="868680"/>
          </a:xfrm>
          <a:prstGeom prst="rect">
            <a:avLst/>
          </a:prstGeom>
          <a:noFill/>
          <a:ln/>
        </p:spPr>
        <p:txBody>
          <a:bodyPr wrap="square" lIns="0" tIns="0" rIns="0" bIns="0" rtlCol="0" anchor="ctr"/>
          <a:lstStyle/>
          <a:p>
            <a:pPr indent="0" marL="0">
              <a:lnSpc>
                <a:spcPct val="105000"/>
              </a:lnSpc>
              <a:buNone/>
            </a:pPr>
            <a:r>
              <a:rPr lang="en-US" sz="1450" b="1" dirty="0">
                <a:solidFill>
                  <a:srgbClr val="1F2733"/>
                </a:solidFill>
                <a:latin typeface="Arial" pitchFamily="34" charset="0"/>
                <a:ea typeface="Arial" pitchFamily="34" charset="-122"/>
                <a:cs typeface="Arial" pitchFamily="34" charset="-120"/>
              </a:rPr>
              <a:t>Be specific about the task</a:t>
            </a:r>
            <a:endParaRPr lang="en-US" sz="1450" dirty="0"/>
          </a:p>
          <a:p>
            <a:pPr indent="0" marL="0">
              <a:lnSpc>
                <a:spcPct val="105000"/>
              </a:lnSpc>
              <a:buNone/>
            </a:pPr>
            <a:r>
              <a:rPr lang="en-US" sz="1150" dirty="0">
                <a:solidFill>
                  <a:srgbClr val="5E6A78"/>
                </a:solidFill>
                <a:latin typeface="Arial" pitchFamily="34" charset="0"/>
                <a:ea typeface="Arial" pitchFamily="34" charset="-122"/>
                <a:cs typeface="Arial" pitchFamily="34" charset="-120"/>
              </a:rPr>
              <a:t>Spell out what you want and how long it should be.</a:t>
            </a:r>
            <a:endParaRPr lang="en-US" sz="1450" dirty="0"/>
          </a:p>
        </p:txBody>
      </p:sp>
      <p:sp>
        <p:nvSpPr>
          <p:cNvPr id="16" name="Shape 11"/>
          <p:cNvSpPr/>
          <p:nvPr/>
        </p:nvSpPr>
        <p:spPr>
          <a:xfrm>
            <a:off x="7086600" y="4700016"/>
            <a:ext cx="4434840" cy="1170432"/>
          </a:xfrm>
          <a:prstGeom prst="roundRect">
            <a:avLst>
              <a:gd name="adj" fmla="val 7031"/>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7" name="Shape 12"/>
          <p:cNvSpPr/>
          <p:nvPr/>
        </p:nvSpPr>
        <p:spPr>
          <a:xfrm>
            <a:off x="7315200" y="5065776"/>
            <a:ext cx="438912" cy="438912"/>
          </a:xfrm>
          <a:prstGeom prst="ellipse">
            <a:avLst/>
          </a:prstGeom>
          <a:solidFill>
            <a:srgbClr val="D31242"/>
          </a:solidFill>
          <a:ln/>
        </p:spPr>
      </p:sp>
      <p:pic>
        <p:nvPicPr>
          <p:cNvPr id="18" name="Image 3" descr="preencoded.png">    </p:cNvPr>
          <p:cNvPicPr>
            <a:picLocks noChangeAspect="1"/>
          </p:cNvPicPr>
          <p:nvPr/>
        </p:nvPicPr>
        <p:blipFill>
          <a:blip r:embed="rId4"/>
          <a:stretch>
            <a:fillRect/>
          </a:stretch>
        </p:blipFill>
        <p:spPr>
          <a:xfrm>
            <a:off x="7415784" y="5166360"/>
            <a:ext cx="237744" cy="237744"/>
          </a:xfrm>
          <a:prstGeom prst="rect">
            <a:avLst/>
          </a:prstGeom>
        </p:spPr>
      </p:pic>
      <p:sp>
        <p:nvSpPr>
          <p:cNvPr id="19" name="Text 13"/>
          <p:cNvSpPr/>
          <p:nvPr/>
        </p:nvSpPr>
        <p:spPr>
          <a:xfrm>
            <a:off x="7909560" y="4864608"/>
            <a:ext cx="3429000" cy="868680"/>
          </a:xfrm>
          <a:prstGeom prst="rect">
            <a:avLst/>
          </a:prstGeom>
          <a:noFill/>
          <a:ln/>
        </p:spPr>
        <p:txBody>
          <a:bodyPr wrap="square" lIns="0" tIns="0" rIns="0" bIns="0" rtlCol="0" anchor="ctr"/>
          <a:lstStyle/>
          <a:p>
            <a:pPr indent="0" marL="0">
              <a:lnSpc>
                <a:spcPct val="105000"/>
              </a:lnSpc>
              <a:buNone/>
            </a:pPr>
            <a:r>
              <a:rPr lang="en-US" sz="1450" b="1" dirty="0">
                <a:solidFill>
                  <a:srgbClr val="1F2733"/>
                </a:solidFill>
                <a:latin typeface="Arial" pitchFamily="34" charset="0"/>
                <a:ea typeface="Arial" pitchFamily="34" charset="-122"/>
                <a:cs typeface="Arial" pitchFamily="34" charset="-120"/>
              </a:rPr>
              <a:t>Show what good looks like</a:t>
            </a:r>
            <a:endParaRPr lang="en-US" sz="1450" dirty="0"/>
          </a:p>
          <a:p>
            <a:pPr indent="0" marL="0">
              <a:lnSpc>
                <a:spcPct val="105000"/>
              </a:lnSpc>
              <a:buNone/>
            </a:pPr>
            <a:r>
              <a:rPr lang="en-US" sz="1150" dirty="0">
                <a:solidFill>
                  <a:srgbClr val="5E6A78"/>
                </a:solidFill>
                <a:latin typeface="Arial" pitchFamily="34" charset="0"/>
                <a:ea typeface="Arial" pitchFamily="34" charset="-122"/>
                <a:cs typeface="Arial" pitchFamily="34" charset="-120"/>
              </a:rPr>
              <a:t>An example is worth a paragraph of instructions.</a:t>
            </a:r>
            <a:endParaRPr lang="en-US" sz="1450" dirty="0"/>
          </a:p>
        </p:txBody>
      </p:sp>
      <p:sp>
        <p:nvSpPr>
          <p:cNvPr id="20"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21"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HOW IT ANSWERS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It predicts language — it does not look things up</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The assistant is not searching a database of facts.</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It works by predicting what words are most likely to come next, based on patterns it learned from an enormous amount of writing.</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Most of the time that gives you a genuinely useful answer. But it is prediction, not lookup — and that one fact explains almost everything else in this module.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helpful way to picture it</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700" b="1" dirty="0">
                <a:solidFill>
                  <a:srgbClr val="1F2733"/>
                </a:solidFill>
                <a:latin typeface="Arial" pitchFamily="34" charset="0"/>
                <a:ea typeface="Arial" pitchFamily="34" charset="-122"/>
                <a:cs typeface="Arial" pitchFamily="34" charset="-120"/>
              </a:rPr>
              <a:t>It is like a very well-read colleague answering from memory in the moment — fluent and fast, but recalling, not reading from a file.</a:t>
            </a:r>
            <a:endParaRPr lang="en-US" sz="17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IT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It can sound completely sure and still be wrong</a:t>
            </a:r>
            <a:endParaRPr lang="en-US" sz="3000" dirty="0"/>
          </a:p>
        </p:txBody>
      </p:sp>
      <p:sp>
        <p:nvSpPr>
          <p:cNvPr id="6" name="Text 3"/>
          <p:cNvSpPr/>
          <p:nvPr/>
        </p:nvSpPr>
        <p:spPr>
          <a:xfrm>
            <a:off x="640080" y="2103120"/>
            <a:ext cx="10881360" cy="1188720"/>
          </a:xfrm>
          <a:prstGeom prst="rect">
            <a:avLst/>
          </a:prstGeom>
          <a:noFill/>
          <a:ln/>
        </p:spPr>
        <p:txBody>
          <a:bodyPr wrap="square" lIns="0" tIns="0" rIns="0" bIns="0" rtlCol="0" anchor="t"/>
          <a:lstStyle/>
          <a:p>
            <a:pPr indent="0" marL="0">
              <a:lnSpc>
                <a:spcPct val="120000"/>
              </a:lnSpc>
              <a:buNone/>
            </a:pPr>
            <a:r>
              <a:rPr lang="en-US" sz="1700" dirty="0">
                <a:solidFill>
                  <a:srgbClr val="3A4452"/>
                </a:solidFill>
                <a:latin typeface="Arial" pitchFamily="34" charset="0"/>
                <a:ea typeface="Arial" pitchFamily="34" charset="-122"/>
                <a:cs typeface="Arial" pitchFamily="34" charset="-120"/>
              </a:rPr>
              <a:t>Because it predicts, the assistant can state something untrue with total confidence. It may invent a figure, a policy detail, or a product name. Confidence is not proof. Always check anything that matters before you rely on it.</a:t>
            </a:r>
            <a:endParaRPr lang="en-US" sz="1700" dirty="0"/>
          </a:p>
        </p:txBody>
      </p:sp>
      <p:sp>
        <p:nvSpPr>
          <p:cNvPr id="7" name="Shape 4"/>
          <p:cNvSpPr/>
          <p:nvPr/>
        </p:nvSpPr>
        <p:spPr>
          <a:xfrm>
            <a:off x="640080" y="3520440"/>
            <a:ext cx="10881360" cy="2148840"/>
          </a:xfrm>
          <a:prstGeom prst="roundRect">
            <a:avLst>
              <a:gd name="adj" fmla="val 3830"/>
            </a:avLst>
          </a:prstGeom>
          <a:solidFill>
            <a:srgbClr val="FEF3C7"/>
          </a:solidFill>
          <a:ln/>
        </p:spPr>
      </p:sp>
      <p:sp>
        <p:nvSpPr>
          <p:cNvPr id="8" name="Shape 5"/>
          <p:cNvSpPr/>
          <p:nvPr/>
        </p:nvSpPr>
        <p:spPr>
          <a:xfrm>
            <a:off x="960120" y="3886200"/>
            <a:ext cx="640080" cy="640080"/>
          </a:xfrm>
          <a:prstGeom prst="ellipse">
            <a:avLst/>
          </a:prstGeom>
          <a:solidFill>
            <a:srgbClr val="A16207"/>
          </a:solidFill>
          <a:ln/>
        </p:spPr>
      </p:sp>
      <p:pic>
        <p:nvPicPr>
          <p:cNvPr id="9" name="Image 1" descr="preencoded.png">    </p:cNvPr>
          <p:cNvPicPr>
            <a:picLocks noChangeAspect="1"/>
          </p:cNvPicPr>
          <p:nvPr/>
        </p:nvPicPr>
        <p:blipFill>
          <a:blip r:embed="rId2"/>
          <a:stretch>
            <a:fillRect/>
          </a:stretch>
        </p:blipFill>
        <p:spPr>
          <a:xfrm>
            <a:off x="1106424" y="4032504"/>
            <a:ext cx="347472" cy="347472"/>
          </a:xfrm>
          <a:prstGeom prst="rect">
            <a:avLst/>
          </a:prstGeom>
        </p:spPr>
      </p:pic>
      <p:sp>
        <p:nvSpPr>
          <p:cNvPr id="10" name="Text 6"/>
          <p:cNvSpPr/>
          <p:nvPr/>
        </p:nvSpPr>
        <p:spPr>
          <a:xfrm>
            <a:off x="1874520" y="3794760"/>
            <a:ext cx="9144000" cy="365760"/>
          </a:xfrm>
          <a:prstGeom prst="rect">
            <a:avLst/>
          </a:prstGeom>
          <a:noFill/>
          <a:ln/>
        </p:spPr>
        <p:txBody>
          <a:bodyPr wrap="square" lIns="0" tIns="0" rIns="0" bIns="0" rtlCol="0" anchor="ctr"/>
          <a:lstStyle/>
          <a:p>
            <a:pPr indent="0" marL="0">
              <a:buNone/>
            </a:pPr>
            <a:r>
              <a:rPr lang="en-US" sz="1200" b="1" spc="150" kern="0" dirty="0">
                <a:solidFill>
                  <a:srgbClr val="A16207"/>
                </a:solidFill>
                <a:latin typeface="Arial" pitchFamily="34" charset="0"/>
                <a:ea typeface="Arial" pitchFamily="34" charset="-122"/>
                <a:cs typeface="Arial" pitchFamily="34" charset="-120"/>
              </a:rPr>
              <a:t>A BJ's example</a:t>
            </a:r>
            <a:endParaRPr lang="en-US" sz="1200" dirty="0"/>
          </a:p>
        </p:txBody>
      </p:sp>
      <p:sp>
        <p:nvSpPr>
          <p:cNvPr id="11" name="Text 7"/>
          <p:cNvSpPr/>
          <p:nvPr/>
        </p:nvSpPr>
        <p:spPr>
          <a:xfrm>
            <a:off x="1874520" y="4160520"/>
            <a:ext cx="9326880" cy="1371600"/>
          </a:xfrm>
          <a:prstGeom prst="rect">
            <a:avLst/>
          </a:prstGeom>
          <a:noFill/>
          <a:ln/>
        </p:spPr>
        <p:txBody>
          <a:bodyPr wrap="square" lIns="0" tIns="0" rIns="0" bIns="0" rtlCol="0" anchor="t"/>
          <a:lstStyle/>
          <a:p>
            <a:pPr indent="0" marL="0">
              <a:lnSpc>
                <a:spcPct val="112000"/>
              </a:lnSpc>
              <a:buNone/>
            </a:pPr>
            <a:r>
              <a:rPr lang="en-US" sz="1800" b="1" dirty="0">
                <a:solidFill>
                  <a:srgbClr val="1F2733"/>
                </a:solidFill>
                <a:latin typeface="Arial" pitchFamily="34" charset="0"/>
                <a:ea typeface="Arial" pitchFamily="34" charset="-122"/>
                <a:cs typeface="Arial" pitchFamily="34" charset="-120"/>
              </a:rPr>
              <a:t>Ask it for “our current membership renewal price” and it may hand you a confident, specific number — that is simply made up.</a:t>
            </a:r>
            <a:endParaRPr lang="en-US" sz="1800" dirty="0"/>
          </a:p>
          <a:p>
            <a:pPr indent="0" marL="0">
              <a:lnSpc>
                <a:spcPct val="112000"/>
              </a:lnSpc>
              <a:buNone/>
            </a:pPr>
            <a:endParaRPr lang="en-US" sz="1800" dirty="0"/>
          </a:p>
          <a:p>
            <a:pPr indent="0" marL="0">
              <a:lnSpc>
                <a:spcPct val="112000"/>
              </a:lnSpc>
              <a:buNone/>
            </a:pPr>
            <a:r>
              <a:rPr lang="en-US" sz="1400" dirty="0">
                <a:solidFill>
                  <a:srgbClr val="3A4452"/>
                </a:solidFill>
                <a:latin typeface="Arial" pitchFamily="34" charset="0"/>
                <a:ea typeface="Arial" pitchFamily="34" charset="-122"/>
                <a:cs typeface="Arial" pitchFamily="34" charset="-120"/>
              </a:rPr>
              <a:t>It does not know BJ's real pricing unless you give it to the assistant first. The fix is coming on the next slide.</a:t>
            </a:r>
            <a:endParaRPr lang="en-US" sz="1800" dirty="0"/>
          </a:p>
        </p:txBody>
      </p:sp>
      <p:sp>
        <p:nvSpPr>
          <p:cNvPr id="12" name="Text 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13" name="Text 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IT KNOWS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It begins every task knowing nothing about your work</a:t>
            </a:r>
            <a:endParaRPr lang="en-US" sz="3000" dirty="0"/>
          </a:p>
        </p:txBody>
      </p:sp>
      <p:sp>
        <p:nvSpPr>
          <p:cNvPr id="6" name="Text 3"/>
          <p:cNvSpPr/>
          <p:nvPr/>
        </p:nvSpPr>
        <p:spPr>
          <a:xfrm>
            <a:off x="640080" y="2103120"/>
            <a:ext cx="10881360" cy="1280160"/>
          </a:xfrm>
          <a:prstGeom prst="rect">
            <a:avLst/>
          </a:prstGeom>
          <a:noFill/>
          <a:ln/>
        </p:spPr>
        <p:txBody>
          <a:bodyPr wrap="square" lIns="0" tIns="0" rIns="0" bIns="0" rtlCol="0" anchor="t"/>
          <a:lstStyle/>
          <a:p>
            <a:pPr indent="0" marL="0">
              <a:lnSpc>
                <a:spcPct val="120000"/>
              </a:lnSpc>
              <a:buNone/>
            </a:pPr>
            <a:r>
              <a:rPr lang="en-US" sz="1700" dirty="0">
                <a:solidFill>
                  <a:srgbClr val="3A4452"/>
                </a:solidFill>
                <a:latin typeface="Arial" pitchFamily="34" charset="0"/>
                <a:ea typeface="Arial" pitchFamily="34" charset="-122"/>
                <a:cs typeface="Arial" pitchFamily="34" charset="-120"/>
              </a:rPr>
              <a:t>The assistant has no access to BJ's systems, your files, or last week's conversation — unless you include that information in your request. If you want it to work with a supplier email or a sales report, you have to give it that material.</a:t>
            </a:r>
            <a:endParaRPr lang="en-US" sz="1700" dirty="0"/>
          </a:p>
        </p:txBody>
      </p:sp>
      <p:sp>
        <p:nvSpPr>
          <p:cNvPr id="7" name="Shape 4"/>
          <p:cNvSpPr/>
          <p:nvPr/>
        </p:nvSpPr>
        <p:spPr>
          <a:xfrm>
            <a:off x="640080" y="3611880"/>
            <a:ext cx="5303520" cy="2103120"/>
          </a:xfrm>
          <a:prstGeom prst="roundRect">
            <a:avLst>
              <a:gd name="adj" fmla="val 3913"/>
            </a:avLst>
          </a:prstGeom>
          <a:solidFill>
            <a:srgbClr val="F5F6F8"/>
          </a:solidFill>
          <a:ln w="12700">
            <a:solidFill>
              <a:srgbClr val="E7E9EE"/>
            </a:solidFill>
            <a:prstDash val="solid"/>
          </a:ln>
        </p:spPr>
      </p:sp>
      <p:sp>
        <p:nvSpPr>
          <p:cNvPr id="8" name="Text 5"/>
          <p:cNvSpPr/>
          <p:nvPr/>
        </p:nvSpPr>
        <p:spPr>
          <a:xfrm>
            <a:off x="914400" y="3840480"/>
            <a:ext cx="475488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If you give it nothing</a:t>
            </a:r>
            <a:endParaRPr lang="en-US" sz="1200" dirty="0"/>
          </a:p>
        </p:txBody>
      </p:sp>
      <p:sp>
        <p:nvSpPr>
          <p:cNvPr id="9" name="Text 6"/>
          <p:cNvSpPr/>
          <p:nvPr/>
        </p:nvSpPr>
        <p:spPr>
          <a:xfrm>
            <a:off x="914400" y="4206240"/>
            <a:ext cx="4754880" cy="1371600"/>
          </a:xfrm>
          <a:prstGeom prst="rect">
            <a:avLst/>
          </a:prstGeom>
          <a:noFill/>
          <a:ln/>
        </p:spPr>
        <p:txBody>
          <a:bodyPr wrap="square" lIns="0" tIns="0" rIns="0" bIns="0" rtlCol="0" anchor="t"/>
          <a:lstStyle/>
          <a:p>
            <a:pPr indent="0" marL="0">
              <a:lnSpc>
                <a:spcPct val="112000"/>
              </a:lnSpc>
              <a:buNone/>
            </a:pPr>
            <a:r>
              <a:rPr lang="en-US" sz="1600" b="1" dirty="0">
                <a:solidFill>
                  <a:srgbClr val="1F2733"/>
                </a:solidFill>
                <a:latin typeface="Arial" pitchFamily="34" charset="0"/>
                <a:ea typeface="Arial" pitchFamily="34" charset="-122"/>
                <a:cs typeface="Arial" pitchFamily="34" charset="-120"/>
              </a:rPr>
              <a:t>“Summarise the supplier's email.” It has no email to read, so it guesses — or invents one.</a:t>
            </a:r>
            <a:endParaRPr lang="en-US" sz="1600" dirty="0"/>
          </a:p>
        </p:txBody>
      </p:sp>
      <p:sp>
        <p:nvSpPr>
          <p:cNvPr id="10" name="Shape 7"/>
          <p:cNvSpPr/>
          <p:nvPr/>
        </p:nvSpPr>
        <p:spPr>
          <a:xfrm>
            <a:off x="6217920" y="3611880"/>
            <a:ext cx="5303520" cy="2103120"/>
          </a:xfrm>
          <a:prstGeom prst="roundRect">
            <a:avLst>
              <a:gd name="adj" fmla="val 3913"/>
            </a:avLst>
          </a:prstGeom>
          <a:solidFill>
            <a:srgbClr val="DCFCE7"/>
          </a:solidFill>
          <a:ln/>
        </p:spPr>
      </p:sp>
      <p:sp>
        <p:nvSpPr>
          <p:cNvPr id="11" name="Text 8"/>
          <p:cNvSpPr/>
          <p:nvPr/>
        </p:nvSpPr>
        <p:spPr>
          <a:xfrm>
            <a:off x="6492240" y="3840480"/>
            <a:ext cx="4754880" cy="365760"/>
          </a:xfrm>
          <a:prstGeom prst="rect">
            <a:avLst/>
          </a:prstGeom>
          <a:noFill/>
          <a:ln/>
        </p:spPr>
        <p:txBody>
          <a:bodyPr wrap="square" lIns="0" tIns="0" rIns="0" bIns="0" rtlCol="0" anchor="ctr"/>
          <a:lstStyle/>
          <a:p>
            <a:pPr indent="0" marL="0">
              <a:buNone/>
            </a:pPr>
            <a:r>
              <a:rPr lang="en-US" sz="1200" b="1" spc="100" kern="0" dirty="0">
                <a:solidFill>
                  <a:srgbClr val="15803D"/>
                </a:solidFill>
                <a:latin typeface="Arial" pitchFamily="34" charset="0"/>
                <a:ea typeface="Arial" pitchFamily="34" charset="-122"/>
                <a:cs typeface="Arial" pitchFamily="34" charset="-120"/>
              </a:rPr>
              <a:t>If you give it the material</a:t>
            </a:r>
            <a:endParaRPr lang="en-US" sz="1200" dirty="0"/>
          </a:p>
        </p:txBody>
      </p:sp>
      <p:sp>
        <p:nvSpPr>
          <p:cNvPr id="12" name="Text 9"/>
          <p:cNvSpPr/>
          <p:nvPr/>
        </p:nvSpPr>
        <p:spPr>
          <a:xfrm>
            <a:off x="6492240" y="4206240"/>
            <a:ext cx="4754880" cy="1417320"/>
          </a:xfrm>
          <a:prstGeom prst="rect">
            <a:avLst/>
          </a:prstGeom>
          <a:noFill/>
          <a:ln/>
        </p:spPr>
        <p:txBody>
          <a:bodyPr wrap="square" lIns="0" tIns="0" rIns="0" bIns="0" rtlCol="0" anchor="t"/>
          <a:lstStyle/>
          <a:p>
            <a:pPr indent="0" marL="0">
              <a:lnSpc>
                <a:spcPct val="112000"/>
              </a:lnSpc>
              <a:buNone/>
            </a:pPr>
            <a:r>
              <a:rPr lang="en-US" sz="1600" b="1" dirty="0">
                <a:solidFill>
                  <a:srgbClr val="1F2733"/>
                </a:solidFill>
                <a:latin typeface="Arial" pitchFamily="34" charset="0"/>
                <a:ea typeface="Arial" pitchFamily="34" charset="-122"/>
                <a:cs typeface="Arial" pitchFamily="34" charset="-120"/>
              </a:rPr>
              <a:t>“Here is the supplier's email below. Summarise the three main points in plain language.” Now it works from the real content.</a:t>
            </a:r>
            <a:endParaRPr lang="en-US" sz="16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ITS LIMITS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It can only hold so much at one time</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Think of a desk that fits only so many papers at once.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You can give the assistant a lot of information, but there is a limit to how much it can keep in view for a single task.</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Very long documents may need to be broken into smaller parts. And it helps to put the most important information where it counts, rather than burying it.</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Practical habit</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650" b="1" dirty="0">
                <a:solidFill>
                  <a:srgbClr val="1F2733"/>
                </a:solidFill>
                <a:latin typeface="Arial" pitchFamily="34" charset="0"/>
                <a:ea typeface="Arial" pitchFamily="34" charset="-122"/>
                <a:cs typeface="Arial" pitchFamily="34" charset="-120"/>
              </a:rPr>
              <a:t>For a long report, give it one section at a time and ask for a summary of each — then combine. Smaller, focused pieces beat one enormous paste.</a:t>
            </a:r>
            <a:endParaRPr lang="en-US" sz="16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ANSWERS VARY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twice, and the wording may change</a:t>
            </a:r>
            <a:endParaRPr lang="en-US" sz="3000" dirty="0"/>
          </a:p>
        </p:txBody>
      </p:sp>
      <p:sp>
        <p:nvSpPr>
          <p:cNvPr id="6" name="Text 3"/>
          <p:cNvSpPr/>
          <p:nvPr/>
        </p:nvSpPr>
        <p:spPr>
          <a:xfrm>
            <a:off x="640080" y="2103120"/>
            <a:ext cx="10881360" cy="1371600"/>
          </a:xfrm>
          <a:prstGeom prst="rect">
            <a:avLst/>
          </a:prstGeom>
          <a:noFill/>
          <a:ln/>
        </p:spPr>
        <p:txBody>
          <a:bodyPr wrap="square" lIns="0" tIns="0" rIns="0" bIns="0" rtlCol="0" anchor="t"/>
          <a:lstStyle/>
          <a:p>
            <a:pPr indent="0" marL="0">
              <a:lnSpc>
                <a:spcPct val="120000"/>
              </a:lnSpc>
              <a:buNone/>
            </a:pPr>
            <a:r>
              <a:rPr lang="en-US" sz="1700" dirty="0">
                <a:solidFill>
                  <a:srgbClr val="3A4452"/>
                </a:solidFill>
                <a:latin typeface="Arial" pitchFamily="34" charset="0"/>
                <a:ea typeface="Arial" pitchFamily="34" charset="-122"/>
                <a:cs typeface="Arial" pitchFamily="34" charset="-120"/>
              </a:rPr>
              <a:t>The assistant makes small choices as it writes, and a little variety is built in on purpose. So the very same request can produce a slightly different answer each time. The meaning is usually the same; the exact wording will not be.</a:t>
            </a:r>
            <a:endParaRPr lang="en-US" sz="1700" dirty="0"/>
          </a:p>
        </p:txBody>
      </p:sp>
      <p:sp>
        <p:nvSpPr>
          <p:cNvPr id="7" name="Shape 4"/>
          <p:cNvSpPr/>
          <p:nvPr/>
        </p:nvSpPr>
        <p:spPr>
          <a:xfrm>
            <a:off x="640080" y="3657600"/>
            <a:ext cx="3502152" cy="2194560"/>
          </a:xfrm>
          <a:prstGeom prst="roundRect">
            <a:avLst>
              <a:gd name="adj" fmla="val 3750"/>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8" name="Shape 5"/>
          <p:cNvSpPr/>
          <p:nvPr/>
        </p:nvSpPr>
        <p:spPr>
          <a:xfrm>
            <a:off x="914400" y="3931920"/>
            <a:ext cx="457200" cy="457200"/>
          </a:xfrm>
          <a:prstGeom prst="ellipse">
            <a:avLst/>
          </a:prstGeom>
          <a:solidFill>
            <a:srgbClr val="D31242"/>
          </a:solidFill>
          <a:ln/>
        </p:spPr>
      </p:sp>
      <p:pic>
        <p:nvPicPr>
          <p:cNvPr id="9" name="Image 1" descr="preencoded.png">    </p:cNvPr>
          <p:cNvPicPr>
            <a:picLocks noChangeAspect="1"/>
          </p:cNvPicPr>
          <p:nvPr/>
        </p:nvPicPr>
        <p:blipFill>
          <a:blip r:embed="rId2"/>
          <a:stretch>
            <a:fillRect/>
          </a:stretch>
        </p:blipFill>
        <p:spPr>
          <a:xfrm>
            <a:off x="1024128" y="4041648"/>
            <a:ext cx="237744" cy="237744"/>
          </a:xfrm>
          <a:prstGeom prst="rect">
            <a:avLst/>
          </a:prstGeom>
        </p:spPr>
      </p:pic>
      <p:sp>
        <p:nvSpPr>
          <p:cNvPr id="10" name="Text 6"/>
          <p:cNvSpPr/>
          <p:nvPr/>
        </p:nvSpPr>
        <p:spPr>
          <a:xfrm>
            <a:off x="914400" y="4526280"/>
            <a:ext cx="2971800" cy="1188720"/>
          </a:xfrm>
          <a:prstGeom prst="rect">
            <a:avLst/>
          </a:prstGeom>
          <a:noFill/>
          <a:ln/>
        </p:spPr>
        <p:txBody>
          <a:bodyPr wrap="square" lIns="0" tIns="0" rIns="0" bIns="0" rtlCol="0" anchor="t"/>
          <a:lstStyle/>
          <a:p>
            <a:pPr indent="0" marL="0">
              <a:lnSpc>
                <a:spcPct val="108000"/>
              </a:lnSpc>
              <a:buNone/>
            </a:pPr>
            <a:r>
              <a:rPr lang="en-US" sz="1550" b="1" dirty="0">
                <a:solidFill>
                  <a:srgbClr val="1F2733"/>
                </a:solidFill>
                <a:latin typeface="Arial" pitchFamily="34" charset="0"/>
                <a:ea typeface="Arial" pitchFamily="34" charset="-122"/>
                <a:cs typeface="Arial" pitchFamily="34" charset="-120"/>
              </a:rPr>
              <a:t>This is expected</a:t>
            </a:r>
            <a:endParaRPr lang="en-US" sz="1550" dirty="0"/>
          </a:p>
          <a:p>
            <a:pPr indent="0" marL="0">
              <a:lnSpc>
                <a:spcPct val="108000"/>
              </a:lnSpc>
              <a:buNone/>
            </a:pPr>
            <a:endParaRPr lang="en-US" sz="1550" dirty="0"/>
          </a:p>
          <a:p>
            <a:pPr indent="0" marL="0">
              <a:lnSpc>
                <a:spcPct val="108000"/>
              </a:lnSpc>
              <a:buNone/>
            </a:pPr>
            <a:r>
              <a:rPr lang="en-US" sz="1250" dirty="0">
                <a:solidFill>
                  <a:srgbClr val="5E6A78"/>
                </a:solidFill>
                <a:latin typeface="Arial" pitchFamily="34" charset="0"/>
                <a:ea typeface="Arial" pitchFamily="34" charset="-122"/>
                <a:cs typeface="Arial" pitchFamily="34" charset="-120"/>
              </a:rPr>
              <a:t>It is a feature, not a fault. Do not be surprised when a reply looks new.</a:t>
            </a:r>
            <a:endParaRPr lang="en-US" sz="1550" dirty="0"/>
          </a:p>
        </p:txBody>
      </p:sp>
      <p:sp>
        <p:nvSpPr>
          <p:cNvPr id="11" name="Shape 7"/>
          <p:cNvSpPr/>
          <p:nvPr/>
        </p:nvSpPr>
        <p:spPr>
          <a:xfrm>
            <a:off x="4325112" y="3657600"/>
            <a:ext cx="3502152" cy="2194560"/>
          </a:xfrm>
          <a:prstGeom prst="roundRect">
            <a:avLst>
              <a:gd name="adj" fmla="val 3750"/>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2" name="Shape 8"/>
          <p:cNvSpPr/>
          <p:nvPr/>
        </p:nvSpPr>
        <p:spPr>
          <a:xfrm>
            <a:off x="4599432" y="3931920"/>
            <a:ext cx="457200" cy="457200"/>
          </a:xfrm>
          <a:prstGeom prst="ellipse">
            <a:avLst/>
          </a:prstGeom>
          <a:solidFill>
            <a:srgbClr val="D31242"/>
          </a:solidFill>
          <a:ln/>
        </p:spPr>
      </p:sp>
      <p:pic>
        <p:nvPicPr>
          <p:cNvPr id="13" name="Image 2" descr="preencoded.png">    </p:cNvPr>
          <p:cNvPicPr>
            <a:picLocks noChangeAspect="1"/>
          </p:cNvPicPr>
          <p:nvPr/>
        </p:nvPicPr>
        <p:blipFill>
          <a:blip r:embed="rId3"/>
          <a:stretch>
            <a:fillRect/>
          </a:stretch>
        </p:blipFill>
        <p:spPr>
          <a:xfrm>
            <a:off x="4709160" y="4041648"/>
            <a:ext cx="237744" cy="237744"/>
          </a:xfrm>
          <a:prstGeom prst="rect">
            <a:avLst/>
          </a:prstGeom>
        </p:spPr>
      </p:pic>
      <p:sp>
        <p:nvSpPr>
          <p:cNvPr id="14" name="Text 9"/>
          <p:cNvSpPr/>
          <p:nvPr/>
        </p:nvSpPr>
        <p:spPr>
          <a:xfrm>
            <a:off x="4599432" y="4526280"/>
            <a:ext cx="2971800" cy="1188720"/>
          </a:xfrm>
          <a:prstGeom prst="rect">
            <a:avLst/>
          </a:prstGeom>
          <a:noFill/>
          <a:ln/>
        </p:spPr>
        <p:txBody>
          <a:bodyPr wrap="square" lIns="0" tIns="0" rIns="0" bIns="0" rtlCol="0" anchor="t"/>
          <a:lstStyle/>
          <a:p>
            <a:pPr indent="0" marL="0">
              <a:lnSpc>
                <a:spcPct val="108000"/>
              </a:lnSpc>
              <a:buNone/>
            </a:pPr>
            <a:r>
              <a:rPr lang="en-US" sz="1550" b="1" dirty="0">
                <a:solidFill>
                  <a:srgbClr val="1F2733"/>
                </a:solidFill>
                <a:latin typeface="Arial" pitchFamily="34" charset="0"/>
                <a:ea typeface="Arial" pitchFamily="34" charset="-122"/>
                <a:cs typeface="Arial" pitchFamily="34" charset="-120"/>
              </a:rPr>
              <a:t>Judge the substance</a:t>
            </a:r>
            <a:endParaRPr lang="en-US" sz="1550" dirty="0"/>
          </a:p>
          <a:p>
            <a:pPr indent="0" marL="0">
              <a:lnSpc>
                <a:spcPct val="108000"/>
              </a:lnSpc>
              <a:buNone/>
            </a:pPr>
            <a:endParaRPr lang="en-US" sz="1550" dirty="0"/>
          </a:p>
          <a:p>
            <a:pPr indent="0" marL="0">
              <a:lnSpc>
                <a:spcPct val="108000"/>
              </a:lnSpc>
              <a:buNone/>
            </a:pPr>
            <a:r>
              <a:rPr lang="en-US" sz="1250" dirty="0">
                <a:solidFill>
                  <a:srgbClr val="5E6A78"/>
                </a:solidFill>
                <a:latin typeface="Arial" pitchFamily="34" charset="0"/>
                <a:ea typeface="Arial" pitchFamily="34" charset="-122"/>
                <a:cs typeface="Arial" pitchFamily="34" charset="-120"/>
              </a:rPr>
              <a:t>Check that the meaning is right, rather than expecting identical words.</a:t>
            </a:r>
            <a:endParaRPr lang="en-US" sz="1550" dirty="0"/>
          </a:p>
        </p:txBody>
      </p:sp>
      <p:sp>
        <p:nvSpPr>
          <p:cNvPr id="15" name="Shape 10"/>
          <p:cNvSpPr/>
          <p:nvPr/>
        </p:nvSpPr>
        <p:spPr>
          <a:xfrm>
            <a:off x="8010144" y="3657600"/>
            <a:ext cx="3502152" cy="2194560"/>
          </a:xfrm>
          <a:prstGeom prst="roundRect">
            <a:avLst>
              <a:gd name="adj" fmla="val 3750"/>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6" name="Shape 11"/>
          <p:cNvSpPr/>
          <p:nvPr/>
        </p:nvSpPr>
        <p:spPr>
          <a:xfrm>
            <a:off x="8284464" y="3931920"/>
            <a:ext cx="457200" cy="457200"/>
          </a:xfrm>
          <a:prstGeom prst="ellipse">
            <a:avLst/>
          </a:prstGeom>
          <a:solidFill>
            <a:srgbClr val="D31242"/>
          </a:solidFill>
          <a:ln/>
        </p:spPr>
      </p:sp>
      <p:pic>
        <p:nvPicPr>
          <p:cNvPr id="17" name="Image 3" descr="preencoded.png">    </p:cNvPr>
          <p:cNvPicPr>
            <a:picLocks noChangeAspect="1"/>
          </p:cNvPicPr>
          <p:nvPr/>
        </p:nvPicPr>
        <p:blipFill>
          <a:blip r:embed="rId4"/>
          <a:stretch>
            <a:fillRect/>
          </a:stretch>
        </p:blipFill>
        <p:spPr>
          <a:xfrm>
            <a:off x="8394192" y="4041648"/>
            <a:ext cx="237744" cy="237744"/>
          </a:xfrm>
          <a:prstGeom prst="rect">
            <a:avLst/>
          </a:prstGeom>
        </p:spPr>
      </p:pic>
      <p:sp>
        <p:nvSpPr>
          <p:cNvPr id="18" name="Text 12"/>
          <p:cNvSpPr/>
          <p:nvPr/>
        </p:nvSpPr>
        <p:spPr>
          <a:xfrm>
            <a:off x="8284464" y="4526280"/>
            <a:ext cx="2971800" cy="1188720"/>
          </a:xfrm>
          <a:prstGeom prst="rect">
            <a:avLst/>
          </a:prstGeom>
          <a:noFill/>
          <a:ln/>
        </p:spPr>
        <p:txBody>
          <a:bodyPr wrap="square" lIns="0" tIns="0" rIns="0" bIns="0" rtlCol="0" anchor="t"/>
          <a:lstStyle/>
          <a:p>
            <a:pPr indent="0" marL="0">
              <a:lnSpc>
                <a:spcPct val="108000"/>
              </a:lnSpc>
              <a:buNone/>
            </a:pPr>
            <a:r>
              <a:rPr lang="en-US" sz="1550" b="1" dirty="0">
                <a:solidFill>
                  <a:srgbClr val="1F2733"/>
                </a:solidFill>
                <a:latin typeface="Arial" pitchFamily="34" charset="0"/>
                <a:ea typeface="Arial" pitchFamily="34" charset="-122"/>
                <a:cs typeface="Arial" pitchFamily="34" charset="-120"/>
              </a:rPr>
              <a:t>Need it identical?</a:t>
            </a:r>
            <a:endParaRPr lang="en-US" sz="1550" dirty="0"/>
          </a:p>
          <a:p>
            <a:pPr indent="0" marL="0">
              <a:lnSpc>
                <a:spcPct val="108000"/>
              </a:lnSpc>
              <a:buNone/>
            </a:pPr>
            <a:endParaRPr lang="en-US" sz="1550" dirty="0"/>
          </a:p>
          <a:p>
            <a:pPr indent="0" marL="0">
              <a:lnSpc>
                <a:spcPct val="108000"/>
              </a:lnSpc>
              <a:buNone/>
            </a:pPr>
            <a:r>
              <a:rPr lang="en-US" sz="1250" dirty="0">
                <a:solidFill>
                  <a:srgbClr val="5E6A78"/>
                </a:solidFill>
                <a:latin typeface="Arial" pitchFamily="34" charset="0"/>
                <a:ea typeface="Arial" pitchFamily="34" charset="-122"/>
                <a:cs typeface="Arial" pitchFamily="34" charset="-120"/>
              </a:rPr>
              <a:t>Ways to get more consistent output come in a later module.</a:t>
            </a:r>
            <a:endParaRPr lang="en-US" sz="1550" dirty="0"/>
          </a:p>
        </p:txBody>
      </p:sp>
      <p:sp>
        <p:nvSpPr>
          <p:cNvPr id="19"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20"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THIS MEANS FOR YOU</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Three habits that make it reliable</a:t>
            </a:r>
            <a:endParaRPr lang="en-US" sz="3000" dirty="0"/>
          </a:p>
        </p:txBody>
      </p:sp>
      <p:sp>
        <p:nvSpPr>
          <p:cNvPr id="6" name="Shape 3"/>
          <p:cNvSpPr/>
          <p:nvPr/>
        </p:nvSpPr>
        <p:spPr>
          <a:xfrm>
            <a:off x="640080" y="2148840"/>
            <a:ext cx="3502152" cy="3383280"/>
          </a:xfrm>
          <a:prstGeom prst="roundRect">
            <a:avLst>
              <a:gd name="adj" fmla="val 2432"/>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7" name="Shape 4"/>
          <p:cNvSpPr/>
          <p:nvPr/>
        </p:nvSpPr>
        <p:spPr>
          <a:xfrm>
            <a:off x="960120" y="2468880"/>
            <a:ext cx="777240" cy="777240"/>
          </a:xfrm>
          <a:prstGeom prst="ellipse">
            <a:avLst/>
          </a:prstGeom>
          <a:solidFill>
            <a:srgbClr val="D31242"/>
          </a:solidFill>
          <a:ln/>
        </p:spPr>
      </p:sp>
      <p:sp>
        <p:nvSpPr>
          <p:cNvPr id="8" name="Text 5"/>
          <p:cNvSpPr/>
          <p:nvPr/>
        </p:nvSpPr>
        <p:spPr>
          <a:xfrm>
            <a:off x="960120" y="24688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9" name="Text 6"/>
          <p:cNvSpPr/>
          <p:nvPr/>
        </p:nvSpPr>
        <p:spPr>
          <a:xfrm>
            <a:off x="960120" y="3429000"/>
            <a:ext cx="2880360" cy="685800"/>
          </a:xfrm>
          <a:prstGeom prst="rect">
            <a:avLst/>
          </a:prstGeom>
          <a:noFill/>
          <a:ln/>
        </p:spPr>
        <p:txBody>
          <a:bodyPr wrap="square" lIns="0" tIns="0" rIns="0" bIns="0" rtlCol="0" anchor="t"/>
          <a:lstStyle/>
          <a:p>
            <a:pPr indent="0" marL="0">
              <a:lnSpc>
                <a:spcPct val="105000"/>
              </a:lnSpc>
              <a:buNone/>
            </a:pPr>
            <a:r>
              <a:rPr lang="en-US" sz="1800" b="1" dirty="0">
                <a:solidFill>
                  <a:srgbClr val="1F2733"/>
                </a:solidFill>
                <a:latin typeface="Arial" pitchFamily="34" charset="0"/>
                <a:ea typeface="Arial" pitchFamily="34" charset="-122"/>
                <a:cs typeface="Arial" pitchFamily="34" charset="-120"/>
              </a:rPr>
              <a:t>Be clear and specific</a:t>
            </a:r>
            <a:endParaRPr lang="en-US" sz="1800" dirty="0"/>
          </a:p>
        </p:txBody>
      </p:sp>
      <p:sp>
        <p:nvSpPr>
          <p:cNvPr id="10" name="Text 7"/>
          <p:cNvSpPr/>
          <p:nvPr/>
        </p:nvSpPr>
        <p:spPr>
          <a:xfrm>
            <a:off x="960120" y="4114800"/>
            <a:ext cx="2926080" cy="1280160"/>
          </a:xfrm>
          <a:prstGeom prst="rect">
            <a:avLst/>
          </a:prstGeom>
          <a:noFill/>
          <a:ln/>
        </p:spPr>
        <p:txBody>
          <a:bodyPr wrap="square" lIns="0" tIns="0" rIns="0" bIns="0" rtlCol="0" anchor="t"/>
          <a:lstStyle/>
          <a:p>
            <a:pPr indent="0" marL="0">
              <a:lnSpc>
                <a:spcPct val="115000"/>
              </a:lnSpc>
              <a:buNone/>
            </a:pPr>
            <a:r>
              <a:rPr lang="en-US" sz="1350" dirty="0">
                <a:solidFill>
                  <a:srgbClr val="5E6A78"/>
                </a:solidFill>
                <a:latin typeface="Arial" pitchFamily="34" charset="0"/>
                <a:ea typeface="Arial" pitchFamily="34" charset="-122"/>
                <a:cs typeface="Arial" pitchFamily="34" charset="-120"/>
              </a:rPr>
              <a:t>Spell out exactly what you need, and how you want it back. Vague in, vague out.</a:t>
            </a:r>
            <a:endParaRPr lang="en-US" sz="1350" dirty="0"/>
          </a:p>
        </p:txBody>
      </p:sp>
      <p:sp>
        <p:nvSpPr>
          <p:cNvPr id="11" name="Shape 8"/>
          <p:cNvSpPr/>
          <p:nvPr/>
        </p:nvSpPr>
        <p:spPr>
          <a:xfrm>
            <a:off x="4325112" y="2148840"/>
            <a:ext cx="3502152" cy="3383280"/>
          </a:xfrm>
          <a:prstGeom prst="roundRect">
            <a:avLst>
              <a:gd name="adj" fmla="val 2432"/>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2" name="Shape 9"/>
          <p:cNvSpPr/>
          <p:nvPr/>
        </p:nvSpPr>
        <p:spPr>
          <a:xfrm>
            <a:off x="4645152" y="2468880"/>
            <a:ext cx="777240" cy="777240"/>
          </a:xfrm>
          <a:prstGeom prst="ellipse">
            <a:avLst/>
          </a:prstGeom>
          <a:solidFill>
            <a:srgbClr val="D31242"/>
          </a:solidFill>
          <a:ln/>
        </p:spPr>
      </p:sp>
      <p:sp>
        <p:nvSpPr>
          <p:cNvPr id="13" name="Text 10"/>
          <p:cNvSpPr/>
          <p:nvPr/>
        </p:nvSpPr>
        <p:spPr>
          <a:xfrm>
            <a:off x="4645152" y="24688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14" name="Text 11"/>
          <p:cNvSpPr/>
          <p:nvPr/>
        </p:nvSpPr>
        <p:spPr>
          <a:xfrm>
            <a:off x="4645152" y="3429000"/>
            <a:ext cx="2880360" cy="685800"/>
          </a:xfrm>
          <a:prstGeom prst="rect">
            <a:avLst/>
          </a:prstGeom>
          <a:noFill/>
          <a:ln/>
        </p:spPr>
        <p:txBody>
          <a:bodyPr wrap="square" lIns="0" tIns="0" rIns="0" bIns="0" rtlCol="0" anchor="t"/>
          <a:lstStyle/>
          <a:p>
            <a:pPr indent="0" marL="0">
              <a:lnSpc>
                <a:spcPct val="105000"/>
              </a:lnSpc>
              <a:buNone/>
            </a:pPr>
            <a:r>
              <a:rPr lang="en-US" sz="1800" b="1" dirty="0">
                <a:solidFill>
                  <a:srgbClr val="1F2733"/>
                </a:solidFill>
                <a:latin typeface="Arial" pitchFamily="34" charset="0"/>
                <a:ea typeface="Arial" pitchFamily="34" charset="-122"/>
                <a:cs typeface="Arial" pitchFamily="34" charset="-120"/>
              </a:rPr>
              <a:t>Give it the background</a:t>
            </a:r>
            <a:endParaRPr lang="en-US" sz="1800" dirty="0"/>
          </a:p>
        </p:txBody>
      </p:sp>
      <p:sp>
        <p:nvSpPr>
          <p:cNvPr id="15" name="Text 12"/>
          <p:cNvSpPr/>
          <p:nvPr/>
        </p:nvSpPr>
        <p:spPr>
          <a:xfrm>
            <a:off x="4645152" y="4114800"/>
            <a:ext cx="2926080" cy="1280160"/>
          </a:xfrm>
          <a:prstGeom prst="rect">
            <a:avLst/>
          </a:prstGeom>
          <a:noFill/>
          <a:ln/>
        </p:spPr>
        <p:txBody>
          <a:bodyPr wrap="square" lIns="0" tIns="0" rIns="0" bIns="0" rtlCol="0" anchor="t"/>
          <a:lstStyle/>
          <a:p>
            <a:pPr indent="0" marL="0">
              <a:lnSpc>
                <a:spcPct val="115000"/>
              </a:lnSpc>
              <a:buNone/>
            </a:pPr>
            <a:r>
              <a:rPr lang="en-US" sz="1350" dirty="0">
                <a:solidFill>
                  <a:srgbClr val="5E6A78"/>
                </a:solidFill>
                <a:latin typeface="Arial" pitchFamily="34" charset="0"/>
                <a:ea typeface="Arial" pitchFamily="34" charset="-122"/>
                <a:cs typeface="Arial" pitchFamily="34" charset="-120"/>
              </a:rPr>
              <a:t>It knows nothing about your task until you tell it. Provide the details and the material.</a:t>
            </a:r>
            <a:endParaRPr lang="en-US" sz="1350" dirty="0"/>
          </a:p>
        </p:txBody>
      </p:sp>
      <p:sp>
        <p:nvSpPr>
          <p:cNvPr id="16" name="Shape 13"/>
          <p:cNvSpPr/>
          <p:nvPr/>
        </p:nvSpPr>
        <p:spPr>
          <a:xfrm>
            <a:off x="8010144" y="2148840"/>
            <a:ext cx="3502152" cy="3383280"/>
          </a:xfrm>
          <a:prstGeom prst="roundRect">
            <a:avLst>
              <a:gd name="adj" fmla="val 2432"/>
            </a:avLst>
          </a:prstGeom>
          <a:solidFill>
            <a:srgbClr val="FFFFFF"/>
          </a:solidFill>
          <a:ln w="12700">
            <a:solidFill>
              <a:srgbClr val="E7E9EE"/>
            </a:solidFill>
            <a:prstDash val="solid"/>
          </a:ln>
          <a:effectLst>
            <a:outerShdw sx="100000" sy="100000" kx="0" ky="0" algn="bl" rotWithShape="0" blurRad="88900" dist="38100" dir="5400000">
              <a:srgbClr val="1F2733">
                <a:alpha val="10000"/>
              </a:srgbClr>
            </a:outerShdw>
          </a:effectLst>
        </p:spPr>
      </p:sp>
      <p:sp>
        <p:nvSpPr>
          <p:cNvPr id="17" name="Shape 14"/>
          <p:cNvSpPr/>
          <p:nvPr/>
        </p:nvSpPr>
        <p:spPr>
          <a:xfrm>
            <a:off x="8330184" y="2468880"/>
            <a:ext cx="777240" cy="777240"/>
          </a:xfrm>
          <a:prstGeom prst="ellipse">
            <a:avLst/>
          </a:prstGeom>
          <a:solidFill>
            <a:srgbClr val="D31242"/>
          </a:solidFill>
          <a:ln/>
        </p:spPr>
      </p:sp>
      <p:sp>
        <p:nvSpPr>
          <p:cNvPr id="18" name="Text 15"/>
          <p:cNvSpPr/>
          <p:nvPr/>
        </p:nvSpPr>
        <p:spPr>
          <a:xfrm>
            <a:off x="8330184" y="246888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19" name="Text 16"/>
          <p:cNvSpPr/>
          <p:nvPr/>
        </p:nvSpPr>
        <p:spPr>
          <a:xfrm>
            <a:off x="8330184" y="3429000"/>
            <a:ext cx="2880360" cy="685800"/>
          </a:xfrm>
          <a:prstGeom prst="rect">
            <a:avLst/>
          </a:prstGeom>
          <a:noFill/>
          <a:ln/>
        </p:spPr>
        <p:txBody>
          <a:bodyPr wrap="square" lIns="0" tIns="0" rIns="0" bIns="0" rtlCol="0" anchor="t"/>
          <a:lstStyle/>
          <a:p>
            <a:pPr indent="0" marL="0">
              <a:lnSpc>
                <a:spcPct val="105000"/>
              </a:lnSpc>
              <a:buNone/>
            </a:pPr>
            <a:r>
              <a:rPr lang="en-US" sz="1800" b="1" dirty="0">
                <a:solidFill>
                  <a:srgbClr val="1F2733"/>
                </a:solidFill>
                <a:latin typeface="Arial" pitchFamily="34" charset="0"/>
                <a:ea typeface="Arial" pitchFamily="34" charset="-122"/>
                <a:cs typeface="Arial" pitchFamily="34" charset="-120"/>
              </a:rPr>
              <a:t>Check what matters</a:t>
            </a:r>
            <a:endParaRPr lang="en-US" sz="1800" dirty="0"/>
          </a:p>
        </p:txBody>
      </p:sp>
      <p:sp>
        <p:nvSpPr>
          <p:cNvPr id="20" name="Text 17"/>
          <p:cNvSpPr/>
          <p:nvPr/>
        </p:nvSpPr>
        <p:spPr>
          <a:xfrm>
            <a:off x="8330184" y="4114800"/>
            <a:ext cx="2926080" cy="1280160"/>
          </a:xfrm>
          <a:prstGeom prst="rect">
            <a:avLst/>
          </a:prstGeom>
          <a:noFill/>
          <a:ln/>
        </p:spPr>
        <p:txBody>
          <a:bodyPr wrap="square" lIns="0" tIns="0" rIns="0" bIns="0" rtlCol="0" anchor="t"/>
          <a:lstStyle/>
          <a:p>
            <a:pPr indent="0" marL="0">
              <a:lnSpc>
                <a:spcPct val="115000"/>
              </a:lnSpc>
              <a:buNone/>
            </a:pPr>
            <a:r>
              <a:rPr lang="en-US" sz="1350" dirty="0">
                <a:solidFill>
                  <a:srgbClr val="5E6A78"/>
                </a:solidFill>
                <a:latin typeface="Arial" pitchFamily="34" charset="0"/>
                <a:ea typeface="Arial" pitchFamily="34" charset="-122"/>
                <a:cs typeface="Arial" pitchFamily="34" charset="-120"/>
              </a:rPr>
              <a:t>Confident does not mean correct. Verify any fact, figure, or name before you use it.</a:t>
            </a:r>
            <a:endParaRPr lang="en-US" sz="1350" dirty="0"/>
          </a:p>
        </p:txBody>
      </p:sp>
      <p:sp>
        <p:nvSpPr>
          <p:cNvPr id="21"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22"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IT IN ACTION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task, asked two ways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331720"/>
            <a:ext cx="4754880" cy="320040"/>
          </a:xfrm>
          <a:prstGeom prst="rect">
            <a:avLst/>
          </a:prstGeom>
          <a:noFill/>
          <a:ln/>
        </p:spPr>
        <p:txBody>
          <a:bodyPr wrap="square" lIns="0" tIns="0" rIns="0" bIns="0" rtlCol="0" anchor="ctr"/>
          <a:lstStyle/>
          <a:p>
            <a:pPr indent="0" marL="0">
              <a:buNone/>
            </a:pPr>
            <a:r>
              <a:rPr lang="en-US" sz="1200" b="1" spc="150" kern="0" dirty="0">
                <a:solidFill>
                  <a:srgbClr val="5E6A78"/>
                </a:solidFill>
                <a:latin typeface="Arial" pitchFamily="34" charset="0"/>
                <a:ea typeface="Arial" pitchFamily="34" charset="-122"/>
                <a:cs typeface="Arial" pitchFamily="34" charset="-120"/>
              </a:rPr>
              <a:t>UNCLEAR REQUEST</a:t>
            </a:r>
            <a:endParaRPr lang="en-US" sz="1200" dirty="0"/>
          </a:p>
        </p:txBody>
      </p:sp>
      <p:sp>
        <p:nvSpPr>
          <p:cNvPr id="8" name="Text 5"/>
          <p:cNvSpPr/>
          <p:nvPr/>
        </p:nvSpPr>
        <p:spPr>
          <a:xfrm>
            <a:off x="914400" y="2697480"/>
            <a:ext cx="4754880" cy="960120"/>
          </a:xfrm>
          <a:prstGeom prst="rect">
            <a:avLst/>
          </a:prstGeom>
          <a:noFill/>
          <a:ln/>
        </p:spPr>
        <p:txBody>
          <a:bodyPr wrap="square" lIns="0" tIns="0" rIns="0" bIns="0" rtlCol="0" anchor="t"/>
          <a:lstStyle/>
          <a:p>
            <a:pPr indent="0" marL="0">
              <a:lnSpc>
                <a:spcPct val="110000"/>
              </a:lnSpc>
              <a:buNone/>
            </a:pPr>
            <a:r>
              <a:rPr lang="en-US" sz="1700" b="1" dirty="0">
                <a:solidFill>
                  <a:srgbClr val="1F2733"/>
                </a:solidFill>
                <a:latin typeface="Arial" pitchFamily="34" charset="0"/>
                <a:ea typeface="Arial" pitchFamily="34" charset="-122"/>
                <a:cs typeface="Arial" pitchFamily="34" charset="-120"/>
              </a:rPr>
              <a:t>“Write something about our new membership offer.”</a:t>
            </a:r>
            <a:endParaRPr lang="en-US" sz="1700" dirty="0"/>
          </a:p>
        </p:txBody>
      </p:sp>
      <p:sp>
        <p:nvSpPr>
          <p:cNvPr id="9" name="Text 6"/>
          <p:cNvSpPr/>
          <p:nvPr/>
        </p:nvSpPr>
        <p:spPr>
          <a:xfrm>
            <a:off x="914400" y="379476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4114800"/>
            <a:ext cx="4754880" cy="1371600"/>
          </a:xfrm>
          <a:prstGeom prst="rect">
            <a:avLst/>
          </a:prstGeom>
          <a:noFill/>
          <a:ln/>
        </p:spPr>
        <p:txBody>
          <a:bodyPr wrap="square" lIns="0" tIns="0" rIns="0" bIns="0" rtlCol="0" anchor="t"/>
          <a:lstStyle/>
          <a:p>
            <a:pPr indent="0" marL="0">
              <a:lnSpc>
                <a:spcPct val="115000"/>
              </a:lnSpc>
              <a:buNone/>
            </a:pPr>
            <a:r>
              <a:rPr lang="en-US" sz="1350" dirty="0">
                <a:solidFill>
                  <a:srgbClr val="3A4452"/>
                </a:solidFill>
                <a:latin typeface="Arial" pitchFamily="34" charset="0"/>
                <a:ea typeface="Arial" pitchFamily="34" charset="-122"/>
                <a:cs typeface="Arial" pitchFamily="34" charset="-120"/>
              </a:rPr>
              <a:t>Generic copy that guesses the details — the wrong price, the wrong dates — and may need a full rewrite.</a:t>
            </a:r>
            <a:endParaRPr lang="en-US" sz="13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331720"/>
            <a:ext cx="475488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Arial" pitchFamily="34" charset="0"/>
                <a:ea typeface="Arial" pitchFamily="34" charset="-122"/>
                <a:cs typeface="Arial" pitchFamily="34" charset="-120"/>
              </a:rPr>
              <a:t>CLEAR REQUEST</a:t>
            </a:r>
            <a:endParaRPr lang="en-US" sz="1200" dirty="0"/>
          </a:p>
        </p:txBody>
      </p:sp>
      <p:sp>
        <p:nvSpPr>
          <p:cNvPr id="13" name="Text 10"/>
          <p:cNvSpPr/>
          <p:nvPr/>
        </p:nvSpPr>
        <p:spPr>
          <a:xfrm>
            <a:off x="6492240" y="2697480"/>
            <a:ext cx="4754880" cy="1737360"/>
          </a:xfrm>
          <a:prstGeom prst="rect">
            <a:avLst/>
          </a:prstGeom>
          <a:noFill/>
          <a:ln/>
        </p:spPr>
        <p:txBody>
          <a:bodyPr wrap="square" lIns="0" tIns="0" rIns="0" bIns="0" rtlCol="0" anchor="t"/>
          <a:lstStyle/>
          <a:p>
            <a:pPr indent="0" marL="0">
              <a:lnSpc>
                <a:spcPct val="108000"/>
              </a:lnSpc>
              <a:buNone/>
            </a:pPr>
            <a:r>
              <a:rPr lang="en-US" sz="1350" b="1" dirty="0">
                <a:solidFill>
                  <a:srgbClr val="1F2733"/>
                </a:solidFill>
                <a:latin typeface="Arial" pitchFamily="34" charset="0"/>
                <a:ea typeface="Arial" pitchFamily="34" charset="-122"/>
                <a:cs typeface="Arial" pitchFamily="34" charset="-120"/>
              </a:rPr>
              <a:t>“You are helping a BJ's club manager. Using the offer details below, write a short, friendly announcement for club staff about the new membership promotion. Keep it under 100 words. [offer details]”</a:t>
            </a:r>
            <a:endParaRPr lang="en-US" sz="1350" dirty="0"/>
          </a:p>
        </p:txBody>
      </p:sp>
      <p:sp>
        <p:nvSpPr>
          <p:cNvPr id="14" name="Text 11"/>
          <p:cNvSpPr/>
          <p:nvPr/>
        </p:nvSpPr>
        <p:spPr>
          <a:xfrm>
            <a:off x="6492240" y="452628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5" name="Text 12"/>
          <p:cNvSpPr/>
          <p:nvPr/>
        </p:nvSpPr>
        <p:spPr>
          <a:xfrm>
            <a:off x="6492240" y="4846320"/>
            <a:ext cx="4754880" cy="777240"/>
          </a:xfrm>
          <a:prstGeom prst="rect">
            <a:avLst/>
          </a:prstGeom>
          <a:noFill/>
          <a:ln/>
        </p:spPr>
        <p:txBody>
          <a:bodyPr wrap="square" lIns="0" tIns="0" rIns="0" bIns="0" rtlCol="0" anchor="t"/>
          <a:lstStyle/>
          <a:p>
            <a:pPr indent="0" marL="0">
              <a:lnSpc>
                <a:spcPct val="112000"/>
              </a:lnSpc>
              <a:buNone/>
            </a:pPr>
            <a:r>
              <a:rPr lang="en-US" sz="1350" dirty="0">
                <a:solidFill>
                  <a:srgbClr val="3A4452"/>
                </a:solidFill>
                <a:latin typeface="Arial" pitchFamily="34" charset="0"/>
                <a:ea typeface="Arial" pitchFamily="34" charset="-122"/>
                <a:cs typeface="Arial" pitchFamily="34" charset="-120"/>
              </a:rPr>
              <a:t>On-target copy that uses the real details and is ready to send with a quick read-through.</a:t>
            </a:r>
            <a:endParaRPr lang="en-US" sz="13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Explain how it answers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It predicts likely words to build a reply — it does not look facts up.</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Spot when to check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confident answer is not proof. Verify any fact, figure, or name.</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Give it what it needs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It only knows the background and material you put in front of it.</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Use the three habits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Be clear and specific, give the background, and check what matters.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THE FOUNDATIONS</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Next: The Anatomy of a Prompt</a:t>
            </a:r>
            <a:endParaRPr lang="en-US" sz="4400" dirty="0"/>
          </a:p>
        </p:txBody>
      </p:sp>
      <p:sp>
        <p:nvSpPr>
          <p:cNvPr id="7" name="Text 5"/>
          <p:cNvSpPr/>
          <p:nvPr/>
        </p:nvSpPr>
        <p:spPr>
          <a:xfrm>
            <a:off x="658368" y="384048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In Module 2 we break a good instruction into its parts — so you have a simple, repeatable recipe to follow every time you ask.</a:t>
            </a:r>
            <a:endParaRPr lang="en-US" sz="1800" dirty="0"/>
          </a:p>
        </p:txBody>
      </p:sp>
      <p:sp>
        <p:nvSpPr>
          <p:cNvPr id="8" name="Shape 6"/>
          <p:cNvSpPr/>
          <p:nvPr/>
        </p:nvSpPr>
        <p:spPr>
          <a:xfrm>
            <a:off x="658368" y="5760720"/>
            <a:ext cx="502920" cy="50292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777240" y="5879592"/>
            <a:ext cx="265176" cy="265176"/>
          </a:xfrm>
          <a:prstGeom prst="rect">
            <a:avLst/>
          </a:prstGeom>
        </p:spPr>
      </p:pic>
      <p:sp>
        <p:nvSpPr>
          <p:cNvPr id="10" name="Text 7"/>
          <p:cNvSpPr/>
          <p:nvPr/>
        </p:nvSpPr>
        <p:spPr>
          <a:xfrm>
            <a:off x="1325880" y="5779008"/>
            <a:ext cx="9144000" cy="457200"/>
          </a:xfrm>
          <a:prstGeom prst="rect">
            <a:avLst/>
          </a:prstGeom>
          <a:noFill/>
          <a:ln/>
        </p:spPr>
        <p:txBody>
          <a:bodyPr wrap="square" lIns="0" tIns="0" rIns="0" bIns="0" rtlCol="0" anchor="ctr"/>
          <a:lstStyle/>
          <a:p>
            <a:pPr indent="0" marL="0">
              <a:buNone/>
            </a:pPr>
            <a:r>
              <a:rPr lang="en-US" sz="1400" i="1" dirty="0">
                <a:solidFill>
                  <a:srgbClr val="FFFFFF"/>
                </a:solidFill>
                <a:latin typeface="Arial" pitchFamily="34" charset="0"/>
                <a:ea typeface="Arial" pitchFamily="34" charset="-122"/>
                <a:cs typeface="Arial" pitchFamily="34" charset="-120"/>
              </a:rPr>
              <a:t>You are ready for the Beginner level once Module 2 is done.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A little more on how it works under the hood — for anyone who is curious.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How it reads your words in pieces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The assistant does not read whole words the way we do.</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It breaks your text into small pieces, works with those pieces, and predicts the next one. Most of the time you never notice — but it explains a few odd moments.</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Why it matters</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It can miscount the letters in a word, or stumble on an unusual spelling or a product code — because it sees the pieces, not the whole word. When exact characters or counts matter, check them yourself.</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Watch it miscount the letters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ASK IT STRAIGHT</a:t>
            </a:r>
            <a:endParaRPr lang="en-US" sz="1100" dirty="0"/>
          </a:p>
        </p:txBody>
      </p:sp>
      <p:sp>
        <p:nvSpPr>
          <p:cNvPr id="8" name="Text 5"/>
          <p:cNvSpPr/>
          <p:nvPr/>
        </p:nvSpPr>
        <p:spPr>
          <a:xfrm>
            <a:off x="914400" y="2606040"/>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“How many R's are in ‘strawberry’?”</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ANSWER YOU GET</a:t>
            </a:r>
            <a:endParaRPr lang="en-US" sz="1100" dirty="0"/>
          </a:p>
        </p:txBody>
      </p:sp>
      <p:sp>
        <p:nvSpPr>
          <p:cNvPr id="10" name="Text 7"/>
          <p:cNvSpPr/>
          <p:nvPr/>
        </p:nvSpPr>
        <p:spPr>
          <a:xfrm>
            <a:off x="914400" y="3520440"/>
            <a:ext cx="4754880" cy="548640"/>
          </a:xfrm>
          <a:prstGeom prst="rect">
            <a:avLst/>
          </a:prstGeom>
          <a:noFill/>
          <a:ln/>
        </p:spPr>
        <p:txBody>
          <a:bodyPr wrap="square" lIns="0" tIns="0" rIns="0" bIns="0" rtlCol="0" anchor="t"/>
          <a:lstStyle/>
          <a:p>
            <a:pPr indent="0" marL="0">
              <a:buNone/>
            </a:pPr>
            <a:r>
              <a:rPr lang="en-US" sz="2000" b="1" dirty="0">
                <a:solidFill>
                  <a:srgbClr val="1F2733"/>
                </a:solidFill>
                <a:latin typeface="Arial" pitchFamily="34" charset="0"/>
                <a:ea typeface="Arial" pitchFamily="34" charset="-122"/>
                <a:cs typeface="Arial" pitchFamily="34" charset="-120"/>
              </a:rPr>
              <a:t>“There are two.”</a:t>
            </a:r>
            <a:endParaRPr lang="en-US" sz="2000" dirty="0"/>
          </a:p>
        </p:txBody>
      </p:sp>
      <p:sp>
        <p:nvSpPr>
          <p:cNvPr id="11" name="Text 8"/>
          <p:cNvSpPr/>
          <p:nvPr/>
        </p:nvSpPr>
        <p:spPr>
          <a:xfrm>
            <a:off x="914400" y="4754880"/>
            <a:ext cx="4754880" cy="82296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Wrong — there are three. It's seeing pieces, not individual letters.</a:t>
            </a:r>
            <a:endParaRPr lang="en-US" sz="125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MAKE IT SLOW DOWN</a:t>
            </a:r>
            <a:endParaRPr lang="en-US" sz="1100" dirty="0"/>
          </a:p>
        </p:txBody>
      </p:sp>
      <p:sp>
        <p:nvSpPr>
          <p:cNvPr id="14" name="Text 11"/>
          <p:cNvSpPr/>
          <p:nvPr/>
        </p:nvSpPr>
        <p:spPr>
          <a:xfrm>
            <a:off x="6492240" y="2606040"/>
            <a:ext cx="4754880" cy="54864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“Spell out ‘strawberry’ and count the R's one by one.”</a:t>
            </a:r>
            <a:endParaRPr lang="en-US" sz="1300" dirty="0"/>
          </a:p>
        </p:txBody>
      </p:sp>
      <p:sp>
        <p:nvSpPr>
          <p:cNvPr id="15" name="Text 12"/>
          <p:cNvSpPr/>
          <p:nvPr/>
        </p:nvSpPr>
        <p:spPr>
          <a:xfrm>
            <a:off x="6492240" y="32918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ANSWER YOU GET</a:t>
            </a:r>
            <a:endParaRPr lang="en-US" sz="1100" dirty="0"/>
          </a:p>
        </p:txBody>
      </p:sp>
      <p:sp>
        <p:nvSpPr>
          <p:cNvPr id="16" name="Text 13"/>
          <p:cNvSpPr/>
          <p:nvPr/>
        </p:nvSpPr>
        <p:spPr>
          <a:xfrm>
            <a:off x="6492240" y="3611880"/>
            <a:ext cx="4754880" cy="822960"/>
          </a:xfrm>
          <a:prstGeom prst="rect">
            <a:avLst/>
          </a:prstGeom>
          <a:noFill/>
          <a:ln/>
        </p:spPr>
        <p:txBody>
          <a:bodyPr wrap="square" lIns="0" tIns="0" rIns="0" bIns="0" rtlCol="0" anchor="t"/>
          <a:lstStyle/>
          <a:p>
            <a:pPr indent="0" marL="0">
              <a:lnSpc>
                <a:spcPct val="112000"/>
              </a:lnSpc>
              <a:buNone/>
            </a:pPr>
            <a:r>
              <a:rPr lang="en-US" sz="1600" b="1" dirty="0">
                <a:solidFill>
                  <a:srgbClr val="1F2733"/>
                </a:solidFill>
                <a:latin typeface="Arial" pitchFamily="34" charset="0"/>
                <a:ea typeface="Arial" pitchFamily="34" charset="-122"/>
                <a:cs typeface="Arial" pitchFamily="34" charset="-120"/>
              </a:rPr>
              <a:t>“s-t-r-a-w-b-e-r-r-y — that's three R's.”</a:t>
            </a:r>
            <a:endParaRPr lang="en-US" sz="1600" dirty="0"/>
          </a:p>
        </p:txBody>
      </p:sp>
      <p:sp>
        <p:nvSpPr>
          <p:cNvPr id="17" name="Text 14"/>
          <p:cNvSpPr/>
          <p:nvPr/>
        </p:nvSpPr>
        <p:spPr>
          <a:xfrm>
            <a:off x="6492240" y="4937760"/>
            <a:ext cx="4754880" cy="54864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Forced to go letter by letter, it gets it right.</a:t>
            </a:r>
            <a:endParaRPr lang="en-US" sz="125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APPENDIX</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dial that controls how much it varies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Remember that answers vary each time?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Behind that is a setting that controls how adventurous the wording is. Lower it and replies come back steadier and more predictable. Raise it and they get more varied and creative.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Practical use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600" b="1" dirty="0">
                <a:solidFill>
                  <a:srgbClr val="1F2733"/>
                </a:solidFill>
                <a:latin typeface="Arial" pitchFamily="34" charset="0"/>
                <a:ea typeface="Arial" pitchFamily="34" charset="-122"/>
                <a:cs typeface="Arial" pitchFamily="34" charset="-120"/>
              </a:rPr>
              <a:t>Some tools let you adjust this. Keep it low for factual, consistent work like policies or figures. Raise it for brainstorming, or when you want fresh wording.</a:t>
            </a:r>
            <a:endParaRPr lang="en-US" sz="16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request, dialed low then high</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DIALED LOW — STEADY</a:t>
            </a:r>
            <a:endParaRPr lang="en-US" sz="1100" dirty="0"/>
          </a:p>
        </p:txBody>
      </p:sp>
      <p:sp>
        <p:nvSpPr>
          <p:cNvPr id="8" name="Text 5"/>
          <p:cNvSpPr/>
          <p:nvPr/>
        </p:nvSpPr>
        <p:spPr>
          <a:xfrm>
            <a:off x="914400" y="2606040"/>
            <a:ext cx="4754880" cy="548640"/>
          </a:xfrm>
          <a:prstGeom prst="rect">
            <a:avLst/>
          </a:prstGeom>
          <a:noFill/>
          <a:ln/>
        </p:spPr>
        <p:txBody>
          <a:bodyPr wrap="square" lIns="0" tIns="0" rIns="0" bIns="0" rtlCol="0" anchor="t"/>
          <a:lstStyle/>
          <a:p>
            <a:pPr indent="0" marL="0">
              <a:lnSpc>
                <a:spcPct val="110000"/>
              </a:lnSpc>
              <a:buNone/>
            </a:pPr>
            <a:r>
              <a:rPr lang="en-US" sz="1250" i="1" dirty="0">
                <a:solidFill>
                  <a:srgbClr val="5E6A78"/>
                </a:solidFill>
                <a:latin typeface="Arial" pitchFamily="34" charset="0"/>
                <a:ea typeface="Arial" pitchFamily="34" charset="-122"/>
                <a:cs typeface="Arial" pitchFamily="34" charset="-120"/>
              </a:rPr>
              <a:t>“Write a tagline for our organic produce.” — asked three times:</a:t>
            </a:r>
            <a:endParaRPr lang="en-US" sz="1250" dirty="0"/>
          </a:p>
        </p:txBody>
      </p:sp>
      <p:sp>
        <p:nvSpPr>
          <p:cNvPr id="9" name="Text 6"/>
          <p:cNvSpPr/>
          <p:nvPr/>
        </p:nvSpPr>
        <p:spPr>
          <a:xfrm>
            <a:off x="914400" y="3337560"/>
            <a:ext cx="4754880" cy="1554480"/>
          </a:xfrm>
          <a:prstGeom prst="rect">
            <a:avLst/>
          </a:prstGeom>
          <a:noFill/>
          <a:ln/>
        </p:spPr>
        <p:txBody>
          <a:bodyPr wrap="square" lIns="0" tIns="0" rIns="0" bIns="0" rtlCol="0" anchor="t"/>
          <a:lstStyle/>
          <a:p>
            <a:pPr indent="0" marL="0">
              <a:lnSpc>
                <a:spcPct val="135000"/>
              </a:lnSpc>
              <a:buNone/>
            </a:pPr>
            <a:r>
              <a:rPr lang="en-US" sz="1400" b="1" dirty="0">
                <a:solidFill>
                  <a:srgbClr val="1F2733"/>
                </a:solidFill>
                <a:latin typeface="Arial" pitchFamily="34" charset="0"/>
                <a:ea typeface="Arial" pitchFamily="34" charset="-122"/>
                <a:cs typeface="Arial" pitchFamily="34" charset="-120"/>
              </a:rPr>
              <a:t>“Fresh organic produce, everyday value.”</a:t>
            </a:r>
            <a:endParaRPr lang="en-US" sz="1400" dirty="0"/>
          </a:p>
          <a:p>
            <a:pPr indent="0" marL="0">
              <a:lnSpc>
                <a:spcPct val="135000"/>
              </a:lnSpc>
              <a:buNone/>
            </a:pPr>
            <a:r>
              <a:rPr lang="en-US" sz="1400" b="1" dirty="0">
                <a:solidFill>
                  <a:srgbClr val="1F2733"/>
                </a:solidFill>
                <a:latin typeface="Arial" pitchFamily="34" charset="0"/>
                <a:ea typeface="Arial" pitchFamily="34" charset="-122"/>
                <a:cs typeface="Arial" pitchFamily="34" charset="-120"/>
              </a:rPr>
              <a:t>“Fresh organic produce — everyday value.”</a:t>
            </a:r>
            <a:endParaRPr lang="en-US" sz="1400" dirty="0"/>
          </a:p>
          <a:p>
            <a:pPr indent="0" marL="0">
              <a:lnSpc>
                <a:spcPct val="135000"/>
              </a:lnSpc>
              <a:buNone/>
            </a:pPr>
            <a:r>
              <a:rPr lang="en-US" sz="1400" b="1" dirty="0">
                <a:solidFill>
                  <a:srgbClr val="1F2733"/>
                </a:solidFill>
                <a:latin typeface="Arial" pitchFamily="34" charset="0"/>
                <a:ea typeface="Arial" pitchFamily="34" charset="-122"/>
                <a:cs typeface="Arial" pitchFamily="34" charset="-120"/>
              </a:rPr>
              <a:t>“Organic produce, everyday value.”</a:t>
            </a:r>
            <a:endParaRPr lang="en-US" sz="1400" dirty="0"/>
          </a:p>
        </p:txBody>
      </p:sp>
      <p:sp>
        <p:nvSpPr>
          <p:cNvPr id="10" name="Text 7"/>
          <p:cNvSpPr/>
          <p:nvPr/>
        </p:nvSpPr>
        <p:spPr>
          <a:xfrm>
            <a:off x="914400" y="5212080"/>
            <a:ext cx="4754880" cy="36576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Nearly identical every time.</a:t>
            </a:r>
            <a:endParaRPr lang="en-US" sz="12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DIALED HIGH — VARIED</a:t>
            </a:r>
            <a:endParaRPr lang="en-US" sz="1100" dirty="0"/>
          </a:p>
        </p:txBody>
      </p:sp>
      <p:sp>
        <p:nvSpPr>
          <p:cNvPr id="13" name="Text 10"/>
          <p:cNvSpPr/>
          <p:nvPr/>
        </p:nvSpPr>
        <p:spPr>
          <a:xfrm>
            <a:off x="6492240" y="2606040"/>
            <a:ext cx="4754880" cy="36576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The same request, asked three times:</a:t>
            </a:r>
            <a:endParaRPr lang="en-US" sz="1250" dirty="0"/>
          </a:p>
        </p:txBody>
      </p:sp>
      <p:sp>
        <p:nvSpPr>
          <p:cNvPr id="14" name="Text 11"/>
          <p:cNvSpPr/>
          <p:nvPr/>
        </p:nvSpPr>
        <p:spPr>
          <a:xfrm>
            <a:off x="6492240" y="3154680"/>
            <a:ext cx="4754880" cy="1645920"/>
          </a:xfrm>
          <a:prstGeom prst="rect">
            <a:avLst/>
          </a:prstGeom>
          <a:noFill/>
          <a:ln/>
        </p:spPr>
        <p:txBody>
          <a:bodyPr wrap="square" lIns="0" tIns="0" rIns="0" bIns="0" rtlCol="0" anchor="t"/>
          <a:lstStyle/>
          <a:p>
            <a:pPr indent="0" marL="0">
              <a:lnSpc>
                <a:spcPct val="135000"/>
              </a:lnSpc>
              <a:buNone/>
            </a:pPr>
            <a:r>
              <a:rPr lang="en-US" sz="1400" b="1" dirty="0">
                <a:solidFill>
                  <a:srgbClr val="1F2733"/>
                </a:solidFill>
                <a:latin typeface="Arial" pitchFamily="34" charset="0"/>
                <a:ea typeface="Arial" pitchFamily="34" charset="-122"/>
                <a:cs typeface="Arial" pitchFamily="34" charset="-120"/>
              </a:rPr>
              <a:t>“Farm-fresh, club-priced.”</a:t>
            </a:r>
            <a:endParaRPr lang="en-US" sz="1400" dirty="0"/>
          </a:p>
          <a:p>
            <a:pPr indent="0" marL="0">
              <a:lnSpc>
                <a:spcPct val="135000"/>
              </a:lnSpc>
              <a:buNone/>
            </a:pPr>
            <a:r>
              <a:rPr lang="en-US" sz="1400" b="1" dirty="0">
                <a:solidFill>
                  <a:srgbClr val="1F2733"/>
                </a:solidFill>
                <a:latin typeface="Arial" pitchFamily="34" charset="0"/>
                <a:ea typeface="Arial" pitchFamily="34" charset="-122"/>
                <a:cs typeface="Arial" pitchFamily="34" charset="-120"/>
              </a:rPr>
              <a:t>“Organic that won't break the budget.”</a:t>
            </a:r>
            <a:endParaRPr lang="en-US" sz="1400" dirty="0"/>
          </a:p>
          <a:p>
            <a:pPr indent="0" marL="0">
              <a:lnSpc>
                <a:spcPct val="135000"/>
              </a:lnSpc>
              <a:buNone/>
            </a:pPr>
            <a:r>
              <a:rPr lang="en-US" sz="1400" b="1" dirty="0">
                <a:solidFill>
                  <a:srgbClr val="1F2733"/>
                </a:solidFill>
                <a:latin typeface="Arial" pitchFamily="34" charset="0"/>
                <a:ea typeface="Arial" pitchFamily="34" charset="-122"/>
                <a:cs typeface="Arial" pitchFamily="34" charset="-120"/>
              </a:rPr>
              <a:t>“Green aisle, great value.”</a:t>
            </a:r>
            <a:endParaRPr lang="en-US" sz="1400" dirty="0"/>
          </a:p>
        </p:txBody>
      </p:sp>
      <p:sp>
        <p:nvSpPr>
          <p:cNvPr id="15" name="Text 12"/>
          <p:cNvSpPr/>
          <p:nvPr/>
        </p:nvSpPr>
        <p:spPr>
          <a:xfrm>
            <a:off x="6492240" y="5212080"/>
            <a:ext cx="4754880" cy="36576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Fresh and different each time.</a:t>
            </a:r>
            <a:endParaRPr lang="en-US" sz="12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How much it can keep in view</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Going deeper on the desk picture from earlier.</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The assistant can only keep so much text in view at once. Your instructions, the material you pasted, and the whole conversation so far all share that same space. In a long back-and-forth, the earliest parts can quietly drop off the edge.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Practical habit</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600" b="1" dirty="0">
                <a:solidFill>
                  <a:srgbClr val="1F2733"/>
                </a:solidFill>
                <a:latin typeface="Arial" pitchFamily="34" charset="0"/>
                <a:ea typeface="Arial" pitchFamily="34" charset="-122"/>
                <a:cs typeface="Arial" pitchFamily="34" charset="-120"/>
              </a:rPr>
              <a:t>For long tasks, restate the key facts near the end so they stay in view. And start a fresh conversation when a chat gets very long or drifts off topic.</a:t>
            </a:r>
            <a:endParaRPr lang="en-US" sz="16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See it lose the earliest details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THE PROBLEM</a:t>
            </a:r>
            <a:endParaRPr lang="en-US" sz="1100" dirty="0"/>
          </a:p>
        </p:txBody>
      </p:sp>
      <p:sp>
        <p:nvSpPr>
          <p:cNvPr id="8" name="Text 5"/>
          <p:cNvSpPr/>
          <p:nvPr/>
        </p:nvSpPr>
        <p:spPr>
          <a:xfrm>
            <a:off x="914400" y="2606040"/>
            <a:ext cx="4754880" cy="822960"/>
          </a:xfrm>
          <a:prstGeom prst="rect">
            <a:avLst/>
          </a:prstGeom>
          <a:noFill/>
          <a:ln/>
        </p:spPr>
        <p:txBody>
          <a:bodyPr wrap="square" lIns="0" tIns="0" rIns="0" bIns="0" rtlCol="0" anchor="t"/>
          <a:lstStyle/>
          <a:p>
            <a:pPr indent="0" marL="0">
              <a:lnSpc>
                <a:spcPct val="115000"/>
              </a:lnSpc>
              <a:buNone/>
            </a:pPr>
            <a:r>
              <a:rPr lang="en-US" sz="1300" i="1" dirty="0">
                <a:solidFill>
                  <a:srgbClr val="5E6A78"/>
                </a:solidFill>
                <a:latin typeface="Arial" pitchFamily="34" charset="0"/>
                <a:ea typeface="Arial" pitchFamily="34" charset="-122"/>
                <a:cs typeface="Arial" pitchFamily="34" charset="-120"/>
              </a:rPr>
              <a:t>Early in a long chat you say the member is named Maria. Forty messages later:</a:t>
            </a:r>
            <a:endParaRPr lang="en-US" sz="1300" dirty="0"/>
          </a:p>
        </p:txBody>
      </p:sp>
      <p:sp>
        <p:nvSpPr>
          <p:cNvPr id="9" name="Text 6"/>
          <p:cNvSpPr/>
          <p:nvPr/>
        </p:nvSpPr>
        <p:spPr>
          <a:xfrm>
            <a:off x="914400" y="3520440"/>
            <a:ext cx="4754880" cy="457200"/>
          </a:xfrm>
          <a:prstGeom prst="rect">
            <a:avLst/>
          </a:prstGeom>
          <a:noFill/>
          <a:ln/>
        </p:spPr>
        <p:txBody>
          <a:bodyPr wrap="square" lIns="0" tIns="0" rIns="0" bIns="0" rtlCol="0" anchor="t"/>
          <a:lstStyle/>
          <a:p>
            <a:pPr indent="0" marL="0">
              <a:buNone/>
            </a:pPr>
            <a:r>
              <a:rPr lang="en-US" sz="1450" b="1" dirty="0">
                <a:solidFill>
                  <a:srgbClr val="1F2733"/>
                </a:solidFill>
                <a:latin typeface="Arial" pitchFamily="34" charset="0"/>
                <a:ea typeface="Arial" pitchFamily="34" charset="-122"/>
                <a:cs typeface="Arial" pitchFamily="34" charset="-120"/>
              </a:rPr>
              <a:t>You ask: “What was her name again?”</a:t>
            </a:r>
            <a:endParaRPr lang="en-US" sz="1450" dirty="0"/>
          </a:p>
        </p:txBody>
      </p:sp>
      <p:sp>
        <p:nvSpPr>
          <p:cNvPr id="10" name="Text 7"/>
          <p:cNvSpPr/>
          <p:nvPr/>
        </p:nvSpPr>
        <p:spPr>
          <a:xfrm>
            <a:off x="914400" y="4160520"/>
            <a:ext cx="4754880" cy="128016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“Sorry, I don't have that.”  —  Maria dropped off the edge of the desk.</a:t>
            </a:r>
            <a:endParaRPr lang="en-US" sz="14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THE FIX</a:t>
            </a:r>
            <a:endParaRPr lang="en-US" sz="1100" dirty="0"/>
          </a:p>
        </p:txBody>
      </p:sp>
      <p:sp>
        <p:nvSpPr>
          <p:cNvPr id="13" name="Text 10"/>
          <p:cNvSpPr/>
          <p:nvPr/>
        </p:nvSpPr>
        <p:spPr>
          <a:xfrm>
            <a:off x="6492240" y="2606040"/>
            <a:ext cx="4754880" cy="54864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Restate the key detail right next to your question:</a:t>
            </a:r>
            <a:endParaRPr lang="en-US" sz="1300" dirty="0"/>
          </a:p>
        </p:txBody>
      </p:sp>
      <p:sp>
        <p:nvSpPr>
          <p:cNvPr id="14" name="Text 11"/>
          <p:cNvSpPr/>
          <p:nvPr/>
        </p:nvSpPr>
        <p:spPr>
          <a:xfrm>
            <a:off x="6492240" y="3246120"/>
            <a:ext cx="4754880" cy="1188720"/>
          </a:xfrm>
          <a:prstGeom prst="rect">
            <a:avLst/>
          </a:prstGeom>
          <a:noFill/>
          <a:ln/>
        </p:spPr>
        <p:txBody>
          <a:bodyPr wrap="square" lIns="0" tIns="0" rIns="0" bIns="0" rtlCol="0" anchor="t"/>
          <a:lstStyle/>
          <a:p>
            <a:pPr indent="0" marL="0">
              <a:lnSpc>
                <a:spcPct val="114000"/>
              </a:lnSpc>
              <a:buNone/>
            </a:pPr>
            <a:r>
              <a:rPr lang="en-US" sz="1500" b="1" dirty="0">
                <a:solidFill>
                  <a:srgbClr val="1F2733"/>
                </a:solidFill>
                <a:latin typeface="Arial" pitchFamily="34" charset="0"/>
                <a:ea typeface="Arial" pitchFamily="34" charset="-122"/>
                <a:cs typeface="Arial" pitchFamily="34" charset="-120"/>
              </a:rPr>
              <a:t>“Earlier I mentioned the member is Maria — draft her a thank-you note.”</a:t>
            </a:r>
            <a:endParaRPr lang="en-US" sz="1500" dirty="0"/>
          </a:p>
        </p:txBody>
      </p:sp>
      <p:sp>
        <p:nvSpPr>
          <p:cNvPr id="15" name="Text 12"/>
          <p:cNvSpPr/>
          <p:nvPr/>
        </p:nvSpPr>
        <p:spPr>
          <a:xfrm>
            <a:off x="6492240" y="4937760"/>
            <a:ext cx="4754880" cy="45720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Back in view, it uses it correctly.</a:t>
            </a:r>
            <a:endParaRPr lang="en-US" sz="12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MODULE 2</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The Anatomy of a Prompt</a:t>
            </a:r>
            <a:endParaRPr lang="en-US" sz="5000" dirty="0"/>
          </a:p>
        </p:txBody>
      </p:sp>
      <p:sp>
        <p:nvSpPr>
          <p:cNvPr id="7" name="Text 5"/>
          <p:cNvSpPr/>
          <p:nvPr/>
        </p:nvSpPr>
        <p:spPr>
          <a:xfrm>
            <a:off x="658368" y="4023360"/>
            <a:ext cx="9601200" cy="109728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The simple, repeatable recipe we promised — the parts every good prompt is built from.</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Name the parts that make up a good prompt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A simple recipe you can follow every time.</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Write a clear role and task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Tell the assistant who to be and exactly what to do.</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Give it the right background and information</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facts and material the job actually needs.</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Shape how the answer comes back</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Its format, its length, and its tone.</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BIG IDEA</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good prompt answers four simple questions</a:t>
            </a:r>
            <a:endParaRPr lang="en-US" sz="3000" dirty="0"/>
          </a:p>
        </p:txBody>
      </p:sp>
      <p:sp>
        <p:nvSpPr>
          <p:cNvPr id="6" name="Shape 3"/>
          <p:cNvSpPr/>
          <p:nvPr/>
        </p:nvSpPr>
        <p:spPr>
          <a:xfrm>
            <a:off x="640080" y="2286000"/>
            <a:ext cx="2587752" cy="2468880"/>
          </a:xfrm>
          <a:prstGeom prst="roundRect">
            <a:avLst>
              <a:gd name="adj" fmla="val 3333"/>
            </a:avLst>
          </a:prstGeom>
          <a:solidFill>
            <a:srgbClr val="F5F6F8"/>
          </a:solidFill>
          <a:ln w="12700">
            <a:solidFill>
              <a:srgbClr val="E7E9EE"/>
            </a:solidFill>
            <a:prstDash val="solid"/>
          </a:ln>
        </p:spPr>
      </p:sp>
      <p:sp>
        <p:nvSpPr>
          <p:cNvPr id="7" name="Shape 4"/>
          <p:cNvSpPr/>
          <p:nvPr/>
        </p:nvSpPr>
        <p:spPr>
          <a:xfrm>
            <a:off x="868680" y="2560320"/>
            <a:ext cx="502920" cy="502920"/>
          </a:xfrm>
          <a:prstGeom prst="ellipse">
            <a:avLst/>
          </a:prstGeom>
          <a:solidFill>
            <a:srgbClr val="D31242"/>
          </a:solidFill>
          <a:ln/>
        </p:spPr>
      </p:sp>
      <p:sp>
        <p:nvSpPr>
          <p:cNvPr id="8" name="Text 5"/>
          <p:cNvSpPr/>
          <p:nvPr/>
        </p:nvSpPr>
        <p:spPr>
          <a:xfrm>
            <a:off x="868680"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868680" y="3246120"/>
            <a:ext cx="2148840" cy="777240"/>
          </a:xfrm>
          <a:prstGeom prst="rect">
            <a:avLst/>
          </a:prstGeom>
          <a:noFill/>
          <a:ln/>
        </p:spPr>
        <p:txBody>
          <a:bodyPr wrap="square" lIns="0" tIns="0" rIns="0" bIns="0" rtlCol="0" anchor="t"/>
          <a:lstStyle/>
          <a:p>
            <a:pPr indent="0" marL="0">
              <a:lnSpc>
                <a:spcPct val="105000"/>
              </a:lnSpc>
              <a:buNone/>
            </a:pPr>
            <a:r>
              <a:rPr lang="en-US" sz="1650" b="1" dirty="0">
                <a:solidFill>
                  <a:srgbClr val="1F2733"/>
                </a:solidFill>
                <a:latin typeface="Arial" pitchFamily="34" charset="0"/>
                <a:ea typeface="Arial" pitchFamily="34" charset="-122"/>
                <a:cs typeface="Arial" pitchFamily="34" charset="-120"/>
              </a:rPr>
              <a:t>Who should it be?</a:t>
            </a:r>
            <a:endParaRPr lang="en-US" sz="1650" dirty="0"/>
          </a:p>
        </p:txBody>
      </p:sp>
      <p:sp>
        <p:nvSpPr>
          <p:cNvPr id="10" name="Text 7"/>
          <p:cNvSpPr/>
          <p:nvPr/>
        </p:nvSpPr>
        <p:spPr>
          <a:xfrm>
            <a:off x="868680" y="3977640"/>
            <a:ext cx="2194560" cy="685800"/>
          </a:xfrm>
          <a:prstGeom prst="rect">
            <a:avLst/>
          </a:prstGeom>
          <a:noFill/>
          <a:ln/>
        </p:spPr>
        <p:txBody>
          <a:bodyPr wrap="square" lIns="0" tIns="0" rIns="0" bIns="0" rtlCol="0" anchor="t"/>
          <a:lstStyle/>
          <a:p>
            <a:pPr indent="0" marL="0">
              <a:lnSpc>
                <a:spcPct val="110000"/>
              </a:lnSpc>
              <a:buNone/>
            </a:pPr>
            <a:r>
              <a:rPr lang="en-US" sz="1250" dirty="0">
                <a:solidFill>
                  <a:srgbClr val="5E6A78"/>
                </a:solidFill>
                <a:latin typeface="Arial" pitchFamily="34" charset="0"/>
                <a:ea typeface="Arial" pitchFamily="34" charset="-122"/>
                <a:cs typeface="Arial" pitchFamily="34" charset="-120"/>
              </a:rPr>
              <a:t>A role for the assistant to take.</a:t>
            </a:r>
            <a:endParaRPr lang="en-US" sz="1250" dirty="0"/>
          </a:p>
        </p:txBody>
      </p:sp>
      <p:sp>
        <p:nvSpPr>
          <p:cNvPr id="11" name="Shape 8"/>
          <p:cNvSpPr/>
          <p:nvPr/>
        </p:nvSpPr>
        <p:spPr>
          <a:xfrm>
            <a:off x="3346704" y="2286000"/>
            <a:ext cx="2587752" cy="2468880"/>
          </a:xfrm>
          <a:prstGeom prst="roundRect">
            <a:avLst>
              <a:gd name="adj" fmla="val 3333"/>
            </a:avLst>
          </a:prstGeom>
          <a:solidFill>
            <a:srgbClr val="F5F6F8"/>
          </a:solidFill>
          <a:ln w="12700">
            <a:solidFill>
              <a:srgbClr val="E7E9EE"/>
            </a:solidFill>
            <a:prstDash val="solid"/>
          </a:ln>
        </p:spPr>
      </p:sp>
      <p:sp>
        <p:nvSpPr>
          <p:cNvPr id="12" name="Shape 9"/>
          <p:cNvSpPr/>
          <p:nvPr/>
        </p:nvSpPr>
        <p:spPr>
          <a:xfrm>
            <a:off x="3575304" y="2560320"/>
            <a:ext cx="502920" cy="502920"/>
          </a:xfrm>
          <a:prstGeom prst="ellipse">
            <a:avLst/>
          </a:prstGeom>
          <a:solidFill>
            <a:srgbClr val="D31242"/>
          </a:solidFill>
          <a:ln/>
        </p:spPr>
      </p:sp>
      <p:sp>
        <p:nvSpPr>
          <p:cNvPr id="13" name="Text 10"/>
          <p:cNvSpPr/>
          <p:nvPr/>
        </p:nvSpPr>
        <p:spPr>
          <a:xfrm>
            <a:off x="3575304"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4" name="Text 11"/>
          <p:cNvSpPr/>
          <p:nvPr/>
        </p:nvSpPr>
        <p:spPr>
          <a:xfrm>
            <a:off x="3575304" y="3246120"/>
            <a:ext cx="2148840" cy="777240"/>
          </a:xfrm>
          <a:prstGeom prst="rect">
            <a:avLst/>
          </a:prstGeom>
          <a:noFill/>
          <a:ln/>
        </p:spPr>
        <p:txBody>
          <a:bodyPr wrap="square" lIns="0" tIns="0" rIns="0" bIns="0" rtlCol="0" anchor="t"/>
          <a:lstStyle/>
          <a:p>
            <a:pPr indent="0" marL="0">
              <a:lnSpc>
                <a:spcPct val="105000"/>
              </a:lnSpc>
              <a:buNone/>
            </a:pPr>
            <a:r>
              <a:rPr lang="en-US" sz="1650" b="1" dirty="0">
                <a:solidFill>
                  <a:srgbClr val="1F2733"/>
                </a:solidFill>
                <a:latin typeface="Arial" pitchFamily="34" charset="0"/>
                <a:ea typeface="Arial" pitchFamily="34" charset="-122"/>
                <a:cs typeface="Arial" pitchFamily="34" charset="-120"/>
              </a:rPr>
              <a:t>What should it do?</a:t>
            </a:r>
            <a:endParaRPr lang="en-US" sz="1650" dirty="0"/>
          </a:p>
        </p:txBody>
      </p:sp>
      <p:sp>
        <p:nvSpPr>
          <p:cNvPr id="15" name="Text 12"/>
          <p:cNvSpPr/>
          <p:nvPr/>
        </p:nvSpPr>
        <p:spPr>
          <a:xfrm>
            <a:off x="3575304" y="3977640"/>
            <a:ext cx="2194560" cy="685800"/>
          </a:xfrm>
          <a:prstGeom prst="rect">
            <a:avLst/>
          </a:prstGeom>
          <a:noFill/>
          <a:ln/>
        </p:spPr>
        <p:txBody>
          <a:bodyPr wrap="square" lIns="0" tIns="0" rIns="0" bIns="0" rtlCol="0" anchor="t"/>
          <a:lstStyle/>
          <a:p>
            <a:pPr indent="0" marL="0">
              <a:lnSpc>
                <a:spcPct val="110000"/>
              </a:lnSpc>
              <a:buNone/>
            </a:pPr>
            <a:r>
              <a:rPr lang="en-US" sz="1250" dirty="0">
                <a:solidFill>
                  <a:srgbClr val="5E6A78"/>
                </a:solidFill>
                <a:latin typeface="Arial" pitchFamily="34" charset="0"/>
                <a:ea typeface="Arial" pitchFamily="34" charset="-122"/>
                <a:cs typeface="Arial" pitchFamily="34" charset="-120"/>
              </a:rPr>
              <a:t>The task you want done.</a:t>
            </a:r>
            <a:endParaRPr lang="en-US" sz="1250" dirty="0"/>
          </a:p>
        </p:txBody>
      </p:sp>
      <p:sp>
        <p:nvSpPr>
          <p:cNvPr id="16" name="Shape 13"/>
          <p:cNvSpPr/>
          <p:nvPr/>
        </p:nvSpPr>
        <p:spPr>
          <a:xfrm>
            <a:off x="6053328" y="2286000"/>
            <a:ext cx="2587752" cy="2468880"/>
          </a:xfrm>
          <a:prstGeom prst="roundRect">
            <a:avLst>
              <a:gd name="adj" fmla="val 3333"/>
            </a:avLst>
          </a:prstGeom>
          <a:solidFill>
            <a:srgbClr val="F5F6F8"/>
          </a:solidFill>
          <a:ln w="12700">
            <a:solidFill>
              <a:srgbClr val="E7E9EE"/>
            </a:solidFill>
            <a:prstDash val="solid"/>
          </a:ln>
        </p:spPr>
      </p:sp>
      <p:sp>
        <p:nvSpPr>
          <p:cNvPr id="17" name="Shape 14"/>
          <p:cNvSpPr/>
          <p:nvPr/>
        </p:nvSpPr>
        <p:spPr>
          <a:xfrm>
            <a:off x="6281928" y="2560320"/>
            <a:ext cx="502920" cy="502920"/>
          </a:xfrm>
          <a:prstGeom prst="ellipse">
            <a:avLst/>
          </a:prstGeom>
          <a:solidFill>
            <a:srgbClr val="D31242"/>
          </a:solidFill>
          <a:ln/>
        </p:spPr>
      </p:sp>
      <p:sp>
        <p:nvSpPr>
          <p:cNvPr id="18" name="Text 15"/>
          <p:cNvSpPr/>
          <p:nvPr/>
        </p:nvSpPr>
        <p:spPr>
          <a:xfrm>
            <a:off x="6281928"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Text 16"/>
          <p:cNvSpPr/>
          <p:nvPr/>
        </p:nvSpPr>
        <p:spPr>
          <a:xfrm>
            <a:off x="6281928" y="3246120"/>
            <a:ext cx="2148840" cy="777240"/>
          </a:xfrm>
          <a:prstGeom prst="rect">
            <a:avLst/>
          </a:prstGeom>
          <a:noFill/>
          <a:ln/>
        </p:spPr>
        <p:txBody>
          <a:bodyPr wrap="square" lIns="0" tIns="0" rIns="0" bIns="0" rtlCol="0" anchor="t"/>
          <a:lstStyle/>
          <a:p>
            <a:pPr indent="0" marL="0">
              <a:lnSpc>
                <a:spcPct val="105000"/>
              </a:lnSpc>
              <a:buNone/>
            </a:pPr>
            <a:r>
              <a:rPr lang="en-US" sz="1650" b="1" dirty="0">
                <a:solidFill>
                  <a:srgbClr val="1F2733"/>
                </a:solidFill>
                <a:latin typeface="Arial" pitchFamily="34" charset="0"/>
                <a:ea typeface="Arial" pitchFamily="34" charset="-122"/>
                <a:cs typeface="Arial" pitchFamily="34" charset="-120"/>
              </a:rPr>
              <a:t>What does it need to know?</a:t>
            </a:r>
            <a:endParaRPr lang="en-US" sz="1650" dirty="0"/>
          </a:p>
        </p:txBody>
      </p:sp>
      <p:sp>
        <p:nvSpPr>
          <p:cNvPr id="20" name="Text 17"/>
          <p:cNvSpPr/>
          <p:nvPr/>
        </p:nvSpPr>
        <p:spPr>
          <a:xfrm>
            <a:off x="6281928" y="3977640"/>
            <a:ext cx="2194560" cy="685800"/>
          </a:xfrm>
          <a:prstGeom prst="rect">
            <a:avLst/>
          </a:prstGeom>
          <a:noFill/>
          <a:ln/>
        </p:spPr>
        <p:txBody>
          <a:bodyPr wrap="square" lIns="0" tIns="0" rIns="0" bIns="0" rtlCol="0" anchor="t"/>
          <a:lstStyle/>
          <a:p>
            <a:pPr indent="0" marL="0">
              <a:lnSpc>
                <a:spcPct val="110000"/>
              </a:lnSpc>
              <a:buNone/>
            </a:pPr>
            <a:r>
              <a:rPr lang="en-US" sz="1250" dirty="0">
                <a:solidFill>
                  <a:srgbClr val="5E6A78"/>
                </a:solidFill>
                <a:latin typeface="Arial" pitchFamily="34" charset="0"/>
                <a:ea typeface="Arial" pitchFamily="34" charset="-122"/>
                <a:cs typeface="Arial" pitchFamily="34" charset="-120"/>
              </a:rPr>
              <a:t>The background and information.</a:t>
            </a:r>
            <a:endParaRPr lang="en-US" sz="1250" dirty="0"/>
          </a:p>
        </p:txBody>
      </p:sp>
      <p:sp>
        <p:nvSpPr>
          <p:cNvPr id="21" name="Shape 18"/>
          <p:cNvSpPr/>
          <p:nvPr/>
        </p:nvSpPr>
        <p:spPr>
          <a:xfrm>
            <a:off x="8759952" y="2286000"/>
            <a:ext cx="2587752" cy="2468880"/>
          </a:xfrm>
          <a:prstGeom prst="roundRect">
            <a:avLst>
              <a:gd name="adj" fmla="val 3333"/>
            </a:avLst>
          </a:prstGeom>
          <a:solidFill>
            <a:srgbClr val="F5F6F8"/>
          </a:solidFill>
          <a:ln w="12700">
            <a:solidFill>
              <a:srgbClr val="E7E9EE"/>
            </a:solidFill>
            <a:prstDash val="solid"/>
          </a:ln>
        </p:spPr>
      </p:sp>
      <p:sp>
        <p:nvSpPr>
          <p:cNvPr id="22" name="Shape 19"/>
          <p:cNvSpPr/>
          <p:nvPr/>
        </p:nvSpPr>
        <p:spPr>
          <a:xfrm>
            <a:off x="8988552" y="2560320"/>
            <a:ext cx="502920" cy="502920"/>
          </a:xfrm>
          <a:prstGeom prst="ellipse">
            <a:avLst/>
          </a:prstGeom>
          <a:solidFill>
            <a:srgbClr val="D31242"/>
          </a:solidFill>
          <a:ln/>
        </p:spPr>
      </p:sp>
      <p:sp>
        <p:nvSpPr>
          <p:cNvPr id="23" name="Text 20"/>
          <p:cNvSpPr/>
          <p:nvPr/>
        </p:nvSpPr>
        <p:spPr>
          <a:xfrm>
            <a:off x="8988552"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4" name="Text 21"/>
          <p:cNvSpPr/>
          <p:nvPr/>
        </p:nvSpPr>
        <p:spPr>
          <a:xfrm>
            <a:off x="8988552" y="3246120"/>
            <a:ext cx="2148840" cy="777240"/>
          </a:xfrm>
          <a:prstGeom prst="rect">
            <a:avLst/>
          </a:prstGeom>
          <a:noFill/>
          <a:ln/>
        </p:spPr>
        <p:txBody>
          <a:bodyPr wrap="square" lIns="0" tIns="0" rIns="0" bIns="0" rtlCol="0" anchor="t"/>
          <a:lstStyle/>
          <a:p>
            <a:pPr indent="0" marL="0">
              <a:lnSpc>
                <a:spcPct val="105000"/>
              </a:lnSpc>
              <a:buNone/>
            </a:pPr>
            <a:r>
              <a:rPr lang="en-US" sz="1650" b="1" dirty="0">
                <a:solidFill>
                  <a:srgbClr val="1F2733"/>
                </a:solidFill>
                <a:latin typeface="Arial" pitchFamily="34" charset="0"/>
                <a:ea typeface="Arial" pitchFamily="34" charset="-122"/>
                <a:cs typeface="Arial" pitchFamily="34" charset="-120"/>
              </a:rPr>
              <a:t>How should it come back?</a:t>
            </a:r>
            <a:endParaRPr lang="en-US" sz="1650" dirty="0"/>
          </a:p>
        </p:txBody>
      </p:sp>
      <p:sp>
        <p:nvSpPr>
          <p:cNvPr id="25" name="Text 22"/>
          <p:cNvSpPr/>
          <p:nvPr/>
        </p:nvSpPr>
        <p:spPr>
          <a:xfrm>
            <a:off x="8988552" y="3977640"/>
            <a:ext cx="2194560" cy="685800"/>
          </a:xfrm>
          <a:prstGeom prst="rect">
            <a:avLst/>
          </a:prstGeom>
          <a:noFill/>
          <a:ln/>
        </p:spPr>
        <p:txBody>
          <a:bodyPr wrap="square" lIns="0" tIns="0" rIns="0" bIns="0" rtlCol="0" anchor="t"/>
          <a:lstStyle/>
          <a:p>
            <a:pPr indent="0" marL="0">
              <a:lnSpc>
                <a:spcPct val="110000"/>
              </a:lnSpc>
              <a:buNone/>
            </a:pPr>
            <a:r>
              <a:rPr lang="en-US" sz="1250" dirty="0">
                <a:solidFill>
                  <a:srgbClr val="5E6A78"/>
                </a:solidFill>
                <a:latin typeface="Arial" pitchFamily="34" charset="0"/>
                <a:ea typeface="Arial" pitchFamily="34" charset="-122"/>
                <a:cs typeface="Arial" pitchFamily="34" charset="-120"/>
              </a:rPr>
              <a:t>The format, length, and tone.</a:t>
            </a:r>
            <a:endParaRPr lang="en-US" sz="1250" dirty="0"/>
          </a:p>
        </p:txBody>
      </p:sp>
      <p:sp>
        <p:nvSpPr>
          <p:cNvPr id="26" name="Text 23"/>
          <p:cNvSpPr/>
          <p:nvPr/>
        </p:nvSpPr>
        <p:spPr>
          <a:xfrm>
            <a:off x="640080" y="5029200"/>
            <a:ext cx="10881360" cy="457200"/>
          </a:xfrm>
          <a:prstGeom prst="rect">
            <a:avLst/>
          </a:prstGeom>
          <a:noFill/>
          <a:ln/>
        </p:spPr>
        <p:txBody>
          <a:bodyPr wrap="square" lIns="0" tIns="0" rIns="0" bIns="0" rtlCol="0" anchor="ctr"/>
          <a:lstStyle/>
          <a:p>
            <a:pPr indent="0" marL="0">
              <a:buNone/>
            </a:pPr>
            <a:r>
              <a:rPr lang="en-US" sz="1450" i="1" dirty="0">
                <a:solidFill>
                  <a:srgbClr val="3A4452"/>
                </a:solidFill>
                <a:latin typeface="Arial" pitchFamily="34" charset="0"/>
                <a:ea typeface="Arial" pitchFamily="34" charset="-122"/>
                <a:cs typeface="Arial" pitchFamily="34" charset="-120"/>
              </a:rPr>
              <a:t>These group into three parts — the Setup, the Material, and the Shaping — which we cover next.</a:t>
            </a:r>
            <a:endParaRPr lang="en-US" sz="1450" dirty="0"/>
          </a:p>
        </p:txBody>
      </p:sp>
      <p:sp>
        <p:nvSpPr>
          <p:cNvPr id="27" name="Text 2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28" name="Text 2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PART 1 — THE SETUP</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Tell it who to be and what to do</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Start with two things. The role — who the assistant should act as. And the task — exactly what you want it to do. Setting these first points its knowledge and its tone in the right direction.</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BJ's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Role</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You are a BJ's club manager writing to floor staff.</a:t>
            </a:r>
            <a:endParaRPr lang="en-US" sz="1550" dirty="0"/>
          </a:p>
          <a:p>
            <a:pPr indent="0" marL="0">
              <a:lnSpc>
                <a:spcPct val="115000"/>
              </a:lnSpc>
              <a:buNone/>
            </a:pPr>
            <a:endParaRPr lang="en-US" sz="1550" dirty="0"/>
          </a:p>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Task</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Draft a short shift note about the new self-checkout process.</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PART 2 — THE MATERIAL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Give it the background and information</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 knows nothing about your task until you provide it. So include the background it needs, and the actual content to work from. This is where you paste the real details.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BJ's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Background</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This note goes to weekend floor staff who have not seen the new system yet.</a:t>
            </a:r>
            <a:endParaRPr lang="en-US" sz="1550" dirty="0"/>
          </a:p>
          <a:p>
            <a:pPr indent="0" marL="0">
              <a:lnSpc>
                <a:spcPct val="115000"/>
              </a:lnSpc>
              <a:buNone/>
            </a:pPr>
            <a:endParaRPr lang="en-US" sz="1550" dirty="0"/>
          </a:p>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Information</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 paste the actual self-checkout rollout steps ]</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PART 3 — THE SHAPING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Say how the answer should come back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Finally, describe the shape of the answer. The format — a note, a list, an email. The length — under one hundred words. The tone — warm and member-first. This is what makes the reply ready to use, not just correct.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BJ's example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Format</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a short bulleted shift note.</a:t>
            </a:r>
            <a:endParaRPr lang="en-US" sz="1550" dirty="0"/>
          </a:p>
          <a:p>
            <a:pPr indent="0" marL="0">
              <a:lnSpc>
                <a:spcPct val="115000"/>
              </a:lnSpc>
              <a:buNone/>
            </a:pPr>
            <a:endParaRPr lang="en-US" sz="1550" dirty="0"/>
          </a:p>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Length</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under 120 words.</a:t>
            </a:r>
            <a:endParaRPr lang="en-US" sz="1550" dirty="0"/>
          </a:p>
          <a:p>
            <a:pPr indent="0" marL="0">
              <a:lnSpc>
                <a:spcPct val="115000"/>
              </a:lnSpc>
              <a:buNone/>
            </a:pPr>
            <a:endParaRPr lang="en-US" sz="1550" dirty="0"/>
          </a:p>
          <a:p>
            <a:pPr indent="0" marL="0">
              <a:lnSpc>
                <a:spcPct val="115000"/>
              </a:lnSpc>
              <a:buNone/>
            </a:pPr>
            <a:r>
              <a:rPr lang="en-US" sz="1550" b="1" dirty="0">
                <a:solidFill>
                  <a:srgbClr val="D31242"/>
                </a:solidFill>
                <a:latin typeface="Arial" pitchFamily="34" charset="0"/>
                <a:ea typeface="Arial" pitchFamily="34" charset="-122"/>
                <a:cs typeface="Arial" pitchFamily="34" charset="-120"/>
              </a:rPr>
              <a:t>Tone</a:t>
            </a:r>
            <a:pPr indent="0" marL="0">
              <a:lnSpc>
                <a:spcPct val="115000"/>
              </a:lnSpc>
              <a:buNone/>
            </a:pPr>
            <a:r>
              <a:rPr lang="en-US" sz="1550" dirty="0">
                <a:solidFill>
                  <a:srgbClr val="1F2733"/>
                </a:solidFill>
                <a:latin typeface="Arial" pitchFamily="34" charset="0"/>
                <a:ea typeface="Arial" pitchFamily="34" charset="-122"/>
                <a:cs typeface="Arial" pitchFamily="34" charset="-120"/>
              </a:rPr>
              <a:t>  —  friendly, clear, and easy to skim.</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prompt, with every part in place</a:t>
            </a:r>
            <a:endParaRPr lang="en-US" sz="3000" dirty="0"/>
          </a:p>
        </p:txBody>
      </p:sp>
      <p:sp>
        <p:nvSpPr>
          <p:cNvPr id="6" name="Shape 3"/>
          <p:cNvSpPr/>
          <p:nvPr/>
        </p:nvSpPr>
        <p:spPr>
          <a:xfrm>
            <a:off x="640080" y="2057400"/>
            <a:ext cx="10881360" cy="3520440"/>
          </a:xfrm>
          <a:prstGeom prst="roundRect">
            <a:avLst>
              <a:gd name="adj" fmla="val 2338"/>
            </a:avLst>
          </a:prstGeom>
          <a:solidFill>
            <a:srgbClr val="F5F6F8"/>
          </a:solidFill>
          <a:ln w="12700">
            <a:solidFill>
              <a:srgbClr val="E7E9EE"/>
            </a:solidFill>
            <a:prstDash val="solid"/>
          </a:ln>
        </p:spPr>
      </p:sp>
      <p:sp>
        <p:nvSpPr>
          <p:cNvPr id="7" name="Text 4"/>
          <p:cNvSpPr/>
          <p:nvPr/>
        </p:nvSpPr>
        <p:spPr>
          <a:xfrm>
            <a:off x="1051560" y="2377440"/>
            <a:ext cx="10058400" cy="2926080"/>
          </a:xfrm>
          <a:prstGeom prst="rect">
            <a:avLst/>
          </a:prstGeom>
          <a:noFill/>
          <a:ln/>
        </p:spPr>
        <p:txBody>
          <a:bodyPr wrap="square" lIns="0" tIns="0" rIns="0" bIns="0" rtlCol="0" anchor="t"/>
          <a:lstStyle/>
          <a:p>
            <a:pPr indent="0" marL="0">
              <a:lnSpc>
                <a:spcPct val="120000"/>
              </a:lnSpc>
              <a:buNone/>
            </a:pPr>
            <a:r>
              <a:rPr lang="en-US" sz="1700" b="1" dirty="0">
                <a:solidFill>
                  <a:srgbClr val="D31242"/>
                </a:solidFill>
                <a:latin typeface="Arial" pitchFamily="34" charset="0"/>
                <a:ea typeface="Arial" pitchFamily="34" charset="-122"/>
                <a:cs typeface="Arial" pitchFamily="34" charset="-120"/>
              </a:rPr>
              <a:t>Setup</a:t>
            </a:r>
            <a:pPr indent="0" marL="0">
              <a:lnSpc>
                <a:spcPct val="120000"/>
              </a:lnSpc>
              <a:buNone/>
            </a:pPr>
            <a:r>
              <a:rPr lang="en-US" sz="1700" dirty="0">
                <a:solidFill>
                  <a:srgbClr val="1F2733"/>
                </a:solidFill>
                <a:latin typeface="Arial" pitchFamily="34" charset="0"/>
                <a:ea typeface="Arial" pitchFamily="34" charset="-122"/>
                <a:cs typeface="Arial" pitchFamily="34" charset="-120"/>
              </a:rPr>
              <a:t>   You are a BJ's club manager writing to weekend floor staff.</a:t>
            </a:r>
            <a:endParaRPr lang="en-US" sz="1700" dirty="0"/>
          </a:p>
          <a:p>
            <a:pPr indent="0" marL="0">
              <a:lnSpc>
                <a:spcPct val="120000"/>
              </a:lnSpc>
              <a:buNone/>
            </a:pPr>
            <a:endParaRPr lang="en-US" sz="1700" dirty="0"/>
          </a:p>
          <a:p>
            <a:pPr indent="0" marL="0">
              <a:lnSpc>
                <a:spcPct val="120000"/>
              </a:lnSpc>
              <a:buNone/>
            </a:pPr>
            <a:r>
              <a:rPr lang="en-US" sz="1700" b="1" dirty="0">
                <a:solidFill>
                  <a:srgbClr val="D31242"/>
                </a:solidFill>
                <a:latin typeface="Arial" pitchFamily="34" charset="0"/>
                <a:ea typeface="Arial" pitchFamily="34" charset="-122"/>
                <a:cs typeface="Arial" pitchFamily="34" charset="-120"/>
              </a:rPr>
              <a:t>Task</a:t>
            </a:r>
            <a:pPr indent="0" marL="0">
              <a:lnSpc>
                <a:spcPct val="120000"/>
              </a:lnSpc>
              <a:buNone/>
            </a:pPr>
            <a:r>
              <a:rPr lang="en-US" sz="1700" dirty="0">
                <a:solidFill>
                  <a:srgbClr val="1F2733"/>
                </a:solidFill>
                <a:latin typeface="Arial" pitchFamily="34" charset="0"/>
                <a:ea typeface="Arial" pitchFamily="34" charset="-122"/>
                <a:cs typeface="Arial" pitchFamily="34" charset="-120"/>
              </a:rPr>
              <a:t>   Draft a short shift note introducing the new self-checkout process.</a:t>
            </a:r>
            <a:endParaRPr lang="en-US" sz="1700" dirty="0"/>
          </a:p>
          <a:p>
            <a:pPr indent="0" marL="0">
              <a:lnSpc>
                <a:spcPct val="120000"/>
              </a:lnSpc>
              <a:buNone/>
            </a:pPr>
            <a:endParaRPr lang="en-US" sz="1700" dirty="0"/>
          </a:p>
          <a:p>
            <a:pPr indent="0" marL="0">
              <a:lnSpc>
                <a:spcPct val="120000"/>
              </a:lnSpc>
              <a:buNone/>
            </a:pPr>
            <a:r>
              <a:rPr lang="en-US" sz="1700" b="1" dirty="0">
                <a:solidFill>
                  <a:srgbClr val="D31242"/>
                </a:solidFill>
                <a:latin typeface="Arial" pitchFamily="34" charset="0"/>
                <a:ea typeface="Arial" pitchFamily="34" charset="-122"/>
                <a:cs typeface="Arial" pitchFamily="34" charset="-120"/>
              </a:rPr>
              <a:t>Material</a:t>
            </a:r>
            <a:pPr indent="0" marL="0">
              <a:lnSpc>
                <a:spcPct val="120000"/>
              </a:lnSpc>
              <a:buNone/>
            </a:pPr>
            <a:r>
              <a:rPr lang="en-US" sz="1700" dirty="0">
                <a:solidFill>
                  <a:srgbClr val="1F2733"/>
                </a:solidFill>
                <a:latin typeface="Arial" pitchFamily="34" charset="0"/>
                <a:ea typeface="Arial" pitchFamily="34" charset="-122"/>
                <a:cs typeface="Arial" pitchFamily="34" charset="-120"/>
              </a:rPr>
              <a:t>   Use the rollout steps below.  [ paste the steps here ]</a:t>
            </a:r>
            <a:endParaRPr lang="en-US" sz="1700" dirty="0"/>
          </a:p>
          <a:p>
            <a:pPr indent="0" marL="0">
              <a:lnSpc>
                <a:spcPct val="120000"/>
              </a:lnSpc>
              <a:buNone/>
            </a:pPr>
            <a:endParaRPr lang="en-US" sz="1700" dirty="0"/>
          </a:p>
          <a:p>
            <a:pPr indent="0" marL="0">
              <a:lnSpc>
                <a:spcPct val="120000"/>
              </a:lnSpc>
              <a:buNone/>
            </a:pPr>
            <a:r>
              <a:rPr lang="en-US" sz="1700" b="1" dirty="0">
                <a:solidFill>
                  <a:srgbClr val="D31242"/>
                </a:solidFill>
                <a:latin typeface="Arial" pitchFamily="34" charset="0"/>
                <a:ea typeface="Arial" pitchFamily="34" charset="-122"/>
                <a:cs typeface="Arial" pitchFamily="34" charset="-120"/>
              </a:rPr>
              <a:t>Shaping</a:t>
            </a:r>
            <a:pPr indent="0" marL="0">
              <a:lnSpc>
                <a:spcPct val="120000"/>
              </a:lnSpc>
              <a:buNone/>
            </a:pPr>
            <a:r>
              <a:rPr lang="en-US" sz="1700" dirty="0">
                <a:solidFill>
                  <a:srgbClr val="1F2733"/>
                </a:solidFill>
                <a:latin typeface="Arial" pitchFamily="34" charset="0"/>
                <a:ea typeface="Arial" pitchFamily="34" charset="-122"/>
                <a:cs typeface="Arial" pitchFamily="34" charset="-120"/>
              </a:rPr>
              <a:t>   Keep it under 120 words, as a friendly bulleted note.</a:t>
            </a:r>
            <a:endParaRPr lang="en-US" sz="170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request, with and without the parts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331720"/>
            <a:ext cx="4754880" cy="320040"/>
          </a:xfrm>
          <a:prstGeom prst="rect">
            <a:avLst/>
          </a:prstGeom>
          <a:noFill/>
          <a:ln/>
        </p:spPr>
        <p:txBody>
          <a:bodyPr wrap="square" lIns="0" tIns="0" rIns="0" bIns="0" rtlCol="0" anchor="ctr"/>
          <a:lstStyle/>
          <a:p>
            <a:pPr indent="0" marL="0">
              <a:buNone/>
            </a:pPr>
            <a:r>
              <a:rPr lang="en-US" sz="1200" b="1" spc="150" kern="0" dirty="0">
                <a:solidFill>
                  <a:srgbClr val="5E6A78"/>
                </a:solidFill>
                <a:latin typeface="Arial" pitchFamily="34" charset="0"/>
                <a:ea typeface="Arial" pitchFamily="34" charset="-122"/>
                <a:cs typeface="Arial" pitchFamily="34" charset="-120"/>
              </a:rPr>
              <a:t>BARE REQUEST</a:t>
            </a:r>
            <a:endParaRPr lang="en-US" sz="1200" dirty="0"/>
          </a:p>
        </p:txBody>
      </p:sp>
      <p:sp>
        <p:nvSpPr>
          <p:cNvPr id="8" name="Text 5"/>
          <p:cNvSpPr/>
          <p:nvPr/>
        </p:nvSpPr>
        <p:spPr>
          <a:xfrm>
            <a:off x="914400" y="2697480"/>
            <a:ext cx="4754880" cy="868680"/>
          </a:xfrm>
          <a:prstGeom prst="rect">
            <a:avLst/>
          </a:prstGeom>
          <a:noFill/>
          <a:ln/>
        </p:spPr>
        <p:txBody>
          <a:bodyPr wrap="square" lIns="0" tIns="0" rIns="0" bIns="0" rtlCol="0" anchor="t"/>
          <a:lstStyle/>
          <a:p>
            <a:pPr indent="0" marL="0">
              <a:lnSpc>
                <a:spcPct val="110000"/>
              </a:lnSpc>
              <a:buNone/>
            </a:pPr>
            <a:r>
              <a:rPr lang="en-US" sz="1700" b="1" dirty="0">
                <a:solidFill>
                  <a:srgbClr val="1F2733"/>
                </a:solidFill>
                <a:latin typeface="Arial" pitchFamily="34" charset="0"/>
                <a:ea typeface="Arial" pitchFamily="34" charset="-122"/>
                <a:cs typeface="Arial" pitchFamily="34" charset="-120"/>
              </a:rPr>
              <a:t>“Write a note about self-checkout.”</a:t>
            </a:r>
            <a:endParaRPr lang="en-US" sz="1700" dirty="0"/>
          </a:p>
        </p:txBody>
      </p:sp>
      <p:sp>
        <p:nvSpPr>
          <p:cNvPr id="9" name="Text 6"/>
          <p:cNvSpPr/>
          <p:nvPr/>
        </p:nvSpPr>
        <p:spPr>
          <a:xfrm>
            <a:off x="914400" y="379476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What you get</a:t>
            </a:r>
            <a:endParaRPr lang="en-US" sz="1100" dirty="0"/>
          </a:p>
        </p:txBody>
      </p:sp>
      <p:sp>
        <p:nvSpPr>
          <p:cNvPr id="10" name="Text 7"/>
          <p:cNvSpPr/>
          <p:nvPr/>
        </p:nvSpPr>
        <p:spPr>
          <a:xfrm>
            <a:off x="914400" y="4114800"/>
            <a:ext cx="4754880" cy="1371600"/>
          </a:xfrm>
          <a:prstGeom prst="rect">
            <a:avLst/>
          </a:prstGeom>
          <a:noFill/>
          <a:ln/>
        </p:spPr>
        <p:txBody>
          <a:bodyPr wrap="square" lIns="0" tIns="0" rIns="0" bIns="0" rtlCol="0" anchor="t"/>
          <a:lstStyle/>
          <a:p>
            <a:pPr indent="0" marL="0">
              <a:lnSpc>
                <a:spcPct val="115000"/>
              </a:lnSpc>
              <a:buNone/>
            </a:pPr>
            <a:r>
              <a:rPr lang="en-US" sz="1350" dirty="0">
                <a:solidFill>
                  <a:srgbClr val="3A4452"/>
                </a:solidFill>
                <a:latin typeface="Arial" pitchFamily="34" charset="0"/>
                <a:ea typeface="Arial" pitchFamily="34" charset="-122"/>
                <a:cs typeface="Arial" pitchFamily="34" charset="-120"/>
              </a:rPr>
              <a:t>A vague note that guesses the audience and the details, and needs reworking before anyone can use it.</a:t>
            </a:r>
            <a:endParaRPr lang="en-US" sz="13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331720"/>
            <a:ext cx="4754880" cy="320040"/>
          </a:xfrm>
          <a:prstGeom prst="rect">
            <a:avLst/>
          </a:prstGeom>
          <a:noFill/>
          <a:ln/>
        </p:spPr>
        <p:txBody>
          <a:bodyPr wrap="square" lIns="0" tIns="0" rIns="0" bIns="0" rtlCol="0" anchor="ctr"/>
          <a:lstStyle/>
          <a:p>
            <a:pPr indent="0" marL="0">
              <a:buNone/>
            </a:pPr>
            <a:r>
              <a:rPr lang="en-US" sz="1200" b="1" spc="150" kern="0" dirty="0">
                <a:solidFill>
                  <a:srgbClr val="15803D"/>
                </a:solidFill>
                <a:latin typeface="Arial" pitchFamily="34" charset="0"/>
                <a:ea typeface="Arial" pitchFamily="34" charset="-122"/>
                <a:cs typeface="Arial" pitchFamily="34" charset="-120"/>
              </a:rPr>
              <a:t>COMPLETE PROMPT</a:t>
            </a:r>
            <a:endParaRPr lang="en-US" sz="1200" dirty="0"/>
          </a:p>
        </p:txBody>
      </p:sp>
      <p:sp>
        <p:nvSpPr>
          <p:cNvPr id="13" name="Text 10"/>
          <p:cNvSpPr/>
          <p:nvPr/>
        </p:nvSpPr>
        <p:spPr>
          <a:xfrm>
            <a:off x="6492240" y="2697480"/>
            <a:ext cx="4754880" cy="1097280"/>
          </a:xfrm>
          <a:prstGeom prst="rect">
            <a:avLst/>
          </a:prstGeom>
          <a:noFill/>
          <a:ln/>
        </p:spPr>
        <p:txBody>
          <a:bodyPr wrap="square" lIns="0" tIns="0" rIns="0" bIns="0" rtlCol="0" anchor="t"/>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The four-part prompt from the last page — role, task, material, and shaping, all spelled out.</a:t>
            </a:r>
            <a:endParaRPr lang="en-US" sz="1600" dirty="0"/>
          </a:p>
        </p:txBody>
      </p:sp>
      <p:sp>
        <p:nvSpPr>
          <p:cNvPr id="14" name="Text 11"/>
          <p:cNvSpPr/>
          <p:nvPr/>
        </p:nvSpPr>
        <p:spPr>
          <a:xfrm>
            <a:off x="6492240" y="406908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What you get</a:t>
            </a:r>
            <a:endParaRPr lang="en-US" sz="1100" dirty="0"/>
          </a:p>
        </p:txBody>
      </p:sp>
      <p:sp>
        <p:nvSpPr>
          <p:cNvPr id="15" name="Text 12"/>
          <p:cNvSpPr/>
          <p:nvPr/>
        </p:nvSpPr>
        <p:spPr>
          <a:xfrm>
            <a:off x="6492240" y="4389120"/>
            <a:ext cx="4754880" cy="1188720"/>
          </a:xfrm>
          <a:prstGeom prst="rect">
            <a:avLst/>
          </a:prstGeom>
          <a:noFill/>
          <a:ln/>
        </p:spPr>
        <p:txBody>
          <a:bodyPr wrap="square" lIns="0" tIns="0" rIns="0" bIns="0" rtlCol="0" anchor="t"/>
          <a:lstStyle/>
          <a:p>
            <a:pPr indent="0" marL="0">
              <a:lnSpc>
                <a:spcPct val="115000"/>
              </a:lnSpc>
              <a:buNone/>
            </a:pPr>
            <a:r>
              <a:rPr lang="en-US" sz="1350" dirty="0">
                <a:solidFill>
                  <a:srgbClr val="3A4452"/>
                </a:solidFill>
                <a:latin typeface="Arial" pitchFamily="34" charset="0"/>
                <a:ea typeface="Arial" pitchFamily="34" charset="-122"/>
                <a:cs typeface="Arial" pitchFamily="34" charset="-120"/>
              </a:rPr>
              <a:t>A ready-to-send note that uses the real steps and hits the right tone the first time.</a:t>
            </a:r>
            <a:endParaRPr lang="en-US" sz="13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YOUR CHECKLIST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Keep this at your desk</a:t>
            </a:r>
            <a:endParaRPr lang="en-US" sz="3000" dirty="0"/>
          </a:p>
        </p:txBody>
      </p:sp>
      <p:sp>
        <p:nvSpPr>
          <p:cNvPr id="6" name="Shape 3"/>
          <p:cNvSpPr/>
          <p:nvPr/>
        </p:nvSpPr>
        <p:spPr>
          <a:xfrm>
            <a:off x="822960" y="2240280"/>
            <a:ext cx="420624" cy="420624"/>
          </a:xfrm>
          <a:prstGeom prst="ellipse">
            <a:avLst/>
          </a:prstGeom>
          <a:solidFill>
            <a:srgbClr val="D31242"/>
          </a:solidFill>
          <a:ln/>
        </p:spPr>
      </p:sp>
      <p:pic>
        <p:nvPicPr>
          <p:cNvPr id="7" name="Image 1" descr="preencoded.png">    </p:cNvPr>
          <p:cNvPicPr>
            <a:picLocks noChangeAspect="1"/>
          </p:cNvPicPr>
          <p:nvPr/>
        </p:nvPicPr>
        <p:blipFill>
          <a:blip r:embed="rId2"/>
          <a:stretch>
            <a:fillRect/>
          </a:stretch>
        </p:blipFill>
        <p:spPr>
          <a:xfrm>
            <a:off x="923544" y="2340864"/>
            <a:ext cx="219456" cy="219456"/>
          </a:xfrm>
          <a:prstGeom prst="rect">
            <a:avLst/>
          </a:prstGeom>
        </p:spPr>
      </p:pic>
      <p:sp>
        <p:nvSpPr>
          <p:cNvPr id="8" name="Text 4"/>
          <p:cNvSpPr/>
          <p:nvPr/>
        </p:nvSpPr>
        <p:spPr>
          <a:xfrm>
            <a:off x="1389888" y="2194560"/>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Role</a:t>
            </a:r>
            <a:pPr indent="0" marL="0">
              <a:buNone/>
            </a:pPr>
            <a:r>
              <a:rPr lang="en-US" sz="1350" dirty="0">
                <a:solidFill>
                  <a:srgbClr val="5E6A78"/>
                </a:solidFill>
                <a:latin typeface="Arial" pitchFamily="34" charset="0"/>
                <a:ea typeface="Arial" pitchFamily="34" charset="-122"/>
                <a:cs typeface="Arial" pitchFamily="34" charset="-120"/>
              </a:rPr>
              <a:t>   —   who it should act as</a:t>
            </a:r>
            <a:endParaRPr lang="en-US" sz="1600" dirty="0"/>
          </a:p>
        </p:txBody>
      </p:sp>
      <p:sp>
        <p:nvSpPr>
          <p:cNvPr id="9" name="Shape 5"/>
          <p:cNvSpPr/>
          <p:nvPr/>
        </p:nvSpPr>
        <p:spPr>
          <a:xfrm>
            <a:off x="822960" y="3081528"/>
            <a:ext cx="420624" cy="420624"/>
          </a:xfrm>
          <a:prstGeom prst="ellipse">
            <a:avLst/>
          </a:prstGeom>
          <a:solidFill>
            <a:srgbClr val="D31242"/>
          </a:solidFill>
          <a:ln/>
        </p:spPr>
      </p:sp>
      <p:pic>
        <p:nvPicPr>
          <p:cNvPr id="10" name="Image 2" descr="preencoded.png">    </p:cNvPr>
          <p:cNvPicPr>
            <a:picLocks noChangeAspect="1"/>
          </p:cNvPicPr>
          <p:nvPr/>
        </p:nvPicPr>
        <p:blipFill>
          <a:blip r:embed="rId3"/>
          <a:stretch>
            <a:fillRect/>
          </a:stretch>
        </p:blipFill>
        <p:spPr>
          <a:xfrm>
            <a:off x="923544" y="3182112"/>
            <a:ext cx="219456" cy="219456"/>
          </a:xfrm>
          <a:prstGeom prst="rect">
            <a:avLst/>
          </a:prstGeom>
        </p:spPr>
      </p:pic>
      <p:sp>
        <p:nvSpPr>
          <p:cNvPr id="11" name="Text 6"/>
          <p:cNvSpPr/>
          <p:nvPr/>
        </p:nvSpPr>
        <p:spPr>
          <a:xfrm>
            <a:off x="1389888" y="3035808"/>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Task</a:t>
            </a:r>
            <a:pPr indent="0" marL="0">
              <a:buNone/>
            </a:pPr>
            <a:r>
              <a:rPr lang="en-US" sz="1350" dirty="0">
                <a:solidFill>
                  <a:srgbClr val="5E6A78"/>
                </a:solidFill>
                <a:latin typeface="Arial" pitchFamily="34" charset="0"/>
                <a:ea typeface="Arial" pitchFamily="34" charset="-122"/>
                <a:cs typeface="Arial" pitchFamily="34" charset="-120"/>
              </a:rPr>
              <a:t>   —   exactly what to do</a:t>
            </a:r>
            <a:endParaRPr lang="en-US" sz="1600" dirty="0"/>
          </a:p>
        </p:txBody>
      </p:sp>
      <p:sp>
        <p:nvSpPr>
          <p:cNvPr id="12" name="Shape 7"/>
          <p:cNvSpPr/>
          <p:nvPr/>
        </p:nvSpPr>
        <p:spPr>
          <a:xfrm>
            <a:off x="822960" y="3922776"/>
            <a:ext cx="420624" cy="420624"/>
          </a:xfrm>
          <a:prstGeom prst="ellipse">
            <a:avLst/>
          </a:prstGeom>
          <a:solidFill>
            <a:srgbClr val="D31242"/>
          </a:solidFill>
          <a:ln/>
        </p:spPr>
      </p:sp>
      <p:pic>
        <p:nvPicPr>
          <p:cNvPr id="13" name="Image 3" descr="preencoded.png">    </p:cNvPr>
          <p:cNvPicPr>
            <a:picLocks noChangeAspect="1"/>
          </p:cNvPicPr>
          <p:nvPr/>
        </p:nvPicPr>
        <p:blipFill>
          <a:blip r:embed="rId4"/>
          <a:stretch>
            <a:fillRect/>
          </a:stretch>
        </p:blipFill>
        <p:spPr>
          <a:xfrm>
            <a:off x="923544" y="4023360"/>
            <a:ext cx="219456" cy="219456"/>
          </a:xfrm>
          <a:prstGeom prst="rect">
            <a:avLst/>
          </a:prstGeom>
        </p:spPr>
      </p:pic>
      <p:sp>
        <p:nvSpPr>
          <p:cNvPr id="14" name="Text 8"/>
          <p:cNvSpPr/>
          <p:nvPr/>
        </p:nvSpPr>
        <p:spPr>
          <a:xfrm>
            <a:off x="1389888" y="3877056"/>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Context</a:t>
            </a:r>
            <a:pPr indent="0" marL="0">
              <a:buNone/>
            </a:pPr>
            <a:r>
              <a:rPr lang="en-US" sz="1350" dirty="0">
                <a:solidFill>
                  <a:srgbClr val="5E6A78"/>
                </a:solidFill>
                <a:latin typeface="Arial" pitchFamily="34" charset="0"/>
                <a:ea typeface="Arial" pitchFamily="34" charset="-122"/>
                <a:cs typeface="Arial" pitchFamily="34" charset="-120"/>
              </a:rPr>
              <a:t>   —   the background it needs</a:t>
            </a:r>
            <a:endParaRPr lang="en-US" sz="1600" dirty="0"/>
          </a:p>
        </p:txBody>
      </p:sp>
      <p:sp>
        <p:nvSpPr>
          <p:cNvPr id="15" name="Shape 9"/>
          <p:cNvSpPr/>
          <p:nvPr/>
        </p:nvSpPr>
        <p:spPr>
          <a:xfrm>
            <a:off x="822960" y="4764024"/>
            <a:ext cx="420624" cy="420624"/>
          </a:xfrm>
          <a:prstGeom prst="ellipse">
            <a:avLst/>
          </a:prstGeom>
          <a:solidFill>
            <a:srgbClr val="D31242"/>
          </a:solidFill>
          <a:ln/>
        </p:spPr>
      </p:sp>
      <p:pic>
        <p:nvPicPr>
          <p:cNvPr id="16" name="Image 4" descr="preencoded.png">    </p:cNvPr>
          <p:cNvPicPr>
            <a:picLocks noChangeAspect="1"/>
          </p:cNvPicPr>
          <p:nvPr/>
        </p:nvPicPr>
        <p:blipFill>
          <a:blip r:embed="rId5"/>
          <a:stretch>
            <a:fillRect/>
          </a:stretch>
        </p:blipFill>
        <p:spPr>
          <a:xfrm>
            <a:off x="923544" y="4864608"/>
            <a:ext cx="219456" cy="219456"/>
          </a:xfrm>
          <a:prstGeom prst="rect">
            <a:avLst/>
          </a:prstGeom>
        </p:spPr>
      </p:pic>
      <p:sp>
        <p:nvSpPr>
          <p:cNvPr id="17" name="Text 10"/>
          <p:cNvSpPr/>
          <p:nvPr/>
        </p:nvSpPr>
        <p:spPr>
          <a:xfrm>
            <a:off x="1389888" y="4718304"/>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Information</a:t>
            </a:r>
            <a:pPr indent="0" marL="0">
              <a:buNone/>
            </a:pPr>
            <a:r>
              <a:rPr lang="en-US" sz="1350" dirty="0">
                <a:solidFill>
                  <a:srgbClr val="5E6A78"/>
                </a:solidFill>
                <a:latin typeface="Arial" pitchFamily="34" charset="0"/>
                <a:ea typeface="Arial" pitchFamily="34" charset="-122"/>
                <a:cs typeface="Arial" pitchFamily="34" charset="-120"/>
              </a:rPr>
              <a:t>   —   the material to work from</a:t>
            </a:r>
            <a:endParaRPr lang="en-US" sz="1600" dirty="0"/>
          </a:p>
        </p:txBody>
      </p:sp>
      <p:sp>
        <p:nvSpPr>
          <p:cNvPr id="18" name="Shape 11"/>
          <p:cNvSpPr/>
          <p:nvPr/>
        </p:nvSpPr>
        <p:spPr>
          <a:xfrm>
            <a:off x="6309360" y="2240280"/>
            <a:ext cx="420624" cy="420624"/>
          </a:xfrm>
          <a:prstGeom prst="ellipse">
            <a:avLst/>
          </a:prstGeom>
          <a:solidFill>
            <a:srgbClr val="D31242"/>
          </a:solidFill>
          <a:ln/>
        </p:spPr>
      </p:sp>
      <p:pic>
        <p:nvPicPr>
          <p:cNvPr id="19" name="Image 5" descr="preencoded.png">    </p:cNvPr>
          <p:cNvPicPr>
            <a:picLocks noChangeAspect="1"/>
          </p:cNvPicPr>
          <p:nvPr/>
        </p:nvPicPr>
        <p:blipFill>
          <a:blip r:embed="rId6"/>
          <a:stretch>
            <a:fillRect/>
          </a:stretch>
        </p:blipFill>
        <p:spPr>
          <a:xfrm>
            <a:off x="6409944" y="2340864"/>
            <a:ext cx="219456" cy="219456"/>
          </a:xfrm>
          <a:prstGeom prst="rect">
            <a:avLst/>
          </a:prstGeom>
        </p:spPr>
      </p:pic>
      <p:sp>
        <p:nvSpPr>
          <p:cNvPr id="20" name="Text 12"/>
          <p:cNvSpPr/>
          <p:nvPr/>
        </p:nvSpPr>
        <p:spPr>
          <a:xfrm>
            <a:off x="6876288" y="2194560"/>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Format</a:t>
            </a:r>
            <a:pPr indent="0" marL="0">
              <a:buNone/>
            </a:pPr>
            <a:r>
              <a:rPr lang="en-US" sz="1350" dirty="0">
                <a:solidFill>
                  <a:srgbClr val="5E6A78"/>
                </a:solidFill>
                <a:latin typeface="Arial" pitchFamily="34" charset="0"/>
                <a:ea typeface="Arial" pitchFamily="34" charset="-122"/>
                <a:cs typeface="Arial" pitchFamily="34" charset="-120"/>
              </a:rPr>
              <a:t>   —   the shape of the answer</a:t>
            </a:r>
            <a:endParaRPr lang="en-US" sz="1600" dirty="0"/>
          </a:p>
        </p:txBody>
      </p:sp>
      <p:sp>
        <p:nvSpPr>
          <p:cNvPr id="21" name="Shape 13"/>
          <p:cNvSpPr/>
          <p:nvPr/>
        </p:nvSpPr>
        <p:spPr>
          <a:xfrm>
            <a:off x="6309360" y="3081528"/>
            <a:ext cx="420624" cy="420624"/>
          </a:xfrm>
          <a:prstGeom prst="ellipse">
            <a:avLst/>
          </a:prstGeom>
          <a:solidFill>
            <a:srgbClr val="D31242"/>
          </a:solidFill>
          <a:ln/>
        </p:spPr>
      </p:sp>
      <p:pic>
        <p:nvPicPr>
          <p:cNvPr id="22" name="Image 6" descr="preencoded.png">    </p:cNvPr>
          <p:cNvPicPr>
            <a:picLocks noChangeAspect="1"/>
          </p:cNvPicPr>
          <p:nvPr/>
        </p:nvPicPr>
        <p:blipFill>
          <a:blip r:embed="rId7"/>
          <a:stretch>
            <a:fillRect/>
          </a:stretch>
        </p:blipFill>
        <p:spPr>
          <a:xfrm>
            <a:off x="6409944" y="3182112"/>
            <a:ext cx="219456" cy="219456"/>
          </a:xfrm>
          <a:prstGeom prst="rect">
            <a:avLst/>
          </a:prstGeom>
        </p:spPr>
      </p:pic>
      <p:sp>
        <p:nvSpPr>
          <p:cNvPr id="23" name="Text 14"/>
          <p:cNvSpPr/>
          <p:nvPr/>
        </p:nvSpPr>
        <p:spPr>
          <a:xfrm>
            <a:off x="6876288" y="3035808"/>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Length</a:t>
            </a:r>
            <a:pPr indent="0" marL="0">
              <a:buNone/>
            </a:pPr>
            <a:r>
              <a:rPr lang="en-US" sz="1350" dirty="0">
                <a:solidFill>
                  <a:srgbClr val="5E6A78"/>
                </a:solidFill>
                <a:latin typeface="Arial" pitchFamily="34" charset="0"/>
                <a:ea typeface="Arial" pitchFamily="34" charset="-122"/>
                <a:cs typeface="Arial" pitchFamily="34" charset="-120"/>
              </a:rPr>
              <a:t>   —   how long it should be</a:t>
            </a:r>
            <a:endParaRPr lang="en-US" sz="1600" dirty="0"/>
          </a:p>
        </p:txBody>
      </p:sp>
      <p:sp>
        <p:nvSpPr>
          <p:cNvPr id="24" name="Shape 15"/>
          <p:cNvSpPr/>
          <p:nvPr/>
        </p:nvSpPr>
        <p:spPr>
          <a:xfrm>
            <a:off x="6309360" y="3922776"/>
            <a:ext cx="420624" cy="420624"/>
          </a:xfrm>
          <a:prstGeom prst="ellipse">
            <a:avLst/>
          </a:prstGeom>
          <a:solidFill>
            <a:srgbClr val="D31242"/>
          </a:solidFill>
          <a:ln/>
        </p:spPr>
      </p:sp>
      <p:pic>
        <p:nvPicPr>
          <p:cNvPr id="25" name="Image 7" descr="preencoded.png">    </p:cNvPr>
          <p:cNvPicPr>
            <a:picLocks noChangeAspect="1"/>
          </p:cNvPicPr>
          <p:nvPr/>
        </p:nvPicPr>
        <p:blipFill>
          <a:blip r:embed="rId8"/>
          <a:stretch>
            <a:fillRect/>
          </a:stretch>
        </p:blipFill>
        <p:spPr>
          <a:xfrm>
            <a:off x="6409944" y="4023360"/>
            <a:ext cx="219456" cy="219456"/>
          </a:xfrm>
          <a:prstGeom prst="rect">
            <a:avLst/>
          </a:prstGeom>
        </p:spPr>
      </p:pic>
      <p:sp>
        <p:nvSpPr>
          <p:cNvPr id="26" name="Text 16"/>
          <p:cNvSpPr/>
          <p:nvPr/>
        </p:nvSpPr>
        <p:spPr>
          <a:xfrm>
            <a:off x="6876288" y="3877056"/>
            <a:ext cx="4572000" cy="51206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Tone</a:t>
            </a:r>
            <a:pPr indent="0" marL="0">
              <a:buNone/>
            </a:pPr>
            <a:r>
              <a:rPr lang="en-US" sz="1350" dirty="0">
                <a:solidFill>
                  <a:srgbClr val="5E6A78"/>
                </a:solidFill>
                <a:latin typeface="Arial" pitchFamily="34" charset="0"/>
                <a:ea typeface="Arial" pitchFamily="34" charset="-122"/>
                <a:cs typeface="Arial" pitchFamily="34" charset="-120"/>
              </a:rPr>
              <a:t>   —   the voice it should use</a:t>
            </a:r>
            <a:endParaRPr lang="en-US" sz="1600" dirty="0"/>
          </a:p>
        </p:txBody>
      </p:sp>
      <p:sp>
        <p:nvSpPr>
          <p:cNvPr id="27" name="Text 17"/>
          <p:cNvSpPr/>
          <p:nvPr/>
        </p:nvSpPr>
        <p:spPr>
          <a:xfrm>
            <a:off x="822960" y="5806440"/>
            <a:ext cx="10515600" cy="365760"/>
          </a:xfrm>
          <a:prstGeom prst="rect">
            <a:avLst/>
          </a:prstGeom>
          <a:noFill/>
          <a:ln/>
        </p:spPr>
        <p:txBody>
          <a:bodyPr wrap="square" lIns="0" tIns="0" rIns="0" bIns="0" rtlCol="0" anchor="ctr"/>
          <a:lstStyle/>
          <a:p>
            <a:pPr indent="0" marL="0">
              <a:buNone/>
            </a:pPr>
            <a:r>
              <a:rPr lang="en-US" sz="1400" i="1" dirty="0">
                <a:solidFill>
                  <a:srgbClr val="3A4452"/>
                </a:solidFill>
                <a:latin typeface="Arial" pitchFamily="34" charset="0"/>
                <a:ea typeface="Arial" pitchFamily="34" charset="-122"/>
                <a:cs typeface="Arial" pitchFamily="34" charset="-120"/>
              </a:rPr>
              <a:t>Not every prompt needs all seven — but running down the list catches what is missing.</a:t>
            </a:r>
            <a:endParaRPr lang="en-US" sz="1400" dirty="0"/>
          </a:p>
        </p:txBody>
      </p:sp>
      <p:sp>
        <p:nvSpPr>
          <p:cNvPr id="28" name="Text 18"/>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29" name="Text 19"/>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Name the parts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good prompt = Setup, Material, and Shaping.</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Set the role and task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Tell it who to be and exactly what to do.</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Give it what it needs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The background and the real information.</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Shape the answer</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Format, length, and tone make it ready to use.</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THE FOUNDATIONS</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Next: The Beginner Level</a:t>
            </a:r>
            <a:endParaRPr lang="en-US" sz="4400" dirty="0"/>
          </a:p>
        </p:txBody>
      </p:sp>
      <p:sp>
        <p:nvSpPr>
          <p:cNvPr id="7" name="Text 5"/>
          <p:cNvSpPr/>
          <p:nvPr/>
        </p:nvSpPr>
        <p:spPr>
          <a:xfrm>
            <a:off x="658368" y="3840480"/>
            <a:ext cx="969264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now have the mindset and the recipe. Next we practise the everyday patterns that make prompts sharper — starting with writing clear instructions.</a:t>
            </a:r>
            <a:endParaRPr lang="en-US" sz="1800" dirty="0"/>
          </a:p>
        </p:txBody>
      </p:sp>
      <p:sp>
        <p:nvSpPr>
          <p:cNvPr id="8" name="Shape 6"/>
          <p:cNvSpPr/>
          <p:nvPr/>
        </p:nvSpPr>
        <p:spPr>
          <a:xfrm>
            <a:off x="658368" y="5760720"/>
            <a:ext cx="502920" cy="50292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777240" y="5879592"/>
            <a:ext cx="265176" cy="265176"/>
          </a:xfrm>
          <a:prstGeom prst="rect">
            <a:avLst/>
          </a:prstGeom>
        </p:spPr>
      </p:pic>
      <p:sp>
        <p:nvSpPr>
          <p:cNvPr id="10" name="Text 7"/>
          <p:cNvSpPr/>
          <p:nvPr/>
        </p:nvSpPr>
        <p:spPr>
          <a:xfrm>
            <a:off x="1325880" y="5779008"/>
            <a:ext cx="9601200" cy="457200"/>
          </a:xfrm>
          <a:prstGeom prst="rect">
            <a:avLst/>
          </a:prstGeom>
          <a:noFill/>
          <a:ln/>
        </p:spPr>
        <p:txBody>
          <a:bodyPr wrap="square" lIns="0" tIns="0" rIns="0" bIns="0" rtlCol="0" anchor="ctr"/>
          <a:lstStyle/>
          <a:p>
            <a:pPr indent="0" marL="0">
              <a:buNone/>
            </a:pPr>
            <a:r>
              <a:rPr lang="en-US" sz="1400" i="1" dirty="0">
                <a:solidFill>
                  <a:srgbClr val="FFFFFF"/>
                </a:solidFill>
                <a:latin typeface="Arial" pitchFamily="34" charset="0"/>
                <a:ea typeface="Arial" pitchFamily="34" charset="-122"/>
                <a:cs typeface="Arial" pitchFamily="34" charset="-120"/>
              </a:rPr>
              <a:t>The two foundation modules are the groundwork for everything that follows.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Two optional techniques that make your prompts sharper — for anyone who wants them.</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Decide what 'good' looks like first</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Before you write the prompt, picture the finished answer.</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What would make it genuinely useful? Deciding the mark of success first makes your instructions sharper — you are describing a target instead of hoping for one.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For that shift note, 'good' might be: under 120 words, lists the three new steps, and a floor associate could act on it without asking a question. Now the prompt almost writes itself.</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target, then the note it produces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331720"/>
            <a:ext cx="4754880" cy="274320"/>
          </a:xfrm>
          <a:prstGeom prst="rect">
            <a:avLst/>
          </a:prstGeom>
          <a:noFill/>
          <a:ln/>
        </p:spPr>
        <p:txBody>
          <a:bodyPr wrap="square" lIns="0" tIns="0" rIns="0" bIns="0" rtlCol="0" anchor="ctr"/>
          <a:lstStyle/>
          <a:p>
            <a:pPr indent="0" marL="0">
              <a:buNone/>
            </a:pPr>
            <a:r>
              <a:rPr lang="en-US" sz="1100" b="1" spc="120" kern="0" dirty="0">
                <a:solidFill>
                  <a:srgbClr val="5E6A78"/>
                </a:solidFill>
                <a:latin typeface="Arial" pitchFamily="34" charset="0"/>
                <a:ea typeface="Arial" pitchFamily="34" charset="-122"/>
                <a:cs typeface="Arial" pitchFamily="34" charset="-120"/>
              </a:rPr>
              <a:t>FIRST, DECIDE WHAT 'GOOD' IS</a:t>
            </a:r>
            <a:endParaRPr lang="en-US" sz="1100" dirty="0"/>
          </a:p>
        </p:txBody>
      </p:sp>
      <p:sp>
        <p:nvSpPr>
          <p:cNvPr id="8" name="Text 5"/>
          <p:cNvSpPr/>
          <p:nvPr/>
        </p:nvSpPr>
        <p:spPr>
          <a:xfrm>
            <a:off x="914400" y="2788920"/>
            <a:ext cx="4754880" cy="2468880"/>
          </a:xfrm>
          <a:prstGeom prst="rect">
            <a:avLst/>
          </a:prstGeom>
          <a:noFill/>
          <a:ln/>
        </p:spPr>
        <p:txBody>
          <a:bodyPr wrap="square" lIns="0" tIns="0" rIns="0" bIns="0" rtlCol="0" anchor="t"/>
          <a:lstStyle/>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Under 120 words</a:t>
            </a:r>
            <a:endParaRPr lang="en-US" sz="1550" dirty="0"/>
          </a:p>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Lists the three new steps</a:t>
            </a:r>
            <a:endParaRPr lang="en-US" sz="1550" dirty="0"/>
          </a:p>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A floor associate can act on it</a:t>
            </a:r>
            <a:endParaRPr lang="en-US" sz="1550" dirty="0"/>
          </a:p>
          <a:p>
            <a:pPr indent="0" marL="0">
              <a:lnSpc>
                <a:spcPct val="155000"/>
              </a:lnSpc>
              <a:buNone/>
            </a:pPr>
            <a:r>
              <a:rPr lang="en-US" sz="1550" b="1" dirty="0">
                <a:solidFill>
                  <a:srgbClr val="1F2733"/>
                </a:solidFill>
                <a:latin typeface="Arial" pitchFamily="34" charset="0"/>
                <a:ea typeface="Arial" pitchFamily="34" charset="-122"/>
                <a:cs typeface="Arial" pitchFamily="34" charset="-120"/>
              </a:rPr>
              <a:t>✓   Warm, plain words</a:t>
            </a:r>
            <a:endParaRPr lang="en-US" sz="1550" dirty="0"/>
          </a:p>
        </p:txBody>
      </p:sp>
      <p:sp>
        <p:nvSpPr>
          <p:cNvPr id="9" name="Shape 6"/>
          <p:cNvSpPr/>
          <p:nvPr/>
        </p:nvSpPr>
        <p:spPr>
          <a:xfrm>
            <a:off x="6217920" y="2103120"/>
            <a:ext cx="5303520" cy="3611880"/>
          </a:xfrm>
          <a:prstGeom prst="roundRect">
            <a:avLst>
              <a:gd name="adj" fmla="val 2278"/>
            </a:avLst>
          </a:prstGeom>
          <a:solidFill>
            <a:srgbClr val="DCFCE7"/>
          </a:solidFill>
          <a:ln/>
        </p:spPr>
      </p:sp>
      <p:sp>
        <p:nvSpPr>
          <p:cNvPr id="10" name="Text 7"/>
          <p:cNvSpPr/>
          <p:nvPr/>
        </p:nvSpPr>
        <p:spPr>
          <a:xfrm>
            <a:off x="6492240" y="2331720"/>
            <a:ext cx="4754880" cy="274320"/>
          </a:xfrm>
          <a:prstGeom prst="rect">
            <a:avLst/>
          </a:prstGeom>
          <a:noFill/>
          <a:ln/>
        </p:spPr>
        <p:txBody>
          <a:bodyPr wrap="square" lIns="0" tIns="0" rIns="0" bIns="0" rtlCol="0" anchor="ctr"/>
          <a:lstStyle/>
          <a:p>
            <a:pPr indent="0" marL="0">
              <a:buNone/>
            </a:pPr>
            <a:r>
              <a:rPr lang="en-US" sz="1100" b="1" spc="120" kern="0" dirty="0">
                <a:solidFill>
                  <a:srgbClr val="15803D"/>
                </a:solidFill>
                <a:latin typeface="Arial" pitchFamily="34" charset="0"/>
                <a:ea typeface="Arial" pitchFamily="34" charset="-122"/>
                <a:cs typeface="Arial" pitchFamily="34" charset="-120"/>
              </a:rPr>
              <a:t>THE NOTE THAT HITS EVERY MARK</a:t>
            </a:r>
            <a:endParaRPr lang="en-US" sz="1100" dirty="0"/>
          </a:p>
        </p:txBody>
      </p:sp>
      <p:sp>
        <p:nvSpPr>
          <p:cNvPr id="11" name="Text 8"/>
          <p:cNvSpPr/>
          <p:nvPr/>
        </p:nvSpPr>
        <p:spPr>
          <a:xfrm>
            <a:off x="6492240" y="2788920"/>
            <a:ext cx="4754880" cy="2468880"/>
          </a:xfrm>
          <a:prstGeom prst="rect">
            <a:avLst/>
          </a:prstGeom>
          <a:noFill/>
          <a:ln/>
        </p:spPr>
        <p:txBody>
          <a:bodyPr wrap="square" lIns="0" tIns="0" rIns="0" bIns="0" rtlCol="0" anchor="t"/>
          <a:lstStyle/>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Team — heads up for the weekend: self-checkout goes live.</a:t>
            </a:r>
            <a:endParaRPr lang="en-US" sz="1350" dirty="0"/>
          </a:p>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1.  Show members where the kiosks are.</a:t>
            </a:r>
            <a:endParaRPr lang="en-US" sz="1350" dirty="0"/>
          </a:p>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2.  Help them scan the first item.</a:t>
            </a:r>
            <a:endParaRPr lang="en-US" sz="1350" dirty="0"/>
          </a:p>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3.  Call a lead for any override.</a:t>
            </a:r>
            <a:endParaRPr lang="en-US" sz="1350" dirty="0"/>
          </a:p>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You've got this — thanks!</a:t>
            </a:r>
            <a:endParaRPr lang="en-US" sz="1350" dirty="0"/>
          </a:p>
        </p:txBody>
      </p:sp>
      <p:sp>
        <p:nvSpPr>
          <p:cNvPr id="12" name="Text 9"/>
          <p:cNvSpPr/>
          <p:nvPr/>
        </p:nvSpPr>
        <p:spPr>
          <a:xfrm>
            <a:off x="640080" y="5852160"/>
            <a:ext cx="10881360" cy="365760"/>
          </a:xfrm>
          <a:prstGeom prst="rect">
            <a:avLst/>
          </a:prstGeom>
          <a:noFill/>
          <a:ln/>
        </p:spPr>
        <p:txBody>
          <a:bodyPr wrap="square" lIns="0" tIns="0" rIns="0" bIns="0" rtlCol="0" anchor="ctr"/>
          <a:lstStyle/>
          <a:p>
            <a:pPr algn="ctr" indent="0" marL="0">
              <a:buNone/>
            </a:pPr>
            <a:r>
              <a:rPr lang="en-US" sz="1300" i="1" dirty="0">
                <a:solidFill>
                  <a:srgbClr val="5E6A78"/>
                </a:solidFill>
                <a:latin typeface="Arial" pitchFamily="34" charset="0"/>
                <a:ea typeface="Arial" pitchFamily="34" charset="-122"/>
                <a:cs typeface="Arial" pitchFamily="34" charset="-120"/>
              </a:rPr>
              <a:t>Define the target first, and the prompt almost writes itself.</a:t>
            </a:r>
            <a:endParaRPr lang="en-US" sz="1300" dirty="0"/>
          </a:p>
        </p:txBody>
      </p:sp>
      <p:sp>
        <p:nvSpPr>
          <p:cNvPr id="13" name="Text 1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APPENDIX</a:t>
            </a:r>
            <a:endParaRPr lang="en-US" sz="850" dirty="0"/>
          </a:p>
        </p:txBody>
      </p:sp>
      <p:sp>
        <p:nvSpPr>
          <p:cNvPr id="14" name="Text 1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Rank your instructions: must, should, avoid</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When a prompt carries many requirements, say which ones matter most.</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Mark the essentials as 'must', the preferences as 'should', and the things to steer clear of as 'avoid'. It removes any guesswork about your priorities.</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Must: stay under 120 words and include the three steps. Should: sound warm and encouraging. Avoid: technical terms the floor team would not use.</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See the ranking protect the must-have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RANKING</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lnSpc>
                <a:spcPct val="110000"/>
              </a:lnSpc>
              <a:buNone/>
            </a:pPr>
            <a:r>
              <a:rPr lang="en-US" sz="1250" i="1" dirty="0">
                <a:solidFill>
                  <a:srgbClr val="5E6A78"/>
                </a:solidFill>
                <a:latin typeface="Arial" pitchFamily="34" charset="0"/>
                <a:ea typeface="Arial" pitchFamily="34" charset="-122"/>
                <a:cs typeface="Arial" pitchFamily="34" charset="-120"/>
              </a:rPr>
              <a:t>Everything listed flat — nothing flagged as essential.</a:t>
            </a:r>
            <a:endParaRPr lang="en-US" sz="125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NOTE YOU GET</a:t>
            </a:r>
            <a:endParaRPr lang="en-US" sz="1100" dirty="0"/>
          </a:p>
        </p:txBody>
      </p:sp>
      <p:sp>
        <p:nvSpPr>
          <p:cNvPr id="10" name="Text 7"/>
          <p:cNvSpPr/>
          <p:nvPr/>
        </p:nvSpPr>
        <p:spPr>
          <a:xfrm>
            <a:off x="914400" y="3520440"/>
            <a:ext cx="4754880" cy="137160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“Self-checkout is live this weekend! Show members the kiosks and help them scan. Thanks!”</a:t>
            </a:r>
            <a:endParaRPr lang="en-US" sz="1400" dirty="0"/>
          </a:p>
        </p:txBody>
      </p:sp>
      <p:sp>
        <p:nvSpPr>
          <p:cNvPr id="11" name="Text 8"/>
          <p:cNvSpPr/>
          <p:nvPr/>
        </p:nvSpPr>
        <p:spPr>
          <a:xfrm>
            <a:off x="914400" y="5074920"/>
            <a:ext cx="4754880" cy="548640"/>
          </a:xfrm>
          <a:prstGeom prst="rect">
            <a:avLst/>
          </a:prstGeom>
          <a:noFill/>
          <a:ln/>
        </p:spPr>
        <p:txBody>
          <a:bodyPr wrap="square" lIns="0" tIns="0" rIns="0" bIns="0" rtlCol="0" anchor="t"/>
          <a:lstStyle/>
          <a:p>
            <a:pPr indent="0" marL="0">
              <a:lnSpc>
                <a:spcPct val="110000"/>
              </a:lnSpc>
              <a:buNone/>
            </a:pPr>
            <a:r>
              <a:rPr lang="en-US" sz="1200" i="1" dirty="0">
                <a:solidFill>
                  <a:srgbClr val="5E6A78"/>
                </a:solidFill>
                <a:latin typeface="Arial" pitchFamily="34" charset="0"/>
                <a:ea typeface="Arial" pitchFamily="34" charset="-122"/>
                <a:cs typeface="Arial" pitchFamily="34" charset="-120"/>
              </a:rPr>
              <a:t>The override step — the one that matters — got dropped.</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MUST / SHOULD / AVOID</a:t>
            </a:r>
            <a:endParaRPr lang="en-US" sz="1100" dirty="0"/>
          </a:p>
        </p:txBody>
      </p:sp>
      <p:sp>
        <p:nvSpPr>
          <p:cNvPr id="14" name="Text 11"/>
          <p:cNvSpPr/>
          <p:nvPr/>
        </p:nvSpPr>
        <p:spPr>
          <a:xfrm>
            <a:off x="6492240" y="2578608"/>
            <a:ext cx="4754880" cy="457200"/>
          </a:xfrm>
          <a:prstGeom prst="rect">
            <a:avLst/>
          </a:prstGeom>
          <a:noFill/>
          <a:ln/>
        </p:spPr>
        <p:txBody>
          <a:bodyPr wrap="square" lIns="0" tIns="0" rIns="0" bIns="0" rtlCol="0" anchor="t"/>
          <a:lstStyle/>
          <a:p>
            <a:pPr indent="0" marL="0">
              <a:lnSpc>
                <a:spcPct val="110000"/>
              </a:lnSpc>
              <a:buNone/>
            </a:pPr>
            <a:r>
              <a:rPr lang="en-US" sz="1250" i="1" dirty="0">
                <a:solidFill>
                  <a:srgbClr val="15803D"/>
                </a:solidFill>
                <a:latin typeface="Arial" pitchFamily="34" charset="0"/>
                <a:ea typeface="Arial" pitchFamily="34" charset="-122"/>
                <a:cs typeface="Arial" pitchFamily="34" charset="-120"/>
              </a:rPr>
              <a:t>Must: the override step. Should: warm. Avoid: jargon.</a:t>
            </a:r>
            <a:endParaRPr lang="en-US" sz="1250" dirty="0"/>
          </a:p>
        </p:txBody>
      </p:sp>
      <p:sp>
        <p:nvSpPr>
          <p:cNvPr id="15" name="Text 12"/>
          <p:cNvSpPr/>
          <p:nvPr/>
        </p:nvSpPr>
        <p:spPr>
          <a:xfrm>
            <a:off x="6492240" y="320040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NOTE YOU GET</a:t>
            </a:r>
            <a:endParaRPr lang="en-US" sz="1100" dirty="0"/>
          </a:p>
        </p:txBody>
      </p:sp>
      <p:sp>
        <p:nvSpPr>
          <p:cNvPr id="16" name="Text 13"/>
          <p:cNvSpPr/>
          <p:nvPr/>
        </p:nvSpPr>
        <p:spPr>
          <a:xfrm>
            <a:off x="6492240" y="3520440"/>
            <a:ext cx="4754880" cy="146304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“Self-checkout is live this weekend! Show members the kiosks, help them scan, and call a lead for any override. Thanks!”</a:t>
            </a:r>
            <a:endParaRPr lang="en-US" sz="1400" dirty="0"/>
          </a:p>
        </p:txBody>
      </p:sp>
      <p:sp>
        <p:nvSpPr>
          <p:cNvPr id="17" name="Text 14"/>
          <p:cNvSpPr/>
          <p:nvPr/>
        </p:nvSpPr>
        <p:spPr>
          <a:xfrm>
            <a:off x="6492240" y="5257800"/>
            <a:ext cx="4754880" cy="36576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The must-have is guaranteed.</a:t>
            </a:r>
            <a:endParaRPr lang="en-US" sz="1200" dirty="0"/>
          </a:p>
        </p:txBody>
      </p:sp>
      <p:sp>
        <p:nvSpPr>
          <p:cNvPr id="18"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2  ·  APPENDIX</a:t>
            </a:r>
            <a:endParaRPr lang="en-US" sz="850" dirty="0"/>
          </a:p>
        </p:txBody>
      </p:sp>
      <p:sp>
        <p:nvSpPr>
          <p:cNvPr id="19"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 Module 1: The Foundations</dc:title>
  <dc:subject>PptxGenJS Presentation</dc:subject>
  <dc:creator>BJ's AI Enablement</dc:creator>
  <cp:lastModifiedBy>BJ's AI Enablement</cp:lastModifiedBy>
  <cp:revision>1</cp:revision>
  <dcterms:created xsi:type="dcterms:W3CDTF">2026-07-05T18:30:46Z</dcterms:created>
  <dcterms:modified xsi:type="dcterms:W3CDTF">2026-07-05T18:30:46Z</dcterms:modified>
</cp:coreProperties>
</file>