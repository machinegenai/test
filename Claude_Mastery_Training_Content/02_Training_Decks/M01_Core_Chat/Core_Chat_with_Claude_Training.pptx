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people and frame the module: this is the foundation everyone needs before Projects, Skills, or anything advanced. It is NOT a prompt-engineering deep dive — that's Modules 2 and 3. Today is about running a good chat session end to end. Promise a live demo, a hands-on exercise on real BJ's work, and a quick knowledge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promises. Tell learners you'll check the last one (teach it) at the end with a 90-second teach-back. Setting clear objectives up front raises engagement and gives you a checklist to return to when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 30 seconds. The point is to show there's a clear arc from mindset to safe, independent use. Note that demos and the exercise are where the learning sticks, so you'll protect time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Mindset shift: people blame 'the AI' for weak answers; usually it's the request. That's good news — the fix is in their hands. The 80% figure is illustrative shorthand to make the point that fundamentals beat features, not a measured BJ's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thing to teach a beginner. 'Brilliant but literal, can't read your mind, and needs an editor.' Every habit in this deck is a consequence of one of these four traits. Ask the room for a weak answer they once got and map it back to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LIVE: share your screen and point to each part on the real app, because exact placement shifts over time. Teach the concept, not the pixel. The mock-up here is a stand-in. If you have real screenshots, drop them in and they replace the mock-up. Emphasize the 'New chat' button — it's the start of good chat hygiene, covered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prevent most confusion: within a chat Claude remembers the whole thread; across chats it doesn't (by default). The 'desk' metaphor beats token math for this audience. This sets up the chat-hygiene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Memorize R-T-C-F-C as a checklist, not a script. Most weak asks miss Context or Format. If they only remember two, make it Task + Context. Stress this is everyday clarity — keep it light and non-technical so it doesn't feel like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is a cheap upgrade for anything associate- or member-facing because it sets tone. Task is non-negotiable: no clear verb means Claude has to guess. Common real-world miss: people describe a situation but never actually ask for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is skipped most. The 'new-hire test' is the teachable heuristic. Push attaching/pasting real source material — it dramatically improves results and reduces hallucination because Claude works from the document, not memory. (Reminder: what's safe to paste comes later — preview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and constraints make output usable without rework. 'Under 150 words' and 'no jargon' save the most editing time. If they keep getting walls of text, the missing piece is format or a length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beginner habit that feels advanced. It flips the dynamic: instead of guessing, Claude interviews you. Demo it live (Demo 3). Great for nervous beginners because it removes the pressure to write a perfect prompt — Claude helps them fill the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room call out the five parts in the strong version (labels are in parentheses on purpose). This is Demo 1 — run both live if you can; nothing converts skeptics faster than seeing the two outputs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Lowering the 'perfect prompt' barrier gets people started. Iteration is the real skill. This is Demo 2. Next slide shows the buttons that make iterating easy (retry,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LIVE on the real app. Retry vs Edit is the key distinction: Retry when the answer missed but the prompt was fine; Edit your own message when the prompt itself was the problem (cleaner than piling on corrections). Mention Share is governed by policy — tie to the privacy slide. Rename/archive keeps a reusable library of good chats.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rule that prevents most 'Claude got confused' complaints: new topic = new chat. Mixed threads carry irrelevant context that biases answers. It's free and instant to start fresh. Pair with the next slide on what to do when it's already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Beginners tend to pile correction on correction in a confused thread, which makes it worse. Teach the 'two strikes' reset. 'Summarize what we've agreed, then continue' is a great recovery move — it compresses the desk down to the essentials.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LIVE: click '+' and show the real menu; placement changes so don't memorize it. Reinforce: attaching the real document is the biggest single quality boost for beginners. Immediately bridge to privacy — attaching the wrong document is exactly the risk the next slide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live in-app (June 2026): Haiku 4.5 / Sonnet 4.6 / Opus 4.8, plus an Effort control and the Fable 5 frontier tier. Keep this light for general users — most should just use the default. Champions should know the tiers and 'start on Sonnet.' Re-verify model names before each delivery; they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important slide for responsible use. Frame positively: AI drafts, humans approve. The two questions ('what assumptions' / 'which parts to verify') are concrete and easy to teach. Tie to BJ's: a wrong price or misstated return policy going to members is a real problem. This is Demo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this a clear, stated team norm — and adapt the specifics to BJ's official data-handling policy before delivering (confirm with your security/privacy team). Frame positively: responsible use is the price of scaling access, not a barrier. 'When in doubt, leave it out' is the memorable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Diagnostic checklist. When someone says 'it gave me junk,' walk these six. In practice most issues are the first three. Have learners keep this as a desk one-pager.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Localize to the roles in the room. Ask each person for one task from their week and prompt it live together. Concrete role-specific wins drive adoption. Capture the best to seed your internal prompt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live in a fresh chat. Keep it tight (~5 min total). If the room is remote, share your screen. Use a non-sensitive example only. If short on time, Demo 1 alone makes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is the crowd-pleaser — people love that Claude asks THEM questions. Demo 4 cements the verify habit. Together they show how to get a good answer AND keep it safe.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Meta-layer for Champions: learn to TEACH core chat, not just use it. This one-liner / demo / supervised-rep pattern works for almost every capability in the curriculum. Stress the supervised first rep — people learn by doing one, not watching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8–10 minutes; pair people up. Walk the room. The learning is in turning the vague ask into a specific one. Have two or three pairs read their before/after to the room. Then reveal the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there's no single 'right' prompt — this is A strong version. Map each labeled part back to the 5-part recipe so it clicks. Note it deliberately includes both the clarifying-questions and verify habits, showing how the whole module comes together in one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Champions use this to give fast, consistent feedback on learner prompts. Score 0 (missing), 1 (partial), 2 (clear). Keep it encouraging — the goal is a shared language for 'what good looks like,' not a test. Safety is baked into the last line so it's never an afterthought.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discussion; reveal answers after the room responds. If Q2, Q3, or Q4 stumps people, revisit — context window, verification, and privacy are the concepts most worth reinforcing.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action. Have one or two volunteers actually do the 90-second teach-back now if time allows — it's the real test of mastery and surfaces gaps. Assign the 3-tasks practice and offer office hours / the cheat sheet as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slide — tell people to screenshot or print it. Offer to send a one-page PDF after the session. Everything in the deck collapses into these two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every advanced module reuses the 5 parts and the verify habit. Reaffirm the assignment and the 90-second teach-back. Offer the cheat-sheet PDF and office hours. Preview Module 2 so they're primed.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8778240" y="-1920240"/>
            <a:ext cx="5669280" cy="5669280"/>
          </a:xfrm>
          <a:prstGeom prst="ellipse">
            <a:avLst/>
          </a:prstGeom>
          <a:solidFill>
            <a:srgbClr val="A60E34"/>
          </a:solidFill>
          <a:ln/>
        </p:spPr>
      </p:sp>
      <p:sp>
        <p:nvSpPr>
          <p:cNvPr id="3" name="Shape 1"/>
          <p:cNvSpPr/>
          <p:nvPr/>
        </p:nvSpPr>
        <p:spPr>
          <a:xfrm>
            <a:off x="10424160" y="3566160"/>
            <a:ext cx="3840480" cy="3840480"/>
          </a:xfrm>
          <a:prstGeom prst="ellipse">
            <a:avLst/>
          </a:prstGeom>
          <a:solidFill>
            <a:srgbClr val="D31242"/>
          </a:solidFill>
          <a:ln/>
        </p:spPr>
      </p:sp>
      <p:sp>
        <p:nvSpPr>
          <p:cNvPr id="4" name="Shape 2"/>
          <p:cNvSpPr/>
          <p:nvPr/>
        </p:nvSpPr>
        <p:spPr>
          <a:xfrm>
            <a:off x="566928" y="502920"/>
            <a:ext cx="1417320" cy="713232"/>
          </a:xfrm>
          <a:prstGeom prst="roundRect">
            <a:avLst>
              <a:gd name="adj" fmla="val 15385"/>
            </a:avLst>
          </a:prstGeom>
          <a:solidFill>
            <a:srgbClr val="FFFFFF"/>
          </a:solidFill>
          <a:ln/>
          <a:effectLst>
            <a:outerShdw sx="100000" sy="100000" kx="0" ky="0" algn="bl" rotWithShape="0" blurRad="114300" dist="38100" dir="5400000">
              <a:srgbClr val="1F2733">
                <a:alpha val="10000"/>
              </a:srgbClr>
            </a:outerShdw>
          </a:effectLst>
        </p:spPr>
      </p:sp>
      <p:sp>
        <p:nvSpPr>
          <p:cNvPr id="5" name="Text 3"/>
          <p:cNvSpPr/>
          <p:nvPr/>
        </p:nvSpPr>
        <p:spPr>
          <a:xfrm>
            <a:off x="566928" y="576072"/>
            <a:ext cx="1417320" cy="384048"/>
          </a:xfrm>
          <a:prstGeom prst="rect">
            <a:avLst/>
          </a:prstGeom>
          <a:noFill/>
          <a:ln/>
        </p:spPr>
        <p:txBody>
          <a:bodyPr wrap="square" lIns="0" tIns="0" rIns="0" bIns="0" rtlCol="0" anchor="ctr"/>
          <a:lstStyle/>
          <a:p>
            <a:pPr algn="ctr" indent="0" marL="0">
              <a:buNone/>
            </a:pPr>
            <a:r>
              <a:rPr lang="en-US" sz="2500" b="1" dirty="0">
                <a:solidFill>
                  <a:srgbClr val="D31242"/>
                </a:solidFill>
                <a:latin typeface="Arial" pitchFamily="34" charset="0"/>
                <a:ea typeface="Arial" pitchFamily="34" charset="-122"/>
                <a:cs typeface="Arial" pitchFamily="34" charset="-120"/>
              </a:rPr>
              <a:t>BJ's</a:t>
            </a:r>
            <a:endParaRPr lang="en-US" sz="2500" dirty="0"/>
          </a:p>
        </p:txBody>
      </p:sp>
      <p:sp>
        <p:nvSpPr>
          <p:cNvPr id="6" name="Text 4"/>
          <p:cNvSpPr/>
          <p:nvPr/>
        </p:nvSpPr>
        <p:spPr>
          <a:xfrm>
            <a:off x="566928" y="960120"/>
            <a:ext cx="1417320" cy="182880"/>
          </a:xfrm>
          <a:prstGeom prst="rect">
            <a:avLst/>
          </a:prstGeom>
          <a:noFill/>
          <a:ln/>
        </p:spPr>
        <p:txBody>
          <a:bodyPr wrap="square" lIns="0" tIns="0" rIns="0" bIns="0" rtlCol="0" anchor="ctr"/>
          <a:lstStyle/>
          <a:p>
            <a:pPr algn="ctr" indent="0" marL="0">
              <a:buNone/>
            </a:pPr>
            <a:r>
              <a:rPr lang="en-US" sz="700" b="1" spc="200" kern="0" dirty="0">
                <a:solidFill>
                  <a:srgbClr val="D31242"/>
                </a:solidFill>
                <a:latin typeface="Arial" pitchFamily="34" charset="0"/>
                <a:ea typeface="Arial" pitchFamily="34" charset="-122"/>
                <a:cs typeface="Arial" pitchFamily="34" charset="-120"/>
              </a:rPr>
              <a:t>WHOLESALE CLUB</a:t>
            </a:r>
            <a:endParaRPr lang="en-US" sz="700" dirty="0"/>
          </a:p>
        </p:txBody>
      </p:sp>
      <p:sp>
        <p:nvSpPr>
          <p:cNvPr id="7" name="Text 5"/>
          <p:cNvSpPr/>
          <p:nvPr/>
        </p:nvSpPr>
        <p:spPr>
          <a:xfrm>
            <a:off x="566928" y="2103120"/>
            <a:ext cx="10058400" cy="320040"/>
          </a:xfrm>
          <a:prstGeom prst="rect">
            <a:avLst/>
          </a:prstGeom>
          <a:noFill/>
          <a:ln/>
        </p:spPr>
        <p:txBody>
          <a:bodyPr wrap="square" rtlCol="0" anchor="ctr"/>
          <a:lstStyle/>
          <a:p>
            <a:pPr indent="0" marL="0">
              <a:buNone/>
            </a:pPr>
            <a:r>
              <a:rPr lang="en-US" sz="1300" b="1" spc="250" kern="0" dirty="0">
                <a:solidFill>
                  <a:srgbClr val="F7B9C6"/>
                </a:solidFill>
                <a:latin typeface="Arial" pitchFamily="34" charset="0"/>
                <a:ea typeface="Arial" pitchFamily="34" charset="-122"/>
                <a:cs typeface="Arial" pitchFamily="34" charset="-120"/>
              </a:rPr>
              <a:t>AI ENABLEMENT • CHAMPION TRAINING • MODULE 1</a:t>
            </a:r>
            <a:endParaRPr lang="en-US" sz="1300" dirty="0"/>
          </a:p>
        </p:txBody>
      </p:sp>
      <p:sp>
        <p:nvSpPr>
          <p:cNvPr id="8" name="Text 6"/>
          <p:cNvSpPr/>
          <p:nvPr/>
        </p:nvSpPr>
        <p:spPr>
          <a:xfrm>
            <a:off x="566928" y="2514600"/>
            <a:ext cx="9875520" cy="1280160"/>
          </a:xfrm>
          <a:prstGeom prst="rect">
            <a:avLst/>
          </a:prstGeom>
          <a:noFill/>
          <a:ln/>
        </p:spPr>
        <p:txBody>
          <a:bodyPr wrap="square" rtlCol="0" anchor="ctr"/>
          <a:lstStyle/>
          <a:p>
            <a:pPr indent="0" marL="0">
              <a:lnSpc>
                <a:spcPts val="4800"/>
              </a:lnSpc>
              <a:buNone/>
            </a:pPr>
            <a:r>
              <a:rPr lang="en-US" sz="4600" b="1" dirty="0">
                <a:solidFill>
                  <a:srgbClr val="FFFFFF"/>
                </a:solidFill>
                <a:latin typeface="Arial" pitchFamily="34" charset="0"/>
                <a:ea typeface="Arial" pitchFamily="34" charset="-122"/>
                <a:cs typeface="Arial" pitchFamily="34" charset="-120"/>
              </a:rPr>
              <a:t>Mastering Core Chat with Claude</a:t>
            </a:r>
            <a:endParaRPr lang="en-US" sz="4600" dirty="0"/>
          </a:p>
        </p:txBody>
      </p:sp>
      <p:sp>
        <p:nvSpPr>
          <p:cNvPr id="9" name="Text 7"/>
          <p:cNvSpPr/>
          <p:nvPr/>
        </p:nvSpPr>
        <p:spPr>
          <a:xfrm>
            <a:off x="566928" y="4023360"/>
            <a:ext cx="9144000" cy="640080"/>
          </a:xfrm>
          <a:prstGeom prst="rect">
            <a:avLst/>
          </a:prstGeom>
          <a:noFill/>
          <a:ln/>
        </p:spPr>
        <p:txBody>
          <a:bodyPr wrap="square" rtlCol="0" anchor="ctr"/>
          <a:lstStyle/>
          <a:p>
            <a:pPr indent="0" marL="0">
              <a:lnSpc>
                <a:spcPts val="2400"/>
              </a:lnSpc>
              <a:buNone/>
            </a:pPr>
            <a:r>
              <a:rPr lang="en-US" sz="1600" dirty="0">
                <a:solidFill>
                  <a:srgbClr val="F2D9DF"/>
                </a:solidFill>
                <a:latin typeface="Arial" pitchFamily="34" charset="0"/>
                <a:ea typeface="Arial" pitchFamily="34" charset="-122"/>
                <a:cs typeface="Arial" pitchFamily="34" charset="-120"/>
              </a:rPr>
              <a:t>How to start, steer, clean up, verify, and responsibly use a Claude chat — end to end.</a:t>
            </a:r>
            <a:endParaRPr lang="en-US" sz="1600" dirty="0"/>
          </a:p>
        </p:txBody>
      </p:sp>
      <p:sp>
        <p:nvSpPr>
          <p:cNvPr id="10" name="Text 8"/>
          <p:cNvSpPr/>
          <p:nvPr/>
        </p:nvSpPr>
        <p:spPr>
          <a:xfrm>
            <a:off x="566928" y="4983480"/>
            <a:ext cx="10058400" cy="36576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Audience: </a:t>
            </a:r>
            <a:pPr indent="0" marL="0">
              <a:buNone/>
            </a:pPr>
            <a:r>
              <a:rPr lang="en-US" sz="1250" dirty="0">
                <a:solidFill>
                  <a:srgbClr val="F2D9DF"/>
                </a:solidFill>
                <a:latin typeface="Arial" pitchFamily="34" charset="0"/>
                <a:ea typeface="Arial" pitchFamily="34" charset="-122"/>
                <a:cs typeface="Arial" pitchFamily="34" charset="-120"/>
              </a:rPr>
              <a:t>AI Champions &amp; business users   </a:t>
            </a:r>
            <a:pPr indent="0" marL="0">
              <a:buNone/>
            </a:pPr>
            <a:r>
              <a:rPr lang="en-US" sz="1250" b="1" dirty="0">
                <a:solidFill>
                  <a:srgbClr val="FFFFFF"/>
                </a:solidFill>
                <a:latin typeface="Arial" pitchFamily="34" charset="0"/>
                <a:ea typeface="Arial" pitchFamily="34" charset="-122"/>
                <a:cs typeface="Arial" pitchFamily="34" charset="-120"/>
              </a:rPr>
              <a:t>|   Length: </a:t>
            </a:r>
            <a:pPr indent="0" marL="0">
              <a:buNone/>
            </a:pPr>
            <a:r>
              <a:rPr lang="en-US" sz="1250" dirty="0">
                <a:solidFill>
                  <a:srgbClr val="F2D9DF"/>
                </a:solidFill>
                <a:latin typeface="Arial" pitchFamily="34" charset="0"/>
                <a:ea typeface="Arial" pitchFamily="34" charset="-122"/>
                <a:cs typeface="Arial" pitchFamily="34" charset="-120"/>
              </a:rPr>
              <a:t>45–60 min + hands-on</a:t>
            </a:r>
            <a:endParaRPr lang="en-US" sz="1250" dirty="0"/>
          </a:p>
        </p:txBody>
      </p:sp>
      <p:sp>
        <p:nvSpPr>
          <p:cNvPr id="11" name="Text 9"/>
          <p:cNvSpPr/>
          <p:nvPr/>
        </p:nvSpPr>
        <p:spPr>
          <a:xfrm>
            <a:off x="566928" y="6565392"/>
            <a:ext cx="10515600" cy="228600"/>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Claude UI changes over time; verify before each session.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WHAT YOU'LL BE ABLE TO DO</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Learning objectives</a:t>
            </a:r>
            <a:endParaRPr lang="en-US" sz="2900" dirty="0"/>
          </a:p>
        </p:txBody>
      </p:sp>
      <p:sp>
        <p:nvSpPr>
          <p:cNvPr id="4" name="Shape 2"/>
          <p:cNvSpPr/>
          <p:nvPr/>
        </p:nvSpPr>
        <p:spPr>
          <a:xfrm>
            <a:off x="566928" y="1554480"/>
            <a:ext cx="3441192" cy="2103120"/>
          </a:xfrm>
          <a:prstGeom prst="roundRect">
            <a:avLst>
              <a:gd name="adj" fmla="val 3913"/>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841248" y="1828800"/>
            <a:ext cx="502920" cy="502920"/>
          </a:xfrm>
          <a:prstGeom prst="ellipse">
            <a:avLst/>
          </a:prstGeom>
          <a:solidFill>
            <a:srgbClr val="D31242"/>
          </a:solidFill>
          <a:ln/>
        </p:spPr>
      </p:sp>
      <p:sp>
        <p:nvSpPr>
          <p:cNvPr id="6" name="Text 4"/>
          <p:cNvSpPr/>
          <p:nvPr/>
        </p:nvSpPr>
        <p:spPr>
          <a:xfrm>
            <a:off x="841248" y="182880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7" name="Text 5"/>
          <p:cNvSpPr/>
          <p:nvPr/>
        </p:nvSpPr>
        <p:spPr>
          <a:xfrm>
            <a:off x="841248" y="2468880"/>
            <a:ext cx="2892552" cy="457200"/>
          </a:xfrm>
          <a:prstGeom prst="rect">
            <a:avLst/>
          </a:prstGeom>
          <a:noFill/>
          <a:ln/>
        </p:spPr>
        <p:txBody>
          <a:bodyPr wrap="square" rtlCol="0" anchor="ctr"/>
          <a:lstStyle/>
          <a:p>
            <a:pPr indent="0" marL="0">
              <a:buNone/>
            </a:pPr>
            <a:r>
              <a:rPr lang="en-US" sz="1700" b="1" dirty="0">
                <a:solidFill>
                  <a:srgbClr val="D31242"/>
                </a:solidFill>
                <a:latin typeface="Arial" pitchFamily="34" charset="0"/>
                <a:ea typeface="Arial" pitchFamily="34" charset="-122"/>
                <a:cs typeface="Arial" pitchFamily="34" charset="-120"/>
              </a:rPr>
              <a:t>Start clean</a:t>
            </a:r>
            <a:endParaRPr lang="en-US" sz="1700" dirty="0"/>
          </a:p>
        </p:txBody>
      </p:sp>
      <p:sp>
        <p:nvSpPr>
          <p:cNvPr id="8" name="Text 6"/>
          <p:cNvSpPr/>
          <p:nvPr/>
        </p:nvSpPr>
        <p:spPr>
          <a:xfrm>
            <a:off x="841248" y="2926080"/>
            <a:ext cx="2892552" cy="640080"/>
          </a:xfrm>
          <a:prstGeom prst="rect">
            <a:avLst/>
          </a:prstGeom>
          <a:noFill/>
          <a:ln/>
        </p:spPr>
        <p:txBody>
          <a:bodyPr wrap="square" rtlCol="0" anchor="ctr"/>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Open a focused chat for one specific task</a:t>
            </a:r>
            <a:endParaRPr lang="en-US" sz="1300" dirty="0"/>
          </a:p>
        </p:txBody>
      </p:sp>
      <p:sp>
        <p:nvSpPr>
          <p:cNvPr id="9" name="Shape 7"/>
          <p:cNvSpPr/>
          <p:nvPr/>
        </p:nvSpPr>
        <p:spPr>
          <a:xfrm>
            <a:off x="4373880" y="1554480"/>
            <a:ext cx="3441192" cy="2103120"/>
          </a:xfrm>
          <a:prstGeom prst="roundRect">
            <a:avLst>
              <a:gd name="adj" fmla="val 3913"/>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Shape 8"/>
          <p:cNvSpPr/>
          <p:nvPr/>
        </p:nvSpPr>
        <p:spPr>
          <a:xfrm>
            <a:off x="4648200" y="1828800"/>
            <a:ext cx="502920" cy="502920"/>
          </a:xfrm>
          <a:prstGeom prst="ellipse">
            <a:avLst/>
          </a:prstGeom>
          <a:solidFill>
            <a:srgbClr val="D31242"/>
          </a:solidFill>
          <a:ln/>
        </p:spPr>
      </p:sp>
      <p:sp>
        <p:nvSpPr>
          <p:cNvPr id="11" name="Text 9"/>
          <p:cNvSpPr/>
          <p:nvPr/>
        </p:nvSpPr>
        <p:spPr>
          <a:xfrm>
            <a:off x="4648200" y="182880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2" name="Text 10"/>
          <p:cNvSpPr/>
          <p:nvPr/>
        </p:nvSpPr>
        <p:spPr>
          <a:xfrm>
            <a:off x="4648200" y="2468880"/>
            <a:ext cx="2892552" cy="457200"/>
          </a:xfrm>
          <a:prstGeom prst="rect">
            <a:avLst/>
          </a:prstGeom>
          <a:noFill/>
          <a:ln/>
        </p:spPr>
        <p:txBody>
          <a:bodyPr wrap="square" rtlCol="0" anchor="ctr"/>
          <a:lstStyle/>
          <a:p>
            <a:pPr indent="0" marL="0">
              <a:buNone/>
            </a:pPr>
            <a:r>
              <a:rPr lang="en-US" sz="1700" b="1" dirty="0">
                <a:solidFill>
                  <a:srgbClr val="D31242"/>
                </a:solidFill>
                <a:latin typeface="Arial" pitchFamily="34" charset="0"/>
                <a:ea typeface="Arial" pitchFamily="34" charset="-122"/>
                <a:cs typeface="Arial" pitchFamily="34" charset="-120"/>
              </a:rPr>
              <a:t>Give context</a:t>
            </a:r>
            <a:endParaRPr lang="en-US" sz="1700" dirty="0"/>
          </a:p>
        </p:txBody>
      </p:sp>
      <p:sp>
        <p:nvSpPr>
          <p:cNvPr id="13" name="Text 11"/>
          <p:cNvSpPr/>
          <p:nvPr/>
        </p:nvSpPr>
        <p:spPr>
          <a:xfrm>
            <a:off x="4648200" y="2926080"/>
            <a:ext cx="2892552" cy="640080"/>
          </a:xfrm>
          <a:prstGeom prst="rect">
            <a:avLst/>
          </a:prstGeom>
          <a:noFill/>
          <a:ln/>
        </p:spPr>
        <p:txBody>
          <a:bodyPr wrap="square" rtlCol="0" anchor="ctr"/>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Provide enough background for a useful answer</a:t>
            </a:r>
            <a:endParaRPr lang="en-US" sz="1300" dirty="0"/>
          </a:p>
        </p:txBody>
      </p:sp>
      <p:sp>
        <p:nvSpPr>
          <p:cNvPr id="14" name="Shape 12"/>
          <p:cNvSpPr/>
          <p:nvPr/>
        </p:nvSpPr>
        <p:spPr>
          <a:xfrm>
            <a:off x="8180832" y="1554480"/>
            <a:ext cx="3441192" cy="2103120"/>
          </a:xfrm>
          <a:prstGeom prst="roundRect">
            <a:avLst>
              <a:gd name="adj" fmla="val 3913"/>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5" name="Shape 13"/>
          <p:cNvSpPr/>
          <p:nvPr/>
        </p:nvSpPr>
        <p:spPr>
          <a:xfrm>
            <a:off x="8455152" y="1828800"/>
            <a:ext cx="502920" cy="502920"/>
          </a:xfrm>
          <a:prstGeom prst="ellipse">
            <a:avLst/>
          </a:prstGeom>
          <a:solidFill>
            <a:srgbClr val="D31242"/>
          </a:solidFill>
          <a:ln/>
        </p:spPr>
      </p:sp>
      <p:sp>
        <p:nvSpPr>
          <p:cNvPr id="16" name="Text 14"/>
          <p:cNvSpPr/>
          <p:nvPr/>
        </p:nvSpPr>
        <p:spPr>
          <a:xfrm>
            <a:off x="8455152" y="182880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7" name="Text 15"/>
          <p:cNvSpPr/>
          <p:nvPr/>
        </p:nvSpPr>
        <p:spPr>
          <a:xfrm>
            <a:off x="8455152" y="2468880"/>
            <a:ext cx="2892552" cy="457200"/>
          </a:xfrm>
          <a:prstGeom prst="rect">
            <a:avLst/>
          </a:prstGeom>
          <a:noFill/>
          <a:ln/>
        </p:spPr>
        <p:txBody>
          <a:bodyPr wrap="square" rtlCol="0" anchor="ctr"/>
          <a:lstStyle/>
          <a:p>
            <a:pPr indent="0" marL="0">
              <a:buNone/>
            </a:pPr>
            <a:r>
              <a:rPr lang="en-US" sz="1700" b="1" dirty="0">
                <a:solidFill>
                  <a:srgbClr val="D31242"/>
                </a:solidFill>
                <a:latin typeface="Arial" pitchFamily="34" charset="0"/>
                <a:ea typeface="Arial" pitchFamily="34" charset="-122"/>
                <a:cs typeface="Arial" pitchFamily="34" charset="-120"/>
              </a:rPr>
              <a:t>Steer it</a:t>
            </a:r>
            <a:endParaRPr lang="en-US" sz="1700" dirty="0"/>
          </a:p>
        </p:txBody>
      </p:sp>
      <p:sp>
        <p:nvSpPr>
          <p:cNvPr id="18" name="Text 16"/>
          <p:cNvSpPr/>
          <p:nvPr/>
        </p:nvSpPr>
        <p:spPr>
          <a:xfrm>
            <a:off x="8455152" y="2926080"/>
            <a:ext cx="2892552" cy="640080"/>
          </a:xfrm>
          <a:prstGeom prst="rect">
            <a:avLst/>
          </a:prstGeom>
          <a:noFill/>
          <a:ln/>
        </p:spPr>
        <p:txBody>
          <a:bodyPr wrap="square" rtlCol="0" anchor="ctr"/>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Ask follow-ups to improve an answer</a:t>
            </a:r>
            <a:endParaRPr lang="en-US" sz="1300" dirty="0"/>
          </a:p>
        </p:txBody>
      </p:sp>
      <p:sp>
        <p:nvSpPr>
          <p:cNvPr id="19" name="Shape 17"/>
          <p:cNvSpPr/>
          <p:nvPr/>
        </p:nvSpPr>
        <p:spPr>
          <a:xfrm>
            <a:off x="566928" y="3977640"/>
            <a:ext cx="3441192" cy="2103120"/>
          </a:xfrm>
          <a:prstGeom prst="roundRect">
            <a:avLst>
              <a:gd name="adj" fmla="val 3913"/>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Shape 18"/>
          <p:cNvSpPr/>
          <p:nvPr/>
        </p:nvSpPr>
        <p:spPr>
          <a:xfrm>
            <a:off x="841248" y="4251960"/>
            <a:ext cx="502920" cy="502920"/>
          </a:xfrm>
          <a:prstGeom prst="ellipse">
            <a:avLst/>
          </a:prstGeom>
          <a:solidFill>
            <a:srgbClr val="D31242"/>
          </a:solidFill>
          <a:ln/>
        </p:spPr>
      </p:sp>
      <p:sp>
        <p:nvSpPr>
          <p:cNvPr id="21" name="Text 19"/>
          <p:cNvSpPr/>
          <p:nvPr/>
        </p:nvSpPr>
        <p:spPr>
          <a:xfrm>
            <a:off x="841248" y="425196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2" name="Text 20"/>
          <p:cNvSpPr/>
          <p:nvPr/>
        </p:nvSpPr>
        <p:spPr>
          <a:xfrm>
            <a:off x="841248" y="4892040"/>
            <a:ext cx="2892552" cy="457200"/>
          </a:xfrm>
          <a:prstGeom prst="rect">
            <a:avLst/>
          </a:prstGeom>
          <a:noFill/>
          <a:ln/>
        </p:spPr>
        <p:txBody>
          <a:bodyPr wrap="square" rtlCol="0" anchor="ctr"/>
          <a:lstStyle/>
          <a:p>
            <a:pPr indent="0" marL="0">
              <a:buNone/>
            </a:pPr>
            <a:r>
              <a:rPr lang="en-US" sz="1700" b="1" dirty="0">
                <a:solidFill>
                  <a:srgbClr val="D31242"/>
                </a:solidFill>
                <a:latin typeface="Arial" pitchFamily="34" charset="0"/>
                <a:ea typeface="Arial" pitchFamily="34" charset="-122"/>
                <a:cs typeface="Arial" pitchFamily="34" charset="-120"/>
              </a:rPr>
              <a:t>Shape output</a:t>
            </a:r>
            <a:endParaRPr lang="en-US" sz="1700" dirty="0"/>
          </a:p>
        </p:txBody>
      </p:sp>
      <p:sp>
        <p:nvSpPr>
          <p:cNvPr id="23" name="Text 21"/>
          <p:cNvSpPr/>
          <p:nvPr/>
        </p:nvSpPr>
        <p:spPr>
          <a:xfrm>
            <a:off x="841248" y="5349240"/>
            <a:ext cx="2892552" cy="640080"/>
          </a:xfrm>
          <a:prstGeom prst="rect">
            <a:avLst/>
          </a:prstGeom>
          <a:noFill/>
          <a:ln/>
        </p:spPr>
        <p:txBody>
          <a:bodyPr wrap="square" rtlCol="0" anchor="ctr"/>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Control format and tone</a:t>
            </a:r>
            <a:endParaRPr lang="en-US" sz="1300" dirty="0"/>
          </a:p>
        </p:txBody>
      </p:sp>
      <p:sp>
        <p:nvSpPr>
          <p:cNvPr id="24" name="Shape 22"/>
          <p:cNvSpPr/>
          <p:nvPr/>
        </p:nvSpPr>
        <p:spPr>
          <a:xfrm>
            <a:off x="4373880" y="3977640"/>
            <a:ext cx="3441192" cy="2103120"/>
          </a:xfrm>
          <a:prstGeom prst="roundRect">
            <a:avLst>
              <a:gd name="adj" fmla="val 3913"/>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5" name="Shape 23"/>
          <p:cNvSpPr/>
          <p:nvPr/>
        </p:nvSpPr>
        <p:spPr>
          <a:xfrm>
            <a:off x="4648200" y="4251960"/>
            <a:ext cx="502920" cy="502920"/>
          </a:xfrm>
          <a:prstGeom prst="ellipse">
            <a:avLst/>
          </a:prstGeom>
          <a:solidFill>
            <a:srgbClr val="D31242"/>
          </a:solidFill>
          <a:ln/>
        </p:spPr>
      </p:sp>
      <p:sp>
        <p:nvSpPr>
          <p:cNvPr id="26" name="Text 24"/>
          <p:cNvSpPr/>
          <p:nvPr/>
        </p:nvSpPr>
        <p:spPr>
          <a:xfrm>
            <a:off x="4648200" y="425196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7" name="Text 25"/>
          <p:cNvSpPr/>
          <p:nvPr/>
        </p:nvSpPr>
        <p:spPr>
          <a:xfrm>
            <a:off x="4648200" y="4892040"/>
            <a:ext cx="2892552" cy="457200"/>
          </a:xfrm>
          <a:prstGeom prst="rect">
            <a:avLst/>
          </a:prstGeom>
          <a:noFill/>
          <a:ln/>
        </p:spPr>
        <p:txBody>
          <a:bodyPr wrap="square" rtlCol="0" anchor="ctr"/>
          <a:lstStyle/>
          <a:p>
            <a:pPr indent="0" marL="0">
              <a:buNone/>
            </a:pPr>
            <a:r>
              <a:rPr lang="en-US" sz="1700" b="1" dirty="0">
                <a:solidFill>
                  <a:srgbClr val="D31242"/>
                </a:solidFill>
                <a:latin typeface="Arial" pitchFamily="34" charset="0"/>
                <a:ea typeface="Arial" pitchFamily="34" charset="-122"/>
                <a:cs typeface="Arial" pitchFamily="34" charset="-120"/>
              </a:rPr>
              <a:t>Know your moves</a:t>
            </a:r>
            <a:endParaRPr lang="en-US" sz="1700" dirty="0"/>
          </a:p>
        </p:txBody>
      </p:sp>
      <p:sp>
        <p:nvSpPr>
          <p:cNvPr id="28" name="Text 26"/>
          <p:cNvSpPr/>
          <p:nvPr/>
        </p:nvSpPr>
        <p:spPr>
          <a:xfrm>
            <a:off x="4648200" y="5349240"/>
            <a:ext cx="2892552" cy="640080"/>
          </a:xfrm>
          <a:prstGeom prst="rect">
            <a:avLst/>
          </a:prstGeom>
          <a:noFill/>
          <a:ln/>
        </p:spPr>
        <p:txBody>
          <a:bodyPr wrap="square" rtlCol="0" anchor="ctr"/>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Recognize when to verify, restart, or escalate</a:t>
            </a:r>
            <a:endParaRPr lang="en-US" sz="1300" dirty="0"/>
          </a:p>
        </p:txBody>
      </p:sp>
      <p:sp>
        <p:nvSpPr>
          <p:cNvPr id="29" name="Shape 27"/>
          <p:cNvSpPr/>
          <p:nvPr/>
        </p:nvSpPr>
        <p:spPr>
          <a:xfrm>
            <a:off x="8180832" y="3977640"/>
            <a:ext cx="3441192" cy="2103120"/>
          </a:xfrm>
          <a:prstGeom prst="roundRect">
            <a:avLst>
              <a:gd name="adj" fmla="val 3913"/>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30" name="Shape 28"/>
          <p:cNvSpPr/>
          <p:nvPr/>
        </p:nvSpPr>
        <p:spPr>
          <a:xfrm>
            <a:off x="8455152" y="4251960"/>
            <a:ext cx="502920" cy="502920"/>
          </a:xfrm>
          <a:prstGeom prst="ellipse">
            <a:avLst/>
          </a:prstGeom>
          <a:solidFill>
            <a:srgbClr val="D31242"/>
          </a:solidFill>
          <a:ln/>
        </p:spPr>
      </p:sp>
      <p:sp>
        <p:nvSpPr>
          <p:cNvPr id="31" name="Text 29"/>
          <p:cNvSpPr/>
          <p:nvPr/>
        </p:nvSpPr>
        <p:spPr>
          <a:xfrm>
            <a:off x="8455152" y="425196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32" name="Text 30"/>
          <p:cNvSpPr/>
          <p:nvPr/>
        </p:nvSpPr>
        <p:spPr>
          <a:xfrm>
            <a:off x="8455152" y="4892040"/>
            <a:ext cx="2892552" cy="457200"/>
          </a:xfrm>
          <a:prstGeom prst="rect">
            <a:avLst/>
          </a:prstGeom>
          <a:noFill/>
          <a:ln/>
        </p:spPr>
        <p:txBody>
          <a:bodyPr wrap="square" rtlCol="0" anchor="ctr"/>
          <a:lstStyle/>
          <a:p>
            <a:pPr indent="0" marL="0">
              <a:buNone/>
            </a:pPr>
            <a:r>
              <a:rPr lang="en-US" sz="1700" b="1" dirty="0">
                <a:solidFill>
                  <a:srgbClr val="D31242"/>
                </a:solidFill>
                <a:latin typeface="Arial" pitchFamily="34" charset="0"/>
                <a:ea typeface="Arial" pitchFamily="34" charset="-122"/>
                <a:cs typeface="Arial" pitchFamily="34" charset="-120"/>
              </a:rPr>
              <a:t>Teach it</a:t>
            </a:r>
            <a:endParaRPr lang="en-US" sz="1700" dirty="0"/>
          </a:p>
        </p:txBody>
      </p:sp>
      <p:sp>
        <p:nvSpPr>
          <p:cNvPr id="33" name="Text 31"/>
          <p:cNvSpPr/>
          <p:nvPr/>
        </p:nvSpPr>
        <p:spPr>
          <a:xfrm>
            <a:off x="8455152" y="5349240"/>
            <a:ext cx="2892552" cy="640080"/>
          </a:xfrm>
          <a:prstGeom prst="rect">
            <a:avLst/>
          </a:prstGeom>
          <a:noFill/>
          <a:ln/>
        </p:spPr>
        <p:txBody>
          <a:bodyPr wrap="square" rtlCol="0" anchor="ctr"/>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Explain basic Core Chat habits to another associate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HOW WE'LL SPEND THE HOUR</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Agenda</a:t>
            </a:r>
            <a:endParaRPr lang="en-US" sz="2900" dirty="0"/>
          </a:p>
        </p:txBody>
      </p:sp>
      <p:sp>
        <p:nvSpPr>
          <p:cNvPr id="4" name="Shape 2"/>
          <p:cNvSpPr/>
          <p:nvPr/>
        </p:nvSpPr>
        <p:spPr>
          <a:xfrm>
            <a:off x="566928" y="1600200"/>
            <a:ext cx="3441192" cy="2103120"/>
          </a:xfrm>
          <a:prstGeom prst="roundRect">
            <a:avLst>
              <a:gd name="adj" fmla="val 3913"/>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841248" y="1874520"/>
            <a:ext cx="502920" cy="502920"/>
          </a:xfrm>
          <a:prstGeom prst="ellipse">
            <a:avLst/>
          </a:prstGeom>
          <a:solidFill>
            <a:srgbClr val="D31242"/>
          </a:solidFill>
          <a:ln/>
        </p:spPr>
      </p:sp>
      <p:sp>
        <p:nvSpPr>
          <p:cNvPr id="6" name="Text 4"/>
          <p:cNvSpPr/>
          <p:nvPr/>
        </p:nvSpPr>
        <p:spPr>
          <a:xfrm>
            <a:off x="841248" y="187452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7" name="Text 5"/>
          <p:cNvSpPr/>
          <p:nvPr/>
        </p:nvSpPr>
        <p:spPr>
          <a:xfrm>
            <a:off x="841248" y="2514600"/>
            <a:ext cx="2892552" cy="457200"/>
          </a:xfrm>
          <a:prstGeom prst="rect">
            <a:avLst/>
          </a:prstGeom>
          <a:noFill/>
          <a:ln/>
        </p:spPr>
        <p:txBody>
          <a:bodyPr wrap="square" rtlCol="0" anchor="ctr"/>
          <a:lstStyle/>
          <a:p>
            <a:pPr indent="0" marL="0">
              <a:buNone/>
            </a:pPr>
            <a:r>
              <a:rPr lang="en-US" sz="1600" b="1" dirty="0">
                <a:solidFill>
                  <a:srgbClr val="1F2733"/>
                </a:solidFill>
                <a:latin typeface="Arial" pitchFamily="34" charset="0"/>
                <a:ea typeface="Arial" pitchFamily="34" charset="-122"/>
                <a:cs typeface="Arial" pitchFamily="34" charset="-120"/>
              </a:rPr>
              <a:t>Mindset &amp; cockpit</a:t>
            </a:r>
            <a:endParaRPr lang="en-US" sz="1600" dirty="0"/>
          </a:p>
        </p:txBody>
      </p:sp>
      <p:sp>
        <p:nvSpPr>
          <p:cNvPr id="8" name="Text 6"/>
          <p:cNvSpPr/>
          <p:nvPr/>
        </p:nvSpPr>
        <p:spPr>
          <a:xfrm>
            <a:off x="841248" y="2971800"/>
            <a:ext cx="2892552" cy="640080"/>
          </a:xfrm>
          <a:prstGeom prst="rect">
            <a:avLst/>
          </a:prstGeom>
          <a:noFill/>
          <a:ln/>
        </p:spPr>
        <p:txBody>
          <a:bodyPr wrap="square" rtlCol="0" anchor="ctr"/>
          <a:lstStyle/>
          <a:p>
            <a:pPr indent="0" marL="0">
              <a:lnSpc>
                <a:spcPts val="1700"/>
              </a:lnSpc>
              <a:buNone/>
            </a:pPr>
            <a:r>
              <a:rPr lang="en-US" sz="1250" dirty="0">
                <a:solidFill>
                  <a:srgbClr val="5E6A78"/>
                </a:solidFill>
                <a:latin typeface="Arial" pitchFamily="34" charset="0"/>
                <a:ea typeface="Arial" pitchFamily="34" charset="-122"/>
                <a:cs typeface="Arial" pitchFamily="34" charset="-120"/>
              </a:rPr>
              <a:t>How to think about Claude; the chat screen</a:t>
            </a:r>
            <a:endParaRPr lang="en-US" sz="1250" dirty="0"/>
          </a:p>
        </p:txBody>
      </p:sp>
      <p:sp>
        <p:nvSpPr>
          <p:cNvPr id="9" name="Shape 7"/>
          <p:cNvSpPr/>
          <p:nvPr/>
        </p:nvSpPr>
        <p:spPr>
          <a:xfrm>
            <a:off x="4373880" y="1600200"/>
            <a:ext cx="3441192" cy="2103120"/>
          </a:xfrm>
          <a:prstGeom prst="roundRect">
            <a:avLst>
              <a:gd name="adj" fmla="val 3913"/>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Shape 8"/>
          <p:cNvSpPr/>
          <p:nvPr/>
        </p:nvSpPr>
        <p:spPr>
          <a:xfrm>
            <a:off x="4648200" y="1874520"/>
            <a:ext cx="502920" cy="502920"/>
          </a:xfrm>
          <a:prstGeom prst="ellipse">
            <a:avLst/>
          </a:prstGeom>
          <a:solidFill>
            <a:srgbClr val="D31242"/>
          </a:solidFill>
          <a:ln/>
        </p:spPr>
      </p:sp>
      <p:sp>
        <p:nvSpPr>
          <p:cNvPr id="11" name="Text 9"/>
          <p:cNvSpPr/>
          <p:nvPr/>
        </p:nvSpPr>
        <p:spPr>
          <a:xfrm>
            <a:off x="4648200" y="187452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2" name="Text 10"/>
          <p:cNvSpPr/>
          <p:nvPr/>
        </p:nvSpPr>
        <p:spPr>
          <a:xfrm>
            <a:off x="4648200" y="2514600"/>
            <a:ext cx="2892552" cy="457200"/>
          </a:xfrm>
          <a:prstGeom prst="rect">
            <a:avLst/>
          </a:prstGeom>
          <a:noFill/>
          <a:ln/>
        </p:spPr>
        <p:txBody>
          <a:bodyPr wrap="square" rtlCol="0" anchor="ctr"/>
          <a:lstStyle/>
          <a:p>
            <a:pPr indent="0" marL="0">
              <a:buNone/>
            </a:pPr>
            <a:r>
              <a:rPr lang="en-US" sz="1600" b="1" dirty="0">
                <a:solidFill>
                  <a:srgbClr val="1F2733"/>
                </a:solidFill>
                <a:latin typeface="Arial" pitchFamily="34" charset="0"/>
                <a:ea typeface="Arial" pitchFamily="34" charset="-122"/>
                <a:cs typeface="Arial" pitchFamily="34" charset="-120"/>
              </a:rPr>
              <a:t>Run a good chat</a:t>
            </a:r>
            <a:endParaRPr lang="en-US" sz="1600" dirty="0"/>
          </a:p>
        </p:txBody>
      </p:sp>
      <p:sp>
        <p:nvSpPr>
          <p:cNvPr id="13" name="Text 11"/>
          <p:cNvSpPr/>
          <p:nvPr/>
        </p:nvSpPr>
        <p:spPr>
          <a:xfrm>
            <a:off x="4648200" y="2971800"/>
            <a:ext cx="2892552" cy="640080"/>
          </a:xfrm>
          <a:prstGeom prst="rect">
            <a:avLst/>
          </a:prstGeom>
          <a:noFill/>
          <a:ln/>
        </p:spPr>
        <p:txBody>
          <a:bodyPr wrap="square" rtlCol="0" anchor="ctr"/>
          <a:lstStyle/>
          <a:p>
            <a:pPr indent="0" marL="0">
              <a:lnSpc>
                <a:spcPts val="1700"/>
              </a:lnSpc>
              <a:buNone/>
            </a:pPr>
            <a:r>
              <a:rPr lang="en-US" sz="1250" dirty="0">
                <a:solidFill>
                  <a:srgbClr val="5E6A78"/>
                </a:solidFill>
                <a:latin typeface="Arial" pitchFamily="34" charset="0"/>
                <a:ea typeface="Arial" pitchFamily="34" charset="-122"/>
                <a:cs typeface="Arial" pitchFamily="34" charset="-120"/>
              </a:rPr>
              <a:t>Context, follow-ups, format, tone</a:t>
            </a:r>
            <a:endParaRPr lang="en-US" sz="1250" dirty="0"/>
          </a:p>
        </p:txBody>
      </p:sp>
      <p:sp>
        <p:nvSpPr>
          <p:cNvPr id="14" name="Shape 12"/>
          <p:cNvSpPr/>
          <p:nvPr/>
        </p:nvSpPr>
        <p:spPr>
          <a:xfrm>
            <a:off x="8180832" y="1600200"/>
            <a:ext cx="3441192" cy="2103120"/>
          </a:xfrm>
          <a:prstGeom prst="roundRect">
            <a:avLst>
              <a:gd name="adj" fmla="val 3913"/>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5" name="Shape 13"/>
          <p:cNvSpPr/>
          <p:nvPr/>
        </p:nvSpPr>
        <p:spPr>
          <a:xfrm>
            <a:off x="8455152" y="1874520"/>
            <a:ext cx="502920" cy="502920"/>
          </a:xfrm>
          <a:prstGeom prst="ellipse">
            <a:avLst/>
          </a:prstGeom>
          <a:solidFill>
            <a:srgbClr val="D31242"/>
          </a:solidFill>
          <a:ln/>
        </p:spPr>
      </p:sp>
      <p:sp>
        <p:nvSpPr>
          <p:cNvPr id="16" name="Text 14"/>
          <p:cNvSpPr/>
          <p:nvPr/>
        </p:nvSpPr>
        <p:spPr>
          <a:xfrm>
            <a:off x="8455152" y="187452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7" name="Text 15"/>
          <p:cNvSpPr/>
          <p:nvPr/>
        </p:nvSpPr>
        <p:spPr>
          <a:xfrm>
            <a:off x="8455152" y="2514600"/>
            <a:ext cx="2892552" cy="457200"/>
          </a:xfrm>
          <a:prstGeom prst="rect">
            <a:avLst/>
          </a:prstGeom>
          <a:noFill/>
          <a:ln/>
        </p:spPr>
        <p:txBody>
          <a:bodyPr wrap="square" rtlCol="0" anchor="ctr"/>
          <a:lstStyle/>
          <a:p>
            <a:pPr indent="0" marL="0">
              <a:buNone/>
            </a:pPr>
            <a:r>
              <a:rPr lang="en-US" sz="1600" b="1" dirty="0">
                <a:solidFill>
                  <a:srgbClr val="1F2733"/>
                </a:solidFill>
                <a:latin typeface="Arial" pitchFamily="34" charset="0"/>
                <a:ea typeface="Arial" pitchFamily="34" charset="-122"/>
                <a:cs typeface="Arial" pitchFamily="34" charset="-120"/>
              </a:rPr>
              <a:t>Chat hygiene</a:t>
            </a:r>
            <a:endParaRPr lang="en-US" sz="1600" dirty="0"/>
          </a:p>
        </p:txBody>
      </p:sp>
      <p:sp>
        <p:nvSpPr>
          <p:cNvPr id="18" name="Text 16"/>
          <p:cNvSpPr/>
          <p:nvPr/>
        </p:nvSpPr>
        <p:spPr>
          <a:xfrm>
            <a:off x="8455152" y="2971800"/>
            <a:ext cx="2892552" cy="640080"/>
          </a:xfrm>
          <a:prstGeom prst="rect">
            <a:avLst/>
          </a:prstGeom>
          <a:noFill/>
          <a:ln/>
        </p:spPr>
        <p:txBody>
          <a:bodyPr wrap="square" rtlCol="0" anchor="ctr"/>
          <a:lstStyle/>
          <a:p>
            <a:pPr indent="0" marL="0">
              <a:lnSpc>
                <a:spcPts val="1700"/>
              </a:lnSpc>
              <a:buNone/>
            </a:pPr>
            <a:r>
              <a:rPr lang="en-US" sz="1250" dirty="0">
                <a:solidFill>
                  <a:srgbClr val="5E6A78"/>
                </a:solidFill>
                <a:latin typeface="Arial" pitchFamily="34" charset="0"/>
                <a:ea typeface="Arial" pitchFamily="34" charset="-122"/>
                <a:cs typeface="Arial" pitchFamily="34" charset="-120"/>
              </a:rPr>
              <a:t>One chat = one workstream; resets</a:t>
            </a:r>
            <a:endParaRPr lang="en-US" sz="1250" dirty="0"/>
          </a:p>
        </p:txBody>
      </p:sp>
      <p:sp>
        <p:nvSpPr>
          <p:cNvPr id="19" name="Shape 17"/>
          <p:cNvSpPr/>
          <p:nvPr/>
        </p:nvSpPr>
        <p:spPr>
          <a:xfrm>
            <a:off x="566928" y="4023360"/>
            <a:ext cx="3441192" cy="2103120"/>
          </a:xfrm>
          <a:prstGeom prst="roundRect">
            <a:avLst>
              <a:gd name="adj" fmla="val 3913"/>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Shape 18"/>
          <p:cNvSpPr/>
          <p:nvPr/>
        </p:nvSpPr>
        <p:spPr>
          <a:xfrm>
            <a:off x="841248" y="4297680"/>
            <a:ext cx="502920" cy="502920"/>
          </a:xfrm>
          <a:prstGeom prst="ellipse">
            <a:avLst/>
          </a:prstGeom>
          <a:solidFill>
            <a:srgbClr val="D31242"/>
          </a:solidFill>
          <a:ln/>
        </p:spPr>
      </p:sp>
      <p:sp>
        <p:nvSpPr>
          <p:cNvPr id="21" name="Text 19"/>
          <p:cNvSpPr/>
          <p:nvPr/>
        </p:nvSpPr>
        <p:spPr>
          <a:xfrm>
            <a:off x="841248" y="429768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2" name="Text 20"/>
          <p:cNvSpPr/>
          <p:nvPr/>
        </p:nvSpPr>
        <p:spPr>
          <a:xfrm>
            <a:off x="841248" y="4937760"/>
            <a:ext cx="2892552" cy="457200"/>
          </a:xfrm>
          <a:prstGeom prst="rect">
            <a:avLst/>
          </a:prstGeom>
          <a:noFill/>
          <a:ln/>
        </p:spPr>
        <p:txBody>
          <a:bodyPr wrap="square" rtlCol="0" anchor="ctr"/>
          <a:lstStyle/>
          <a:p>
            <a:pPr indent="0" marL="0">
              <a:buNone/>
            </a:pPr>
            <a:r>
              <a:rPr lang="en-US" sz="1600" b="1" dirty="0">
                <a:solidFill>
                  <a:srgbClr val="1F2733"/>
                </a:solidFill>
                <a:latin typeface="Arial" pitchFamily="34" charset="0"/>
                <a:ea typeface="Arial" pitchFamily="34" charset="-122"/>
                <a:cs typeface="Arial" pitchFamily="34" charset="-120"/>
              </a:rPr>
              <a:t>Use it safely</a:t>
            </a:r>
            <a:endParaRPr lang="en-US" sz="1600" dirty="0"/>
          </a:p>
        </p:txBody>
      </p:sp>
      <p:sp>
        <p:nvSpPr>
          <p:cNvPr id="23" name="Text 21"/>
          <p:cNvSpPr/>
          <p:nvPr/>
        </p:nvSpPr>
        <p:spPr>
          <a:xfrm>
            <a:off x="841248" y="5394960"/>
            <a:ext cx="2892552" cy="640080"/>
          </a:xfrm>
          <a:prstGeom prst="rect">
            <a:avLst/>
          </a:prstGeom>
          <a:noFill/>
          <a:ln/>
        </p:spPr>
        <p:txBody>
          <a:bodyPr wrap="square" rtlCol="0" anchor="ctr"/>
          <a:lstStyle/>
          <a:p>
            <a:pPr indent="0" marL="0">
              <a:lnSpc>
                <a:spcPts val="1700"/>
              </a:lnSpc>
              <a:buNone/>
            </a:pPr>
            <a:r>
              <a:rPr lang="en-US" sz="1250" dirty="0">
                <a:solidFill>
                  <a:srgbClr val="5E6A78"/>
                </a:solidFill>
                <a:latin typeface="Arial" pitchFamily="34" charset="0"/>
                <a:ea typeface="Arial" pitchFamily="34" charset="-122"/>
                <a:cs typeface="Arial" pitchFamily="34" charset="-120"/>
              </a:rPr>
              <a:t>Verify, and what not to paste</a:t>
            </a:r>
            <a:endParaRPr lang="en-US" sz="1250" dirty="0"/>
          </a:p>
        </p:txBody>
      </p:sp>
      <p:sp>
        <p:nvSpPr>
          <p:cNvPr id="24" name="Shape 22"/>
          <p:cNvSpPr/>
          <p:nvPr/>
        </p:nvSpPr>
        <p:spPr>
          <a:xfrm>
            <a:off x="4373880" y="4023360"/>
            <a:ext cx="3441192" cy="2103120"/>
          </a:xfrm>
          <a:prstGeom prst="roundRect">
            <a:avLst>
              <a:gd name="adj" fmla="val 3913"/>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5" name="Shape 23"/>
          <p:cNvSpPr/>
          <p:nvPr/>
        </p:nvSpPr>
        <p:spPr>
          <a:xfrm>
            <a:off x="4648200" y="4297680"/>
            <a:ext cx="502920" cy="502920"/>
          </a:xfrm>
          <a:prstGeom prst="ellipse">
            <a:avLst/>
          </a:prstGeom>
          <a:solidFill>
            <a:srgbClr val="D31242"/>
          </a:solidFill>
          <a:ln/>
        </p:spPr>
      </p:sp>
      <p:sp>
        <p:nvSpPr>
          <p:cNvPr id="26" name="Text 24"/>
          <p:cNvSpPr/>
          <p:nvPr/>
        </p:nvSpPr>
        <p:spPr>
          <a:xfrm>
            <a:off x="4648200" y="429768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7" name="Text 25"/>
          <p:cNvSpPr/>
          <p:nvPr/>
        </p:nvSpPr>
        <p:spPr>
          <a:xfrm>
            <a:off x="4648200" y="4937760"/>
            <a:ext cx="2892552" cy="457200"/>
          </a:xfrm>
          <a:prstGeom prst="rect">
            <a:avLst/>
          </a:prstGeom>
          <a:noFill/>
          <a:ln/>
        </p:spPr>
        <p:txBody>
          <a:bodyPr wrap="square" rtlCol="0" anchor="ctr"/>
          <a:lstStyle/>
          <a:p>
            <a:pPr indent="0" marL="0">
              <a:buNone/>
            </a:pPr>
            <a:r>
              <a:rPr lang="en-US" sz="1600" b="1" dirty="0">
                <a:solidFill>
                  <a:srgbClr val="1F2733"/>
                </a:solidFill>
                <a:latin typeface="Arial" pitchFamily="34" charset="0"/>
                <a:ea typeface="Arial" pitchFamily="34" charset="-122"/>
                <a:cs typeface="Arial" pitchFamily="34" charset="-120"/>
              </a:rPr>
              <a:t>See it live</a:t>
            </a:r>
            <a:endParaRPr lang="en-US" sz="1600" dirty="0"/>
          </a:p>
        </p:txBody>
      </p:sp>
      <p:sp>
        <p:nvSpPr>
          <p:cNvPr id="28" name="Text 26"/>
          <p:cNvSpPr/>
          <p:nvPr/>
        </p:nvSpPr>
        <p:spPr>
          <a:xfrm>
            <a:off x="4648200" y="5394960"/>
            <a:ext cx="2892552" cy="640080"/>
          </a:xfrm>
          <a:prstGeom prst="rect">
            <a:avLst/>
          </a:prstGeom>
          <a:noFill/>
          <a:ln/>
        </p:spPr>
        <p:txBody>
          <a:bodyPr wrap="square" rtlCol="0" anchor="ctr"/>
          <a:lstStyle/>
          <a:p>
            <a:pPr indent="0" marL="0">
              <a:lnSpc>
                <a:spcPts val="1700"/>
              </a:lnSpc>
              <a:buNone/>
            </a:pPr>
            <a:r>
              <a:rPr lang="en-US" sz="1250" dirty="0">
                <a:solidFill>
                  <a:srgbClr val="5E6A78"/>
                </a:solidFill>
                <a:latin typeface="Arial" pitchFamily="34" charset="0"/>
                <a:ea typeface="Arial" pitchFamily="34" charset="-122"/>
                <a:cs typeface="Arial" pitchFamily="34" charset="-120"/>
              </a:rPr>
              <a:t>4 facilitator demos</a:t>
            </a:r>
            <a:endParaRPr lang="en-US" sz="1250" dirty="0"/>
          </a:p>
        </p:txBody>
      </p:sp>
      <p:sp>
        <p:nvSpPr>
          <p:cNvPr id="29" name="Shape 27"/>
          <p:cNvSpPr/>
          <p:nvPr/>
        </p:nvSpPr>
        <p:spPr>
          <a:xfrm>
            <a:off x="8180832" y="4023360"/>
            <a:ext cx="3441192" cy="2103120"/>
          </a:xfrm>
          <a:prstGeom prst="roundRect">
            <a:avLst>
              <a:gd name="adj" fmla="val 3913"/>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30" name="Shape 28"/>
          <p:cNvSpPr/>
          <p:nvPr/>
        </p:nvSpPr>
        <p:spPr>
          <a:xfrm>
            <a:off x="8455152" y="4297680"/>
            <a:ext cx="502920" cy="502920"/>
          </a:xfrm>
          <a:prstGeom prst="ellipse">
            <a:avLst/>
          </a:prstGeom>
          <a:solidFill>
            <a:srgbClr val="D31242"/>
          </a:solidFill>
          <a:ln/>
        </p:spPr>
      </p:sp>
      <p:sp>
        <p:nvSpPr>
          <p:cNvPr id="31" name="Text 29"/>
          <p:cNvSpPr/>
          <p:nvPr/>
        </p:nvSpPr>
        <p:spPr>
          <a:xfrm>
            <a:off x="8455152" y="429768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32" name="Text 30"/>
          <p:cNvSpPr/>
          <p:nvPr/>
        </p:nvSpPr>
        <p:spPr>
          <a:xfrm>
            <a:off x="8455152" y="4937760"/>
            <a:ext cx="2892552" cy="457200"/>
          </a:xfrm>
          <a:prstGeom prst="rect">
            <a:avLst/>
          </a:prstGeom>
          <a:noFill/>
          <a:ln/>
        </p:spPr>
        <p:txBody>
          <a:bodyPr wrap="square" rtlCol="0" anchor="ctr"/>
          <a:lstStyle/>
          <a:p>
            <a:pPr indent="0" marL="0">
              <a:buNone/>
            </a:pPr>
            <a:r>
              <a:rPr lang="en-US" sz="1600" b="1" dirty="0">
                <a:solidFill>
                  <a:srgbClr val="1F2733"/>
                </a:solidFill>
                <a:latin typeface="Arial" pitchFamily="34" charset="0"/>
                <a:ea typeface="Arial" pitchFamily="34" charset="-122"/>
                <a:cs typeface="Arial" pitchFamily="34" charset="-120"/>
              </a:rPr>
              <a:t>Practice &amp; check</a:t>
            </a:r>
            <a:endParaRPr lang="en-US" sz="1600" dirty="0"/>
          </a:p>
        </p:txBody>
      </p:sp>
      <p:sp>
        <p:nvSpPr>
          <p:cNvPr id="33" name="Text 31"/>
          <p:cNvSpPr/>
          <p:nvPr/>
        </p:nvSpPr>
        <p:spPr>
          <a:xfrm>
            <a:off x="8455152" y="5394960"/>
            <a:ext cx="2892552" cy="640080"/>
          </a:xfrm>
          <a:prstGeom prst="rect">
            <a:avLst/>
          </a:prstGeom>
          <a:noFill/>
          <a:ln/>
        </p:spPr>
        <p:txBody>
          <a:bodyPr wrap="square" rtlCol="0" anchor="ctr"/>
          <a:lstStyle/>
          <a:p>
            <a:pPr indent="0" marL="0">
              <a:lnSpc>
                <a:spcPts val="1700"/>
              </a:lnSpc>
              <a:buNone/>
            </a:pPr>
            <a:r>
              <a:rPr lang="en-US" sz="1250" dirty="0">
                <a:solidFill>
                  <a:srgbClr val="5E6A78"/>
                </a:solidFill>
                <a:latin typeface="Arial" pitchFamily="34" charset="0"/>
                <a:ea typeface="Arial" pitchFamily="34" charset="-122"/>
                <a:cs typeface="Arial" pitchFamily="34" charset="-120"/>
              </a:rPr>
              <a:t>Hands-on exercise + knowledge check</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WHY START HERE</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Core chat is the foundation</a:t>
            </a:r>
            <a:endParaRPr lang="en-US" sz="2900" dirty="0"/>
          </a:p>
        </p:txBody>
      </p:sp>
      <p:sp>
        <p:nvSpPr>
          <p:cNvPr id="4" name="Shape 2"/>
          <p:cNvSpPr/>
          <p:nvPr/>
        </p:nvSpPr>
        <p:spPr>
          <a:xfrm>
            <a:off x="566928" y="1600200"/>
            <a:ext cx="5486400" cy="4206240"/>
          </a:xfrm>
          <a:prstGeom prst="roundRect">
            <a:avLst>
              <a:gd name="adj" fmla="val 1957"/>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74520"/>
            <a:ext cx="4937760" cy="3749040"/>
          </a:xfrm>
          <a:prstGeom prst="rect">
            <a:avLst/>
          </a:prstGeom>
          <a:noFill/>
          <a:ln/>
        </p:spPr>
        <p:txBody>
          <a:bodyPr wrap="square" rtlCol="0" anchor="t"/>
          <a:lstStyle/>
          <a:p>
            <a:pPr indent="0" marL="0">
              <a:lnSpc>
                <a:spcPts val="1900"/>
              </a:lnSpc>
              <a:buNone/>
            </a:pPr>
            <a:r>
              <a:rPr lang="en-US" sz="1600" b="1" dirty="0">
                <a:solidFill>
                  <a:srgbClr val="1F2733"/>
                </a:solidFill>
                <a:latin typeface="Arial" pitchFamily="34" charset="0"/>
                <a:ea typeface="Arial" pitchFamily="34" charset="-122"/>
                <a:cs typeface="Arial" pitchFamily="34" charset="-120"/>
              </a:rPr>
              <a:t>Everything is a conversation.</a:t>
            </a:r>
            <a:endParaRPr lang="en-US" sz="1600" dirty="0"/>
          </a:p>
          <a:p>
            <a:pPr indent="0" marL="0">
              <a:lnSpc>
                <a:spcPts val="1900"/>
              </a:lnSpc>
              <a:buNone/>
            </a:pPr>
            <a:r>
              <a:rPr lang="en-US" sz="1350" dirty="0">
                <a:solidFill>
                  <a:srgbClr val="3A4452"/>
                </a:solidFill>
                <a:latin typeface="Arial" pitchFamily="34" charset="0"/>
                <a:ea typeface="Arial" pitchFamily="34" charset="-122"/>
                <a:cs typeface="Arial" pitchFamily="34" charset="-120"/>
              </a:rPr>
              <a:t>Projects, Artifacts, Research, Skills, Cowork — every advanced surface is still you, talking to Claude in plain language. Master the conversation and the rest gets easier.</a:t>
            </a:r>
            <a:endParaRPr lang="en-US" sz="1600" dirty="0"/>
          </a:p>
          <a:p>
            <a:pPr indent="0" marL="0">
              <a:lnSpc>
                <a:spcPts val="1900"/>
              </a:lnSpc>
              <a:buNone/>
            </a:pPr>
            <a:endParaRPr lang="en-US" sz="1600" dirty="0"/>
          </a:p>
          <a:p>
            <a:pPr indent="0" marL="0">
              <a:lnSpc>
                <a:spcPts val="1900"/>
              </a:lnSpc>
              <a:buNone/>
            </a:pPr>
            <a:r>
              <a:rPr lang="en-US" sz="1600" b="1" dirty="0">
                <a:solidFill>
                  <a:srgbClr val="1F2733"/>
                </a:solidFill>
                <a:latin typeface="Arial" pitchFamily="34" charset="0"/>
                <a:ea typeface="Arial" pitchFamily="34" charset="-122"/>
                <a:cs typeface="Arial" pitchFamily="34" charset="-120"/>
              </a:rPr>
              <a:t>The skill is how you run the chat.</a:t>
            </a:r>
            <a:endParaRPr lang="en-US" sz="1600" dirty="0"/>
          </a:p>
          <a:p>
            <a:pPr indent="0" marL="0">
              <a:lnSpc>
                <a:spcPts val="1900"/>
              </a:lnSpc>
              <a:buNone/>
            </a:pPr>
            <a:r>
              <a:rPr lang="en-US" sz="1350" dirty="0">
                <a:solidFill>
                  <a:srgbClr val="3A4452"/>
                </a:solidFill>
                <a:latin typeface="Arial" pitchFamily="34" charset="0"/>
                <a:ea typeface="Arial" pitchFamily="34" charset="-122"/>
                <a:cs typeface="Arial" pitchFamily="34" charset="-120"/>
              </a:rPr>
              <a:t>Great results come from clear requests, good follow-ups, and a habit of verifying — not from secret tricks. That's learnable by anyone.</a:t>
            </a:r>
            <a:endParaRPr lang="en-US" sz="1600" dirty="0"/>
          </a:p>
        </p:txBody>
      </p:sp>
      <p:sp>
        <p:nvSpPr>
          <p:cNvPr id="6" name="Shape 4"/>
          <p:cNvSpPr/>
          <p:nvPr/>
        </p:nvSpPr>
        <p:spPr>
          <a:xfrm>
            <a:off x="6355080" y="1600200"/>
            <a:ext cx="5486400" cy="1280160"/>
          </a:xfrm>
          <a:prstGeom prst="roundRect">
            <a:avLst>
              <a:gd name="adj" fmla="val 64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7" name="Text 5"/>
          <p:cNvSpPr/>
          <p:nvPr/>
        </p:nvSpPr>
        <p:spPr>
          <a:xfrm>
            <a:off x="6583680" y="1764792"/>
            <a:ext cx="1554480" cy="960120"/>
          </a:xfrm>
          <a:prstGeom prst="rect">
            <a:avLst/>
          </a:prstGeom>
          <a:noFill/>
          <a:ln/>
        </p:spPr>
        <p:txBody>
          <a:bodyPr wrap="square" lIns="0" tIns="0" rIns="0" bIns="0" rtlCol="0" anchor="ctr"/>
          <a:lstStyle/>
          <a:p>
            <a:pPr indent="0" marL="0">
              <a:buNone/>
            </a:pPr>
            <a:r>
              <a:rPr lang="en-US" sz="3800" b="1" dirty="0">
                <a:solidFill>
                  <a:srgbClr val="D31242"/>
                </a:solidFill>
                <a:latin typeface="Arial" pitchFamily="34" charset="0"/>
                <a:ea typeface="Arial" pitchFamily="34" charset="-122"/>
                <a:cs typeface="Arial" pitchFamily="34" charset="-120"/>
              </a:rPr>
              <a:t>80%</a:t>
            </a:r>
            <a:endParaRPr lang="en-US" sz="3800" dirty="0"/>
          </a:p>
        </p:txBody>
      </p:sp>
      <p:sp>
        <p:nvSpPr>
          <p:cNvPr id="8" name="Text 6"/>
          <p:cNvSpPr/>
          <p:nvPr/>
        </p:nvSpPr>
        <p:spPr>
          <a:xfrm>
            <a:off x="8183880" y="1783080"/>
            <a:ext cx="3429000" cy="914400"/>
          </a:xfrm>
          <a:prstGeom prst="rect">
            <a:avLst/>
          </a:prstGeom>
          <a:noFill/>
          <a:ln/>
        </p:spPr>
        <p:txBody>
          <a:bodyPr wrap="square" rtlCol="0" anchor="ctr"/>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of everyday value comes from plain chat, done well</a:t>
            </a:r>
            <a:endParaRPr lang="en-US" sz="1300" dirty="0"/>
          </a:p>
        </p:txBody>
      </p:sp>
      <p:sp>
        <p:nvSpPr>
          <p:cNvPr id="9" name="Shape 7"/>
          <p:cNvSpPr/>
          <p:nvPr/>
        </p:nvSpPr>
        <p:spPr>
          <a:xfrm>
            <a:off x="6355080" y="3035808"/>
            <a:ext cx="5486400" cy="1280160"/>
          </a:xfrm>
          <a:prstGeom prst="roundRect">
            <a:avLst>
              <a:gd name="adj" fmla="val 64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Text 8"/>
          <p:cNvSpPr/>
          <p:nvPr/>
        </p:nvSpPr>
        <p:spPr>
          <a:xfrm>
            <a:off x="6583680" y="3200400"/>
            <a:ext cx="1554480" cy="960120"/>
          </a:xfrm>
          <a:prstGeom prst="rect">
            <a:avLst/>
          </a:prstGeom>
          <a:noFill/>
          <a:ln/>
        </p:spPr>
        <p:txBody>
          <a:bodyPr wrap="square" lIns="0" tIns="0" rIns="0" bIns="0" rtlCol="0" anchor="ctr"/>
          <a:lstStyle/>
          <a:p>
            <a:pPr indent="0" marL="0">
              <a:buNone/>
            </a:pPr>
            <a:r>
              <a:rPr lang="en-US" sz="3800" b="1" dirty="0">
                <a:solidFill>
                  <a:srgbClr val="D31242"/>
                </a:solidFill>
                <a:latin typeface="Arial" pitchFamily="34" charset="0"/>
                <a:ea typeface="Arial" pitchFamily="34" charset="-122"/>
                <a:cs typeface="Arial" pitchFamily="34" charset="-120"/>
              </a:rPr>
              <a:t>1 hr</a:t>
            </a:r>
            <a:endParaRPr lang="en-US" sz="3800" dirty="0"/>
          </a:p>
        </p:txBody>
      </p:sp>
      <p:sp>
        <p:nvSpPr>
          <p:cNvPr id="11" name="Text 9"/>
          <p:cNvSpPr/>
          <p:nvPr/>
        </p:nvSpPr>
        <p:spPr>
          <a:xfrm>
            <a:off x="8183880" y="3218688"/>
            <a:ext cx="3429000" cy="914400"/>
          </a:xfrm>
          <a:prstGeom prst="rect">
            <a:avLst/>
          </a:prstGeom>
          <a:noFill/>
          <a:ln/>
        </p:spPr>
        <p:txBody>
          <a:bodyPr wrap="square" rtlCol="0" anchor="ctr"/>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is all it takes to get genuinely good at the basics</a:t>
            </a:r>
            <a:endParaRPr lang="en-US" sz="1300" dirty="0"/>
          </a:p>
        </p:txBody>
      </p:sp>
      <p:sp>
        <p:nvSpPr>
          <p:cNvPr id="12" name="Shape 10"/>
          <p:cNvSpPr/>
          <p:nvPr/>
        </p:nvSpPr>
        <p:spPr>
          <a:xfrm>
            <a:off x="6355080" y="4471416"/>
            <a:ext cx="5486400" cy="1280160"/>
          </a:xfrm>
          <a:prstGeom prst="roundRect">
            <a:avLst>
              <a:gd name="adj" fmla="val 64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3" name="Text 11"/>
          <p:cNvSpPr/>
          <p:nvPr/>
        </p:nvSpPr>
        <p:spPr>
          <a:xfrm>
            <a:off x="6583680" y="4636008"/>
            <a:ext cx="1554480" cy="960120"/>
          </a:xfrm>
          <a:prstGeom prst="rect">
            <a:avLst/>
          </a:prstGeom>
          <a:noFill/>
          <a:ln/>
        </p:spPr>
        <p:txBody>
          <a:bodyPr wrap="square" lIns="0" tIns="0" rIns="0" bIns="0" rtlCol="0" anchor="ctr"/>
          <a:lstStyle/>
          <a:p>
            <a:pPr indent="0" marL="0">
              <a:buNone/>
            </a:pPr>
            <a:r>
              <a:rPr lang="en-US" sz="3800" b="1" dirty="0">
                <a:solidFill>
                  <a:srgbClr val="D31242"/>
                </a:solidFill>
                <a:latin typeface="Arial" pitchFamily="34" charset="0"/>
                <a:ea typeface="Arial" pitchFamily="34" charset="-122"/>
                <a:cs typeface="Arial" pitchFamily="34" charset="-120"/>
              </a:rPr>
              <a:t>2nd</a:t>
            </a:r>
            <a:endParaRPr lang="en-US" sz="3800" dirty="0"/>
          </a:p>
        </p:txBody>
      </p:sp>
      <p:sp>
        <p:nvSpPr>
          <p:cNvPr id="14" name="Text 12"/>
          <p:cNvSpPr/>
          <p:nvPr/>
        </p:nvSpPr>
        <p:spPr>
          <a:xfrm>
            <a:off x="8183880" y="4654296"/>
            <a:ext cx="3429000" cy="914400"/>
          </a:xfrm>
          <a:prstGeom prst="rect">
            <a:avLst/>
          </a:prstGeom>
          <a:noFill/>
          <a:ln/>
        </p:spPr>
        <p:txBody>
          <a:bodyPr wrap="square" rtlCol="0" anchor="ctr"/>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try — your goal: a strong answer by the second message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THE MENTAL MODEL</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Treat Claude like a brilliant new teammate</a:t>
            </a:r>
            <a:endParaRPr lang="en-US" sz="2900" dirty="0"/>
          </a:p>
        </p:txBody>
      </p:sp>
      <p:sp>
        <p:nvSpPr>
          <p:cNvPr id="4" name="Shape 2"/>
          <p:cNvSpPr/>
          <p:nvPr/>
        </p:nvSpPr>
        <p:spPr>
          <a:xfrm>
            <a:off x="566928" y="1600200"/>
            <a:ext cx="5344668" cy="1920240"/>
          </a:xfrm>
          <a:prstGeom prst="roundRect">
            <a:avLst>
              <a:gd name="adj" fmla="val 4286"/>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859536" y="1929384"/>
            <a:ext cx="310896" cy="310896"/>
          </a:xfrm>
          <a:prstGeom prst="ellipse">
            <a:avLst/>
          </a:prstGeom>
          <a:solidFill>
            <a:srgbClr val="15803D"/>
          </a:solidFill>
          <a:ln/>
        </p:spPr>
      </p:sp>
      <p:sp>
        <p:nvSpPr>
          <p:cNvPr id="6" name="Text 4"/>
          <p:cNvSpPr/>
          <p:nvPr/>
        </p:nvSpPr>
        <p:spPr>
          <a:xfrm>
            <a:off x="1344168" y="1874520"/>
            <a:ext cx="4338828" cy="457200"/>
          </a:xfrm>
          <a:prstGeom prst="rect">
            <a:avLst/>
          </a:prstGeom>
          <a:noFill/>
          <a:ln/>
        </p:spPr>
        <p:txBody>
          <a:bodyPr wrap="square" lIns="0" tIns="0" rIns="0" bIns="0" rtlCol="0" anchor="ctr"/>
          <a:lstStyle/>
          <a:p>
            <a:pPr indent="0" marL="0">
              <a:buNone/>
            </a:pPr>
            <a:r>
              <a:rPr lang="en-US" sz="1800" b="1" dirty="0">
                <a:solidFill>
                  <a:srgbClr val="1F2733"/>
                </a:solidFill>
                <a:latin typeface="Arial" pitchFamily="34" charset="0"/>
                <a:ea typeface="Arial" pitchFamily="34" charset="-122"/>
                <a:cs typeface="Arial" pitchFamily="34" charset="-120"/>
              </a:rPr>
              <a:t>Brilliant &amp; well-read</a:t>
            </a:r>
            <a:endParaRPr lang="en-US" sz="1800" dirty="0"/>
          </a:p>
        </p:txBody>
      </p:sp>
      <p:sp>
        <p:nvSpPr>
          <p:cNvPr id="7" name="Text 5"/>
          <p:cNvSpPr/>
          <p:nvPr/>
        </p:nvSpPr>
        <p:spPr>
          <a:xfrm>
            <a:off x="1344168" y="2441448"/>
            <a:ext cx="4293108" cy="914400"/>
          </a:xfrm>
          <a:prstGeom prst="rect">
            <a:avLst/>
          </a:prstGeom>
          <a:noFill/>
          <a:ln/>
        </p:spPr>
        <p:txBody>
          <a:bodyPr wrap="square" rtlCol="0" anchor="ctr"/>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Broad knowledge, writes well — assume real capability.</a:t>
            </a:r>
            <a:endParaRPr lang="en-US" sz="1350" dirty="0"/>
          </a:p>
        </p:txBody>
      </p:sp>
      <p:sp>
        <p:nvSpPr>
          <p:cNvPr id="8" name="Shape 6"/>
          <p:cNvSpPr/>
          <p:nvPr/>
        </p:nvSpPr>
        <p:spPr>
          <a:xfrm>
            <a:off x="6277356" y="1600200"/>
            <a:ext cx="5344668" cy="1920240"/>
          </a:xfrm>
          <a:prstGeom prst="roundRect">
            <a:avLst>
              <a:gd name="adj" fmla="val 4286"/>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9" name="Shape 7"/>
          <p:cNvSpPr/>
          <p:nvPr/>
        </p:nvSpPr>
        <p:spPr>
          <a:xfrm>
            <a:off x="6569964" y="1929384"/>
            <a:ext cx="310896" cy="310896"/>
          </a:xfrm>
          <a:prstGeom prst="ellipse">
            <a:avLst/>
          </a:prstGeom>
          <a:solidFill>
            <a:srgbClr val="A16207"/>
          </a:solidFill>
          <a:ln/>
        </p:spPr>
      </p:sp>
      <p:sp>
        <p:nvSpPr>
          <p:cNvPr id="10" name="Text 8"/>
          <p:cNvSpPr/>
          <p:nvPr/>
        </p:nvSpPr>
        <p:spPr>
          <a:xfrm>
            <a:off x="7054596" y="1874520"/>
            <a:ext cx="4338828" cy="457200"/>
          </a:xfrm>
          <a:prstGeom prst="rect">
            <a:avLst/>
          </a:prstGeom>
          <a:noFill/>
          <a:ln/>
        </p:spPr>
        <p:txBody>
          <a:bodyPr wrap="square" lIns="0" tIns="0" rIns="0" bIns="0" rtlCol="0" anchor="ctr"/>
          <a:lstStyle/>
          <a:p>
            <a:pPr indent="0" marL="0">
              <a:buNone/>
            </a:pPr>
            <a:r>
              <a:rPr lang="en-US" sz="1800" b="1" dirty="0">
                <a:solidFill>
                  <a:srgbClr val="1F2733"/>
                </a:solidFill>
                <a:latin typeface="Arial" pitchFamily="34" charset="0"/>
                <a:ea typeface="Arial" pitchFamily="34" charset="-122"/>
                <a:cs typeface="Arial" pitchFamily="34" charset="-120"/>
              </a:rPr>
              <a:t>Eager and literal</a:t>
            </a:r>
            <a:endParaRPr lang="en-US" sz="1800" dirty="0"/>
          </a:p>
        </p:txBody>
      </p:sp>
      <p:sp>
        <p:nvSpPr>
          <p:cNvPr id="11" name="Text 9"/>
          <p:cNvSpPr/>
          <p:nvPr/>
        </p:nvSpPr>
        <p:spPr>
          <a:xfrm>
            <a:off x="7054596" y="2441448"/>
            <a:ext cx="4293108" cy="914400"/>
          </a:xfrm>
          <a:prstGeom prst="rect">
            <a:avLst/>
          </a:prstGeom>
          <a:noFill/>
          <a:ln/>
        </p:spPr>
        <p:txBody>
          <a:bodyPr wrap="square" rtlCol="0" anchor="ctr"/>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Does exactly what you ask. Vague in, vague out.</a:t>
            </a:r>
            <a:endParaRPr lang="en-US" sz="1350" dirty="0"/>
          </a:p>
        </p:txBody>
      </p:sp>
      <p:sp>
        <p:nvSpPr>
          <p:cNvPr id="12" name="Shape 10"/>
          <p:cNvSpPr/>
          <p:nvPr/>
        </p:nvSpPr>
        <p:spPr>
          <a:xfrm>
            <a:off x="566928" y="3840480"/>
            <a:ext cx="5344668" cy="1920240"/>
          </a:xfrm>
          <a:prstGeom prst="roundRect">
            <a:avLst>
              <a:gd name="adj" fmla="val 4286"/>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3" name="Shape 11"/>
          <p:cNvSpPr/>
          <p:nvPr/>
        </p:nvSpPr>
        <p:spPr>
          <a:xfrm>
            <a:off x="859536" y="4169664"/>
            <a:ext cx="310896" cy="310896"/>
          </a:xfrm>
          <a:prstGeom prst="ellipse">
            <a:avLst/>
          </a:prstGeom>
          <a:solidFill>
            <a:srgbClr val="D31242"/>
          </a:solidFill>
          <a:ln/>
        </p:spPr>
      </p:sp>
      <p:sp>
        <p:nvSpPr>
          <p:cNvPr id="14" name="Text 12"/>
          <p:cNvSpPr/>
          <p:nvPr/>
        </p:nvSpPr>
        <p:spPr>
          <a:xfrm>
            <a:off x="1344168" y="4114800"/>
            <a:ext cx="4338828" cy="457200"/>
          </a:xfrm>
          <a:prstGeom prst="rect">
            <a:avLst/>
          </a:prstGeom>
          <a:noFill/>
          <a:ln/>
        </p:spPr>
        <p:txBody>
          <a:bodyPr wrap="square" lIns="0" tIns="0" rIns="0" bIns="0" rtlCol="0" anchor="ctr"/>
          <a:lstStyle/>
          <a:p>
            <a:pPr indent="0" marL="0">
              <a:buNone/>
            </a:pPr>
            <a:r>
              <a:rPr lang="en-US" sz="1800" b="1" dirty="0">
                <a:solidFill>
                  <a:srgbClr val="1F2733"/>
                </a:solidFill>
                <a:latin typeface="Arial" pitchFamily="34" charset="0"/>
                <a:ea typeface="Arial" pitchFamily="34" charset="-122"/>
                <a:cs typeface="Arial" pitchFamily="34" charset="-120"/>
              </a:rPr>
              <a:t>Can't read your mind</a:t>
            </a:r>
            <a:endParaRPr lang="en-US" sz="1800" dirty="0"/>
          </a:p>
        </p:txBody>
      </p:sp>
      <p:sp>
        <p:nvSpPr>
          <p:cNvPr id="15" name="Text 13"/>
          <p:cNvSpPr/>
          <p:nvPr/>
        </p:nvSpPr>
        <p:spPr>
          <a:xfrm>
            <a:off x="1344168" y="4681728"/>
            <a:ext cx="4293108" cy="914400"/>
          </a:xfrm>
          <a:prstGeom prst="rect">
            <a:avLst/>
          </a:prstGeom>
          <a:noFill/>
          <a:ln/>
        </p:spPr>
        <p:txBody>
          <a:bodyPr wrap="square" rtlCol="0" anchor="ctr"/>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Only knows what's on screen — your context and this thread.</a:t>
            </a:r>
            <a:endParaRPr lang="en-US" sz="1350" dirty="0"/>
          </a:p>
        </p:txBody>
      </p:sp>
      <p:sp>
        <p:nvSpPr>
          <p:cNvPr id="16" name="Shape 14"/>
          <p:cNvSpPr/>
          <p:nvPr/>
        </p:nvSpPr>
        <p:spPr>
          <a:xfrm>
            <a:off x="6277356" y="3840480"/>
            <a:ext cx="5344668" cy="1920240"/>
          </a:xfrm>
          <a:prstGeom prst="roundRect">
            <a:avLst>
              <a:gd name="adj" fmla="val 4286"/>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Shape 15"/>
          <p:cNvSpPr/>
          <p:nvPr/>
        </p:nvSpPr>
        <p:spPr>
          <a:xfrm>
            <a:off x="6569964" y="4169664"/>
            <a:ext cx="310896" cy="310896"/>
          </a:xfrm>
          <a:prstGeom prst="ellipse">
            <a:avLst/>
          </a:prstGeom>
          <a:solidFill>
            <a:srgbClr val="B91C1C"/>
          </a:solidFill>
          <a:ln/>
        </p:spPr>
      </p:sp>
      <p:sp>
        <p:nvSpPr>
          <p:cNvPr id="18" name="Text 16"/>
          <p:cNvSpPr/>
          <p:nvPr/>
        </p:nvSpPr>
        <p:spPr>
          <a:xfrm>
            <a:off x="7054596" y="4114800"/>
            <a:ext cx="4338828" cy="457200"/>
          </a:xfrm>
          <a:prstGeom prst="rect">
            <a:avLst/>
          </a:prstGeom>
          <a:noFill/>
          <a:ln/>
        </p:spPr>
        <p:txBody>
          <a:bodyPr wrap="square" lIns="0" tIns="0" rIns="0" bIns="0" rtlCol="0" anchor="ctr"/>
          <a:lstStyle/>
          <a:p>
            <a:pPr indent="0" marL="0">
              <a:buNone/>
            </a:pPr>
            <a:r>
              <a:rPr lang="en-US" sz="1800" b="1" dirty="0">
                <a:solidFill>
                  <a:srgbClr val="1F2733"/>
                </a:solidFill>
                <a:latin typeface="Arial" pitchFamily="34" charset="0"/>
                <a:ea typeface="Arial" pitchFamily="34" charset="-122"/>
                <a:cs typeface="Arial" pitchFamily="34" charset="-120"/>
              </a:rPr>
              <a:t>Confident, sometimes wrong</a:t>
            </a:r>
            <a:endParaRPr lang="en-US" sz="1800" dirty="0"/>
          </a:p>
        </p:txBody>
      </p:sp>
      <p:sp>
        <p:nvSpPr>
          <p:cNvPr id="19" name="Text 17"/>
          <p:cNvSpPr/>
          <p:nvPr/>
        </p:nvSpPr>
        <p:spPr>
          <a:xfrm>
            <a:off x="7054596" y="4681728"/>
            <a:ext cx="4293108" cy="914400"/>
          </a:xfrm>
          <a:prstGeom prst="rect">
            <a:avLst/>
          </a:prstGeom>
          <a:noFill/>
          <a:ln/>
        </p:spPr>
        <p:txBody>
          <a:bodyPr wrap="square" rtlCol="0" anchor="ctr"/>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Can state a wrong fact with total confidence. You're the editor.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KNOW YOUR COCKPIT</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The chat screen, part by part</a:t>
            </a:r>
            <a:endParaRPr lang="en-US" sz="2900" dirty="0"/>
          </a:p>
        </p:txBody>
      </p:sp>
      <p:sp>
        <p:nvSpPr>
          <p:cNvPr id="4" name="Text 2"/>
          <p:cNvSpPr/>
          <p:nvPr/>
        </p:nvSpPr>
        <p:spPr>
          <a:xfrm>
            <a:off x="566928" y="1417320"/>
            <a:ext cx="2194560" cy="228600"/>
          </a:xfrm>
          <a:prstGeom prst="rect">
            <a:avLst/>
          </a:prstGeom>
          <a:noFill/>
          <a:ln/>
        </p:spPr>
        <p:txBody>
          <a:bodyPr wrap="square" rtlCol="0" anchor="ctr"/>
          <a:lstStyle/>
          <a:p>
            <a:pPr indent="0" marL="0">
              <a:buNone/>
            </a:pPr>
            <a:r>
              <a:rPr lang="en-US" sz="800" b="1" spc="150" kern="0" dirty="0">
                <a:solidFill>
                  <a:srgbClr val="5E6A78"/>
                </a:solidFill>
                <a:latin typeface="Arial" pitchFamily="34" charset="0"/>
                <a:ea typeface="Arial" pitchFamily="34" charset="-122"/>
                <a:cs typeface="Arial" pitchFamily="34" charset="-120"/>
              </a:rPr>
              <a:t>ILLUSTRATIVE MOCK-UP</a:t>
            </a:r>
            <a:endParaRPr lang="en-US" sz="800" dirty="0"/>
          </a:p>
        </p:txBody>
      </p:sp>
      <p:sp>
        <p:nvSpPr>
          <p:cNvPr id="5" name="Shape 3"/>
          <p:cNvSpPr/>
          <p:nvPr/>
        </p:nvSpPr>
        <p:spPr>
          <a:xfrm>
            <a:off x="566928" y="1691640"/>
            <a:ext cx="6400800" cy="4069080"/>
          </a:xfrm>
          <a:prstGeom prst="roundRect">
            <a:avLst>
              <a:gd name="adj" fmla="val 1348"/>
            </a:avLst>
          </a:prstGeom>
          <a:solidFill>
            <a:srgbClr val="2B2A28"/>
          </a:solidFill>
          <a:ln/>
          <a:effectLst>
            <a:outerShdw sx="100000" sy="100000" kx="0" ky="0" algn="bl" rotWithShape="0" blurRad="114300" dist="38100" dir="5400000">
              <a:srgbClr val="1F2733">
                <a:alpha val="10000"/>
              </a:srgbClr>
            </a:outerShdw>
          </a:effectLst>
        </p:spPr>
      </p:sp>
      <p:sp>
        <p:nvSpPr>
          <p:cNvPr id="6" name="Shape 4"/>
          <p:cNvSpPr/>
          <p:nvPr/>
        </p:nvSpPr>
        <p:spPr>
          <a:xfrm>
            <a:off x="621792" y="1746504"/>
            <a:ext cx="822960" cy="3959352"/>
          </a:xfrm>
          <a:prstGeom prst="rect">
            <a:avLst/>
          </a:prstGeom>
          <a:solidFill>
            <a:srgbClr val="201F1D"/>
          </a:solidFill>
          <a:ln/>
        </p:spPr>
      </p:sp>
      <p:sp>
        <p:nvSpPr>
          <p:cNvPr id="7" name="Shape 5"/>
          <p:cNvSpPr/>
          <p:nvPr/>
        </p:nvSpPr>
        <p:spPr>
          <a:xfrm>
            <a:off x="877824" y="1947672"/>
            <a:ext cx="310896" cy="310896"/>
          </a:xfrm>
          <a:prstGeom prst="ellipse">
            <a:avLst/>
          </a:prstGeom>
          <a:solidFill>
            <a:srgbClr val="3A3833"/>
          </a:solidFill>
          <a:ln/>
        </p:spPr>
      </p:sp>
      <p:sp>
        <p:nvSpPr>
          <p:cNvPr id="8" name="Text 6"/>
          <p:cNvSpPr/>
          <p:nvPr/>
        </p:nvSpPr>
        <p:spPr>
          <a:xfrm>
            <a:off x="877824" y="1938528"/>
            <a:ext cx="310896" cy="310896"/>
          </a:xfrm>
          <a:prstGeom prst="rect">
            <a:avLst/>
          </a:prstGeom>
          <a:noFill/>
          <a:ln/>
        </p:spPr>
        <p:txBody>
          <a:bodyPr wrap="square" lIns="0" tIns="0" rIns="0" bIns="0" rtlCol="0" anchor="ctr"/>
          <a:lstStyle/>
          <a:p>
            <a:pPr algn="ctr" indent="0" marL="0">
              <a:buNone/>
            </a:pPr>
            <a:r>
              <a:rPr lang="en-US" sz="1600" b="1" dirty="0">
                <a:solidFill>
                  <a:srgbClr val="ECE7DF"/>
                </a:solidFill>
                <a:latin typeface="Arial" pitchFamily="34" charset="0"/>
                <a:ea typeface="Arial" pitchFamily="34" charset="-122"/>
                <a:cs typeface="Arial" pitchFamily="34" charset="-120"/>
              </a:rPr>
              <a:t>+</a:t>
            </a:r>
            <a:endParaRPr lang="en-US" sz="1600" dirty="0"/>
          </a:p>
        </p:txBody>
      </p:sp>
      <p:sp>
        <p:nvSpPr>
          <p:cNvPr id="9" name="Shape 7"/>
          <p:cNvSpPr/>
          <p:nvPr/>
        </p:nvSpPr>
        <p:spPr>
          <a:xfrm>
            <a:off x="731520" y="2560320"/>
            <a:ext cx="566928" cy="146304"/>
          </a:xfrm>
          <a:prstGeom prst="roundRect">
            <a:avLst>
              <a:gd name="adj" fmla="val 18750"/>
            </a:avLst>
          </a:prstGeom>
          <a:solidFill>
            <a:srgbClr val="3A3833"/>
          </a:solidFill>
          <a:ln/>
        </p:spPr>
      </p:sp>
      <p:sp>
        <p:nvSpPr>
          <p:cNvPr id="10" name="Shape 8"/>
          <p:cNvSpPr/>
          <p:nvPr/>
        </p:nvSpPr>
        <p:spPr>
          <a:xfrm>
            <a:off x="731520" y="2852928"/>
            <a:ext cx="566928" cy="146304"/>
          </a:xfrm>
          <a:prstGeom prst="roundRect">
            <a:avLst>
              <a:gd name="adj" fmla="val 18750"/>
            </a:avLst>
          </a:prstGeom>
          <a:solidFill>
            <a:srgbClr val="3A3833"/>
          </a:solidFill>
          <a:ln/>
        </p:spPr>
      </p:sp>
      <p:sp>
        <p:nvSpPr>
          <p:cNvPr id="11" name="Shape 9"/>
          <p:cNvSpPr/>
          <p:nvPr/>
        </p:nvSpPr>
        <p:spPr>
          <a:xfrm>
            <a:off x="731520" y="3145536"/>
            <a:ext cx="566928" cy="146304"/>
          </a:xfrm>
          <a:prstGeom prst="roundRect">
            <a:avLst>
              <a:gd name="adj" fmla="val 18750"/>
            </a:avLst>
          </a:prstGeom>
          <a:solidFill>
            <a:srgbClr val="3A3833"/>
          </a:solidFill>
          <a:ln/>
        </p:spPr>
      </p:sp>
      <p:sp>
        <p:nvSpPr>
          <p:cNvPr id="12" name="Text 10"/>
          <p:cNvSpPr/>
          <p:nvPr/>
        </p:nvSpPr>
        <p:spPr>
          <a:xfrm>
            <a:off x="1755648" y="2148840"/>
            <a:ext cx="4937760" cy="365760"/>
          </a:xfrm>
          <a:prstGeom prst="rect">
            <a:avLst/>
          </a:prstGeom>
          <a:noFill/>
          <a:ln/>
        </p:spPr>
        <p:txBody>
          <a:bodyPr wrap="square" rtlCol="0" anchor="ctr"/>
          <a:lstStyle/>
          <a:p>
            <a:pPr indent="0" marL="0">
              <a:buNone/>
            </a:pPr>
            <a:r>
              <a:rPr lang="en-US" sz="1500" dirty="0">
                <a:solidFill>
                  <a:srgbClr val="ECE7DF"/>
                </a:solidFill>
                <a:latin typeface="Arial" pitchFamily="34" charset="0"/>
                <a:ea typeface="Arial" pitchFamily="34" charset="-122"/>
                <a:cs typeface="Arial" pitchFamily="34" charset="-120"/>
              </a:rPr>
              <a:t>✳  Good afternoon</a:t>
            </a:r>
            <a:endParaRPr lang="en-US" sz="1500" dirty="0"/>
          </a:p>
        </p:txBody>
      </p:sp>
      <p:sp>
        <p:nvSpPr>
          <p:cNvPr id="13" name="Text 11"/>
          <p:cNvSpPr/>
          <p:nvPr/>
        </p:nvSpPr>
        <p:spPr>
          <a:xfrm>
            <a:off x="1755648" y="2743200"/>
            <a:ext cx="4846320" cy="365760"/>
          </a:xfrm>
          <a:prstGeom prst="rect">
            <a:avLst/>
          </a:prstGeom>
          <a:noFill/>
          <a:ln/>
        </p:spPr>
        <p:txBody>
          <a:bodyPr wrap="square" rtlCol="0" anchor="ctr"/>
          <a:lstStyle/>
          <a:p>
            <a:pPr indent="0" marL="0">
              <a:buNone/>
            </a:pPr>
            <a:r>
              <a:rPr lang="en-US" sz="1100" i="1" dirty="0">
                <a:solidFill>
                  <a:srgbClr val="9A938A"/>
                </a:solidFill>
                <a:latin typeface="Arial" pitchFamily="34" charset="0"/>
                <a:ea typeface="Arial" pitchFamily="34" charset="-122"/>
                <a:cs typeface="Arial" pitchFamily="34" charset="-120"/>
              </a:rPr>
              <a:t>Claude's reply appears here…</a:t>
            </a:r>
            <a:endParaRPr lang="en-US" sz="1100" dirty="0"/>
          </a:p>
        </p:txBody>
      </p:sp>
      <p:sp>
        <p:nvSpPr>
          <p:cNvPr id="14" name="Shape 12"/>
          <p:cNvSpPr/>
          <p:nvPr/>
        </p:nvSpPr>
        <p:spPr>
          <a:xfrm>
            <a:off x="1709928" y="4206240"/>
            <a:ext cx="4937760" cy="1143000"/>
          </a:xfrm>
          <a:prstGeom prst="roundRect">
            <a:avLst>
              <a:gd name="adj" fmla="val 6400"/>
            </a:avLst>
          </a:prstGeom>
          <a:solidFill>
            <a:srgbClr val="3A3833"/>
          </a:solidFill>
          <a:ln/>
        </p:spPr>
      </p:sp>
      <p:sp>
        <p:nvSpPr>
          <p:cNvPr id="15" name="Text 13"/>
          <p:cNvSpPr/>
          <p:nvPr/>
        </p:nvSpPr>
        <p:spPr>
          <a:xfrm>
            <a:off x="1911096" y="4352544"/>
            <a:ext cx="4480560" cy="365760"/>
          </a:xfrm>
          <a:prstGeom prst="rect">
            <a:avLst/>
          </a:prstGeom>
          <a:noFill/>
          <a:ln/>
        </p:spPr>
        <p:txBody>
          <a:bodyPr wrap="square" rtlCol="0" anchor="ctr"/>
          <a:lstStyle/>
          <a:p>
            <a:pPr indent="0" marL="0">
              <a:buNone/>
            </a:pPr>
            <a:r>
              <a:rPr lang="en-US" sz="1200" dirty="0">
                <a:solidFill>
                  <a:srgbClr val="9A938A"/>
                </a:solidFill>
                <a:latin typeface="Arial" pitchFamily="34" charset="0"/>
                <a:ea typeface="Arial" pitchFamily="34" charset="-122"/>
                <a:cs typeface="Arial" pitchFamily="34" charset="-120"/>
              </a:rPr>
              <a:t>How can I help you today?</a:t>
            </a:r>
            <a:endParaRPr lang="en-US" sz="1200" dirty="0"/>
          </a:p>
        </p:txBody>
      </p:sp>
      <p:sp>
        <p:nvSpPr>
          <p:cNvPr id="16" name="Text 14"/>
          <p:cNvSpPr/>
          <p:nvPr/>
        </p:nvSpPr>
        <p:spPr>
          <a:xfrm>
            <a:off x="1874520" y="4864608"/>
            <a:ext cx="320040" cy="320040"/>
          </a:xfrm>
          <a:prstGeom prst="rect">
            <a:avLst/>
          </a:prstGeom>
          <a:noFill/>
          <a:ln/>
        </p:spPr>
        <p:txBody>
          <a:bodyPr wrap="square" lIns="0" tIns="0" rIns="0" bIns="0" rtlCol="0" anchor="ctr"/>
          <a:lstStyle/>
          <a:p>
            <a:pPr indent="0" marL="0">
              <a:buNone/>
            </a:pPr>
            <a:r>
              <a:rPr lang="en-US" sz="1600" b="1" dirty="0">
                <a:solidFill>
                  <a:srgbClr val="ECE7DF"/>
                </a:solidFill>
                <a:latin typeface="Arial" pitchFamily="34" charset="0"/>
                <a:ea typeface="Arial" pitchFamily="34" charset="-122"/>
                <a:cs typeface="Arial" pitchFamily="34" charset="-120"/>
              </a:rPr>
              <a:t>+</a:t>
            </a:r>
            <a:endParaRPr lang="en-US" sz="1600" dirty="0"/>
          </a:p>
        </p:txBody>
      </p:sp>
      <p:sp>
        <p:nvSpPr>
          <p:cNvPr id="17" name="Shape 15"/>
          <p:cNvSpPr/>
          <p:nvPr/>
        </p:nvSpPr>
        <p:spPr>
          <a:xfrm>
            <a:off x="4498848" y="4919472"/>
            <a:ext cx="1371600" cy="310896"/>
          </a:xfrm>
          <a:prstGeom prst="roundRect">
            <a:avLst>
              <a:gd name="adj" fmla="val 14706"/>
            </a:avLst>
          </a:prstGeom>
          <a:solidFill>
            <a:srgbClr val="2B2A28"/>
          </a:solidFill>
          <a:ln w="9525">
            <a:solidFill>
              <a:srgbClr val="9A938A"/>
            </a:solidFill>
            <a:prstDash val="solid"/>
          </a:ln>
        </p:spPr>
      </p:sp>
      <p:sp>
        <p:nvSpPr>
          <p:cNvPr id="18" name="Text 16"/>
          <p:cNvSpPr/>
          <p:nvPr/>
        </p:nvSpPr>
        <p:spPr>
          <a:xfrm>
            <a:off x="4544568" y="4901184"/>
            <a:ext cx="1280160" cy="329184"/>
          </a:xfrm>
          <a:prstGeom prst="rect">
            <a:avLst/>
          </a:prstGeom>
          <a:noFill/>
          <a:ln/>
        </p:spPr>
        <p:txBody>
          <a:bodyPr wrap="square" lIns="0" tIns="0" rIns="0" bIns="0" rtlCol="0" anchor="ctr"/>
          <a:lstStyle/>
          <a:p>
            <a:pPr indent="0" marL="0">
              <a:buNone/>
            </a:pPr>
            <a:r>
              <a:rPr lang="en-US" sz="1050" b="1" dirty="0">
                <a:solidFill>
                  <a:srgbClr val="ECE7DF"/>
                </a:solidFill>
                <a:latin typeface="Arial" pitchFamily="34" charset="0"/>
                <a:ea typeface="Arial" pitchFamily="34" charset="-122"/>
                <a:cs typeface="Arial" pitchFamily="34" charset="-120"/>
              </a:rPr>
              <a:t>Sonnet 4.6  ⌄</a:t>
            </a:r>
            <a:endParaRPr lang="en-US" sz="1050" dirty="0"/>
          </a:p>
        </p:txBody>
      </p:sp>
      <p:sp>
        <p:nvSpPr>
          <p:cNvPr id="19" name="Text 17"/>
          <p:cNvSpPr/>
          <p:nvPr/>
        </p:nvSpPr>
        <p:spPr>
          <a:xfrm>
            <a:off x="5961888" y="4919472"/>
            <a:ext cx="640080" cy="310896"/>
          </a:xfrm>
          <a:prstGeom prst="rect">
            <a:avLst/>
          </a:prstGeom>
          <a:noFill/>
          <a:ln/>
        </p:spPr>
        <p:txBody>
          <a:bodyPr wrap="square" lIns="0" tIns="0" rIns="0" bIns="0" rtlCol="0" anchor="ctr"/>
          <a:lstStyle/>
          <a:p>
            <a:pPr indent="0" marL="0">
              <a:buNone/>
            </a:pPr>
            <a:r>
              <a:rPr lang="en-US" sz="1100" dirty="0">
                <a:solidFill>
                  <a:srgbClr val="9A938A"/>
                </a:solidFill>
                <a:latin typeface="Arial" pitchFamily="34" charset="0"/>
                <a:ea typeface="Arial" pitchFamily="34" charset="-122"/>
                <a:cs typeface="Arial" pitchFamily="34" charset="-120"/>
              </a:rPr>
              <a:t>🎤  ⌇</a:t>
            </a:r>
            <a:endParaRPr lang="en-US" sz="1100" dirty="0"/>
          </a:p>
        </p:txBody>
      </p:sp>
      <p:sp>
        <p:nvSpPr>
          <p:cNvPr id="20" name="Shape 18"/>
          <p:cNvSpPr/>
          <p:nvPr/>
        </p:nvSpPr>
        <p:spPr>
          <a:xfrm>
            <a:off x="7315200" y="1783080"/>
            <a:ext cx="365760" cy="365760"/>
          </a:xfrm>
          <a:prstGeom prst="ellipse">
            <a:avLst/>
          </a:prstGeom>
          <a:solidFill>
            <a:srgbClr val="D31242"/>
          </a:solidFill>
          <a:ln/>
        </p:spPr>
      </p:sp>
      <p:sp>
        <p:nvSpPr>
          <p:cNvPr id="21" name="Text 19"/>
          <p:cNvSpPr/>
          <p:nvPr/>
        </p:nvSpPr>
        <p:spPr>
          <a:xfrm>
            <a:off x="7315200" y="178308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22" name="Text 20"/>
          <p:cNvSpPr/>
          <p:nvPr/>
        </p:nvSpPr>
        <p:spPr>
          <a:xfrm>
            <a:off x="7818120" y="1728216"/>
            <a:ext cx="4160520" cy="713232"/>
          </a:xfrm>
          <a:prstGeom prst="rect">
            <a:avLst/>
          </a:prstGeom>
          <a:noFill/>
          <a:ln/>
        </p:spPr>
        <p:txBody>
          <a:bodyPr wrap="square" rtlCol="0" anchor="t"/>
          <a:lstStyle/>
          <a:p>
            <a:pPr indent="0" marL="0">
              <a:lnSpc>
                <a:spcPts val="1600"/>
              </a:lnSpc>
              <a:buNone/>
            </a:pPr>
            <a:r>
              <a:rPr lang="en-US" sz="1250" b="1" dirty="0">
                <a:solidFill>
                  <a:srgbClr val="D31242"/>
                </a:solidFill>
                <a:latin typeface="Arial" pitchFamily="34" charset="0"/>
                <a:ea typeface="Arial" pitchFamily="34" charset="-122"/>
                <a:cs typeface="Arial" pitchFamily="34" charset="-120"/>
              </a:rPr>
              <a:t>New chat — </a:t>
            </a:r>
            <a:pPr indent="0" marL="0">
              <a:lnSpc>
                <a:spcPts val="1600"/>
              </a:lnSpc>
              <a:buNone/>
            </a:pPr>
            <a:r>
              <a:rPr lang="en-US" sz="1250" dirty="0">
                <a:solidFill>
                  <a:srgbClr val="3A4452"/>
                </a:solidFill>
                <a:latin typeface="Arial" pitchFamily="34" charset="0"/>
                <a:ea typeface="Arial" pitchFamily="34" charset="-122"/>
                <a:cs typeface="Arial" pitchFamily="34" charset="-120"/>
              </a:rPr>
              <a:t>Top of the side panel — start a fresh, clean chat</a:t>
            </a:r>
            <a:endParaRPr lang="en-US" sz="1250" dirty="0"/>
          </a:p>
        </p:txBody>
      </p:sp>
      <p:sp>
        <p:nvSpPr>
          <p:cNvPr id="23" name="Shape 21"/>
          <p:cNvSpPr/>
          <p:nvPr/>
        </p:nvSpPr>
        <p:spPr>
          <a:xfrm>
            <a:off x="7315200" y="2551176"/>
            <a:ext cx="365760" cy="365760"/>
          </a:xfrm>
          <a:prstGeom prst="ellipse">
            <a:avLst/>
          </a:prstGeom>
          <a:solidFill>
            <a:srgbClr val="D31242"/>
          </a:solidFill>
          <a:ln/>
        </p:spPr>
      </p:sp>
      <p:sp>
        <p:nvSpPr>
          <p:cNvPr id="24" name="Text 22"/>
          <p:cNvSpPr/>
          <p:nvPr/>
        </p:nvSpPr>
        <p:spPr>
          <a:xfrm>
            <a:off x="7315200" y="255117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25" name="Text 23"/>
          <p:cNvSpPr/>
          <p:nvPr/>
        </p:nvSpPr>
        <p:spPr>
          <a:xfrm>
            <a:off x="7818120" y="2496312"/>
            <a:ext cx="4160520" cy="713232"/>
          </a:xfrm>
          <a:prstGeom prst="rect">
            <a:avLst/>
          </a:prstGeom>
          <a:noFill/>
          <a:ln/>
        </p:spPr>
        <p:txBody>
          <a:bodyPr wrap="square" rtlCol="0" anchor="t"/>
          <a:lstStyle/>
          <a:p>
            <a:pPr indent="0" marL="0">
              <a:lnSpc>
                <a:spcPts val="1600"/>
              </a:lnSpc>
              <a:buNone/>
            </a:pPr>
            <a:r>
              <a:rPr lang="en-US" sz="1250" b="1" dirty="0">
                <a:solidFill>
                  <a:srgbClr val="D31242"/>
                </a:solidFill>
                <a:latin typeface="Arial" pitchFamily="34" charset="0"/>
                <a:ea typeface="Arial" pitchFamily="34" charset="-122"/>
                <a:cs typeface="Arial" pitchFamily="34" charset="-120"/>
              </a:rPr>
              <a:t>Attach (+) — </a:t>
            </a:r>
            <a:pPr indent="0" marL="0">
              <a:lnSpc>
                <a:spcPts val="1600"/>
              </a:lnSpc>
              <a:buNone/>
            </a:pPr>
            <a:r>
              <a:rPr lang="en-US" sz="1250" dirty="0">
                <a:solidFill>
                  <a:srgbClr val="3A4452"/>
                </a:solidFill>
                <a:latin typeface="Arial" pitchFamily="34" charset="0"/>
                <a:ea typeface="Arial" pitchFamily="34" charset="-122"/>
                <a:cs typeface="Arial" pitchFamily="34" charset="-120"/>
              </a:rPr>
              <a:t>Add files, photos, or a screenshot for Claude to read</a:t>
            </a:r>
            <a:endParaRPr lang="en-US" sz="1250" dirty="0"/>
          </a:p>
        </p:txBody>
      </p:sp>
      <p:sp>
        <p:nvSpPr>
          <p:cNvPr id="26" name="Shape 24"/>
          <p:cNvSpPr/>
          <p:nvPr/>
        </p:nvSpPr>
        <p:spPr>
          <a:xfrm>
            <a:off x="7315200" y="3319272"/>
            <a:ext cx="365760" cy="365760"/>
          </a:xfrm>
          <a:prstGeom prst="ellipse">
            <a:avLst/>
          </a:prstGeom>
          <a:solidFill>
            <a:srgbClr val="D31242"/>
          </a:solidFill>
          <a:ln/>
        </p:spPr>
      </p:sp>
      <p:sp>
        <p:nvSpPr>
          <p:cNvPr id="27" name="Text 25"/>
          <p:cNvSpPr/>
          <p:nvPr/>
        </p:nvSpPr>
        <p:spPr>
          <a:xfrm>
            <a:off x="7315200" y="331927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8" name="Text 26"/>
          <p:cNvSpPr/>
          <p:nvPr/>
        </p:nvSpPr>
        <p:spPr>
          <a:xfrm>
            <a:off x="7818120" y="3264408"/>
            <a:ext cx="4160520" cy="713232"/>
          </a:xfrm>
          <a:prstGeom prst="rect">
            <a:avLst/>
          </a:prstGeom>
          <a:noFill/>
          <a:ln/>
        </p:spPr>
        <p:txBody>
          <a:bodyPr wrap="square" rtlCol="0" anchor="t"/>
          <a:lstStyle/>
          <a:p>
            <a:pPr indent="0" marL="0">
              <a:lnSpc>
                <a:spcPts val="1600"/>
              </a:lnSpc>
              <a:buNone/>
            </a:pPr>
            <a:r>
              <a:rPr lang="en-US" sz="1250" b="1" dirty="0">
                <a:solidFill>
                  <a:srgbClr val="D31242"/>
                </a:solidFill>
                <a:latin typeface="Arial" pitchFamily="34" charset="0"/>
                <a:ea typeface="Arial" pitchFamily="34" charset="-122"/>
                <a:cs typeface="Arial" pitchFamily="34" charset="-120"/>
              </a:rPr>
              <a:t>Model picker — </a:t>
            </a:r>
            <a:pPr indent="0" marL="0">
              <a:lnSpc>
                <a:spcPts val="1600"/>
              </a:lnSpc>
              <a:buNone/>
            </a:pPr>
            <a:r>
              <a:rPr lang="en-US" sz="1250" dirty="0">
                <a:solidFill>
                  <a:srgbClr val="3A4452"/>
                </a:solidFill>
                <a:latin typeface="Arial" pitchFamily="34" charset="0"/>
                <a:ea typeface="Arial" pitchFamily="34" charset="-122"/>
                <a:cs typeface="Arial" pitchFamily="34" charset="-120"/>
              </a:rPr>
              <a:t>Choose Haiku, Sonnet, or Opus for the task</a:t>
            </a:r>
            <a:endParaRPr lang="en-US" sz="1250" dirty="0"/>
          </a:p>
        </p:txBody>
      </p:sp>
      <p:sp>
        <p:nvSpPr>
          <p:cNvPr id="29" name="Shape 27"/>
          <p:cNvSpPr/>
          <p:nvPr/>
        </p:nvSpPr>
        <p:spPr>
          <a:xfrm>
            <a:off x="7315200" y="4087368"/>
            <a:ext cx="365760" cy="365760"/>
          </a:xfrm>
          <a:prstGeom prst="ellipse">
            <a:avLst/>
          </a:prstGeom>
          <a:solidFill>
            <a:srgbClr val="D31242"/>
          </a:solidFill>
          <a:ln/>
        </p:spPr>
      </p:sp>
      <p:sp>
        <p:nvSpPr>
          <p:cNvPr id="30" name="Text 28"/>
          <p:cNvSpPr/>
          <p:nvPr/>
        </p:nvSpPr>
        <p:spPr>
          <a:xfrm>
            <a:off x="7315200" y="408736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31" name="Text 29"/>
          <p:cNvSpPr/>
          <p:nvPr/>
        </p:nvSpPr>
        <p:spPr>
          <a:xfrm>
            <a:off x="7818120" y="4032504"/>
            <a:ext cx="4160520" cy="713232"/>
          </a:xfrm>
          <a:prstGeom prst="rect">
            <a:avLst/>
          </a:prstGeom>
          <a:noFill/>
          <a:ln/>
        </p:spPr>
        <p:txBody>
          <a:bodyPr wrap="square" rtlCol="0" anchor="t"/>
          <a:lstStyle/>
          <a:p>
            <a:pPr indent="0" marL="0">
              <a:lnSpc>
                <a:spcPts val="1600"/>
              </a:lnSpc>
              <a:buNone/>
            </a:pPr>
            <a:r>
              <a:rPr lang="en-US" sz="1250" b="1" dirty="0">
                <a:solidFill>
                  <a:srgbClr val="D31242"/>
                </a:solidFill>
                <a:latin typeface="Arial" pitchFamily="34" charset="0"/>
                <a:ea typeface="Arial" pitchFamily="34" charset="-122"/>
                <a:cs typeface="Arial" pitchFamily="34" charset="-120"/>
              </a:rPr>
              <a:t>Compose bar — </a:t>
            </a:r>
            <a:pPr indent="0" marL="0">
              <a:lnSpc>
                <a:spcPts val="1600"/>
              </a:lnSpc>
              <a:buNone/>
            </a:pPr>
            <a:r>
              <a:rPr lang="en-US" sz="1250" dirty="0">
                <a:solidFill>
                  <a:srgbClr val="3A4452"/>
                </a:solidFill>
                <a:latin typeface="Arial" pitchFamily="34" charset="0"/>
                <a:ea typeface="Arial" pitchFamily="34" charset="-122"/>
                <a:cs typeface="Arial" pitchFamily="34" charset="-120"/>
              </a:rPr>
              <a:t>Type here. Enter sends; Shift+Enter = new line</a:t>
            </a:r>
            <a:endParaRPr lang="en-US" sz="1250" dirty="0"/>
          </a:p>
        </p:txBody>
      </p:sp>
      <p:sp>
        <p:nvSpPr>
          <p:cNvPr id="32" name="Shape 30"/>
          <p:cNvSpPr/>
          <p:nvPr/>
        </p:nvSpPr>
        <p:spPr>
          <a:xfrm>
            <a:off x="7315200" y="4855464"/>
            <a:ext cx="365760" cy="365760"/>
          </a:xfrm>
          <a:prstGeom prst="ellipse">
            <a:avLst/>
          </a:prstGeom>
          <a:solidFill>
            <a:srgbClr val="D31242"/>
          </a:solidFill>
          <a:ln/>
        </p:spPr>
      </p:sp>
      <p:sp>
        <p:nvSpPr>
          <p:cNvPr id="33" name="Text 31"/>
          <p:cNvSpPr/>
          <p:nvPr/>
        </p:nvSpPr>
        <p:spPr>
          <a:xfrm>
            <a:off x="7315200" y="485546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5</a:t>
            </a:r>
            <a:endParaRPr lang="en-US" sz="1250" dirty="0"/>
          </a:p>
        </p:txBody>
      </p:sp>
      <p:sp>
        <p:nvSpPr>
          <p:cNvPr id="34" name="Text 32"/>
          <p:cNvSpPr/>
          <p:nvPr/>
        </p:nvSpPr>
        <p:spPr>
          <a:xfrm>
            <a:off x="7818120" y="4800600"/>
            <a:ext cx="4160520" cy="713232"/>
          </a:xfrm>
          <a:prstGeom prst="rect">
            <a:avLst/>
          </a:prstGeom>
          <a:noFill/>
          <a:ln/>
        </p:spPr>
        <p:txBody>
          <a:bodyPr wrap="square" rtlCol="0" anchor="t"/>
          <a:lstStyle/>
          <a:p>
            <a:pPr indent="0" marL="0">
              <a:lnSpc>
                <a:spcPts val="1600"/>
              </a:lnSpc>
              <a:buNone/>
            </a:pPr>
            <a:r>
              <a:rPr lang="en-US" sz="1250" b="1" dirty="0">
                <a:solidFill>
                  <a:srgbClr val="D31242"/>
                </a:solidFill>
                <a:latin typeface="Arial" pitchFamily="34" charset="0"/>
                <a:ea typeface="Arial" pitchFamily="34" charset="-122"/>
                <a:cs typeface="Arial" pitchFamily="34" charset="-120"/>
              </a:rPr>
              <a:t>Response area — </a:t>
            </a:r>
            <a:pPr indent="0" marL="0">
              <a:lnSpc>
                <a:spcPts val="1600"/>
              </a:lnSpc>
              <a:buNone/>
            </a:pPr>
            <a:r>
              <a:rPr lang="en-US" sz="1250" dirty="0">
                <a:solidFill>
                  <a:srgbClr val="3A4452"/>
                </a:solidFill>
                <a:latin typeface="Arial" pitchFamily="34" charset="0"/>
                <a:ea typeface="Arial" pitchFamily="34" charset="-122"/>
                <a:cs typeface="Arial" pitchFamily="34" charset="-120"/>
              </a:rPr>
              <a:t>Claude's reply, with copy / retry controls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UNDER THE HOOD</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How a conversation actually works</a:t>
            </a:r>
            <a:endParaRPr lang="en-US" sz="2900" dirty="0"/>
          </a:p>
        </p:txBody>
      </p:sp>
      <p:sp>
        <p:nvSpPr>
          <p:cNvPr id="4" name="Shape 2"/>
          <p:cNvSpPr/>
          <p:nvPr/>
        </p:nvSpPr>
        <p:spPr>
          <a:xfrm>
            <a:off x="566928" y="1600200"/>
            <a:ext cx="5486400" cy="4160520"/>
          </a:xfrm>
          <a:prstGeom prst="roundRect">
            <a:avLst>
              <a:gd name="adj" fmla="val 1978"/>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57200"/>
          </a:xfrm>
          <a:prstGeom prst="rect">
            <a:avLst/>
          </a:prstGeom>
          <a:noFill/>
          <a:ln/>
        </p:spPr>
        <p:txBody>
          <a:bodyPr wrap="square" rtlCol="0" anchor="ctr"/>
          <a:lstStyle/>
          <a:p>
            <a:pPr indent="0" marL="0">
              <a:buNone/>
            </a:pPr>
            <a:r>
              <a:rPr lang="en-US" sz="1650" b="1" dirty="0">
                <a:solidFill>
                  <a:srgbClr val="1F2733"/>
                </a:solidFill>
                <a:latin typeface="Arial" pitchFamily="34" charset="0"/>
                <a:ea typeface="Arial" pitchFamily="34" charset="-122"/>
                <a:cs typeface="Arial" pitchFamily="34" charset="-120"/>
              </a:rPr>
              <a:t>Claude re-reads the whole thread every time</a:t>
            </a:r>
            <a:endParaRPr lang="en-US" sz="1650" dirty="0"/>
          </a:p>
        </p:txBody>
      </p:sp>
      <p:sp>
        <p:nvSpPr>
          <p:cNvPr id="6" name="Text 4"/>
          <p:cNvSpPr/>
          <p:nvPr/>
        </p:nvSpPr>
        <p:spPr>
          <a:xfrm>
            <a:off x="841248" y="2331720"/>
            <a:ext cx="4983480" cy="3291840"/>
          </a:xfrm>
          <a:prstGeom prst="rect">
            <a:avLst/>
          </a:prstGeom>
          <a:noFill/>
          <a:ln/>
        </p:spPr>
        <p:txBody>
          <a:bodyPr wrap="square" rtlCol="0" anchor="t"/>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Each time you send, Claude reads the entire conversation so far — not just your last line — then replies.</a:t>
            </a:r>
            <a:endParaRPr lang="en-US" sz="1350" dirty="0"/>
          </a:p>
          <a:p>
            <a:pPr indent="0" marL="0">
              <a:lnSpc>
                <a:spcPts val="1900"/>
              </a:lnSpc>
              <a:buNone/>
            </a:pPr>
            <a:endParaRPr lang="en-US" sz="1350" dirty="0"/>
          </a:p>
          <a:p>
            <a:pPr indent="0" marL="0">
              <a:lnSpc>
                <a:spcPts val="1900"/>
              </a:lnSpc>
              <a:buNone/>
            </a:pPr>
            <a:r>
              <a:rPr lang="en-US" sz="1350" dirty="0">
                <a:solidFill>
                  <a:srgbClr val="3A4452"/>
                </a:solidFill>
                <a:latin typeface="Arial" pitchFamily="34" charset="0"/>
                <a:ea typeface="Arial" pitchFamily="34" charset="-122"/>
                <a:cs typeface="Arial" pitchFamily="34" charset="-120"/>
              </a:rPr>
              <a:t>That's why </a:t>
            </a:r>
            <a:pPr indent="0" marL="0">
              <a:lnSpc>
                <a:spcPts val="1900"/>
              </a:lnSpc>
              <a:buNone/>
            </a:pPr>
            <a:r>
              <a:rPr lang="en-US" sz="1350" i="1" dirty="0">
                <a:solidFill>
                  <a:srgbClr val="1F2733"/>
                </a:solidFill>
                <a:latin typeface="Arial" pitchFamily="34" charset="0"/>
                <a:ea typeface="Arial" pitchFamily="34" charset="-122"/>
                <a:cs typeface="Arial" pitchFamily="34" charset="-120"/>
              </a:rPr>
              <a:t>"make it shorter"</a:t>
            </a:r>
            <a:pPr indent="0" marL="0">
              <a:lnSpc>
                <a:spcPts val="1900"/>
              </a:lnSpc>
              <a:buNone/>
            </a:pPr>
            <a:r>
              <a:rPr lang="en-US" sz="1350" dirty="0">
                <a:solidFill>
                  <a:srgbClr val="3A4452"/>
                </a:solidFill>
                <a:latin typeface="Arial" pitchFamily="34" charset="0"/>
                <a:ea typeface="Arial" pitchFamily="34" charset="-122"/>
                <a:cs typeface="Arial" pitchFamily="34" charset="-120"/>
              </a:rPr>
              <a:t> works — it remembers what 'it' is, within this chat.</a:t>
            </a:r>
            <a:endParaRPr lang="en-US" sz="1350" dirty="0"/>
          </a:p>
          <a:p>
            <a:pPr indent="0" marL="0">
              <a:lnSpc>
                <a:spcPts val="1900"/>
              </a:lnSpc>
              <a:buNone/>
            </a:pPr>
            <a:endParaRPr lang="en-US" sz="1350" dirty="0"/>
          </a:p>
          <a:p>
            <a:pPr indent="0" marL="0">
              <a:lnSpc>
                <a:spcPts val="1900"/>
              </a:lnSpc>
              <a:buNone/>
            </a:pPr>
            <a:r>
              <a:rPr lang="en-US" sz="1350" b="1" dirty="0">
                <a:solidFill>
                  <a:srgbClr val="1F2733"/>
                </a:solidFill>
                <a:latin typeface="Arial" pitchFamily="34" charset="0"/>
                <a:ea typeface="Arial" pitchFamily="34" charset="-122"/>
                <a:cs typeface="Arial" pitchFamily="34" charset="-120"/>
              </a:rPr>
              <a:t>It does NOT remember your other chats </a:t>
            </a:r>
            <a:pPr indent="0" marL="0">
              <a:lnSpc>
                <a:spcPts val="1900"/>
              </a:lnSpc>
              <a:buNone/>
            </a:pPr>
            <a:r>
              <a:rPr lang="en-US" sz="1350" dirty="0">
                <a:solidFill>
                  <a:srgbClr val="3A4452"/>
                </a:solidFill>
                <a:latin typeface="Arial" pitchFamily="34" charset="0"/>
                <a:ea typeface="Arial" pitchFamily="34" charset="-122"/>
                <a:cs typeface="Arial" pitchFamily="34" charset="-120"/>
              </a:rPr>
              <a:t>unless you're in a Project or have Memory on (later modules).</a:t>
            </a:r>
            <a:endParaRPr lang="en-US" sz="1350" dirty="0"/>
          </a:p>
        </p:txBody>
      </p:sp>
      <p:sp>
        <p:nvSpPr>
          <p:cNvPr id="7" name="Shape 5"/>
          <p:cNvSpPr/>
          <p:nvPr/>
        </p:nvSpPr>
        <p:spPr>
          <a:xfrm>
            <a:off x="6355080" y="1600200"/>
            <a:ext cx="5486400" cy="4160520"/>
          </a:xfrm>
          <a:prstGeom prst="roundRect">
            <a:avLst>
              <a:gd name="adj" fmla="val 1978"/>
            </a:avLst>
          </a:prstGeom>
          <a:solidFill>
            <a:srgbClr val="FBF0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828800"/>
            <a:ext cx="4937760" cy="457200"/>
          </a:xfrm>
          <a:prstGeom prst="rect">
            <a:avLst/>
          </a:prstGeom>
          <a:noFill/>
          <a:ln/>
        </p:spPr>
        <p:txBody>
          <a:bodyPr wrap="square" rtlCol="0" anchor="ctr"/>
          <a:lstStyle/>
          <a:p>
            <a:pPr indent="0" marL="0">
              <a:buNone/>
            </a:pPr>
            <a:r>
              <a:rPr lang="en-US" sz="1650" b="1" dirty="0">
                <a:solidFill>
                  <a:srgbClr val="7E0A27"/>
                </a:solidFill>
                <a:latin typeface="Arial" pitchFamily="34" charset="0"/>
                <a:ea typeface="Arial" pitchFamily="34" charset="-122"/>
                <a:cs typeface="Arial" pitchFamily="34" charset="-120"/>
              </a:rPr>
              <a:t>The context window = Claude's desk</a:t>
            </a:r>
            <a:endParaRPr lang="en-US" sz="1650" dirty="0"/>
          </a:p>
        </p:txBody>
      </p:sp>
      <p:sp>
        <p:nvSpPr>
          <p:cNvPr id="9" name="Text 7"/>
          <p:cNvSpPr/>
          <p:nvPr/>
        </p:nvSpPr>
        <p:spPr>
          <a:xfrm>
            <a:off x="6629400" y="2331720"/>
            <a:ext cx="4983480" cy="3291840"/>
          </a:xfrm>
          <a:prstGeom prst="rect">
            <a:avLst/>
          </a:prstGeom>
          <a:noFill/>
          <a:ln/>
        </p:spPr>
        <p:txBody>
          <a:bodyPr wrap="square" rtlCol="0" anchor="t"/>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Everything in the chat sits on the desk while Claude works. </a:t>
            </a:r>
            <a:pPr indent="0" marL="0">
              <a:lnSpc>
                <a:spcPts val="1900"/>
              </a:lnSpc>
              <a:buNone/>
            </a:pPr>
            <a:r>
              <a:rPr lang="en-US" sz="1350" b="1" dirty="0">
                <a:solidFill>
                  <a:srgbClr val="1F2733"/>
                </a:solidFill>
                <a:latin typeface="Arial" pitchFamily="34" charset="0"/>
                <a:ea typeface="Arial" pitchFamily="34" charset="-122"/>
                <a:cs typeface="Arial" pitchFamily="34" charset="-120"/>
              </a:rPr>
              <a:t>The desk is big but not infinite.</a:t>
            </a:r>
            <a:endParaRPr lang="en-US" sz="1350" dirty="0"/>
          </a:p>
          <a:p>
            <a:pPr indent="0" marL="0">
              <a:lnSpc>
                <a:spcPts val="1900"/>
              </a:lnSpc>
              <a:buNone/>
            </a:pPr>
            <a:endParaRPr lang="en-US" sz="1350" dirty="0"/>
          </a:p>
          <a:p>
            <a:pPr indent="0" marL="0">
              <a:lnSpc>
                <a:spcPts val="1900"/>
              </a:lnSpc>
              <a:buNone/>
            </a:pPr>
            <a:r>
              <a:rPr lang="en-US" sz="1350" dirty="0">
                <a:solidFill>
                  <a:srgbClr val="3A4452"/>
                </a:solidFill>
                <a:latin typeface="Arial" pitchFamily="34" charset="0"/>
                <a:ea typeface="Arial" pitchFamily="34" charset="-122"/>
                <a:cs typeface="Arial" pitchFamily="34" charset="-120"/>
              </a:rPr>
              <a:t>In a long, wandering chat, early details get crowded out and answers drift.</a:t>
            </a:r>
            <a:endParaRPr lang="en-US" sz="1350" dirty="0"/>
          </a:p>
          <a:p>
            <a:pPr indent="0" marL="0">
              <a:lnSpc>
                <a:spcPts val="1900"/>
              </a:lnSpc>
              <a:buNone/>
            </a:pPr>
            <a:endParaRPr lang="en-US" sz="1350" dirty="0"/>
          </a:p>
          <a:p>
            <a:pPr indent="0" marL="0">
              <a:lnSpc>
                <a:spcPts val="1900"/>
              </a:lnSpc>
              <a:buNone/>
            </a:pPr>
            <a:r>
              <a:rPr lang="en-US" sz="1350" b="1" dirty="0">
                <a:solidFill>
                  <a:srgbClr val="D31242"/>
                </a:solidFill>
                <a:latin typeface="Arial" pitchFamily="34" charset="0"/>
                <a:ea typeface="Arial" pitchFamily="34" charset="-122"/>
                <a:cs typeface="Arial" pitchFamily="34" charset="-120"/>
              </a:rPr>
              <a:t>Fix: </a:t>
            </a:r>
            <a:pPr indent="0" marL="0">
              <a:lnSpc>
                <a:spcPts val="1900"/>
              </a:lnSpc>
              <a:buNone/>
            </a:pPr>
            <a:r>
              <a:rPr lang="en-US" sz="1350" dirty="0">
                <a:solidFill>
                  <a:srgbClr val="3A4452"/>
                </a:solidFill>
                <a:latin typeface="Arial" pitchFamily="34" charset="0"/>
                <a:ea typeface="Arial" pitchFamily="34" charset="-122"/>
                <a:cs typeface="Arial" pitchFamily="34" charset="-120"/>
              </a:rPr>
              <a:t>start a new chat for a new topic; re-state key facts if a thread gets long.</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BASIC CHAT CLARITY (NOT ADVANCED PROMPTING)</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The 5-part request</a:t>
            </a:r>
            <a:endParaRPr lang="en-US" sz="2900" dirty="0"/>
          </a:p>
        </p:txBody>
      </p:sp>
      <p:sp>
        <p:nvSpPr>
          <p:cNvPr id="4" name="Text 2"/>
          <p:cNvSpPr/>
          <p:nvPr/>
        </p:nvSpPr>
        <p:spPr>
          <a:xfrm>
            <a:off x="566928" y="1417320"/>
            <a:ext cx="11055096" cy="411480"/>
          </a:xfrm>
          <a:prstGeom prst="rect">
            <a:avLst/>
          </a:prstGeom>
          <a:noFill/>
          <a:ln/>
        </p:spPr>
        <p:txBody>
          <a:bodyPr wrap="square" rtlCol="0" anchor="ctr"/>
          <a:lstStyle/>
          <a:p>
            <a:pPr indent="0" marL="0">
              <a:buNone/>
            </a:pPr>
            <a:r>
              <a:rPr lang="en-US" sz="1250" i="1" dirty="0">
                <a:solidFill>
                  <a:srgbClr val="5E6A78"/>
                </a:solidFill>
                <a:latin typeface="Arial" pitchFamily="34" charset="0"/>
                <a:ea typeface="Arial" pitchFamily="34" charset="-122"/>
                <a:cs typeface="Arial" pitchFamily="34" charset="-120"/>
              </a:rPr>
              <a:t>A simple checklist for a clear ask. This is beginner clarity — the advanced techniques (system prompts, templates) come in Modules 2–3.</a:t>
            </a:r>
            <a:endParaRPr lang="en-US" sz="1250" dirty="0"/>
          </a:p>
        </p:txBody>
      </p:sp>
      <p:sp>
        <p:nvSpPr>
          <p:cNvPr id="5" name="Shape 3"/>
          <p:cNvSpPr/>
          <p:nvPr/>
        </p:nvSpPr>
        <p:spPr>
          <a:xfrm>
            <a:off x="566928" y="1965960"/>
            <a:ext cx="1991563" cy="3657600"/>
          </a:xfrm>
          <a:prstGeom prst="roundRect">
            <a:avLst>
              <a:gd name="adj" fmla="val 4132"/>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6" name="Shape 4"/>
          <p:cNvSpPr/>
          <p:nvPr/>
        </p:nvSpPr>
        <p:spPr>
          <a:xfrm>
            <a:off x="1311250" y="2240280"/>
            <a:ext cx="502920" cy="502920"/>
          </a:xfrm>
          <a:prstGeom prst="ellipse">
            <a:avLst/>
          </a:prstGeom>
          <a:solidFill>
            <a:srgbClr val="D31242"/>
          </a:solidFill>
          <a:ln/>
        </p:spPr>
      </p:sp>
      <p:sp>
        <p:nvSpPr>
          <p:cNvPr id="7" name="Text 5"/>
          <p:cNvSpPr/>
          <p:nvPr/>
        </p:nvSpPr>
        <p:spPr>
          <a:xfrm>
            <a:off x="1311250" y="224028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8" name="Text 6"/>
          <p:cNvSpPr/>
          <p:nvPr/>
        </p:nvSpPr>
        <p:spPr>
          <a:xfrm>
            <a:off x="658368" y="2880360"/>
            <a:ext cx="1808683" cy="365760"/>
          </a:xfrm>
          <a:prstGeom prst="rect">
            <a:avLst/>
          </a:prstGeom>
          <a:noFill/>
          <a:ln/>
        </p:spPr>
        <p:txBody>
          <a:bodyPr wrap="square"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Role</a:t>
            </a:r>
            <a:endParaRPr lang="en-US" sz="1600" dirty="0"/>
          </a:p>
        </p:txBody>
      </p:sp>
      <p:sp>
        <p:nvSpPr>
          <p:cNvPr id="9" name="Text 7"/>
          <p:cNvSpPr/>
          <p:nvPr/>
        </p:nvSpPr>
        <p:spPr>
          <a:xfrm>
            <a:off x="694944" y="3264408"/>
            <a:ext cx="1735531" cy="731520"/>
          </a:xfrm>
          <a:prstGeom prst="rect">
            <a:avLst/>
          </a:prstGeom>
          <a:noFill/>
          <a:ln/>
        </p:spPr>
        <p:txBody>
          <a:bodyPr wrap="square" rtlCol="0" anchor="ctr"/>
          <a:lstStyle/>
          <a:p>
            <a:pPr algn="ctr" indent="0" marL="0">
              <a:lnSpc>
                <a:spcPts val="1500"/>
              </a:lnSpc>
              <a:buNone/>
            </a:pPr>
            <a:r>
              <a:rPr lang="en-US" sz="1150" dirty="0">
                <a:solidFill>
                  <a:srgbClr val="3A4452"/>
                </a:solidFill>
                <a:latin typeface="Arial" pitchFamily="34" charset="0"/>
                <a:ea typeface="Arial" pitchFamily="34" charset="-122"/>
                <a:cs typeface="Arial" pitchFamily="34" charset="-120"/>
              </a:rPr>
              <a:t>Who Claude should act as</a:t>
            </a:r>
            <a:endParaRPr lang="en-US" sz="1150" dirty="0"/>
          </a:p>
        </p:txBody>
      </p:sp>
      <p:sp>
        <p:nvSpPr>
          <p:cNvPr id="10" name="Shape 8"/>
          <p:cNvSpPr/>
          <p:nvPr/>
        </p:nvSpPr>
        <p:spPr>
          <a:xfrm>
            <a:off x="795528" y="4023360"/>
            <a:ext cx="1534363" cy="0"/>
          </a:xfrm>
          <a:prstGeom prst="line">
            <a:avLst/>
          </a:prstGeom>
          <a:noFill/>
          <a:ln w="12700">
            <a:solidFill>
              <a:srgbClr val="E7E9EE"/>
            </a:solidFill>
            <a:prstDash val="solid"/>
          </a:ln>
        </p:spPr>
      </p:sp>
      <p:sp>
        <p:nvSpPr>
          <p:cNvPr id="11" name="Text 9"/>
          <p:cNvSpPr/>
          <p:nvPr/>
        </p:nvSpPr>
        <p:spPr>
          <a:xfrm>
            <a:off x="694944" y="4114800"/>
            <a:ext cx="1735531" cy="1371600"/>
          </a:xfrm>
          <a:prstGeom prst="rect">
            <a:avLst/>
          </a:prstGeom>
          <a:noFill/>
          <a:ln/>
        </p:spPr>
        <p:txBody>
          <a:bodyPr wrap="square" rtlCol="0" anchor="ctr"/>
          <a:lstStyle/>
          <a:p>
            <a:pPr algn="ctr" indent="0" marL="0">
              <a:lnSpc>
                <a:spcPts val="1400"/>
              </a:lnSpc>
              <a:buNone/>
            </a:pPr>
            <a:r>
              <a:rPr lang="en-US" sz="1050" i="1" dirty="0">
                <a:solidFill>
                  <a:srgbClr val="5E6A78"/>
                </a:solidFill>
                <a:latin typeface="Arial" pitchFamily="34" charset="0"/>
                <a:ea typeface="Arial" pitchFamily="34" charset="-122"/>
                <a:cs typeface="Arial" pitchFamily="34" charset="-120"/>
              </a:rPr>
              <a:t>"You are a BJ's club ops manager…"</a:t>
            </a:r>
            <a:endParaRPr lang="en-US" sz="1050" dirty="0"/>
          </a:p>
        </p:txBody>
      </p:sp>
      <p:sp>
        <p:nvSpPr>
          <p:cNvPr id="12" name="Shape 10"/>
          <p:cNvSpPr/>
          <p:nvPr/>
        </p:nvSpPr>
        <p:spPr>
          <a:xfrm>
            <a:off x="2832811" y="1965960"/>
            <a:ext cx="1991563" cy="3657600"/>
          </a:xfrm>
          <a:prstGeom prst="roundRect">
            <a:avLst>
              <a:gd name="adj" fmla="val 4132"/>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3" name="Shape 11"/>
          <p:cNvSpPr/>
          <p:nvPr/>
        </p:nvSpPr>
        <p:spPr>
          <a:xfrm>
            <a:off x="3577133" y="2240280"/>
            <a:ext cx="502920" cy="502920"/>
          </a:xfrm>
          <a:prstGeom prst="ellipse">
            <a:avLst/>
          </a:prstGeom>
          <a:solidFill>
            <a:srgbClr val="D31242"/>
          </a:solidFill>
          <a:ln/>
        </p:spPr>
      </p:sp>
      <p:sp>
        <p:nvSpPr>
          <p:cNvPr id="14" name="Text 12"/>
          <p:cNvSpPr/>
          <p:nvPr/>
        </p:nvSpPr>
        <p:spPr>
          <a:xfrm>
            <a:off x="3577133" y="224028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5" name="Text 13"/>
          <p:cNvSpPr/>
          <p:nvPr/>
        </p:nvSpPr>
        <p:spPr>
          <a:xfrm>
            <a:off x="2924251" y="2880360"/>
            <a:ext cx="1808683" cy="365760"/>
          </a:xfrm>
          <a:prstGeom prst="rect">
            <a:avLst/>
          </a:prstGeom>
          <a:noFill/>
          <a:ln/>
        </p:spPr>
        <p:txBody>
          <a:bodyPr wrap="square"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Task</a:t>
            </a:r>
            <a:endParaRPr lang="en-US" sz="1600" dirty="0"/>
          </a:p>
        </p:txBody>
      </p:sp>
      <p:sp>
        <p:nvSpPr>
          <p:cNvPr id="16" name="Text 14"/>
          <p:cNvSpPr/>
          <p:nvPr/>
        </p:nvSpPr>
        <p:spPr>
          <a:xfrm>
            <a:off x="2960827" y="3264408"/>
            <a:ext cx="1735531" cy="731520"/>
          </a:xfrm>
          <a:prstGeom prst="rect">
            <a:avLst/>
          </a:prstGeom>
          <a:noFill/>
          <a:ln/>
        </p:spPr>
        <p:txBody>
          <a:bodyPr wrap="square" rtlCol="0" anchor="ctr"/>
          <a:lstStyle/>
          <a:p>
            <a:pPr algn="ctr" indent="0" marL="0">
              <a:lnSpc>
                <a:spcPts val="1500"/>
              </a:lnSpc>
              <a:buNone/>
            </a:pPr>
            <a:r>
              <a:rPr lang="en-US" sz="1150" dirty="0">
                <a:solidFill>
                  <a:srgbClr val="3A4452"/>
                </a:solidFill>
                <a:latin typeface="Arial" pitchFamily="34" charset="0"/>
                <a:ea typeface="Arial" pitchFamily="34" charset="-122"/>
                <a:cs typeface="Arial" pitchFamily="34" charset="-120"/>
              </a:rPr>
              <a:t>The specific job</a:t>
            </a:r>
            <a:endParaRPr lang="en-US" sz="1150" dirty="0"/>
          </a:p>
        </p:txBody>
      </p:sp>
      <p:sp>
        <p:nvSpPr>
          <p:cNvPr id="17" name="Shape 15"/>
          <p:cNvSpPr/>
          <p:nvPr/>
        </p:nvSpPr>
        <p:spPr>
          <a:xfrm>
            <a:off x="3061411" y="4023360"/>
            <a:ext cx="1534363" cy="0"/>
          </a:xfrm>
          <a:prstGeom prst="line">
            <a:avLst/>
          </a:prstGeom>
          <a:noFill/>
          <a:ln w="12700">
            <a:solidFill>
              <a:srgbClr val="E7E9EE"/>
            </a:solidFill>
            <a:prstDash val="solid"/>
          </a:ln>
        </p:spPr>
      </p:sp>
      <p:sp>
        <p:nvSpPr>
          <p:cNvPr id="18" name="Text 16"/>
          <p:cNvSpPr/>
          <p:nvPr/>
        </p:nvSpPr>
        <p:spPr>
          <a:xfrm>
            <a:off x="2960827" y="4114800"/>
            <a:ext cx="1735531" cy="1371600"/>
          </a:xfrm>
          <a:prstGeom prst="rect">
            <a:avLst/>
          </a:prstGeom>
          <a:noFill/>
          <a:ln/>
        </p:spPr>
        <p:txBody>
          <a:bodyPr wrap="square" rtlCol="0" anchor="ctr"/>
          <a:lstStyle/>
          <a:p>
            <a:pPr algn="ctr" indent="0" marL="0">
              <a:lnSpc>
                <a:spcPts val="1400"/>
              </a:lnSpc>
              <a:buNone/>
            </a:pPr>
            <a:r>
              <a:rPr lang="en-US" sz="1050" i="1" dirty="0">
                <a:solidFill>
                  <a:srgbClr val="5E6A78"/>
                </a:solidFill>
                <a:latin typeface="Arial" pitchFamily="34" charset="0"/>
                <a:ea typeface="Arial" pitchFamily="34" charset="-122"/>
                <a:cs typeface="Arial" pitchFamily="34" charset="-120"/>
              </a:rPr>
              <a:t>"Draft a one-page memo announcing…"</a:t>
            </a:r>
            <a:endParaRPr lang="en-US" sz="1050" dirty="0"/>
          </a:p>
        </p:txBody>
      </p:sp>
      <p:sp>
        <p:nvSpPr>
          <p:cNvPr id="19" name="Shape 17"/>
          <p:cNvSpPr/>
          <p:nvPr/>
        </p:nvSpPr>
        <p:spPr>
          <a:xfrm>
            <a:off x="5098694" y="1965960"/>
            <a:ext cx="1991563" cy="3657600"/>
          </a:xfrm>
          <a:prstGeom prst="roundRect">
            <a:avLst>
              <a:gd name="adj" fmla="val 4132"/>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Shape 18"/>
          <p:cNvSpPr/>
          <p:nvPr/>
        </p:nvSpPr>
        <p:spPr>
          <a:xfrm>
            <a:off x="5843016" y="2240280"/>
            <a:ext cx="502920" cy="502920"/>
          </a:xfrm>
          <a:prstGeom prst="ellipse">
            <a:avLst/>
          </a:prstGeom>
          <a:solidFill>
            <a:srgbClr val="D31242"/>
          </a:solidFill>
          <a:ln/>
        </p:spPr>
      </p:sp>
      <p:sp>
        <p:nvSpPr>
          <p:cNvPr id="21" name="Text 19"/>
          <p:cNvSpPr/>
          <p:nvPr/>
        </p:nvSpPr>
        <p:spPr>
          <a:xfrm>
            <a:off x="5843016" y="224028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2" name="Text 20"/>
          <p:cNvSpPr/>
          <p:nvPr/>
        </p:nvSpPr>
        <p:spPr>
          <a:xfrm>
            <a:off x="5190134" y="2880360"/>
            <a:ext cx="1808683" cy="365760"/>
          </a:xfrm>
          <a:prstGeom prst="rect">
            <a:avLst/>
          </a:prstGeom>
          <a:noFill/>
          <a:ln/>
        </p:spPr>
        <p:txBody>
          <a:bodyPr wrap="square"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Context</a:t>
            </a:r>
            <a:endParaRPr lang="en-US" sz="1600" dirty="0"/>
          </a:p>
        </p:txBody>
      </p:sp>
      <p:sp>
        <p:nvSpPr>
          <p:cNvPr id="23" name="Text 21"/>
          <p:cNvSpPr/>
          <p:nvPr/>
        </p:nvSpPr>
        <p:spPr>
          <a:xfrm>
            <a:off x="5226710" y="3264408"/>
            <a:ext cx="1735531" cy="731520"/>
          </a:xfrm>
          <a:prstGeom prst="rect">
            <a:avLst/>
          </a:prstGeom>
          <a:noFill/>
          <a:ln/>
        </p:spPr>
        <p:txBody>
          <a:bodyPr wrap="square" rtlCol="0" anchor="ctr"/>
          <a:lstStyle/>
          <a:p>
            <a:pPr algn="ctr" indent="0" marL="0">
              <a:lnSpc>
                <a:spcPts val="1500"/>
              </a:lnSpc>
              <a:buNone/>
            </a:pPr>
            <a:r>
              <a:rPr lang="en-US" sz="1150" dirty="0">
                <a:solidFill>
                  <a:srgbClr val="3A4452"/>
                </a:solidFill>
                <a:latin typeface="Arial" pitchFamily="34" charset="0"/>
                <a:ea typeface="Arial" pitchFamily="34" charset="-122"/>
                <a:cs typeface="Arial" pitchFamily="34" charset="-120"/>
              </a:rPr>
              <a:t>Background it needs</a:t>
            </a:r>
            <a:endParaRPr lang="en-US" sz="1150" dirty="0"/>
          </a:p>
        </p:txBody>
      </p:sp>
      <p:sp>
        <p:nvSpPr>
          <p:cNvPr id="24" name="Shape 22"/>
          <p:cNvSpPr/>
          <p:nvPr/>
        </p:nvSpPr>
        <p:spPr>
          <a:xfrm>
            <a:off x="5327294" y="4023360"/>
            <a:ext cx="1534363" cy="0"/>
          </a:xfrm>
          <a:prstGeom prst="line">
            <a:avLst/>
          </a:prstGeom>
          <a:noFill/>
          <a:ln w="12700">
            <a:solidFill>
              <a:srgbClr val="E7E9EE"/>
            </a:solidFill>
            <a:prstDash val="solid"/>
          </a:ln>
        </p:spPr>
      </p:sp>
      <p:sp>
        <p:nvSpPr>
          <p:cNvPr id="25" name="Text 23"/>
          <p:cNvSpPr/>
          <p:nvPr/>
        </p:nvSpPr>
        <p:spPr>
          <a:xfrm>
            <a:off x="5226710" y="4114800"/>
            <a:ext cx="1735531" cy="1371600"/>
          </a:xfrm>
          <a:prstGeom prst="rect">
            <a:avLst/>
          </a:prstGeom>
          <a:noFill/>
          <a:ln/>
        </p:spPr>
        <p:txBody>
          <a:bodyPr wrap="square" rtlCol="0" anchor="ctr"/>
          <a:lstStyle/>
          <a:p>
            <a:pPr algn="ctr" indent="0" marL="0">
              <a:lnSpc>
                <a:spcPts val="1400"/>
              </a:lnSpc>
              <a:buNone/>
            </a:pPr>
            <a:r>
              <a:rPr lang="en-US" sz="1050" i="1" dirty="0">
                <a:solidFill>
                  <a:srgbClr val="5E6A78"/>
                </a:solidFill>
                <a:latin typeface="Arial" pitchFamily="34" charset="0"/>
                <a:ea typeface="Arial" pitchFamily="34" charset="-122"/>
                <a:cs typeface="Arial" pitchFamily="34" charset="-120"/>
              </a:rPr>
              <a:t>"For 220 associates; upbeat tone…"</a:t>
            </a:r>
            <a:endParaRPr lang="en-US" sz="1050" dirty="0"/>
          </a:p>
        </p:txBody>
      </p:sp>
      <p:sp>
        <p:nvSpPr>
          <p:cNvPr id="26" name="Shape 24"/>
          <p:cNvSpPr/>
          <p:nvPr/>
        </p:nvSpPr>
        <p:spPr>
          <a:xfrm>
            <a:off x="7364578" y="1965960"/>
            <a:ext cx="1991563" cy="3657600"/>
          </a:xfrm>
          <a:prstGeom prst="roundRect">
            <a:avLst>
              <a:gd name="adj" fmla="val 4132"/>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7" name="Shape 25"/>
          <p:cNvSpPr/>
          <p:nvPr/>
        </p:nvSpPr>
        <p:spPr>
          <a:xfrm>
            <a:off x="8108899" y="2240280"/>
            <a:ext cx="502920" cy="502920"/>
          </a:xfrm>
          <a:prstGeom prst="ellipse">
            <a:avLst/>
          </a:prstGeom>
          <a:solidFill>
            <a:srgbClr val="D31242"/>
          </a:solidFill>
          <a:ln/>
        </p:spPr>
      </p:sp>
      <p:sp>
        <p:nvSpPr>
          <p:cNvPr id="28" name="Text 26"/>
          <p:cNvSpPr/>
          <p:nvPr/>
        </p:nvSpPr>
        <p:spPr>
          <a:xfrm>
            <a:off x="8108899" y="224028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9" name="Text 27"/>
          <p:cNvSpPr/>
          <p:nvPr/>
        </p:nvSpPr>
        <p:spPr>
          <a:xfrm>
            <a:off x="7456018" y="2880360"/>
            <a:ext cx="1808683" cy="365760"/>
          </a:xfrm>
          <a:prstGeom prst="rect">
            <a:avLst/>
          </a:prstGeom>
          <a:noFill/>
          <a:ln/>
        </p:spPr>
        <p:txBody>
          <a:bodyPr wrap="square"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Format</a:t>
            </a:r>
            <a:endParaRPr lang="en-US" sz="1600" dirty="0"/>
          </a:p>
        </p:txBody>
      </p:sp>
      <p:sp>
        <p:nvSpPr>
          <p:cNvPr id="30" name="Text 28"/>
          <p:cNvSpPr/>
          <p:nvPr/>
        </p:nvSpPr>
        <p:spPr>
          <a:xfrm>
            <a:off x="7492594" y="3264408"/>
            <a:ext cx="1735531" cy="731520"/>
          </a:xfrm>
          <a:prstGeom prst="rect">
            <a:avLst/>
          </a:prstGeom>
          <a:noFill/>
          <a:ln/>
        </p:spPr>
        <p:txBody>
          <a:bodyPr wrap="square" rtlCol="0" anchor="ctr"/>
          <a:lstStyle/>
          <a:p>
            <a:pPr algn="ctr" indent="0" marL="0">
              <a:lnSpc>
                <a:spcPts val="1500"/>
              </a:lnSpc>
              <a:buNone/>
            </a:pPr>
            <a:r>
              <a:rPr lang="en-US" sz="1150" dirty="0">
                <a:solidFill>
                  <a:srgbClr val="3A4452"/>
                </a:solidFill>
                <a:latin typeface="Arial" pitchFamily="34" charset="0"/>
                <a:ea typeface="Arial" pitchFamily="34" charset="-122"/>
                <a:cs typeface="Arial" pitchFamily="34" charset="-120"/>
              </a:rPr>
              <a:t>Shape of the output</a:t>
            </a:r>
            <a:endParaRPr lang="en-US" sz="1150" dirty="0"/>
          </a:p>
        </p:txBody>
      </p:sp>
      <p:sp>
        <p:nvSpPr>
          <p:cNvPr id="31" name="Shape 29"/>
          <p:cNvSpPr/>
          <p:nvPr/>
        </p:nvSpPr>
        <p:spPr>
          <a:xfrm>
            <a:off x="7593178" y="4023360"/>
            <a:ext cx="1534363" cy="0"/>
          </a:xfrm>
          <a:prstGeom prst="line">
            <a:avLst/>
          </a:prstGeom>
          <a:noFill/>
          <a:ln w="12700">
            <a:solidFill>
              <a:srgbClr val="E7E9EE"/>
            </a:solidFill>
            <a:prstDash val="solid"/>
          </a:ln>
        </p:spPr>
      </p:sp>
      <p:sp>
        <p:nvSpPr>
          <p:cNvPr id="32" name="Text 30"/>
          <p:cNvSpPr/>
          <p:nvPr/>
        </p:nvSpPr>
        <p:spPr>
          <a:xfrm>
            <a:off x="7492594" y="4114800"/>
            <a:ext cx="1735531" cy="1371600"/>
          </a:xfrm>
          <a:prstGeom prst="rect">
            <a:avLst/>
          </a:prstGeom>
          <a:noFill/>
          <a:ln/>
        </p:spPr>
        <p:txBody>
          <a:bodyPr wrap="square" rtlCol="0" anchor="ctr"/>
          <a:lstStyle/>
          <a:p>
            <a:pPr algn="ctr" indent="0" marL="0">
              <a:lnSpc>
                <a:spcPts val="1400"/>
              </a:lnSpc>
              <a:buNone/>
            </a:pPr>
            <a:r>
              <a:rPr lang="en-US" sz="1050" i="1" dirty="0">
                <a:solidFill>
                  <a:srgbClr val="5E6A78"/>
                </a:solidFill>
                <a:latin typeface="Arial" pitchFamily="34" charset="0"/>
                <a:ea typeface="Arial" pitchFamily="34" charset="-122"/>
                <a:cs typeface="Arial" pitchFamily="34" charset="-120"/>
              </a:rPr>
              <a:t>"3 short sections + a bulleted list."</a:t>
            </a:r>
            <a:endParaRPr lang="en-US" sz="1050" dirty="0"/>
          </a:p>
        </p:txBody>
      </p:sp>
      <p:sp>
        <p:nvSpPr>
          <p:cNvPr id="33" name="Shape 31"/>
          <p:cNvSpPr/>
          <p:nvPr/>
        </p:nvSpPr>
        <p:spPr>
          <a:xfrm>
            <a:off x="9630461" y="1965960"/>
            <a:ext cx="1991563" cy="3657600"/>
          </a:xfrm>
          <a:prstGeom prst="roundRect">
            <a:avLst>
              <a:gd name="adj" fmla="val 4132"/>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34" name="Shape 32"/>
          <p:cNvSpPr/>
          <p:nvPr/>
        </p:nvSpPr>
        <p:spPr>
          <a:xfrm>
            <a:off x="10374782" y="2240280"/>
            <a:ext cx="502920" cy="502920"/>
          </a:xfrm>
          <a:prstGeom prst="ellipse">
            <a:avLst/>
          </a:prstGeom>
          <a:solidFill>
            <a:srgbClr val="D31242"/>
          </a:solidFill>
          <a:ln/>
        </p:spPr>
      </p:sp>
      <p:sp>
        <p:nvSpPr>
          <p:cNvPr id="35" name="Text 33"/>
          <p:cNvSpPr/>
          <p:nvPr/>
        </p:nvSpPr>
        <p:spPr>
          <a:xfrm>
            <a:off x="10374782" y="224028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36" name="Text 34"/>
          <p:cNvSpPr/>
          <p:nvPr/>
        </p:nvSpPr>
        <p:spPr>
          <a:xfrm>
            <a:off x="9721901" y="2880360"/>
            <a:ext cx="1808683" cy="365760"/>
          </a:xfrm>
          <a:prstGeom prst="rect">
            <a:avLst/>
          </a:prstGeom>
          <a:noFill/>
          <a:ln/>
        </p:spPr>
        <p:txBody>
          <a:bodyPr wrap="square"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Constraints</a:t>
            </a:r>
            <a:endParaRPr lang="en-US" sz="1600" dirty="0"/>
          </a:p>
        </p:txBody>
      </p:sp>
      <p:sp>
        <p:nvSpPr>
          <p:cNvPr id="37" name="Text 35"/>
          <p:cNvSpPr/>
          <p:nvPr/>
        </p:nvSpPr>
        <p:spPr>
          <a:xfrm>
            <a:off x="9758477" y="3264408"/>
            <a:ext cx="1735531" cy="731520"/>
          </a:xfrm>
          <a:prstGeom prst="rect">
            <a:avLst/>
          </a:prstGeom>
          <a:noFill/>
          <a:ln/>
        </p:spPr>
        <p:txBody>
          <a:bodyPr wrap="square" rtlCol="0" anchor="ctr"/>
          <a:lstStyle/>
          <a:p>
            <a:pPr algn="ctr" indent="0" marL="0">
              <a:lnSpc>
                <a:spcPts val="1500"/>
              </a:lnSpc>
              <a:buNone/>
            </a:pPr>
            <a:r>
              <a:rPr lang="en-US" sz="1150" dirty="0">
                <a:solidFill>
                  <a:srgbClr val="3A4452"/>
                </a:solidFill>
                <a:latin typeface="Arial" pitchFamily="34" charset="0"/>
                <a:ea typeface="Arial" pitchFamily="34" charset="-122"/>
                <a:cs typeface="Arial" pitchFamily="34" charset="-120"/>
              </a:rPr>
              <a:t>Limits &amp; must-haves</a:t>
            </a:r>
            <a:endParaRPr lang="en-US" sz="1150" dirty="0"/>
          </a:p>
        </p:txBody>
      </p:sp>
      <p:sp>
        <p:nvSpPr>
          <p:cNvPr id="38" name="Shape 36"/>
          <p:cNvSpPr/>
          <p:nvPr/>
        </p:nvSpPr>
        <p:spPr>
          <a:xfrm>
            <a:off x="9859061" y="4023360"/>
            <a:ext cx="1534363" cy="0"/>
          </a:xfrm>
          <a:prstGeom prst="line">
            <a:avLst/>
          </a:prstGeom>
          <a:noFill/>
          <a:ln w="12700">
            <a:solidFill>
              <a:srgbClr val="E7E9EE"/>
            </a:solidFill>
            <a:prstDash val="solid"/>
          </a:ln>
        </p:spPr>
      </p:sp>
      <p:sp>
        <p:nvSpPr>
          <p:cNvPr id="39" name="Text 37"/>
          <p:cNvSpPr/>
          <p:nvPr/>
        </p:nvSpPr>
        <p:spPr>
          <a:xfrm>
            <a:off x="9758477" y="4114800"/>
            <a:ext cx="1735531" cy="1371600"/>
          </a:xfrm>
          <a:prstGeom prst="rect">
            <a:avLst/>
          </a:prstGeom>
          <a:noFill/>
          <a:ln/>
        </p:spPr>
        <p:txBody>
          <a:bodyPr wrap="square" rtlCol="0" anchor="ctr"/>
          <a:lstStyle/>
          <a:p>
            <a:pPr algn="ctr" indent="0" marL="0">
              <a:lnSpc>
                <a:spcPts val="1400"/>
              </a:lnSpc>
              <a:buNone/>
            </a:pPr>
            <a:r>
              <a:rPr lang="en-US" sz="1050" i="1" dirty="0">
                <a:solidFill>
                  <a:srgbClr val="5E6A78"/>
                </a:solidFill>
                <a:latin typeface="Arial" pitchFamily="34" charset="0"/>
                <a:ea typeface="Arial" pitchFamily="34" charset="-122"/>
                <a:cs typeface="Arial" pitchFamily="34" charset="-120"/>
              </a:rPr>
              <a:t>"Under 250 words. Plain English."</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PARTS 1 &amp; 2</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Role &amp; Task — the who and the what</a:t>
            </a:r>
            <a:endParaRPr lang="en-US" sz="2900" dirty="0"/>
          </a:p>
        </p:txBody>
      </p:sp>
      <p:sp>
        <p:nvSpPr>
          <p:cNvPr id="4" name="Shape 2"/>
          <p:cNvSpPr/>
          <p:nvPr/>
        </p:nvSpPr>
        <p:spPr>
          <a:xfrm>
            <a:off x="566928" y="1600200"/>
            <a:ext cx="5486400" cy="4160520"/>
          </a:xfrm>
          <a:prstGeom prst="roundRect">
            <a:avLst>
              <a:gd name="adj" fmla="val 1978"/>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11480"/>
          </a:xfrm>
          <a:prstGeom prst="rect">
            <a:avLst/>
          </a:prstGeom>
          <a:noFill/>
          <a:ln/>
        </p:spPr>
        <p:txBody>
          <a:bodyPr wrap="square" rtlCol="0" anchor="ctr"/>
          <a:lstStyle/>
          <a:p>
            <a:pPr indent="0" marL="0">
              <a:buNone/>
            </a:pPr>
            <a:r>
              <a:rPr lang="en-US" sz="1800" b="1" dirty="0">
                <a:solidFill>
                  <a:srgbClr val="D31242"/>
                </a:solidFill>
                <a:latin typeface="Arial" pitchFamily="34" charset="0"/>
                <a:ea typeface="Arial" pitchFamily="34" charset="-122"/>
                <a:cs typeface="Arial" pitchFamily="34" charset="-120"/>
              </a:rPr>
              <a:t>Role</a:t>
            </a:r>
            <a:endParaRPr lang="en-US" sz="1800" dirty="0"/>
          </a:p>
        </p:txBody>
      </p:sp>
      <p:sp>
        <p:nvSpPr>
          <p:cNvPr id="6" name="Text 4"/>
          <p:cNvSpPr/>
          <p:nvPr/>
        </p:nvSpPr>
        <p:spPr>
          <a:xfrm>
            <a:off x="841248" y="2286000"/>
            <a:ext cx="4983480" cy="3291840"/>
          </a:xfrm>
          <a:prstGeom prst="rect">
            <a:avLst/>
          </a:prstGeom>
          <a:noFill/>
          <a:ln/>
        </p:spPr>
        <p:txBody>
          <a:bodyPr wrap="square" rtlCol="0" anchor="t"/>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The hat to wear — focuses tone and vocabulary.</a:t>
            </a:r>
            <a:endParaRPr lang="en-US" sz="1350" dirty="0"/>
          </a:p>
          <a:p>
            <a:pPr indent="0" marL="0">
              <a:lnSpc>
                <a:spcPts val="1900"/>
              </a:lnSpc>
              <a:buNone/>
            </a:pPr>
            <a:endParaRPr lang="en-US" sz="1350" dirty="0"/>
          </a:p>
          <a:p>
            <a:pPr indent="0" marL="0">
              <a:lnSpc>
                <a:spcPts val="1900"/>
              </a:lnSpc>
              <a:buNone/>
            </a:pPr>
            <a:r>
              <a:rPr lang="en-US" sz="1350" b="1" dirty="0">
                <a:solidFill>
                  <a:srgbClr val="B91C1C"/>
                </a:solidFill>
                <a:latin typeface="Arial" pitchFamily="34" charset="0"/>
                <a:ea typeface="Arial" pitchFamily="34" charset="-122"/>
                <a:cs typeface="Arial" pitchFamily="34" charset="-120"/>
              </a:rPr>
              <a:t>Weak: </a:t>
            </a:r>
            <a:pPr indent="0" marL="0">
              <a:lnSpc>
                <a:spcPts val="1900"/>
              </a:lnSpc>
              <a:buNone/>
            </a:pPr>
            <a:r>
              <a:rPr lang="en-US" sz="1350" i="1" dirty="0">
                <a:solidFill>
                  <a:srgbClr val="5E6A78"/>
                </a:solidFill>
                <a:latin typeface="Arial" pitchFamily="34" charset="0"/>
                <a:ea typeface="Arial" pitchFamily="34" charset="-122"/>
                <a:cs typeface="Arial" pitchFamily="34" charset="-120"/>
              </a:rPr>
              <a:t>"Write something about safety."</a:t>
            </a:r>
            <a:endParaRPr lang="en-US" sz="1350" dirty="0"/>
          </a:p>
          <a:p>
            <a:pPr indent="0" marL="0">
              <a:lnSpc>
                <a:spcPts val="1900"/>
              </a:lnSpc>
              <a:buNone/>
            </a:pPr>
            <a:r>
              <a:rPr lang="en-US" sz="1350" b="1" dirty="0">
                <a:solidFill>
                  <a:srgbClr val="15803D"/>
                </a:solidFill>
                <a:latin typeface="Arial" pitchFamily="34" charset="0"/>
                <a:ea typeface="Arial" pitchFamily="34" charset="-122"/>
                <a:cs typeface="Arial" pitchFamily="34" charset="-120"/>
              </a:rPr>
              <a:t>Strong: </a:t>
            </a:r>
            <a:pPr indent="0" marL="0">
              <a:lnSpc>
                <a:spcPts val="1900"/>
              </a:lnSpc>
              <a:buNone/>
            </a:pPr>
            <a:r>
              <a:rPr lang="en-US" sz="1350" i="1" dirty="0">
                <a:solidFill>
                  <a:srgbClr val="1F2733"/>
                </a:solidFill>
                <a:latin typeface="Arial" pitchFamily="34" charset="0"/>
                <a:ea typeface="Arial" pitchFamily="34" charset="-122"/>
                <a:cs typeface="Arial" pitchFamily="34" charset="-120"/>
              </a:rPr>
              <a:t>"You are a BJ's club safety lead writing to frontline associates."</a:t>
            </a:r>
            <a:endParaRPr lang="en-US" sz="1350" dirty="0"/>
          </a:p>
        </p:txBody>
      </p:sp>
      <p:sp>
        <p:nvSpPr>
          <p:cNvPr id="7" name="Shape 5"/>
          <p:cNvSpPr/>
          <p:nvPr/>
        </p:nvSpPr>
        <p:spPr>
          <a:xfrm>
            <a:off x="6355080" y="1600200"/>
            <a:ext cx="5486400" cy="4160520"/>
          </a:xfrm>
          <a:prstGeom prst="roundRect">
            <a:avLst>
              <a:gd name="adj" fmla="val 1978"/>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828800"/>
            <a:ext cx="4937760" cy="411480"/>
          </a:xfrm>
          <a:prstGeom prst="rect">
            <a:avLst/>
          </a:prstGeom>
          <a:noFill/>
          <a:ln/>
        </p:spPr>
        <p:txBody>
          <a:bodyPr wrap="square" rtlCol="0" anchor="ctr"/>
          <a:lstStyle/>
          <a:p>
            <a:pPr indent="0" marL="0">
              <a:buNone/>
            </a:pPr>
            <a:r>
              <a:rPr lang="en-US" sz="1800" b="1" dirty="0">
                <a:solidFill>
                  <a:srgbClr val="D31242"/>
                </a:solidFill>
                <a:latin typeface="Arial" pitchFamily="34" charset="0"/>
                <a:ea typeface="Arial" pitchFamily="34" charset="-122"/>
                <a:cs typeface="Arial" pitchFamily="34" charset="-120"/>
              </a:rPr>
              <a:t>Task</a:t>
            </a:r>
            <a:endParaRPr lang="en-US" sz="1800" dirty="0"/>
          </a:p>
        </p:txBody>
      </p:sp>
      <p:sp>
        <p:nvSpPr>
          <p:cNvPr id="9" name="Text 7"/>
          <p:cNvSpPr/>
          <p:nvPr/>
        </p:nvSpPr>
        <p:spPr>
          <a:xfrm>
            <a:off x="6629400" y="2286000"/>
            <a:ext cx="4983480" cy="3291840"/>
          </a:xfrm>
          <a:prstGeom prst="rect">
            <a:avLst/>
          </a:prstGeom>
          <a:noFill/>
          <a:ln/>
        </p:spPr>
        <p:txBody>
          <a:bodyPr wrap="square" rtlCol="0" anchor="t"/>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The one specific thing — use an action verb: draft, summarize, compare, rewrite, list.</a:t>
            </a:r>
            <a:endParaRPr lang="en-US" sz="1350" dirty="0"/>
          </a:p>
          <a:p>
            <a:pPr indent="0" marL="0">
              <a:lnSpc>
                <a:spcPts val="1900"/>
              </a:lnSpc>
              <a:buNone/>
            </a:pPr>
            <a:endParaRPr lang="en-US" sz="1350" dirty="0"/>
          </a:p>
          <a:p>
            <a:pPr indent="0" marL="0">
              <a:lnSpc>
                <a:spcPts val="1900"/>
              </a:lnSpc>
              <a:buNone/>
            </a:pPr>
            <a:r>
              <a:rPr lang="en-US" sz="1350" b="1" dirty="0">
                <a:solidFill>
                  <a:srgbClr val="B91C1C"/>
                </a:solidFill>
                <a:latin typeface="Arial" pitchFamily="34" charset="0"/>
                <a:ea typeface="Arial" pitchFamily="34" charset="-122"/>
                <a:cs typeface="Arial" pitchFamily="34" charset="-120"/>
              </a:rPr>
              <a:t>Weak: </a:t>
            </a:r>
            <a:pPr indent="0" marL="0">
              <a:lnSpc>
                <a:spcPts val="1900"/>
              </a:lnSpc>
              <a:buNone/>
            </a:pPr>
            <a:r>
              <a:rPr lang="en-US" sz="1350" i="1" dirty="0">
                <a:solidFill>
                  <a:srgbClr val="5E6A78"/>
                </a:solidFill>
                <a:latin typeface="Arial" pitchFamily="34" charset="0"/>
                <a:ea typeface="Arial" pitchFamily="34" charset="-122"/>
                <a:cs typeface="Arial" pitchFamily="34" charset="-120"/>
              </a:rPr>
              <a:t>"Help me with the schedule."</a:t>
            </a:r>
            <a:endParaRPr lang="en-US" sz="1350" dirty="0"/>
          </a:p>
          <a:p>
            <a:pPr indent="0" marL="0">
              <a:lnSpc>
                <a:spcPts val="1900"/>
              </a:lnSpc>
              <a:buNone/>
            </a:pPr>
            <a:r>
              <a:rPr lang="en-US" sz="1350" b="1" dirty="0">
                <a:solidFill>
                  <a:srgbClr val="15803D"/>
                </a:solidFill>
                <a:latin typeface="Arial" pitchFamily="34" charset="0"/>
                <a:ea typeface="Arial" pitchFamily="34" charset="-122"/>
                <a:cs typeface="Arial" pitchFamily="34" charset="-120"/>
              </a:rPr>
              <a:t>Strong: </a:t>
            </a:r>
            <a:pPr indent="0" marL="0">
              <a:lnSpc>
                <a:spcPts val="1900"/>
              </a:lnSpc>
              <a:buNone/>
            </a:pPr>
            <a:r>
              <a:rPr lang="en-US" sz="1350" i="1" dirty="0">
                <a:solidFill>
                  <a:srgbClr val="1F2733"/>
                </a:solidFill>
                <a:latin typeface="Arial" pitchFamily="34" charset="0"/>
                <a:ea typeface="Arial" pitchFamily="34" charset="-122"/>
                <a:cs typeface="Arial" pitchFamily="34" charset="-120"/>
              </a:rPr>
              <a:t>"Draft an email asking the team to confirm holiday availability by Friday."</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PART 3</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Context — give it what only you know</a:t>
            </a:r>
            <a:endParaRPr lang="en-US" sz="2900" dirty="0"/>
          </a:p>
        </p:txBody>
      </p:sp>
      <p:sp>
        <p:nvSpPr>
          <p:cNvPr id="4" name="Shape 2"/>
          <p:cNvSpPr/>
          <p:nvPr/>
        </p:nvSpPr>
        <p:spPr>
          <a:xfrm>
            <a:off x="566928" y="1600200"/>
            <a:ext cx="5486400" cy="4160520"/>
          </a:xfrm>
          <a:prstGeom prst="roundRect">
            <a:avLst>
              <a:gd name="adj" fmla="val 1978"/>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11480"/>
          </a:xfrm>
          <a:prstGeom prst="rect">
            <a:avLst/>
          </a:prstGeom>
          <a:noFill/>
          <a:ln/>
        </p:spPr>
        <p:txBody>
          <a:bodyPr wrap="square" rtlCol="0" anchor="ctr"/>
          <a:lstStyle/>
          <a:p>
            <a:pPr indent="0" marL="0">
              <a:buNone/>
            </a:pPr>
            <a:r>
              <a:rPr lang="en-US" sz="1650" b="1" dirty="0">
                <a:solidFill>
                  <a:srgbClr val="1F2733"/>
                </a:solidFill>
                <a:latin typeface="Arial" pitchFamily="34" charset="0"/>
                <a:ea typeface="Arial" pitchFamily="34" charset="-122"/>
                <a:cs typeface="Arial" pitchFamily="34" charset="-120"/>
              </a:rPr>
              <a:t>Claude can't read your mind</a:t>
            </a:r>
            <a:endParaRPr lang="en-US" sz="1650" dirty="0"/>
          </a:p>
        </p:txBody>
      </p:sp>
      <p:sp>
        <p:nvSpPr>
          <p:cNvPr id="6" name="Text 4"/>
          <p:cNvSpPr/>
          <p:nvPr/>
        </p:nvSpPr>
        <p:spPr>
          <a:xfrm>
            <a:off x="841248" y="2331720"/>
            <a:ext cx="4983480" cy="3108960"/>
          </a:xfrm>
          <a:prstGeom prst="rect">
            <a:avLst/>
          </a:prstGeom>
          <a:noFill/>
          <a:ln/>
        </p:spPr>
        <p:txBody>
          <a:bodyPr wrap="square" rtlCol="0" anchor="t"/>
          <a:lstStyle/>
          <a:p>
            <a:pPr indent="0" marL="0">
              <a:lnSpc>
                <a:spcPts val="2200"/>
              </a:lnSpc>
              <a:buNone/>
            </a:pPr>
            <a:r>
              <a:rPr lang="en-US" sz="1350" b="1" dirty="0">
                <a:solidFill>
                  <a:srgbClr val="D31242"/>
                </a:solidFill>
                <a:latin typeface="Arial" pitchFamily="34" charset="0"/>
                <a:ea typeface="Arial" pitchFamily="34" charset="-122"/>
                <a:cs typeface="Arial" pitchFamily="34" charset="-120"/>
              </a:rPr>
              <a:t>Audience — </a:t>
            </a:r>
            <a:pPr indent="0" marL="0">
              <a:lnSpc>
                <a:spcPts val="2200"/>
              </a:lnSpc>
              <a:buNone/>
            </a:pPr>
            <a:r>
              <a:rPr lang="en-US" sz="1350" dirty="0">
                <a:solidFill>
                  <a:srgbClr val="3A4452"/>
                </a:solidFill>
                <a:latin typeface="Arial" pitchFamily="34" charset="0"/>
                <a:ea typeface="Arial" pitchFamily="34" charset="-122"/>
                <a:cs typeface="Arial" pitchFamily="34" charset="-120"/>
              </a:rPr>
              <a:t>members, associates, leadership?</a:t>
            </a:r>
            <a:endParaRPr lang="en-US" sz="1350" dirty="0"/>
          </a:p>
          <a:p>
            <a:pPr indent="0" marL="0">
              <a:lnSpc>
                <a:spcPts val="2200"/>
              </a:lnSpc>
              <a:buNone/>
            </a:pPr>
            <a:r>
              <a:rPr lang="en-US" sz="1350" b="1" dirty="0">
                <a:solidFill>
                  <a:srgbClr val="D31242"/>
                </a:solidFill>
                <a:latin typeface="Arial" pitchFamily="34" charset="0"/>
                <a:ea typeface="Arial" pitchFamily="34" charset="-122"/>
                <a:cs typeface="Arial" pitchFamily="34" charset="-120"/>
              </a:rPr>
              <a:t>Purpose — </a:t>
            </a:r>
            <a:pPr indent="0" marL="0">
              <a:lnSpc>
                <a:spcPts val="2200"/>
              </a:lnSpc>
              <a:buNone/>
            </a:pPr>
            <a:r>
              <a:rPr lang="en-US" sz="1350" dirty="0">
                <a:solidFill>
                  <a:srgbClr val="3A4452"/>
                </a:solidFill>
                <a:latin typeface="Arial" pitchFamily="34" charset="0"/>
                <a:ea typeface="Arial" pitchFamily="34" charset="-122"/>
                <a:cs typeface="Arial" pitchFamily="34" charset="-120"/>
              </a:rPr>
              <a:t>what should it accomplish?</a:t>
            </a:r>
            <a:endParaRPr lang="en-US" sz="1350" dirty="0"/>
          </a:p>
          <a:p>
            <a:pPr indent="0" marL="0">
              <a:lnSpc>
                <a:spcPts val="2200"/>
              </a:lnSpc>
              <a:buNone/>
            </a:pPr>
            <a:r>
              <a:rPr lang="en-US" sz="1350" b="1" dirty="0">
                <a:solidFill>
                  <a:srgbClr val="D31242"/>
                </a:solidFill>
                <a:latin typeface="Arial" pitchFamily="34" charset="0"/>
                <a:ea typeface="Arial" pitchFamily="34" charset="-122"/>
                <a:cs typeface="Arial" pitchFamily="34" charset="-120"/>
              </a:rPr>
              <a:t>Background — </a:t>
            </a:r>
            <a:pPr indent="0" marL="0">
              <a:lnSpc>
                <a:spcPts val="2200"/>
              </a:lnSpc>
              <a:buNone/>
            </a:pPr>
            <a:r>
              <a:rPr lang="en-US" sz="1350" dirty="0">
                <a:solidFill>
                  <a:srgbClr val="3A4452"/>
                </a:solidFill>
                <a:latin typeface="Arial" pitchFamily="34" charset="0"/>
                <a:ea typeface="Arial" pitchFamily="34" charset="-122"/>
                <a:cs typeface="Arial" pitchFamily="34" charset="-120"/>
              </a:rPr>
              <a:t>the situation and key facts</a:t>
            </a:r>
            <a:endParaRPr lang="en-US" sz="1350" dirty="0"/>
          </a:p>
          <a:p>
            <a:pPr indent="0" marL="0">
              <a:lnSpc>
                <a:spcPts val="2200"/>
              </a:lnSpc>
              <a:buNone/>
            </a:pPr>
            <a:r>
              <a:rPr lang="en-US" sz="1350" b="1" dirty="0">
                <a:solidFill>
                  <a:srgbClr val="D31242"/>
                </a:solidFill>
                <a:latin typeface="Arial" pitchFamily="34" charset="0"/>
                <a:ea typeface="Arial" pitchFamily="34" charset="-122"/>
                <a:cs typeface="Arial" pitchFamily="34" charset="-120"/>
              </a:rPr>
              <a:t>Source material — </a:t>
            </a:r>
            <a:pPr indent="0" marL="0">
              <a:lnSpc>
                <a:spcPts val="2200"/>
              </a:lnSpc>
              <a:buNone/>
            </a:pPr>
            <a:r>
              <a:rPr lang="en-US" sz="1350" dirty="0">
                <a:solidFill>
                  <a:srgbClr val="3A4452"/>
                </a:solidFill>
                <a:latin typeface="Arial" pitchFamily="34" charset="0"/>
                <a:ea typeface="Arial" pitchFamily="34" charset="-122"/>
                <a:cs typeface="Arial" pitchFamily="34" charset="-120"/>
              </a:rPr>
              <a:t>paste the data, or attach the file</a:t>
            </a:r>
            <a:endParaRPr lang="en-US" sz="1350" dirty="0"/>
          </a:p>
        </p:txBody>
      </p:sp>
      <p:sp>
        <p:nvSpPr>
          <p:cNvPr id="7" name="Shape 5"/>
          <p:cNvSpPr/>
          <p:nvPr/>
        </p:nvSpPr>
        <p:spPr>
          <a:xfrm>
            <a:off x="6355080" y="1600200"/>
            <a:ext cx="5486400" cy="4160520"/>
          </a:xfrm>
          <a:prstGeom prst="roundRect">
            <a:avLst>
              <a:gd name="adj" fmla="val 1978"/>
            </a:avLst>
          </a:prstGeom>
          <a:solidFill>
            <a:srgbClr val="FBF0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828800"/>
            <a:ext cx="4937760" cy="411480"/>
          </a:xfrm>
          <a:prstGeom prst="rect">
            <a:avLst/>
          </a:prstGeom>
          <a:noFill/>
          <a:ln/>
        </p:spPr>
        <p:txBody>
          <a:bodyPr wrap="square" rtlCol="0" anchor="ctr"/>
          <a:lstStyle/>
          <a:p>
            <a:pPr indent="0" marL="0">
              <a:buNone/>
            </a:pPr>
            <a:r>
              <a:rPr lang="en-US" sz="1650" b="1" dirty="0">
                <a:solidFill>
                  <a:srgbClr val="7E0A27"/>
                </a:solidFill>
                <a:latin typeface="Arial" pitchFamily="34" charset="0"/>
                <a:ea typeface="Arial" pitchFamily="34" charset="-122"/>
                <a:cs typeface="Arial" pitchFamily="34" charset="-120"/>
              </a:rPr>
              <a:t>Show, don't make it guess</a:t>
            </a:r>
            <a:endParaRPr lang="en-US" sz="1650" dirty="0"/>
          </a:p>
        </p:txBody>
      </p:sp>
      <p:sp>
        <p:nvSpPr>
          <p:cNvPr id="9" name="Text 7"/>
          <p:cNvSpPr/>
          <p:nvPr/>
        </p:nvSpPr>
        <p:spPr>
          <a:xfrm>
            <a:off x="6629400" y="2331720"/>
            <a:ext cx="4983480" cy="3108960"/>
          </a:xfrm>
          <a:prstGeom prst="rect">
            <a:avLst/>
          </a:prstGeom>
          <a:noFill/>
          <a:ln/>
        </p:spPr>
        <p:txBody>
          <a:bodyPr wrap="square" rtlCol="0" anchor="t"/>
          <a:lstStyle/>
          <a:p>
            <a:pPr indent="0" marL="0">
              <a:lnSpc>
                <a:spcPts val="1900"/>
              </a:lnSpc>
              <a:buNone/>
            </a:pPr>
            <a:r>
              <a:rPr lang="en-US" sz="1350" b="1" dirty="0">
                <a:solidFill>
                  <a:srgbClr val="1F2733"/>
                </a:solidFill>
                <a:latin typeface="Arial" pitchFamily="34" charset="0"/>
                <a:ea typeface="Arial" pitchFamily="34" charset="-122"/>
                <a:cs typeface="Arial" pitchFamily="34" charset="-120"/>
              </a:rPr>
              <a:t>Paste the real material </a:t>
            </a:r>
            <a:pPr indent="0" marL="0">
              <a:lnSpc>
                <a:spcPts val="1900"/>
              </a:lnSpc>
              <a:buNone/>
            </a:pPr>
            <a:r>
              <a:rPr lang="en-US" sz="1350" dirty="0">
                <a:solidFill>
                  <a:srgbClr val="3A4452"/>
                </a:solidFill>
                <a:latin typeface="Arial" pitchFamily="34" charset="0"/>
                <a:ea typeface="Arial" pitchFamily="34" charset="-122"/>
                <a:cs typeface="Arial" pitchFamily="34" charset="-120"/>
              </a:rPr>
              <a:t>instead of describing it — the actual policy text, the real numbers, the email you're replying to.</a:t>
            </a:r>
            <a:endParaRPr lang="en-US" sz="1350" dirty="0"/>
          </a:p>
          <a:p>
            <a:pPr indent="0" marL="0">
              <a:lnSpc>
                <a:spcPts val="1900"/>
              </a:lnSpc>
              <a:buNone/>
            </a:pPr>
            <a:endParaRPr lang="en-US" sz="1350" dirty="0"/>
          </a:p>
          <a:p>
            <a:pPr indent="0" marL="0">
              <a:lnSpc>
                <a:spcPts val="1900"/>
              </a:lnSpc>
              <a:buNone/>
            </a:pPr>
            <a:r>
              <a:rPr lang="en-US" sz="1350" b="1" dirty="0">
                <a:solidFill>
                  <a:srgbClr val="1F2733"/>
                </a:solidFill>
                <a:latin typeface="Arial" pitchFamily="34" charset="0"/>
                <a:ea typeface="Arial" pitchFamily="34" charset="-122"/>
                <a:cs typeface="Arial" pitchFamily="34" charset="-120"/>
              </a:rPr>
              <a:t>The new-hire test: </a:t>
            </a:r>
            <a:pPr indent="0" marL="0">
              <a:lnSpc>
                <a:spcPts val="1900"/>
              </a:lnSpc>
              <a:buNone/>
            </a:pPr>
            <a:r>
              <a:rPr lang="en-US" sz="1350" dirty="0">
                <a:solidFill>
                  <a:srgbClr val="3A4452"/>
                </a:solidFill>
                <a:latin typeface="Arial" pitchFamily="34" charset="0"/>
                <a:ea typeface="Arial" pitchFamily="34" charset="-122"/>
                <a:cs typeface="Arial" pitchFamily="34" charset="-120"/>
              </a:rPr>
              <a:t>if a smart new colleague would need to ask a question before starting, that's context you should include.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PARTS 4 &amp; 5</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Format &amp; Constraints — shape the output</a:t>
            </a:r>
            <a:endParaRPr lang="en-US" sz="2900" dirty="0"/>
          </a:p>
        </p:txBody>
      </p:sp>
      <p:sp>
        <p:nvSpPr>
          <p:cNvPr id="4" name="Shape 2"/>
          <p:cNvSpPr/>
          <p:nvPr/>
        </p:nvSpPr>
        <p:spPr>
          <a:xfrm>
            <a:off x="566928" y="1600200"/>
            <a:ext cx="5486400" cy="4160520"/>
          </a:xfrm>
          <a:prstGeom prst="roundRect">
            <a:avLst>
              <a:gd name="adj" fmla="val 1978"/>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11480"/>
          </a:xfrm>
          <a:prstGeom prst="rect">
            <a:avLst/>
          </a:prstGeom>
          <a:noFill/>
          <a:ln/>
        </p:spPr>
        <p:txBody>
          <a:bodyPr wrap="square" rtlCol="0" anchor="ctr"/>
          <a:lstStyle/>
          <a:p>
            <a:pPr indent="0" marL="0">
              <a:buNone/>
            </a:pPr>
            <a:r>
              <a:rPr lang="en-US" sz="1800" b="1" dirty="0">
                <a:solidFill>
                  <a:srgbClr val="D31242"/>
                </a:solidFill>
                <a:latin typeface="Arial" pitchFamily="34" charset="0"/>
                <a:ea typeface="Arial" pitchFamily="34" charset="-122"/>
                <a:cs typeface="Arial" pitchFamily="34" charset="-120"/>
              </a:rPr>
              <a:t>Format — the shape</a:t>
            </a:r>
            <a:endParaRPr lang="en-US" sz="1800" dirty="0"/>
          </a:p>
        </p:txBody>
      </p:sp>
      <p:sp>
        <p:nvSpPr>
          <p:cNvPr id="6" name="Text 4"/>
          <p:cNvSpPr/>
          <p:nvPr/>
        </p:nvSpPr>
        <p:spPr>
          <a:xfrm>
            <a:off x="841248" y="2286000"/>
            <a:ext cx="4983480" cy="3200400"/>
          </a:xfrm>
          <a:prstGeom prst="rect">
            <a:avLst/>
          </a:prstGeom>
          <a:noFill/>
          <a:ln/>
        </p:spPr>
        <p:txBody>
          <a:bodyPr wrap="square" rtlCol="0" anchor="t"/>
          <a:lstStyle/>
          <a:p>
            <a:pPr indent="0" marL="0">
              <a:lnSpc>
                <a:spcPts val="2000"/>
              </a:lnSpc>
              <a:buNone/>
            </a:pPr>
            <a:r>
              <a:rPr lang="en-US" sz="1350" dirty="0">
                <a:solidFill>
                  <a:srgbClr val="3A4452"/>
                </a:solidFill>
                <a:latin typeface="Arial" pitchFamily="34" charset="0"/>
                <a:ea typeface="Arial" pitchFamily="34" charset="-122"/>
                <a:cs typeface="Arial" pitchFamily="34" charset="-120"/>
              </a:rPr>
              <a:t>How to lay it out: a table · bullets · a short email · numbered steps · 3 sections with headers.</a:t>
            </a:r>
            <a:endParaRPr lang="en-US" sz="1350" dirty="0"/>
          </a:p>
          <a:p>
            <a:pPr indent="0" marL="0">
              <a:lnSpc>
                <a:spcPts val="2000"/>
              </a:lnSpc>
              <a:buNone/>
            </a:pPr>
            <a:endParaRPr lang="en-US" sz="1350" dirty="0"/>
          </a:p>
          <a:p>
            <a:pPr indent="0" marL="0">
              <a:lnSpc>
                <a:spcPts val="2000"/>
              </a:lnSpc>
              <a:buNone/>
            </a:pPr>
            <a:r>
              <a:rPr lang="en-US" sz="1350" i="1" dirty="0">
                <a:solidFill>
                  <a:srgbClr val="15803D"/>
                </a:solidFill>
                <a:latin typeface="Arial" pitchFamily="34" charset="0"/>
                <a:ea typeface="Arial" pitchFamily="34" charset="-122"/>
                <a:cs typeface="Arial" pitchFamily="34" charset="-120"/>
              </a:rPr>
              <a:t>"Put it in a table with columns for Item, Owner, Due date."</a:t>
            </a:r>
            <a:endParaRPr lang="en-US" sz="1350" dirty="0"/>
          </a:p>
        </p:txBody>
      </p:sp>
      <p:sp>
        <p:nvSpPr>
          <p:cNvPr id="7" name="Shape 5"/>
          <p:cNvSpPr/>
          <p:nvPr/>
        </p:nvSpPr>
        <p:spPr>
          <a:xfrm>
            <a:off x="6355080" y="1600200"/>
            <a:ext cx="5486400" cy="4160520"/>
          </a:xfrm>
          <a:prstGeom prst="roundRect">
            <a:avLst>
              <a:gd name="adj" fmla="val 1978"/>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828800"/>
            <a:ext cx="4937760" cy="411480"/>
          </a:xfrm>
          <a:prstGeom prst="rect">
            <a:avLst/>
          </a:prstGeom>
          <a:noFill/>
          <a:ln/>
        </p:spPr>
        <p:txBody>
          <a:bodyPr wrap="square" rtlCol="0" anchor="ctr"/>
          <a:lstStyle/>
          <a:p>
            <a:pPr indent="0" marL="0">
              <a:buNone/>
            </a:pPr>
            <a:r>
              <a:rPr lang="en-US" sz="1800" b="1" dirty="0">
                <a:solidFill>
                  <a:srgbClr val="D31242"/>
                </a:solidFill>
                <a:latin typeface="Arial" pitchFamily="34" charset="0"/>
                <a:ea typeface="Arial" pitchFamily="34" charset="-122"/>
                <a:cs typeface="Arial" pitchFamily="34" charset="-120"/>
              </a:rPr>
              <a:t>Constraints — the guardrails</a:t>
            </a:r>
            <a:endParaRPr lang="en-US" sz="1800" dirty="0"/>
          </a:p>
        </p:txBody>
      </p:sp>
      <p:sp>
        <p:nvSpPr>
          <p:cNvPr id="9" name="Text 7"/>
          <p:cNvSpPr/>
          <p:nvPr/>
        </p:nvSpPr>
        <p:spPr>
          <a:xfrm>
            <a:off x="6629400" y="2286000"/>
            <a:ext cx="4983480" cy="3200400"/>
          </a:xfrm>
          <a:prstGeom prst="rect">
            <a:avLst/>
          </a:prstGeom>
          <a:noFill/>
          <a:ln/>
        </p:spPr>
        <p:txBody>
          <a:bodyPr wrap="square" rtlCol="0" anchor="t"/>
          <a:lstStyle/>
          <a:p>
            <a:pPr indent="0" marL="0">
              <a:lnSpc>
                <a:spcPts val="2000"/>
              </a:lnSpc>
              <a:buNone/>
            </a:pPr>
            <a:r>
              <a:rPr lang="en-US" sz="1350" dirty="0">
                <a:solidFill>
                  <a:srgbClr val="3A4452"/>
                </a:solidFill>
                <a:latin typeface="Arial" pitchFamily="34" charset="0"/>
                <a:ea typeface="Arial" pitchFamily="34" charset="-122"/>
                <a:cs typeface="Arial" pitchFamily="34" charset="-120"/>
              </a:rPr>
              <a:t>Limits &amp; must-haves: length · reading level · tone · what to include or avoid.</a:t>
            </a:r>
            <a:endParaRPr lang="en-US" sz="1350" dirty="0"/>
          </a:p>
          <a:p>
            <a:pPr indent="0" marL="0">
              <a:lnSpc>
                <a:spcPts val="2000"/>
              </a:lnSpc>
              <a:buNone/>
            </a:pPr>
            <a:endParaRPr lang="en-US" sz="1350" dirty="0"/>
          </a:p>
          <a:p>
            <a:pPr indent="0" marL="0">
              <a:lnSpc>
                <a:spcPts val="2000"/>
              </a:lnSpc>
              <a:buNone/>
            </a:pPr>
            <a:r>
              <a:rPr lang="en-US" sz="1350" i="1" dirty="0">
                <a:solidFill>
                  <a:srgbClr val="15803D"/>
                </a:solidFill>
                <a:latin typeface="Arial" pitchFamily="34" charset="0"/>
                <a:ea typeface="Arial" pitchFamily="34" charset="-122"/>
                <a:cs typeface="Arial" pitchFamily="34" charset="-120"/>
              </a:rPr>
              <a:t>"Under 150 words, friendly tone, no acronyms, don't mention pricing."</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A BEGINNER POWER-HABIT</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Ask Claude to ask YOU questions first</a:t>
            </a:r>
            <a:endParaRPr lang="en-US" sz="2900" dirty="0"/>
          </a:p>
        </p:txBody>
      </p:sp>
      <p:sp>
        <p:nvSpPr>
          <p:cNvPr id="4" name="Shape 2"/>
          <p:cNvSpPr/>
          <p:nvPr/>
        </p:nvSpPr>
        <p:spPr>
          <a:xfrm>
            <a:off x="566928" y="1554480"/>
            <a:ext cx="10469880" cy="1234440"/>
          </a:xfrm>
          <a:prstGeom prst="roundRect">
            <a:avLst>
              <a:gd name="adj" fmla="val 6667"/>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691640"/>
            <a:ext cx="10058400" cy="914400"/>
          </a:xfrm>
          <a:prstGeom prst="rect">
            <a:avLst/>
          </a:prstGeom>
          <a:noFill/>
          <a:ln/>
        </p:spPr>
        <p:txBody>
          <a:bodyPr wrap="square" rtlCol="0" anchor="ctr"/>
          <a:lstStyle/>
          <a:p>
            <a:pPr indent="0" marL="0">
              <a:lnSpc>
                <a:spcPts val="2100"/>
              </a:lnSpc>
              <a:buNone/>
            </a:pPr>
            <a:r>
              <a:rPr lang="en-US" sz="1500" dirty="0">
                <a:solidFill>
                  <a:srgbClr val="1F2733"/>
                </a:solidFill>
                <a:latin typeface="Arial" pitchFamily="34" charset="0"/>
                <a:ea typeface="Arial" pitchFamily="34" charset="-122"/>
                <a:cs typeface="Arial" pitchFamily="34" charset="-120"/>
              </a:rPr>
              <a:t>Add this line to a request:  </a:t>
            </a:r>
            <a:pPr indent="0" marL="0">
              <a:lnSpc>
                <a:spcPts val="2100"/>
              </a:lnSpc>
              <a:buNone/>
            </a:pPr>
            <a:r>
              <a:rPr lang="en-US" sz="1500" b="1" i="1" dirty="0">
                <a:solidFill>
                  <a:srgbClr val="7E0A27"/>
                </a:solidFill>
                <a:latin typeface="Arial" pitchFamily="34" charset="0"/>
                <a:ea typeface="Arial" pitchFamily="34" charset="-122"/>
                <a:cs typeface="Arial" pitchFamily="34" charset="-120"/>
              </a:rPr>
              <a:t>"Before answering, ask me up to 3 clarifying questions if anything is unclear."</a:t>
            </a:r>
            <a:endParaRPr lang="en-US" sz="1500" dirty="0"/>
          </a:p>
        </p:txBody>
      </p:sp>
      <p:sp>
        <p:nvSpPr>
          <p:cNvPr id="6" name="Shape 4"/>
          <p:cNvSpPr/>
          <p:nvPr/>
        </p:nvSpPr>
        <p:spPr>
          <a:xfrm>
            <a:off x="566928" y="2971800"/>
            <a:ext cx="5120640" cy="2834640"/>
          </a:xfrm>
          <a:prstGeom prst="roundRect">
            <a:avLst>
              <a:gd name="adj" fmla="val 2903"/>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7" name="Text 5"/>
          <p:cNvSpPr/>
          <p:nvPr/>
        </p:nvSpPr>
        <p:spPr>
          <a:xfrm>
            <a:off x="841248" y="3154680"/>
            <a:ext cx="4572000" cy="365760"/>
          </a:xfrm>
          <a:prstGeom prst="rect">
            <a:avLst/>
          </a:prstGeom>
          <a:noFill/>
          <a:ln/>
        </p:spPr>
        <p:txBody>
          <a:bodyPr wrap="square" rtlCol="0" anchor="ctr"/>
          <a:lstStyle/>
          <a:p>
            <a:pPr indent="0" marL="0">
              <a:buNone/>
            </a:pPr>
            <a:r>
              <a:rPr lang="en-US" sz="1400" b="1" dirty="0">
                <a:solidFill>
                  <a:srgbClr val="1F2733"/>
                </a:solidFill>
                <a:latin typeface="Arial" pitchFamily="34" charset="0"/>
                <a:ea typeface="Arial" pitchFamily="34" charset="-122"/>
                <a:cs typeface="Arial" pitchFamily="34" charset="-120"/>
              </a:rPr>
              <a:t>Use it when guessing would create rework:</a:t>
            </a:r>
            <a:endParaRPr lang="en-US" sz="1400" dirty="0"/>
          </a:p>
        </p:txBody>
      </p:sp>
      <p:sp>
        <p:nvSpPr>
          <p:cNvPr id="8" name="Text 6"/>
          <p:cNvSpPr/>
          <p:nvPr/>
        </p:nvSpPr>
        <p:spPr>
          <a:xfrm>
            <a:off x="886968" y="3566160"/>
            <a:ext cx="4663440" cy="2103120"/>
          </a:xfrm>
          <a:prstGeom prst="rect">
            <a:avLst/>
          </a:prstGeom>
          <a:noFill/>
          <a:ln/>
        </p:spPr>
        <p:txBody>
          <a:bodyPr wrap="square" rtlCol="0" anchor="t"/>
          <a:lstStyle/>
          <a:p>
            <a:pPr marL="342900" indent="-342900">
              <a:lnSpc>
                <a:spcPts val="2000"/>
              </a:lnSpc>
              <a:buSzPct val="100000"/>
              <a:buChar char="•"/>
            </a:pPr>
            <a:r>
              <a:rPr lang="en-US" sz="1300" dirty="0">
                <a:solidFill>
                  <a:srgbClr val="3A4452"/>
                </a:solidFill>
                <a:latin typeface="Arial" pitchFamily="34" charset="0"/>
                <a:ea typeface="Arial" pitchFamily="34" charset="-122"/>
                <a:cs typeface="Arial" pitchFamily="34" charset="-120"/>
              </a:rPr>
              <a:t>Leadership communications</a:t>
            </a:r>
            <a:endParaRPr lang="en-US" sz="1300" dirty="0"/>
          </a:p>
          <a:p>
            <a:pPr marL="342900" indent="-342900">
              <a:lnSpc>
                <a:spcPts val="2000"/>
              </a:lnSpc>
              <a:buSzPct val="100000"/>
              <a:buChar char="•"/>
            </a:pPr>
            <a:r>
              <a:rPr lang="en-US" sz="1300" dirty="0">
                <a:solidFill>
                  <a:srgbClr val="3A4452"/>
                </a:solidFill>
                <a:latin typeface="Arial" pitchFamily="34" charset="0"/>
                <a:ea typeface="Arial" pitchFamily="34" charset="-122"/>
                <a:cs typeface="Arial" pitchFamily="34" charset="-120"/>
              </a:rPr>
              <a:t>Policy summaries</a:t>
            </a:r>
            <a:endParaRPr lang="en-US" sz="1300" dirty="0"/>
          </a:p>
          <a:p>
            <a:pPr marL="342900" indent="-342900">
              <a:lnSpc>
                <a:spcPts val="2000"/>
              </a:lnSpc>
              <a:buSzPct val="100000"/>
              <a:buChar char="•"/>
            </a:pPr>
            <a:r>
              <a:rPr lang="en-US" sz="1300" dirty="0">
                <a:solidFill>
                  <a:srgbClr val="3A4452"/>
                </a:solidFill>
                <a:latin typeface="Arial" pitchFamily="34" charset="0"/>
                <a:ea typeface="Arial" pitchFamily="34" charset="-122"/>
                <a:cs typeface="Arial" pitchFamily="34" charset="-120"/>
              </a:rPr>
              <a:t>Sensitive or member-facing messages</a:t>
            </a:r>
            <a:endParaRPr lang="en-US" sz="1300" dirty="0"/>
          </a:p>
          <a:p>
            <a:pPr marL="342900" indent="-342900">
              <a:lnSpc>
                <a:spcPts val="2000"/>
              </a:lnSpc>
              <a:buSzPct val="100000"/>
              <a:buChar char="•"/>
            </a:pPr>
            <a:r>
              <a:rPr lang="en-US" sz="1300" dirty="0">
                <a:solidFill>
                  <a:srgbClr val="3A4452"/>
                </a:solidFill>
                <a:latin typeface="Arial" pitchFamily="34" charset="0"/>
                <a:ea typeface="Arial" pitchFamily="34" charset="-122"/>
                <a:cs typeface="Arial" pitchFamily="34" charset="-120"/>
              </a:rPr>
              <a:t>Unclear or open-ended business requests</a:t>
            </a:r>
            <a:endParaRPr lang="en-US" sz="1300" dirty="0"/>
          </a:p>
        </p:txBody>
      </p:sp>
      <p:sp>
        <p:nvSpPr>
          <p:cNvPr id="9" name="Shape 7"/>
          <p:cNvSpPr/>
          <p:nvPr/>
        </p:nvSpPr>
        <p:spPr>
          <a:xfrm>
            <a:off x="5943600" y="2971800"/>
            <a:ext cx="5440680" cy="2834640"/>
          </a:xfrm>
          <a:prstGeom prst="roundRect">
            <a:avLst>
              <a:gd name="adj" fmla="val 2903"/>
            </a:avLst>
          </a:prstGeom>
          <a:solidFill>
            <a:srgbClr val="EAF6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Text 8"/>
          <p:cNvSpPr/>
          <p:nvPr/>
        </p:nvSpPr>
        <p:spPr>
          <a:xfrm>
            <a:off x="6217920" y="3154680"/>
            <a:ext cx="4937760" cy="365760"/>
          </a:xfrm>
          <a:prstGeom prst="rect">
            <a:avLst/>
          </a:prstGeom>
          <a:noFill/>
          <a:ln/>
        </p:spPr>
        <p:txBody>
          <a:bodyPr wrap="square" rtlCol="0" anchor="ctr"/>
          <a:lstStyle/>
          <a:p>
            <a:pPr indent="0" marL="0">
              <a:buNone/>
            </a:pPr>
            <a:r>
              <a:rPr lang="en-US" sz="1400" b="1" dirty="0">
                <a:solidFill>
                  <a:srgbClr val="15803D"/>
                </a:solidFill>
                <a:latin typeface="Arial" pitchFamily="34" charset="0"/>
                <a:ea typeface="Arial" pitchFamily="34" charset="-122"/>
                <a:cs typeface="Arial" pitchFamily="34" charset="-120"/>
              </a:rPr>
              <a:t>Why it works</a:t>
            </a:r>
            <a:endParaRPr lang="en-US" sz="1400" dirty="0"/>
          </a:p>
        </p:txBody>
      </p:sp>
      <p:sp>
        <p:nvSpPr>
          <p:cNvPr id="11" name="Text 9"/>
          <p:cNvSpPr/>
          <p:nvPr/>
        </p:nvSpPr>
        <p:spPr>
          <a:xfrm>
            <a:off x="6217920" y="3566160"/>
            <a:ext cx="4937760" cy="2103120"/>
          </a:xfrm>
          <a:prstGeom prst="rect">
            <a:avLst/>
          </a:prstGeom>
          <a:noFill/>
          <a:ln/>
        </p:spPr>
        <p:txBody>
          <a:bodyPr wrap="square" rtlCol="0" anchor="t"/>
          <a:lstStyle/>
          <a:p>
            <a:pPr indent="0" marL="0">
              <a:lnSpc>
                <a:spcPts val="2000"/>
              </a:lnSpc>
              <a:buNone/>
            </a:pPr>
            <a:r>
              <a:rPr lang="en-US" sz="1350" dirty="0">
                <a:solidFill>
                  <a:srgbClr val="3A4452"/>
                </a:solidFill>
                <a:latin typeface="Arial" pitchFamily="34" charset="0"/>
                <a:ea typeface="Arial" pitchFamily="34" charset="-122"/>
                <a:cs typeface="Arial" pitchFamily="34" charset="-120"/>
              </a:rPr>
              <a:t>It surfaces the missing context before Claude commits to a wrong direction — so you fix the request, not the whole output. One good question up front beats three rounds of edits.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SEE THE DIFFERENCE</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Weak vs. strong — same task</a:t>
            </a:r>
            <a:endParaRPr lang="en-US" sz="2900" dirty="0"/>
          </a:p>
        </p:txBody>
      </p:sp>
      <p:sp>
        <p:nvSpPr>
          <p:cNvPr id="4" name="Shape 2"/>
          <p:cNvSpPr/>
          <p:nvPr/>
        </p:nvSpPr>
        <p:spPr>
          <a:xfrm>
            <a:off x="566928" y="1554480"/>
            <a:ext cx="5486400" cy="4297680"/>
          </a:xfrm>
          <a:prstGeom prst="roundRect">
            <a:avLst>
              <a:gd name="adj" fmla="val 1915"/>
            </a:avLst>
          </a:prstGeom>
          <a:solidFill>
            <a:srgbClr val="FDEC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37360"/>
            <a:ext cx="4937760" cy="320040"/>
          </a:xfrm>
          <a:prstGeom prst="rect">
            <a:avLst/>
          </a:prstGeom>
          <a:noFill/>
          <a:ln/>
        </p:spPr>
        <p:txBody>
          <a:bodyPr wrap="square" rtlCol="0" anchor="ctr"/>
          <a:lstStyle/>
          <a:p>
            <a:pPr indent="0" marL="0">
              <a:buNone/>
            </a:pPr>
            <a:r>
              <a:rPr lang="en-US" sz="1200" b="1" spc="200" kern="0" dirty="0">
                <a:solidFill>
                  <a:srgbClr val="B91C1C"/>
                </a:solidFill>
                <a:latin typeface="Arial" pitchFamily="34" charset="0"/>
                <a:ea typeface="Arial" pitchFamily="34" charset="-122"/>
                <a:cs typeface="Arial" pitchFamily="34" charset="-120"/>
              </a:rPr>
              <a:t>WEAK PROMPT</a:t>
            </a:r>
            <a:endParaRPr lang="en-US" sz="1200" dirty="0"/>
          </a:p>
        </p:txBody>
      </p:sp>
      <p:sp>
        <p:nvSpPr>
          <p:cNvPr id="6" name="Text 4"/>
          <p:cNvSpPr/>
          <p:nvPr/>
        </p:nvSpPr>
        <p:spPr>
          <a:xfrm>
            <a:off x="841248" y="2103120"/>
            <a:ext cx="4983480" cy="868680"/>
          </a:xfrm>
          <a:prstGeom prst="rect">
            <a:avLst/>
          </a:prstGeom>
          <a:noFill/>
          <a:ln/>
        </p:spPr>
        <p:txBody>
          <a:bodyPr wrap="square" rtlCol="0" anchor="ctr"/>
          <a:lstStyle/>
          <a:p>
            <a:pPr indent="0" marL="0">
              <a:lnSpc>
                <a:spcPts val="1900"/>
              </a:lnSpc>
              <a:buNone/>
            </a:pPr>
            <a:r>
              <a:rPr lang="en-US" sz="1400" i="1" dirty="0">
                <a:solidFill>
                  <a:srgbClr val="1F2733"/>
                </a:solidFill>
                <a:latin typeface="Arial" pitchFamily="34" charset="0"/>
                <a:ea typeface="Arial" pitchFamily="34" charset="-122"/>
                <a:cs typeface="Arial" pitchFamily="34" charset="-120"/>
              </a:rPr>
              <a:t>"Write something about the new self-checkout for the club."</a:t>
            </a:r>
            <a:endParaRPr lang="en-US" sz="1400" dirty="0"/>
          </a:p>
        </p:txBody>
      </p:sp>
      <p:sp>
        <p:nvSpPr>
          <p:cNvPr id="7" name="Text 5"/>
          <p:cNvSpPr/>
          <p:nvPr/>
        </p:nvSpPr>
        <p:spPr>
          <a:xfrm>
            <a:off x="841248" y="3108960"/>
            <a:ext cx="4983480" cy="2468880"/>
          </a:xfrm>
          <a:prstGeom prst="rect">
            <a:avLst/>
          </a:prstGeom>
          <a:noFill/>
          <a:ln/>
        </p:spPr>
        <p:txBody>
          <a:bodyPr wrap="square" rtlCol="0" anchor="t"/>
          <a:lstStyle/>
          <a:p>
            <a:pPr indent="0" marL="0">
              <a:lnSpc>
                <a:spcPts val="1900"/>
              </a:lnSpc>
              <a:buNone/>
            </a:pPr>
            <a:r>
              <a:rPr lang="en-US" sz="1300" b="1" dirty="0">
                <a:solidFill>
                  <a:srgbClr val="1F2733"/>
                </a:solidFill>
                <a:latin typeface="Arial" pitchFamily="34" charset="0"/>
                <a:ea typeface="Arial" pitchFamily="34" charset="-122"/>
                <a:cs typeface="Arial" pitchFamily="34" charset="-120"/>
              </a:rPr>
              <a:t>What you get:</a:t>
            </a:r>
            <a:endParaRPr lang="en-US" sz="1300" dirty="0"/>
          </a:p>
          <a:p>
            <a:pPr indent="0" marL="0">
              <a:lnSpc>
                <a:spcPts val="1900"/>
              </a:lnSpc>
              <a:buNone/>
            </a:pPr>
            <a:r>
              <a:rPr lang="en-US" sz="1300" dirty="0">
                <a:solidFill>
                  <a:srgbClr val="3A4452"/>
                </a:solidFill>
                <a:latin typeface="Arial" pitchFamily="34" charset="0"/>
                <a:ea typeface="Arial" pitchFamily="34" charset="-122"/>
                <a:cs typeface="Arial" pitchFamily="34" charset="-120"/>
              </a:rPr>
              <a:t>Generic, unsure who it's for, wrong length and tone — a full rewrite.</a:t>
            </a:r>
            <a:endParaRPr lang="en-US" sz="1300" dirty="0"/>
          </a:p>
        </p:txBody>
      </p:sp>
      <p:sp>
        <p:nvSpPr>
          <p:cNvPr id="8" name="Shape 6"/>
          <p:cNvSpPr/>
          <p:nvPr/>
        </p:nvSpPr>
        <p:spPr>
          <a:xfrm>
            <a:off x="6355080" y="1554480"/>
            <a:ext cx="5486400" cy="4297680"/>
          </a:xfrm>
          <a:prstGeom prst="roundRect">
            <a:avLst>
              <a:gd name="adj" fmla="val 1915"/>
            </a:avLst>
          </a:prstGeom>
          <a:solidFill>
            <a:srgbClr val="EAF6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9" name="Text 7"/>
          <p:cNvSpPr/>
          <p:nvPr/>
        </p:nvSpPr>
        <p:spPr>
          <a:xfrm>
            <a:off x="6629400" y="1737360"/>
            <a:ext cx="4937760" cy="320040"/>
          </a:xfrm>
          <a:prstGeom prst="rect">
            <a:avLst/>
          </a:prstGeom>
          <a:noFill/>
          <a:ln/>
        </p:spPr>
        <p:txBody>
          <a:bodyPr wrap="square" rtlCol="0" anchor="ctr"/>
          <a:lstStyle/>
          <a:p>
            <a:pPr indent="0" marL="0">
              <a:buNone/>
            </a:pPr>
            <a:r>
              <a:rPr lang="en-US" sz="1200" b="1" spc="200" kern="0" dirty="0">
                <a:solidFill>
                  <a:srgbClr val="15803D"/>
                </a:solidFill>
                <a:latin typeface="Arial" pitchFamily="34" charset="0"/>
                <a:ea typeface="Arial" pitchFamily="34" charset="-122"/>
                <a:cs typeface="Arial" pitchFamily="34" charset="-120"/>
              </a:rPr>
              <a:t>STRONG PROMPT</a:t>
            </a:r>
            <a:endParaRPr lang="en-US" sz="1200" dirty="0"/>
          </a:p>
        </p:txBody>
      </p:sp>
      <p:sp>
        <p:nvSpPr>
          <p:cNvPr id="10" name="Text 8"/>
          <p:cNvSpPr/>
          <p:nvPr/>
        </p:nvSpPr>
        <p:spPr>
          <a:xfrm>
            <a:off x="6629400" y="2103120"/>
            <a:ext cx="4983480" cy="2194560"/>
          </a:xfrm>
          <a:prstGeom prst="rect">
            <a:avLst/>
          </a:prstGeom>
          <a:noFill/>
          <a:ln/>
        </p:spPr>
        <p:txBody>
          <a:bodyPr wrap="square" rtlCol="0" anchor="ctr"/>
          <a:lstStyle/>
          <a:p>
            <a:pPr indent="0" marL="0">
              <a:lnSpc>
                <a:spcPts val="1800"/>
              </a:lnSpc>
              <a:buNone/>
            </a:pPr>
            <a:r>
              <a:rPr lang="en-US" sz="1250" i="1" dirty="0">
                <a:solidFill>
                  <a:srgbClr val="1F2733"/>
                </a:solidFill>
                <a:latin typeface="Arial" pitchFamily="34" charset="0"/>
                <a:ea typeface="Arial" pitchFamily="34" charset="-122"/>
                <a:cs typeface="Arial" pitchFamily="34" charset="-120"/>
              </a:rPr>
              <a:t>"You are a club ops lead (role). Draft a short announcement (task) for our 200 associates about new self-checkout lanes opening Monday (context). Friendly heading + 4 bullets (format). Under 120 words, no jargon (constraints)."</a:t>
            </a:r>
            <a:endParaRPr lang="en-US" sz="1250" dirty="0"/>
          </a:p>
        </p:txBody>
      </p:sp>
      <p:sp>
        <p:nvSpPr>
          <p:cNvPr id="11" name="Text 9"/>
          <p:cNvSpPr/>
          <p:nvPr/>
        </p:nvSpPr>
        <p:spPr>
          <a:xfrm>
            <a:off x="6629400" y="4434840"/>
            <a:ext cx="4983480" cy="1188720"/>
          </a:xfrm>
          <a:prstGeom prst="rect">
            <a:avLst/>
          </a:prstGeom>
          <a:noFill/>
          <a:ln/>
        </p:spPr>
        <p:txBody>
          <a:bodyPr wrap="square" rtlCol="0" anchor="t"/>
          <a:lstStyle/>
          <a:p>
            <a:pPr indent="0" marL="0">
              <a:lnSpc>
                <a:spcPts val="1900"/>
              </a:lnSpc>
              <a:buNone/>
            </a:pPr>
            <a:r>
              <a:rPr lang="en-US" sz="1300" b="1" dirty="0">
                <a:solidFill>
                  <a:srgbClr val="1F2733"/>
                </a:solidFill>
                <a:latin typeface="Arial" pitchFamily="34" charset="0"/>
                <a:ea typeface="Arial" pitchFamily="34" charset="-122"/>
                <a:cs typeface="Arial" pitchFamily="34" charset="-120"/>
              </a:rPr>
              <a:t>What you get:</a:t>
            </a:r>
            <a:endParaRPr lang="en-US" sz="1300" dirty="0"/>
          </a:p>
          <a:p>
            <a:pPr indent="0" marL="0">
              <a:lnSpc>
                <a:spcPts val="1900"/>
              </a:lnSpc>
              <a:buNone/>
            </a:pPr>
            <a:r>
              <a:rPr lang="en-US" sz="1300" dirty="0">
                <a:solidFill>
                  <a:srgbClr val="3A4452"/>
                </a:solidFill>
                <a:latin typeface="Arial" pitchFamily="34" charset="0"/>
                <a:ea typeface="Arial" pitchFamily="34" charset="-122"/>
                <a:cs typeface="Arial" pitchFamily="34" charset="-120"/>
              </a:rPr>
              <a:t>On-tone, right length, ready to post with minor edits.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IT'S A CONVERSATION</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Steer it — you don't need a perfect first prompt</a:t>
            </a:r>
            <a:endParaRPr lang="en-US" sz="2900" dirty="0"/>
          </a:p>
        </p:txBody>
      </p:sp>
      <p:sp>
        <p:nvSpPr>
          <p:cNvPr id="4" name="Text 2"/>
          <p:cNvSpPr/>
          <p:nvPr/>
        </p:nvSpPr>
        <p:spPr>
          <a:xfrm>
            <a:off x="566928" y="1463040"/>
            <a:ext cx="11055096" cy="457200"/>
          </a:xfrm>
          <a:prstGeom prst="rect">
            <a:avLst/>
          </a:prstGeom>
          <a:noFill/>
          <a:ln/>
        </p:spPr>
        <p:txBody>
          <a:bodyPr wrap="square" rtlCol="0" anchor="ctr"/>
          <a:lstStyle/>
          <a:p>
            <a:pPr indent="0" marL="0">
              <a:buNone/>
            </a:pPr>
            <a:r>
              <a:rPr lang="en-US" sz="1400" dirty="0">
                <a:solidFill>
                  <a:srgbClr val="3A4452"/>
                </a:solidFill>
                <a:latin typeface="Arial" pitchFamily="34" charset="0"/>
                <a:ea typeface="Arial" pitchFamily="34" charset="-122"/>
                <a:cs typeface="Arial" pitchFamily="34" charset="-120"/>
              </a:rPr>
              <a:t>Get a draft, then nudge it with short follow-ups. Faster than agonizing over one giant prompt.</a:t>
            </a:r>
            <a:endParaRPr lang="en-US" sz="1400" dirty="0"/>
          </a:p>
        </p:txBody>
      </p:sp>
      <p:sp>
        <p:nvSpPr>
          <p:cNvPr id="5" name="Shape 3"/>
          <p:cNvSpPr/>
          <p:nvPr/>
        </p:nvSpPr>
        <p:spPr>
          <a:xfrm>
            <a:off x="566928" y="2103120"/>
            <a:ext cx="5344668" cy="1691640"/>
          </a:xfrm>
          <a:prstGeom prst="roundRect">
            <a:avLst>
              <a:gd name="adj" fmla="val 4865"/>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6" name="Text 4"/>
          <p:cNvSpPr/>
          <p:nvPr/>
        </p:nvSpPr>
        <p:spPr>
          <a:xfrm>
            <a:off x="841248" y="2331720"/>
            <a:ext cx="4796028" cy="365760"/>
          </a:xfrm>
          <a:prstGeom prst="rect">
            <a:avLst/>
          </a:prstGeom>
          <a:noFill/>
          <a:ln/>
        </p:spPr>
        <p:txBody>
          <a:bodyPr wrap="square" rtlCol="0" anchor="ctr"/>
          <a:lstStyle/>
          <a:p>
            <a:pPr indent="0" marL="0">
              <a:buNone/>
            </a:pPr>
            <a:r>
              <a:rPr lang="en-US" sz="1550" b="1" dirty="0">
                <a:solidFill>
                  <a:srgbClr val="D31242"/>
                </a:solidFill>
                <a:latin typeface="Arial" pitchFamily="34" charset="0"/>
                <a:ea typeface="Arial" pitchFamily="34" charset="-122"/>
                <a:cs typeface="Arial" pitchFamily="34" charset="-120"/>
              </a:rPr>
              <a:t>Shorten / expand</a:t>
            </a:r>
            <a:endParaRPr lang="en-US" sz="1550" dirty="0"/>
          </a:p>
        </p:txBody>
      </p:sp>
      <p:sp>
        <p:nvSpPr>
          <p:cNvPr id="7" name="Text 5"/>
          <p:cNvSpPr/>
          <p:nvPr/>
        </p:nvSpPr>
        <p:spPr>
          <a:xfrm>
            <a:off x="841248" y="2761488"/>
            <a:ext cx="4796028" cy="868680"/>
          </a:xfrm>
          <a:prstGeom prst="rect">
            <a:avLst/>
          </a:prstGeom>
          <a:noFill/>
          <a:ln/>
        </p:spPr>
        <p:txBody>
          <a:bodyPr wrap="square" rtlCol="0" anchor="ctr"/>
          <a:lstStyle/>
          <a:p>
            <a:pPr indent="0" marL="0">
              <a:lnSpc>
                <a:spcPts val="1800"/>
              </a:lnSpc>
              <a:buNone/>
            </a:pPr>
            <a:r>
              <a:rPr lang="en-US" sz="1300" i="1" dirty="0">
                <a:solidFill>
                  <a:srgbClr val="1F2733"/>
                </a:solidFill>
                <a:latin typeface="Arial" pitchFamily="34" charset="0"/>
                <a:ea typeface="Arial" pitchFamily="34" charset="-122"/>
                <a:cs typeface="Arial" pitchFamily="34" charset="-120"/>
              </a:rPr>
              <a:t>"Cut it to 100 words."  ·  "Add a line on safety."</a:t>
            </a:r>
            <a:endParaRPr lang="en-US" sz="1300" dirty="0"/>
          </a:p>
        </p:txBody>
      </p:sp>
      <p:sp>
        <p:nvSpPr>
          <p:cNvPr id="8" name="Shape 6"/>
          <p:cNvSpPr/>
          <p:nvPr/>
        </p:nvSpPr>
        <p:spPr>
          <a:xfrm>
            <a:off x="6277356" y="2103120"/>
            <a:ext cx="5344668" cy="1691640"/>
          </a:xfrm>
          <a:prstGeom prst="roundRect">
            <a:avLst>
              <a:gd name="adj" fmla="val 4865"/>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9" name="Text 7"/>
          <p:cNvSpPr/>
          <p:nvPr/>
        </p:nvSpPr>
        <p:spPr>
          <a:xfrm>
            <a:off x="6551676" y="2331720"/>
            <a:ext cx="4796028" cy="365760"/>
          </a:xfrm>
          <a:prstGeom prst="rect">
            <a:avLst/>
          </a:prstGeom>
          <a:noFill/>
          <a:ln/>
        </p:spPr>
        <p:txBody>
          <a:bodyPr wrap="square" rtlCol="0" anchor="ctr"/>
          <a:lstStyle/>
          <a:p>
            <a:pPr indent="0" marL="0">
              <a:buNone/>
            </a:pPr>
            <a:r>
              <a:rPr lang="en-US" sz="1550" b="1" dirty="0">
                <a:solidFill>
                  <a:srgbClr val="D31242"/>
                </a:solidFill>
                <a:latin typeface="Arial" pitchFamily="34" charset="0"/>
                <a:ea typeface="Arial" pitchFamily="34" charset="-122"/>
                <a:cs typeface="Arial" pitchFamily="34" charset="-120"/>
              </a:rPr>
              <a:t>Change tone</a:t>
            </a:r>
            <a:endParaRPr lang="en-US" sz="1550" dirty="0"/>
          </a:p>
        </p:txBody>
      </p:sp>
      <p:sp>
        <p:nvSpPr>
          <p:cNvPr id="10" name="Text 8"/>
          <p:cNvSpPr/>
          <p:nvPr/>
        </p:nvSpPr>
        <p:spPr>
          <a:xfrm>
            <a:off x="6551676" y="2761488"/>
            <a:ext cx="4796028" cy="868680"/>
          </a:xfrm>
          <a:prstGeom prst="rect">
            <a:avLst/>
          </a:prstGeom>
          <a:noFill/>
          <a:ln/>
        </p:spPr>
        <p:txBody>
          <a:bodyPr wrap="square" rtlCol="0" anchor="ctr"/>
          <a:lstStyle/>
          <a:p>
            <a:pPr indent="0" marL="0">
              <a:lnSpc>
                <a:spcPts val="1800"/>
              </a:lnSpc>
              <a:buNone/>
            </a:pPr>
            <a:r>
              <a:rPr lang="en-US" sz="1300" i="1" dirty="0">
                <a:solidFill>
                  <a:srgbClr val="1F2733"/>
                </a:solidFill>
                <a:latin typeface="Arial" pitchFamily="34" charset="0"/>
                <a:ea typeface="Arial" pitchFamily="34" charset="-122"/>
                <a:cs typeface="Arial" pitchFamily="34" charset="-120"/>
              </a:rPr>
              <a:t>"Make it warmer."  ·  "More formal for leadership."</a:t>
            </a:r>
            <a:endParaRPr lang="en-US" sz="1300" dirty="0"/>
          </a:p>
        </p:txBody>
      </p:sp>
      <p:sp>
        <p:nvSpPr>
          <p:cNvPr id="11" name="Shape 9"/>
          <p:cNvSpPr/>
          <p:nvPr/>
        </p:nvSpPr>
        <p:spPr>
          <a:xfrm>
            <a:off x="566928" y="4069080"/>
            <a:ext cx="5344668" cy="1691640"/>
          </a:xfrm>
          <a:prstGeom prst="roundRect">
            <a:avLst>
              <a:gd name="adj" fmla="val 4865"/>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2" name="Text 10"/>
          <p:cNvSpPr/>
          <p:nvPr/>
        </p:nvSpPr>
        <p:spPr>
          <a:xfrm>
            <a:off x="841248" y="4297680"/>
            <a:ext cx="4796028" cy="365760"/>
          </a:xfrm>
          <a:prstGeom prst="rect">
            <a:avLst/>
          </a:prstGeom>
          <a:noFill/>
          <a:ln/>
        </p:spPr>
        <p:txBody>
          <a:bodyPr wrap="square" rtlCol="0" anchor="ctr"/>
          <a:lstStyle/>
          <a:p>
            <a:pPr indent="0" marL="0">
              <a:buNone/>
            </a:pPr>
            <a:r>
              <a:rPr lang="en-US" sz="1550" b="1" dirty="0">
                <a:solidFill>
                  <a:srgbClr val="D31242"/>
                </a:solidFill>
                <a:latin typeface="Arial" pitchFamily="34" charset="0"/>
                <a:ea typeface="Arial" pitchFamily="34" charset="-122"/>
                <a:cs typeface="Arial" pitchFamily="34" charset="-120"/>
              </a:rPr>
              <a:t>Reshape</a:t>
            </a:r>
            <a:endParaRPr lang="en-US" sz="1550" dirty="0"/>
          </a:p>
        </p:txBody>
      </p:sp>
      <p:sp>
        <p:nvSpPr>
          <p:cNvPr id="13" name="Text 11"/>
          <p:cNvSpPr/>
          <p:nvPr/>
        </p:nvSpPr>
        <p:spPr>
          <a:xfrm>
            <a:off x="841248" y="4727448"/>
            <a:ext cx="4796028" cy="868680"/>
          </a:xfrm>
          <a:prstGeom prst="rect">
            <a:avLst/>
          </a:prstGeom>
          <a:noFill/>
          <a:ln/>
        </p:spPr>
        <p:txBody>
          <a:bodyPr wrap="square" rtlCol="0" anchor="ctr"/>
          <a:lstStyle/>
          <a:p>
            <a:pPr indent="0" marL="0">
              <a:lnSpc>
                <a:spcPts val="1800"/>
              </a:lnSpc>
              <a:buNone/>
            </a:pPr>
            <a:r>
              <a:rPr lang="en-US" sz="1300" i="1" dirty="0">
                <a:solidFill>
                  <a:srgbClr val="1F2733"/>
                </a:solidFill>
                <a:latin typeface="Arial" pitchFamily="34" charset="0"/>
                <a:ea typeface="Arial" pitchFamily="34" charset="-122"/>
                <a:cs typeface="Arial" pitchFamily="34" charset="-120"/>
              </a:rPr>
              <a:t>"Turn this into a table."  ·  "Give me 3 options."</a:t>
            </a:r>
            <a:endParaRPr lang="en-US" sz="1300" dirty="0"/>
          </a:p>
        </p:txBody>
      </p:sp>
      <p:sp>
        <p:nvSpPr>
          <p:cNvPr id="14" name="Shape 12"/>
          <p:cNvSpPr/>
          <p:nvPr/>
        </p:nvSpPr>
        <p:spPr>
          <a:xfrm>
            <a:off x="6277356" y="4069080"/>
            <a:ext cx="5344668" cy="1691640"/>
          </a:xfrm>
          <a:prstGeom prst="roundRect">
            <a:avLst>
              <a:gd name="adj" fmla="val 4865"/>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5" name="Text 13"/>
          <p:cNvSpPr/>
          <p:nvPr/>
        </p:nvSpPr>
        <p:spPr>
          <a:xfrm>
            <a:off x="6551676" y="4297680"/>
            <a:ext cx="4796028" cy="365760"/>
          </a:xfrm>
          <a:prstGeom prst="rect">
            <a:avLst/>
          </a:prstGeom>
          <a:noFill/>
          <a:ln/>
        </p:spPr>
        <p:txBody>
          <a:bodyPr wrap="square" rtlCol="0" anchor="ctr"/>
          <a:lstStyle/>
          <a:p>
            <a:pPr indent="0" marL="0">
              <a:buNone/>
            </a:pPr>
            <a:r>
              <a:rPr lang="en-US" sz="1550" b="1" dirty="0">
                <a:solidFill>
                  <a:srgbClr val="D31242"/>
                </a:solidFill>
                <a:latin typeface="Arial" pitchFamily="34" charset="0"/>
                <a:ea typeface="Arial" pitchFamily="34" charset="-122"/>
                <a:cs typeface="Arial" pitchFamily="34" charset="-120"/>
              </a:rPr>
              <a:t>Refocus</a:t>
            </a:r>
            <a:endParaRPr lang="en-US" sz="1550" dirty="0"/>
          </a:p>
        </p:txBody>
      </p:sp>
      <p:sp>
        <p:nvSpPr>
          <p:cNvPr id="16" name="Text 14"/>
          <p:cNvSpPr/>
          <p:nvPr/>
        </p:nvSpPr>
        <p:spPr>
          <a:xfrm>
            <a:off x="6551676" y="4727448"/>
            <a:ext cx="4796028" cy="868680"/>
          </a:xfrm>
          <a:prstGeom prst="rect">
            <a:avLst/>
          </a:prstGeom>
          <a:noFill/>
          <a:ln/>
        </p:spPr>
        <p:txBody>
          <a:bodyPr wrap="square" rtlCol="0" anchor="ctr"/>
          <a:lstStyle/>
          <a:p>
            <a:pPr indent="0" marL="0">
              <a:lnSpc>
                <a:spcPts val="1800"/>
              </a:lnSpc>
              <a:buNone/>
            </a:pPr>
            <a:r>
              <a:rPr lang="en-US" sz="1300" i="1" dirty="0">
                <a:solidFill>
                  <a:srgbClr val="1F2733"/>
                </a:solidFill>
                <a:latin typeface="Arial" pitchFamily="34" charset="0"/>
                <a:ea typeface="Arial" pitchFamily="34" charset="-122"/>
                <a:cs typeface="Arial" pitchFamily="34" charset="-120"/>
              </a:rPr>
              <a:t>"Drop the intro."  ·  "Focus on the member benefit."</a:t>
            </a:r>
            <a:endParaRPr lang="en-US" sz="1300" dirty="0"/>
          </a:p>
        </p:txBody>
      </p:sp>
      <p:sp>
        <p:nvSpPr>
          <p:cNvPr id="17" name="Text 15"/>
          <p:cNvSpPr/>
          <p:nvPr/>
        </p:nvSpPr>
        <p:spPr>
          <a:xfrm>
            <a:off x="566928" y="5715000"/>
            <a:ext cx="11055096" cy="411480"/>
          </a:xfrm>
          <a:prstGeom prst="rect">
            <a:avLst/>
          </a:prstGeom>
          <a:noFill/>
          <a:ln/>
        </p:spPr>
        <p:txBody>
          <a:bodyPr wrap="square" rtlCol="0" anchor="ctr"/>
          <a:lstStyle/>
          <a:p>
            <a:pPr indent="0" marL="0">
              <a:buNone/>
            </a:pPr>
            <a:r>
              <a:rPr lang="en-US" sz="1150" i="1" dirty="0">
                <a:solidFill>
                  <a:srgbClr val="5E6A78"/>
                </a:solidFill>
                <a:latin typeface="Arial" pitchFamily="34" charset="0"/>
                <a:ea typeface="Arial" pitchFamily="34" charset="-122"/>
                <a:cs typeface="Arial" pitchFamily="34" charset="-120"/>
              </a:rPr>
              <a:t>Reassure beginners: the pros iterate. You're having a conversation, not casting a spell.</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THE BUTTONS YOU ACTUALLY USE</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Conversation controls</a:t>
            </a:r>
            <a:endParaRPr lang="en-US" sz="2900" dirty="0"/>
          </a:p>
        </p:txBody>
      </p:sp>
      <p:sp>
        <p:nvSpPr>
          <p:cNvPr id="4" name="Text 2"/>
          <p:cNvSpPr/>
          <p:nvPr/>
        </p:nvSpPr>
        <p:spPr>
          <a:xfrm>
            <a:off x="566928" y="1417320"/>
            <a:ext cx="2194560" cy="228600"/>
          </a:xfrm>
          <a:prstGeom prst="rect">
            <a:avLst/>
          </a:prstGeom>
          <a:noFill/>
          <a:ln/>
        </p:spPr>
        <p:txBody>
          <a:bodyPr wrap="square" rtlCol="0" anchor="ctr"/>
          <a:lstStyle/>
          <a:p>
            <a:pPr indent="0" marL="0">
              <a:buNone/>
            </a:pPr>
            <a:r>
              <a:rPr lang="en-US" sz="800" b="1" spc="150" kern="0" dirty="0">
                <a:solidFill>
                  <a:srgbClr val="5E6A78"/>
                </a:solidFill>
                <a:latin typeface="Arial" pitchFamily="34" charset="0"/>
                <a:ea typeface="Arial" pitchFamily="34" charset="-122"/>
                <a:cs typeface="Arial" pitchFamily="34" charset="-120"/>
              </a:rPr>
              <a:t>ILLUSTRATIVE MOCK-UP</a:t>
            </a:r>
            <a:endParaRPr lang="en-US" sz="800" dirty="0"/>
          </a:p>
        </p:txBody>
      </p:sp>
      <p:sp>
        <p:nvSpPr>
          <p:cNvPr id="5" name="Shape 3"/>
          <p:cNvSpPr/>
          <p:nvPr/>
        </p:nvSpPr>
        <p:spPr>
          <a:xfrm>
            <a:off x="566928" y="1691640"/>
            <a:ext cx="5577840" cy="3931920"/>
          </a:xfrm>
          <a:prstGeom prst="roundRect">
            <a:avLst>
              <a:gd name="adj" fmla="val 2093"/>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6" name="Text 4"/>
          <p:cNvSpPr/>
          <p:nvPr/>
        </p:nvSpPr>
        <p:spPr>
          <a:xfrm>
            <a:off x="841248" y="1920240"/>
            <a:ext cx="5029200" cy="640080"/>
          </a:xfrm>
          <a:prstGeom prst="rect">
            <a:avLst/>
          </a:prstGeom>
          <a:noFill/>
          <a:ln/>
        </p:spPr>
        <p:txBody>
          <a:bodyPr wrap="square" rtlCol="0" anchor="ctr"/>
          <a:lstStyle/>
          <a:p>
            <a:pPr indent="0" marL="0">
              <a:lnSpc>
                <a:spcPts val="1800"/>
              </a:lnSpc>
              <a:buNone/>
            </a:pPr>
            <a:r>
              <a:rPr lang="en-US" sz="1300" i="1" dirty="0">
                <a:solidFill>
                  <a:srgbClr val="1F2733"/>
                </a:solidFill>
                <a:latin typeface="Arial" pitchFamily="34" charset="0"/>
                <a:ea typeface="Arial" pitchFamily="34" charset="-122"/>
                <a:cs typeface="Arial" pitchFamily="34" charset="-120"/>
              </a:rPr>
              <a:t>Welcome to the BJ's family — we're glad you're here!</a:t>
            </a:r>
            <a:endParaRPr lang="en-US" sz="1300" dirty="0"/>
          </a:p>
        </p:txBody>
      </p:sp>
      <p:sp>
        <p:nvSpPr>
          <p:cNvPr id="7" name="Shape 5"/>
          <p:cNvSpPr/>
          <p:nvPr/>
        </p:nvSpPr>
        <p:spPr>
          <a:xfrm>
            <a:off x="841248" y="2743200"/>
            <a:ext cx="704088" cy="384048"/>
          </a:xfrm>
          <a:prstGeom prst="roundRect">
            <a:avLst>
              <a:gd name="adj" fmla="val 19048"/>
            </a:avLst>
          </a:prstGeom>
          <a:solidFill>
            <a:srgbClr val="F5F6F8"/>
          </a:solidFill>
          <a:ln w="12700">
            <a:solidFill>
              <a:srgbClr val="E7E9EE"/>
            </a:solidFill>
            <a:prstDash val="solid"/>
          </a:ln>
        </p:spPr>
      </p:sp>
      <p:sp>
        <p:nvSpPr>
          <p:cNvPr id="8" name="Text 6"/>
          <p:cNvSpPr/>
          <p:nvPr/>
        </p:nvSpPr>
        <p:spPr>
          <a:xfrm>
            <a:off x="841248" y="2743200"/>
            <a:ext cx="704088" cy="384048"/>
          </a:xfrm>
          <a:prstGeom prst="rect">
            <a:avLst/>
          </a:prstGeom>
          <a:noFill/>
          <a:ln/>
        </p:spPr>
        <p:txBody>
          <a:bodyPr wrap="square" lIns="0" tIns="0" rIns="0" bIns="0" rtlCol="0" anchor="ctr"/>
          <a:lstStyle/>
          <a:p>
            <a:pPr algn="ctr" indent="0" marL="0">
              <a:buNone/>
            </a:pPr>
            <a:r>
              <a:rPr lang="en-US" sz="1100" b="1" dirty="0">
                <a:solidFill>
                  <a:srgbClr val="3A4452"/>
                </a:solidFill>
                <a:latin typeface="Arial" pitchFamily="34" charset="0"/>
                <a:ea typeface="Arial" pitchFamily="34" charset="-122"/>
                <a:cs typeface="Arial" pitchFamily="34" charset="-120"/>
              </a:rPr>
              <a:t>Copy</a:t>
            </a:r>
            <a:endParaRPr lang="en-US" sz="1100" dirty="0"/>
          </a:p>
        </p:txBody>
      </p:sp>
      <p:sp>
        <p:nvSpPr>
          <p:cNvPr id="9" name="Shape 7"/>
          <p:cNvSpPr/>
          <p:nvPr/>
        </p:nvSpPr>
        <p:spPr>
          <a:xfrm>
            <a:off x="1709928" y="2743200"/>
            <a:ext cx="2048256" cy="384048"/>
          </a:xfrm>
          <a:prstGeom prst="roundRect">
            <a:avLst>
              <a:gd name="adj" fmla="val 19048"/>
            </a:avLst>
          </a:prstGeom>
          <a:solidFill>
            <a:srgbClr val="F5F6F8"/>
          </a:solidFill>
          <a:ln w="12700">
            <a:solidFill>
              <a:srgbClr val="E7E9EE"/>
            </a:solidFill>
            <a:prstDash val="solid"/>
          </a:ln>
        </p:spPr>
      </p:sp>
      <p:sp>
        <p:nvSpPr>
          <p:cNvPr id="10" name="Text 8"/>
          <p:cNvSpPr/>
          <p:nvPr/>
        </p:nvSpPr>
        <p:spPr>
          <a:xfrm>
            <a:off x="1709928" y="2743200"/>
            <a:ext cx="2048256" cy="384048"/>
          </a:xfrm>
          <a:prstGeom prst="rect">
            <a:avLst/>
          </a:prstGeom>
          <a:noFill/>
          <a:ln/>
        </p:spPr>
        <p:txBody>
          <a:bodyPr wrap="square" lIns="0" tIns="0" rIns="0" bIns="0" rtlCol="0" anchor="ctr"/>
          <a:lstStyle/>
          <a:p>
            <a:pPr algn="ctr" indent="0" marL="0">
              <a:buNone/>
            </a:pPr>
            <a:r>
              <a:rPr lang="en-US" sz="1100" b="1" dirty="0">
                <a:solidFill>
                  <a:srgbClr val="3A4452"/>
                </a:solidFill>
                <a:latin typeface="Arial" pitchFamily="34" charset="0"/>
                <a:ea typeface="Arial" pitchFamily="34" charset="-122"/>
                <a:cs typeface="Arial" pitchFamily="34" charset="-120"/>
              </a:rPr>
              <a:t>Retry / regenerate</a:t>
            </a:r>
            <a:endParaRPr lang="en-US" sz="1100" dirty="0"/>
          </a:p>
        </p:txBody>
      </p:sp>
      <p:sp>
        <p:nvSpPr>
          <p:cNvPr id="11" name="Shape 9"/>
          <p:cNvSpPr/>
          <p:nvPr/>
        </p:nvSpPr>
        <p:spPr>
          <a:xfrm>
            <a:off x="3922776" y="2743200"/>
            <a:ext cx="992124" cy="384048"/>
          </a:xfrm>
          <a:prstGeom prst="roundRect">
            <a:avLst>
              <a:gd name="adj" fmla="val 19048"/>
            </a:avLst>
          </a:prstGeom>
          <a:solidFill>
            <a:srgbClr val="F5F6F8"/>
          </a:solidFill>
          <a:ln w="12700">
            <a:solidFill>
              <a:srgbClr val="E7E9EE"/>
            </a:solidFill>
            <a:prstDash val="solid"/>
          </a:ln>
        </p:spPr>
      </p:sp>
      <p:sp>
        <p:nvSpPr>
          <p:cNvPr id="12" name="Text 10"/>
          <p:cNvSpPr/>
          <p:nvPr/>
        </p:nvSpPr>
        <p:spPr>
          <a:xfrm>
            <a:off x="3922776" y="2743200"/>
            <a:ext cx="992124" cy="384048"/>
          </a:xfrm>
          <a:prstGeom prst="rect">
            <a:avLst/>
          </a:prstGeom>
          <a:noFill/>
          <a:ln/>
        </p:spPr>
        <p:txBody>
          <a:bodyPr wrap="square" lIns="0" tIns="0" rIns="0" bIns="0" rtlCol="0" anchor="ctr"/>
          <a:lstStyle/>
          <a:p>
            <a:pPr algn="ctr" indent="0" marL="0">
              <a:buNone/>
            </a:pPr>
            <a:r>
              <a:rPr lang="en-US" sz="1100" b="1" dirty="0">
                <a:solidFill>
                  <a:srgbClr val="3A4452"/>
                </a:solidFill>
                <a:latin typeface="Arial" pitchFamily="34" charset="0"/>
                <a:ea typeface="Arial" pitchFamily="34" charset="-122"/>
                <a:cs typeface="Arial" pitchFamily="34" charset="-120"/>
              </a:rPr>
              <a:t>👍 / 👎</a:t>
            </a:r>
            <a:endParaRPr lang="en-US" sz="1100" dirty="0"/>
          </a:p>
        </p:txBody>
      </p:sp>
      <p:sp>
        <p:nvSpPr>
          <p:cNvPr id="13" name="Shape 11"/>
          <p:cNvSpPr/>
          <p:nvPr/>
        </p:nvSpPr>
        <p:spPr>
          <a:xfrm>
            <a:off x="5079492" y="2743200"/>
            <a:ext cx="896112" cy="384048"/>
          </a:xfrm>
          <a:prstGeom prst="roundRect">
            <a:avLst>
              <a:gd name="adj" fmla="val 19048"/>
            </a:avLst>
          </a:prstGeom>
          <a:solidFill>
            <a:srgbClr val="F5F6F8"/>
          </a:solidFill>
          <a:ln w="12700">
            <a:solidFill>
              <a:srgbClr val="E7E9EE"/>
            </a:solidFill>
            <a:prstDash val="solid"/>
          </a:ln>
        </p:spPr>
      </p:sp>
      <p:sp>
        <p:nvSpPr>
          <p:cNvPr id="14" name="Text 12"/>
          <p:cNvSpPr/>
          <p:nvPr/>
        </p:nvSpPr>
        <p:spPr>
          <a:xfrm>
            <a:off x="5079492" y="2743200"/>
            <a:ext cx="896112" cy="384048"/>
          </a:xfrm>
          <a:prstGeom prst="rect">
            <a:avLst/>
          </a:prstGeom>
          <a:noFill/>
          <a:ln/>
        </p:spPr>
        <p:txBody>
          <a:bodyPr wrap="square" lIns="0" tIns="0" rIns="0" bIns="0" rtlCol="0" anchor="ctr"/>
          <a:lstStyle/>
          <a:p>
            <a:pPr algn="ctr" indent="0" marL="0">
              <a:buNone/>
            </a:pPr>
            <a:r>
              <a:rPr lang="en-US" sz="1100" b="1" dirty="0">
                <a:solidFill>
                  <a:srgbClr val="3A4452"/>
                </a:solidFill>
                <a:latin typeface="Arial" pitchFamily="34" charset="0"/>
                <a:ea typeface="Arial" pitchFamily="34" charset="-122"/>
                <a:cs typeface="Arial" pitchFamily="34" charset="-120"/>
              </a:rPr>
              <a:t>Listen</a:t>
            </a:r>
            <a:endParaRPr lang="en-US" sz="1100" dirty="0"/>
          </a:p>
        </p:txBody>
      </p:sp>
      <p:sp>
        <p:nvSpPr>
          <p:cNvPr id="15" name="Text 13"/>
          <p:cNvSpPr/>
          <p:nvPr/>
        </p:nvSpPr>
        <p:spPr>
          <a:xfrm>
            <a:off x="841248" y="3383280"/>
            <a:ext cx="5029200" cy="457200"/>
          </a:xfrm>
          <a:prstGeom prst="rect">
            <a:avLst/>
          </a:prstGeom>
          <a:noFill/>
          <a:ln/>
        </p:spPr>
        <p:txBody>
          <a:bodyPr wrap="square" rtlCol="0" anchor="ctr"/>
          <a:lstStyle/>
          <a:p>
            <a:pPr indent="0" marL="0">
              <a:buNone/>
            </a:pPr>
            <a:r>
              <a:rPr lang="en-US" sz="1050" i="1" dirty="0">
                <a:solidFill>
                  <a:srgbClr val="5E6A78"/>
                </a:solidFill>
                <a:latin typeface="Arial" pitchFamily="34" charset="0"/>
                <a:ea typeface="Arial" pitchFamily="34" charset="-122"/>
                <a:cs typeface="Arial" pitchFamily="34" charset="-120"/>
              </a:rPr>
              <a:t>“Claude is AI and can make mistakes. Please double-check responses.”</a:t>
            </a:r>
            <a:endParaRPr lang="en-US" sz="1050" dirty="0"/>
          </a:p>
        </p:txBody>
      </p:sp>
      <p:sp>
        <p:nvSpPr>
          <p:cNvPr id="16" name="Text 14"/>
          <p:cNvSpPr/>
          <p:nvPr/>
        </p:nvSpPr>
        <p:spPr>
          <a:xfrm>
            <a:off x="841248" y="3931920"/>
            <a:ext cx="5029200" cy="1463040"/>
          </a:xfrm>
          <a:prstGeom prst="rect">
            <a:avLst/>
          </a:prstGeom>
          <a:noFill/>
          <a:ln/>
        </p:spPr>
        <p:txBody>
          <a:bodyPr wrap="square" rtlCol="0" anchor="t"/>
          <a:lstStyle/>
          <a:p>
            <a:pPr indent="0" marL="0">
              <a:lnSpc>
                <a:spcPts val="1800"/>
              </a:lnSpc>
              <a:buNone/>
            </a:pPr>
            <a:r>
              <a:rPr lang="en-US" sz="1250" b="1" dirty="0">
                <a:solidFill>
                  <a:srgbClr val="D31242"/>
                </a:solidFill>
                <a:latin typeface="Arial" pitchFamily="34" charset="0"/>
                <a:ea typeface="Arial" pitchFamily="34" charset="-122"/>
                <a:cs typeface="Arial" pitchFamily="34" charset="-120"/>
              </a:rPr>
              <a:t>Edit your message </a:t>
            </a:r>
            <a:pPr indent="0" marL="0">
              <a:lnSpc>
                <a:spcPts val="1800"/>
              </a:lnSpc>
              <a:buNone/>
            </a:pPr>
            <a:r>
              <a:rPr lang="en-US" sz="1250" dirty="0">
                <a:solidFill>
                  <a:srgbClr val="3A4452"/>
                </a:solidFill>
                <a:latin typeface="Arial" pitchFamily="34" charset="0"/>
                <a:ea typeface="Arial" pitchFamily="34" charset="-122"/>
                <a:cs typeface="Arial" pitchFamily="34" charset="-120"/>
              </a:rPr>
              <a:t>— hover your own bubble to fix a flawed prompt and re-run from there.</a:t>
            </a:r>
            <a:endParaRPr lang="en-US" sz="1250" dirty="0"/>
          </a:p>
        </p:txBody>
      </p:sp>
      <p:sp>
        <p:nvSpPr>
          <p:cNvPr id="17" name="Shape 15"/>
          <p:cNvSpPr/>
          <p:nvPr/>
        </p:nvSpPr>
        <p:spPr>
          <a:xfrm>
            <a:off x="6583680" y="1783080"/>
            <a:ext cx="365760" cy="365760"/>
          </a:xfrm>
          <a:prstGeom prst="ellipse">
            <a:avLst/>
          </a:prstGeom>
          <a:solidFill>
            <a:srgbClr val="7E0A27"/>
          </a:solidFill>
          <a:ln/>
        </p:spPr>
      </p:sp>
      <p:sp>
        <p:nvSpPr>
          <p:cNvPr id="18" name="Text 16"/>
          <p:cNvSpPr/>
          <p:nvPr/>
        </p:nvSpPr>
        <p:spPr>
          <a:xfrm>
            <a:off x="6583680" y="178308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9" name="Text 17"/>
          <p:cNvSpPr/>
          <p:nvPr/>
        </p:nvSpPr>
        <p:spPr>
          <a:xfrm>
            <a:off x="7086600" y="1737360"/>
            <a:ext cx="4572000" cy="731520"/>
          </a:xfrm>
          <a:prstGeom prst="rect">
            <a:avLst/>
          </a:prstGeom>
          <a:noFill/>
          <a:ln/>
        </p:spPr>
        <p:txBody>
          <a:bodyPr wrap="square" rtlCol="0" anchor="t"/>
          <a:lstStyle/>
          <a:p>
            <a:pPr indent="0" marL="0">
              <a:lnSpc>
                <a:spcPts val="1600"/>
              </a:lnSpc>
              <a:buNone/>
            </a:pPr>
            <a:r>
              <a:rPr lang="en-US" sz="1250" b="1" dirty="0">
                <a:solidFill>
                  <a:srgbClr val="1F2733"/>
                </a:solidFill>
                <a:latin typeface="Arial" pitchFamily="34" charset="0"/>
                <a:ea typeface="Arial" pitchFamily="34" charset="-122"/>
                <a:cs typeface="Arial" pitchFamily="34" charset="-120"/>
              </a:rPr>
              <a:t>Retry / regenerate — </a:t>
            </a:r>
            <a:pPr indent="0" marL="0">
              <a:lnSpc>
                <a:spcPts val="1600"/>
              </a:lnSpc>
              <a:buNone/>
            </a:pPr>
            <a:r>
              <a:rPr lang="en-US" sz="1250" dirty="0">
                <a:solidFill>
                  <a:srgbClr val="3A4452"/>
                </a:solidFill>
                <a:latin typeface="Arial" pitchFamily="34" charset="0"/>
                <a:ea typeface="Arial" pitchFamily="34" charset="-122"/>
                <a:cs typeface="Arial" pitchFamily="34" charset="-120"/>
              </a:rPr>
              <a:t>Answer is close but not right — get a fresh take.</a:t>
            </a:r>
            <a:endParaRPr lang="en-US" sz="1250" dirty="0"/>
          </a:p>
        </p:txBody>
      </p:sp>
      <p:sp>
        <p:nvSpPr>
          <p:cNvPr id="20" name="Shape 18"/>
          <p:cNvSpPr/>
          <p:nvPr/>
        </p:nvSpPr>
        <p:spPr>
          <a:xfrm>
            <a:off x="6583680" y="2569464"/>
            <a:ext cx="365760" cy="365760"/>
          </a:xfrm>
          <a:prstGeom prst="ellipse">
            <a:avLst/>
          </a:prstGeom>
          <a:solidFill>
            <a:srgbClr val="7E0A27"/>
          </a:solidFill>
          <a:ln/>
        </p:spPr>
      </p:sp>
      <p:sp>
        <p:nvSpPr>
          <p:cNvPr id="21" name="Text 19"/>
          <p:cNvSpPr/>
          <p:nvPr/>
        </p:nvSpPr>
        <p:spPr>
          <a:xfrm>
            <a:off x="6583680" y="256946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22" name="Text 20"/>
          <p:cNvSpPr/>
          <p:nvPr/>
        </p:nvSpPr>
        <p:spPr>
          <a:xfrm>
            <a:off x="7086600" y="2523744"/>
            <a:ext cx="4572000" cy="731520"/>
          </a:xfrm>
          <a:prstGeom prst="rect">
            <a:avLst/>
          </a:prstGeom>
          <a:noFill/>
          <a:ln/>
        </p:spPr>
        <p:txBody>
          <a:bodyPr wrap="square" rtlCol="0" anchor="t"/>
          <a:lstStyle/>
          <a:p>
            <a:pPr indent="0" marL="0">
              <a:lnSpc>
                <a:spcPts val="1600"/>
              </a:lnSpc>
              <a:buNone/>
            </a:pPr>
            <a:r>
              <a:rPr lang="en-US" sz="1250" b="1" dirty="0">
                <a:solidFill>
                  <a:srgbClr val="1F2733"/>
                </a:solidFill>
                <a:latin typeface="Arial" pitchFamily="34" charset="0"/>
                <a:ea typeface="Arial" pitchFamily="34" charset="-122"/>
                <a:cs typeface="Arial" pitchFamily="34" charset="-120"/>
              </a:rPr>
              <a:t>Edit your message — </a:t>
            </a:r>
            <a:pPr indent="0" marL="0">
              <a:lnSpc>
                <a:spcPts val="1600"/>
              </a:lnSpc>
              <a:buNone/>
            </a:pPr>
            <a:r>
              <a:rPr lang="en-US" sz="1250" dirty="0">
                <a:solidFill>
                  <a:srgbClr val="3A4452"/>
                </a:solidFill>
                <a:latin typeface="Arial" pitchFamily="34" charset="0"/>
                <a:ea typeface="Arial" pitchFamily="34" charset="-122"/>
                <a:cs typeface="Arial" pitchFamily="34" charset="-120"/>
              </a:rPr>
              <a:t>Your prompt was flawed — fix it and re-run.</a:t>
            </a:r>
            <a:endParaRPr lang="en-US" sz="1250" dirty="0"/>
          </a:p>
        </p:txBody>
      </p:sp>
      <p:sp>
        <p:nvSpPr>
          <p:cNvPr id="23" name="Shape 21"/>
          <p:cNvSpPr/>
          <p:nvPr/>
        </p:nvSpPr>
        <p:spPr>
          <a:xfrm>
            <a:off x="6583680" y="3355848"/>
            <a:ext cx="365760" cy="365760"/>
          </a:xfrm>
          <a:prstGeom prst="ellipse">
            <a:avLst/>
          </a:prstGeom>
          <a:solidFill>
            <a:srgbClr val="7E0A27"/>
          </a:solidFill>
          <a:ln/>
        </p:spPr>
      </p:sp>
      <p:sp>
        <p:nvSpPr>
          <p:cNvPr id="24" name="Text 22"/>
          <p:cNvSpPr/>
          <p:nvPr/>
        </p:nvSpPr>
        <p:spPr>
          <a:xfrm>
            <a:off x="6583680" y="335584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5" name="Text 23"/>
          <p:cNvSpPr/>
          <p:nvPr/>
        </p:nvSpPr>
        <p:spPr>
          <a:xfrm>
            <a:off x="7086600" y="3310128"/>
            <a:ext cx="4572000" cy="731520"/>
          </a:xfrm>
          <a:prstGeom prst="rect">
            <a:avLst/>
          </a:prstGeom>
          <a:noFill/>
          <a:ln/>
        </p:spPr>
        <p:txBody>
          <a:bodyPr wrap="square" rtlCol="0" anchor="t"/>
          <a:lstStyle/>
          <a:p>
            <a:pPr indent="0" marL="0">
              <a:lnSpc>
                <a:spcPts val="1600"/>
              </a:lnSpc>
              <a:buNone/>
            </a:pPr>
            <a:r>
              <a:rPr lang="en-US" sz="1250" b="1" dirty="0">
                <a:solidFill>
                  <a:srgbClr val="1F2733"/>
                </a:solidFill>
                <a:latin typeface="Arial" pitchFamily="34" charset="0"/>
                <a:ea typeface="Arial" pitchFamily="34" charset="-122"/>
                <a:cs typeface="Arial" pitchFamily="34" charset="-120"/>
              </a:rPr>
              <a:t>Copy — </a:t>
            </a:r>
            <a:pPr indent="0" marL="0">
              <a:lnSpc>
                <a:spcPts val="1600"/>
              </a:lnSpc>
              <a:buNone/>
            </a:pPr>
            <a:r>
              <a:rPr lang="en-US" sz="1250" dirty="0">
                <a:solidFill>
                  <a:srgbClr val="3A4452"/>
                </a:solidFill>
                <a:latin typeface="Arial" pitchFamily="34" charset="0"/>
                <a:ea typeface="Arial" pitchFamily="34" charset="-122"/>
                <a:cs typeface="Arial" pitchFamily="34" charset="-120"/>
              </a:rPr>
              <a:t>Grab the output to paste into your email or doc.</a:t>
            </a:r>
            <a:endParaRPr lang="en-US" sz="1250" dirty="0"/>
          </a:p>
        </p:txBody>
      </p:sp>
      <p:sp>
        <p:nvSpPr>
          <p:cNvPr id="26" name="Shape 24"/>
          <p:cNvSpPr/>
          <p:nvPr/>
        </p:nvSpPr>
        <p:spPr>
          <a:xfrm>
            <a:off x="6583680" y="4142232"/>
            <a:ext cx="365760" cy="365760"/>
          </a:xfrm>
          <a:prstGeom prst="ellipse">
            <a:avLst/>
          </a:prstGeom>
          <a:solidFill>
            <a:srgbClr val="7E0A27"/>
          </a:solidFill>
          <a:ln/>
        </p:spPr>
      </p:sp>
      <p:sp>
        <p:nvSpPr>
          <p:cNvPr id="27" name="Text 25"/>
          <p:cNvSpPr/>
          <p:nvPr/>
        </p:nvSpPr>
        <p:spPr>
          <a:xfrm>
            <a:off x="6583680" y="414223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8" name="Text 26"/>
          <p:cNvSpPr/>
          <p:nvPr/>
        </p:nvSpPr>
        <p:spPr>
          <a:xfrm>
            <a:off x="7086600" y="4096512"/>
            <a:ext cx="4572000" cy="731520"/>
          </a:xfrm>
          <a:prstGeom prst="rect">
            <a:avLst/>
          </a:prstGeom>
          <a:noFill/>
          <a:ln/>
        </p:spPr>
        <p:txBody>
          <a:bodyPr wrap="square" rtlCol="0" anchor="t"/>
          <a:lstStyle/>
          <a:p>
            <a:pPr indent="0" marL="0">
              <a:lnSpc>
                <a:spcPts val="1600"/>
              </a:lnSpc>
              <a:buNone/>
            </a:pPr>
            <a:r>
              <a:rPr lang="en-US" sz="1250" b="1" dirty="0">
                <a:solidFill>
                  <a:srgbClr val="1F2733"/>
                </a:solidFill>
                <a:latin typeface="Arial" pitchFamily="34" charset="0"/>
                <a:ea typeface="Arial" pitchFamily="34" charset="-122"/>
                <a:cs typeface="Arial" pitchFamily="34" charset="-120"/>
              </a:rPr>
              <a:t>Rename / archive — </a:t>
            </a:r>
            <a:pPr indent="0" marL="0">
              <a:lnSpc>
                <a:spcPts val="1600"/>
              </a:lnSpc>
              <a:buNone/>
            </a:pPr>
            <a:r>
              <a:rPr lang="en-US" sz="1250" dirty="0">
                <a:solidFill>
                  <a:srgbClr val="3A4452"/>
                </a:solidFill>
                <a:latin typeface="Arial" pitchFamily="34" charset="0"/>
                <a:ea typeface="Arial" pitchFamily="34" charset="-122"/>
                <a:cs typeface="Arial" pitchFamily="34" charset="-120"/>
              </a:rPr>
              <a:t>Organize chats so you can find them later.</a:t>
            </a:r>
            <a:endParaRPr lang="en-US" sz="1250" dirty="0"/>
          </a:p>
        </p:txBody>
      </p:sp>
      <p:sp>
        <p:nvSpPr>
          <p:cNvPr id="29" name="Shape 27"/>
          <p:cNvSpPr/>
          <p:nvPr/>
        </p:nvSpPr>
        <p:spPr>
          <a:xfrm>
            <a:off x="6583680" y="4928616"/>
            <a:ext cx="365760" cy="365760"/>
          </a:xfrm>
          <a:prstGeom prst="ellipse">
            <a:avLst/>
          </a:prstGeom>
          <a:solidFill>
            <a:srgbClr val="7E0A27"/>
          </a:solidFill>
          <a:ln/>
        </p:spPr>
      </p:sp>
      <p:sp>
        <p:nvSpPr>
          <p:cNvPr id="30" name="Text 28"/>
          <p:cNvSpPr/>
          <p:nvPr/>
        </p:nvSpPr>
        <p:spPr>
          <a:xfrm>
            <a:off x="6583680" y="492861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5</a:t>
            </a:r>
            <a:endParaRPr lang="en-US" sz="1250" dirty="0"/>
          </a:p>
        </p:txBody>
      </p:sp>
      <p:sp>
        <p:nvSpPr>
          <p:cNvPr id="31" name="Text 29"/>
          <p:cNvSpPr/>
          <p:nvPr/>
        </p:nvSpPr>
        <p:spPr>
          <a:xfrm>
            <a:off x="7086600" y="4882896"/>
            <a:ext cx="4572000" cy="731520"/>
          </a:xfrm>
          <a:prstGeom prst="rect">
            <a:avLst/>
          </a:prstGeom>
          <a:noFill/>
          <a:ln/>
        </p:spPr>
        <p:txBody>
          <a:bodyPr wrap="square" rtlCol="0" anchor="t"/>
          <a:lstStyle/>
          <a:p>
            <a:pPr indent="0" marL="0">
              <a:lnSpc>
                <a:spcPts val="1600"/>
              </a:lnSpc>
              <a:buNone/>
            </a:pPr>
            <a:r>
              <a:rPr lang="en-US" sz="1250" b="1" dirty="0">
                <a:solidFill>
                  <a:srgbClr val="1F2733"/>
                </a:solidFill>
                <a:latin typeface="Arial" pitchFamily="34" charset="0"/>
                <a:ea typeface="Arial" pitchFamily="34" charset="-122"/>
                <a:cs typeface="Arial" pitchFamily="34" charset="-120"/>
              </a:rPr>
              <a:t>Share — </a:t>
            </a:r>
            <a:pPr indent="0" marL="0">
              <a:lnSpc>
                <a:spcPts val="1600"/>
              </a:lnSpc>
              <a:buNone/>
            </a:pPr>
            <a:r>
              <a:rPr lang="en-US" sz="1250" dirty="0">
                <a:solidFill>
                  <a:srgbClr val="3A4452"/>
                </a:solidFill>
                <a:latin typeface="Arial" pitchFamily="34" charset="0"/>
                <a:ea typeface="Arial" pitchFamily="34" charset="-122"/>
                <a:cs typeface="Arial" pitchFamily="34" charset="-120"/>
              </a:rPr>
              <a:t>Only when appropriate and allowed by policy.</a:t>
            </a:r>
            <a:endParaRPr lang="en-US" sz="1250" dirty="0"/>
          </a:p>
        </p:txBody>
      </p:sp>
      <p:sp>
        <p:nvSpPr>
          <p:cNvPr id="32" name="Text 30"/>
          <p:cNvSpPr/>
          <p:nvPr/>
        </p:nvSpPr>
        <p:spPr>
          <a:xfrm>
            <a:off x="566928" y="5897880"/>
            <a:ext cx="11055096" cy="274320"/>
          </a:xfrm>
          <a:prstGeom prst="rect">
            <a:avLst/>
          </a:prstGeom>
          <a:noFill/>
          <a:ln/>
        </p:spPr>
        <p:txBody>
          <a:bodyPr wrap="square" rtlCol="0" anchor="ctr"/>
          <a:lstStyle/>
          <a:p>
            <a:pPr indent="0" marL="0">
              <a:buNone/>
            </a:pPr>
            <a:r>
              <a:rPr lang="en-US" sz="1050" i="1" dirty="0">
                <a:solidFill>
                  <a:srgbClr val="5E6A78"/>
                </a:solidFill>
                <a:latin typeface="Arial" pitchFamily="34" charset="0"/>
                <a:ea typeface="Arial" pitchFamily="34" charset="-122"/>
                <a:cs typeface="Arial" pitchFamily="34" charset="-120"/>
              </a:rPr>
              <a:t>Button names and placement change — teach what each is for, not where it sits.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KEEP IT CLEAN</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One chat = one workstream</a:t>
            </a:r>
            <a:endParaRPr lang="en-US" sz="2900" dirty="0"/>
          </a:p>
        </p:txBody>
      </p:sp>
      <p:sp>
        <p:nvSpPr>
          <p:cNvPr id="4" name="Shape 2"/>
          <p:cNvSpPr/>
          <p:nvPr/>
        </p:nvSpPr>
        <p:spPr>
          <a:xfrm>
            <a:off x="566928" y="1691640"/>
            <a:ext cx="5486400" cy="3840480"/>
          </a:xfrm>
          <a:prstGeom prst="roundRect">
            <a:avLst>
              <a:gd name="adj" fmla="val 2143"/>
            </a:avLst>
          </a:prstGeom>
          <a:solidFill>
            <a:srgbClr val="EAF6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920240"/>
            <a:ext cx="4937760" cy="411480"/>
          </a:xfrm>
          <a:prstGeom prst="rect">
            <a:avLst/>
          </a:prstGeom>
          <a:noFill/>
          <a:ln/>
        </p:spPr>
        <p:txBody>
          <a:bodyPr wrap="square" rtlCol="0" anchor="ctr"/>
          <a:lstStyle/>
          <a:p>
            <a:pPr indent="0" marL="0">
              <a:buNone/>
            </a:pPr>
            <a:r>
              <a:rPr lang="en-US" sz="1600" b="1" dirty="0">
                <a:solidFill>
                  <a:srgbClr val="15803D"/>
                </a:solidFill>
                <a:latin typeface="Arial" pitchFamily="34" charset="0"/>
                <a:ea typeface="Arial" pitchFamily="34" charset="-122"/>
                <a:cs typeface="Arial" pitchFamily="34" charset="-120"/>
              </a:rPr>
              <a:t>Keep the same chat when…</a:t>
            </a:r>
            <a:endParaRPr lang="en-US" sz="1600" dirty="0"/>
          </a:p>
        </p:txBody>
      </p:sp>
      <p:sp>
        <p:nvSpPr>
          <p:cNvPr id="6" name="Text 4"/>
          <p:cNvSpPr/>
          <p:nvPr/>
        </p:nvSpPr>
        <p:spPr>
          <a:xfrm>
            <a:off x="886968" y="2423160"/>
            <a:ext cx="4937760" cy="2926080"/>
          </a:xfrm>
          <a:prstGeom prst="rect">
            <a:avLst/>
          </a:prstGeom>
          <a:noFill/>
          <a:ln/>
        </p:spPr>
        <p:txBody>
          <a:bodyPr wrap="square" rtlCol="0" anchor="t"/>
          <a:lstStyle/>
          <a:p>
            <a:pPr marL="342900" indent="-342900">
              <a:lnSpc>
                <a:spcPts val="2100"/>
              </a:lnSpc>
              <a:buSzPct val="100000"/>
              <a:buChar char="•"/>
            </a:pPr>
            <a:r>
              <a:rPr lang="en-US" sz="1350" dirty="0">
                <a:solidFill>
                  <a:srgbClr val="3A4452"/>
                </a:solidFill>
                <a:latin typeface="Arial" pitchFamily="34" charset="0"/>
                <a:ea typeface="Arial" pitchFamily="34" charset="-122"/>
                <a:cs typeface="Arial" pitchFamily="34" charset="-120"/>
              </a:rPr>
              <a:t>You're refining the same piece of work</a:t>
            </a:r>
            <a:endParaRPr lang="en-US" sz="1350" dirty="0"/>
          </a:p>
          <a:p>
            <a:pPr marL="342900" indent="-342900">
              <a:lnSpc>
                <a:spcPts val="2100"/>
              </a:lnSpc>
              <a:buSzPct val="100000"/>
              <a:buChar char="•"/>
            </a:pPr>
            <a:r>
              <a:rPr lang="en-US" sz="1350" dirty="0">
                <a:solidFill>
                  <a:srgbClr val="3A4452"/>
                </a:solidFill>
                <a:latin typeface="Arial" pitchFamily="34" charset="0"/>
                <a:ea typeface="Arial" pitchFamily="34" charset="-122"/>
                <a:cs typeface="Arial" pitchFamily="34" charset="-120"/>
              </a:rPr>
              <a:t>The new question builds on what's above</a:t>
            </a:r>
            <a:endParaRPr lang="en-US" sz="1350" dirty="0"/>
          </a:p>
          <a:p>
            <a:pPr marL="342900" indent="-342900">
              <a:lnSpc>
                <a:spcPts val="2100"/>
              </a:lnSpc>
              <a:buSzPct val="100000"/>
              <a:buChar char="•"/>
            </a:pPr>
            <a:r>
              <a:rPr lang="en-US" sz="1350" dirty="0">
                <a:solidFill>
                  <a:srgbClr val="3A4452"/>
                </a:solidFill>
                <a:latin typeface="Arial" pitchFamily="34" charset="0"/>
                <a:ea typeface="Arial" pitchFamily="34" charset="-122"/>
                <a:cs typeface="Arial" pitchFamily="34" charset="-120"/>
              </a:rPr>
              <a:t>You want Claude to remember details you just gave</a:t>
            </a:r>
            <a:endParaRPr lang="en-US" sz="1350" dirty="0"/>
          </a:p>
        </p:txBody>
      </p:sp>
      <p:sp>
        <p:nvSpPr>
          <p:cNvPr id="7" name="Shape 5"/>
          <p:cNvSpPr/>
          <p:nvPr/>
        </p:nvSpPr>
        <p:spPr>
          <a:xfrm>
            <a:off x="6355080" y="1691640"/>
            <a:ext cx="5486400" cy="3840480"/>
          </a:xfrm>
          <a:prstGeom prst="roundRect">
            <a:avLst>
              <a:gd name="adj" fmla="val 2143"/>
            </a:avLst>
          </a:prstGeom>
          <a:solidFill>
            <a:srgbClr val="FDEC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920240"/>
            <a:ext cx="4937760" cy="411480"/>
          </a:xfrm>
          <a:prstGeom prst="rect">
            <a:avLst/>
          </a:prstGeom>
          <a:noFill/>
          <a:ln/>
        </p:spPr>
        <p:txBody>
          <a:bodyPr wrap="square" rtlCol="0" anchor="ctr"/>
          <a:lstStyle/>
          <a:p>
            <a:pPr indent="0" marL="0">
              <a:buNone/>
            </a:pPr>
            <a:r>
              <a:rPr lang="en-US" sz="1600" b="1" dirty="0">
                <a:solidFill>
                  <a:srgbClr val="B91C1C"/>
                </a:solidFill>
                <a:latin typeface="Arial" pitchFamily="34" charset="0"/>
                <a:ea typeface="Arial" pitchFamily="34" charset="-122"/>
                <a:cs typeface="Arial" pitchFamily="34" charset="-120"/>
              </a:rPr>
              <a:t>Start a new chat when…</a:t>
            </a:r>
            <a:endParaRPr lang="en-US" sz="1600" dirty="0"/>
          </a:p>
        </p:txBody>
      </p:sp>
      <p:sp>
        <p:nvSpPr>
          <p:cNvPr id="9" name="Text 7"/>
          <p:cNvSpPr/>
          <p:nvPr/>
        </p:nvSpPr>
        <p:spPr>
          <a:xfrm>
            <a:off x="6629400" y="2423160"/>
            <a:ext cx="4937760" cy="2926080"/>
          </a:xfrm>
          <a:prstGeom prst="rect">
            <a:avLst/>
          </a:prstGeom>
          <a:noFill/>
          <a:ln/>
        </p:spPr>
        <p:txBody>
          <a:bodyPr wrap="square" rtlCol="0" anchor="t"/>
          <a:lstStyle/>
          <a:p>
            <a:pPr marL="342900" indent="-342900">
              <a:lnSpc>
                <a:spcPts val="2100"/>
              </a:lnSpc>
              <a:buSzPct val="100000"/>
              <a:buChar char="•"/>
            </a:pPr>
            <a:r>
              <a:rPr lang="en-US" sz="1350" dirty="0">
                <a:solidFill>
                  <a:srgbClr val="3A4452"/>
                </a:solidFill>
                <a:latin typeface="Arial" pitchFamily="34" charset="0"/>
                <a:ea typeface="Arial" pitchFamily="34" charset="-122"/>
                <a:cs typeface="Arial" pitchFamily="34" charset="-120"/>
              </a:rPr>
              <a:t>You switch to an unrelated topic</a:t>
            </a:r>
            <a:endParaRPr lang="en-US" sz="1350" dirty="0"/>
          </a:p>
          <a:p>
            <a:pPr marL="342900" indent="-342900">
              <a:lnSpc>
                <a:spcPts val="2100"/>
              </a:lnSpc>
              <a:buSzPct val="100000"/>
              <a:buChar char="•"/>
            </a:pPr>
            <a:r>
              <a:rPr lang="en-US" sz="1350" dirty="0">
                <a:solidFill>
                  <a:srgbClr val="3A4452"/>
                </a:solidFill>
                <a:latin typeface="Arial" pitchFamily="34" charset="0"/>
                <a:ea typeface="Arial" pitchFamily="34" charset="-122"/>
                <a:cs typeface="Arial" pitchFamily="34" charset="-120"/>
              </a:rPr>
              <a:t>The thread is long and answers are drifting</a:t>
            </a:r>
            <a:endParaRPr lang="en-US" sz="1350" dirty="0"/>
          </a:p>
          <a:p>
            <a:pPr marL="342900" indent="-342900">
              <a:lnSpc>
                <a:spcPts val="2100"/>
              </a:lnSpc>
              <a:buSzPct val="100000"/>
              <a:buChar char="•"/>
            </a:pPr>
            <a:r>
              <a:rPr lang="en-US" sz="1350" dirty="0">
                <a:solidFill>
                  <a:srgbClr val="3A4452"/>
                </a:solidFill>
                <a:latin typeface="Arial" pitchFamily="34" charset="0"/>
                <a:ea typeface="Arial" pitchFamily="34" charset="-122"/>
                <a:cs typeface="Arial" pitchFamily="34" charset="-120"/>
              </a:rPr>
              <a:t>Old context is now confusing the request</a:t>
            </a:r>
            <a:endParaRPr lang="en-US" sz="1350" dirty="0"/>
          </a:p>
          <a:p>
            <a:pPr marL="342900" indent="-342900">
              <a:lnSpc>
                <a:spcPts val="2100"/>
              </a:lnSpc>
              <a:buSzPct val="100000"/>
              <a:buChar char="•"/>
            </a:pPr>
            <a:r>
              <a:rPr lang="en-US" sz="1350" dirty="0">
                <a:solidFill>
                  <a:srgbClr val="3A4452"/>
                </a:solidFill>
                <a:latin typeface="Arial" pitchFamily="34" charset="0"/>
                <a:ea typeface="Arial" pitchFamily="34" charset="-122"/>
                <a:cs typeface="Arial" pitchFamily="34" charset="-120"/>
              </a:rPr>
              <a:t>You want a clean, unbiased take</a:t>
            </a:r>
            <a:endParaRPr lang="en-US" sz="1350" dirty="0"/>
          </a:p>
        </p:txBody>
      </p:sp>
      <p:sp>
        <p:nvSpPr>
          <p:cNvPr id="10" name="Text 8"/>
          <p:cNvSpPr/>
          <p:nvPr/>
        </p:nvSpPr>
        <p:spPr>
          <a:xfrm>
            <a:off x="566928" y="5669280"/>
            <a:ext cx="11055096" cy="457200"/>
          </a:xfrm>
          <a:prstGeom prst="rect">
            <a:avLst/>
          </a:prstGeom>
          <a:noFill/>
          <a:ln/>
        </p:spPr>
        <p:txBody>
          <a:bodyPr wrap="square" rtlCol="0" anchor="ctr"/>
          <a:lstStyle/>
          <a:p>
            <a:pPr algn="ctr" indent="0" marL="0">
              <a:buNone/>
            </a:pPr>
            <a:r>
              <a:rPr lang="en-US" sz="1250" b="1" dirty="0">
                <a:solidFill>
                  <a:srgbClr val="1F2733"/>
                </a:solidFill>
                <a:latin typeface="Arial" pitchFamily="34" charset="0"/>
                <a:ea typeface="Arial" pitchFamily="34" charset="-122"/>
                <a:cs typeface="Arial" pitchFamily="34" charset="-120"/>
              </a:rPr>
              <a:t>Why mixed-topic threads confuse Claude: leftover context from topic A bleeds into topic B and skews the answer.</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WHEN IT'S NOT WORKING</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Claude seems stuck — reset the context</a:t>
            </a:r>
            <a:endParaRPr lang="en-US" sz="2900" dirty="0"/>
          </a:p>
        </p:txBody>
      </p:sp>
      <p:sp>
        <p:nvSpPr>
          <p:cNvPr id="4" name="Shape 2"/>
          <p:cNvSpPr/>
          <p:nvPr/>
        </p:nvSpPr>
        <p:spPr>
          <a:xfrm>
            <a:off x="566928" y="1645920"/>
            <a:ext cx="5344668" cy="1965960"/>
          </a:xfrm>
          <a:prstGeom prst="roundRect">
            <a:avLst>
              <a:gd name="adj" fmla="val 4186"/>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841248" y="1920240"/>
            <a:ext cx="457200" cy="457200"/>
          </a:xfrm>
          <a:prstGeom prst="ellipse">
            <a:avLst/>
          </a:prstGeom>
          <a:solidFill>
            <a:srgbClr val="D31242"/>
          </a:solidFill>
          <a:ln/>
        </p:spPr>
      </p:sp>
      <p:sp>
        <p:nvSpPr>
          <p:cNvPr id="6" name="Text 4"/>
          <p:cNvSpPr/>
          <p:nvPr/>
        </p:nvSpPr>
        <p:spPr>
          <a:xfrm>
            <a:off x="841248" y="19202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7" name="Text 5"/>
          <p:cNvSpPr/>
          <p:nvPr/>
        </p:nvSpPr>
        <p:spPr>
          <a:xfrm>
            <a:off x="1435608" y="1938528"/>
            <a:ext cx="4247388" cy="457200"/>
          </a:xfrm>
          <a:prstGeom prst="rect">
            <a:avLst/>
          </a:prstGeom>
          <a:noFill/>
          <a:ln/>
        </p:spPr>
        <p:txBody>
          <a:bodyPr wrap="square" lIns="0" tIns="0" rIns="0" bIns="0" rtlCol="0" anchor="ctr"/>
          <a:lstStyle/>
          <a:p>
            <a:pPr indent="0" marL="0">
              <a:buNone/>
            </a:pPr>
            <a:r>
              <a:rPr lang="en-US" sz="1600" b="1" dirty="0">
                <a:solidFill>
                  <a:srgbClr val="D31242"/>
                </a:solidFill>
                <a:latin typeface="Arial" pitchFamily="34" charset="0"/>
                <a:ea typeface="Arial" pitchFamily="34" charset="-122"/>
                <a:cs typeface="Arial" pitchFamily="34" charset="-120"/>
              </a:rPr>
              <a:t>Restate the goal</a:t>
            </a:r>
            <a:endParaRPr lang="en-US" sz="1600" dirty="0"/>
          </a:p>
        </p:txBody>
      </p:sp>
      <p:sp>
        <p:nvSpPr>
          <p:cNvPr id="8" name="Text 6"/>
          <p:cNvSpPr/>
          <p:nvPr/>
        </p:nvSpPr>
        <p:spPr>
          <a:xfrm>
            <a:off x="841248" y="2560320"/>
            <a:ext cx="4796028" cy="914400"/>
          </a:xfrm>
          <a:prstGeom prst="rect">
            <a:avLst/>
          </a:prstGeom>
          <a:noFill/>
          <a:ln/>
        </p:spPr>
        <p:txBody>
          <a:bodyPr wrap="square" rtlCol="0" anchor="ctr"/>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Say plainly what you're trying to achieve and for whom.</a:t>
            </a:r>
            <a:endParaRPr lang="en-US" sz="1300" dirty="0"/>
          </a:p>
        </p:txBody>
      </p:sp>
      <p:sp>
        <p:nvSpPr>
          <p:cNvPr id="9" name="Shape 7"/>
          <p:cNvSpPr/>
          <p:nvPr/>
        </p:nvSpPr>
        <p:spPr>
          <a:xfrm>
            <a:off x="6277356" y="1645920"/>
            <a:ext cx="5344668" cy="1965960"/>
          </a:xfrm>
          <a:prstGeom prst="roundRect">
            <a:avLst>
              <a:gd name="adj" fmla="val 4186"/>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Shape 8"/>
          <p:cNvSpPr/>
          <p:nvPr/>
        </p:nvSpPr>
        <p:spPr>
          <a:xfrm>
            <a:off x="6551676" y="1920240"/>
            <a:ext cx="457200" cy="457200"/>
          </a:xfrm>
          <a:prstGeom prst="ellipse">
            <a:avLst/>
          </a:prstGeom>
          <a:solidFill>
            <a:srgbClr val="D31242"/>
          </a:solidFill>
          <a:ln/>
        </p:spPr>
      </p:sp>
      <p:sp>
        <p:nvSpPr>
          <p:cNvPr id="11" name="Text 9"/>
          <p:cNvSpPr/>
          <p:nvPr/>
        </p:nvSpPr>
        <p:spPr>
          <a:xfrm>
            <a:off x="6551676" y="19202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2" name="Text 10"/>
          <p:cNvSpPr/>
          <p:nvPr/>
        </p:nvSpPr>
        <p:spPr>
          <a:xfrm>
            <a:off x="7146036" y="1938528"/>
            <a:ext cx="4247388" cy="457200"/>
          </a:xfrm>
          <a:prstGeom prst="rect">
            <a:avLst/>
          </a:prstGeom>
          <a:noFill/>
          <a:ln/>
        </p:spPr>
        <p:txBody>
          <a:bodyPr wrap="square" lIns="0" tIns="0" rIns="0" bIns="0" rtlCol="0" anchor="ctr"/>
          <a:lstStyle/>
          <a:p>
            <a:pPr indent="0" marL="0">
              <a:buNone/>
            </a:pPr>
            <a:r>
              <a:rPr lang="en-US" sz="1600" b="1" dirty="0">
                <a:solidFill>
                  <a:srgbClr val="D31242"/>
                </a:solidFill>
                <a:latin typeface="Arial" pitchFamily="34" charset="0"/>
                <a:ea typeface="Arial" pitchFamily="34" charset="-122"/>
                <a:cs typeface="Arial" pitchFamily="34" charset="-120"/>
              </a:rPr>
              <a:t>Summarize &amp; continue</a:t>
            </a:r>
            <a:endParaRPr lang="en-US" sz="1600" dirty="0"/>
          </a:p>
        </p:txBody>
      </p:sp>
      <p:sp>
        <p:nvSpPr>
          <p:cNvPr id="13" name="Text 11"/>
          <p:cNvSpPr/>
          <p:nvPr/>
        </p:nvSpPr>
        <p:spPr>
          <a:xfrm>
            <a:off x="6551676" y="2560320"/>
            <a:ext cx="4796028" cy="914400"/>
          </a:xfrm>
          <a:prstGeom prst="rect">
            <a:avLst/>
          </a:prstGeom>
          <a:noFill/>
          <a:ln/>
        </p:spPr>
        <p:txBody>
          <a:bodyPr wrap="square" rtlCol="0" anchor="ctr"/>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"Summarize what we've agreed so far," then build on that clean base.</a:t>
            </a:r>
            <a:endParaRPr lang="en-US" sz="1300" dirty="0"/>
          </a:p>
        </p:txBody>
      </p:sp>
      <p:sp>
        <p:nvSpPr>
          <p:cNvPr id="14" name="Shape 12"/>
          <p:cNvSpPr/>
          <p:nvPr/>
        </p:nvSpPr>
        <p:spPr>
          <a:xfrm>
            <a:off x="566928" y="3886200"/>
            <a:ext cx="5344668" cy="1965960"/>
          </a:xfrm>
          <a:prstGeom prst="roundRect">
            <a:avLst>
              <a:gd name="adj" fmla="val 4186"/>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5" name="Shape 13"/>
          <p:cNvSpPr/>
          <p:nvPr/>
        </p:nvSpPr>
        <p:spPr>
          <a:xfrm>
            <a:off x="841248" y="4160520"/>
            <a:ext cx="457200" cy="457200"/>
          </a:xfrm>
          <a:prstGeom prst="ellipse">
            <a:avLst/>
          </a:prstGeom>
          <a:solidFill>
            <a:srgbClr val="D31242"/>
          </a:solidFill>
          <a:ln/>
        </p:spPr>
      </p:sp>
      <p:sp>
        <p:nvSpPr>
          <p:cNvPr id="16" name="Text 14"/>
          <p:cNvSpPr/>
          <p:nvPr/>
        </p:nvSpPr>
        <p:spPr>
          <a:xfrm>
            <a:off x="841248" y="41605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7" name="Text 15"/>
          <p:cNvSpPr/>
          <p:nvPr/>
        </p:nvSpPr>
        <p:spPr>
          <a:xfrm>
            <a:off x="1435608" y="4178808"/>
            <a:ext cx="4247388" cy="457200"/>
          </a:xfrm>
          <a:prstGeom prst="rect">
            <a:avLst/>
          </a:prstGeom>
          <a:noFill/>
          <a:ln/>
        </p:spPr>
        <p:txBody>
          <a:bodyPr wrap="square" lIns="0" tIns="0" rIns="0" bIns="0" rtlCol="0" anchor="ctr"/>
          <a:lstStyle/>
          <a:p>
            <a:pPr indent="0" marL="0">
              <a:buNone/>
            </a:pPr>
            <a:r>
              <a:rPr lang="en-US" sz="1600" b="1" dirty="0">
                <a:solidFill>
                  <a:srgbClr val="D31242"/>
                </a:solidFill>
                <a:latin typeface="Arial" pitchFamily="34" charset="0"/>
                <a:ea typeface="Arial" pitchFamily="34" charset="-122"/>
                <a:cs typeface="Arial" pitchFamily="34" charset="-120"/>
              </a:rPr>
              <a:t>Correct directly</a:t>
            </a:r>
            <a:endParaRPr lang="en-US" sz="1600" dirty="0"/>
          </a:p>
        </p:txBody>
      </p:sp>
      <p:sp>
        <p:nvSpPr>
          <p:cNvPr id="18" name="Text 16"/>
          <p:cNvSpPr/>
          <p:nvPr/>
        </p:nvSpPr>
        <p:spPr>
          <a:xfrm>
            <a:off x="841248" y="4800600"/>
            <a:ext cx="4796028" cy="914400"/>
          </a:xfrm>
          <a:prstGeom prst="rect">
            <a:avLst/>
          </a:prstGeom>
          <a:noFill/>
          <a:ln/>
        </p:spPr>
        <p:txBody>
          <a:bodyPr wrap="square" rtlCol="0" anchor="ctr"/>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Point at the exact problem: "You misread step 2 — it's X, not Y."</a:t>
            </a:r>
            <a:endParaRPr lang="en-US" sz="1300" dirty="0"/>
          </a:p>
        </p:txBody>
      </p:sp>
      <p:sp>
        <p:nvSpPr>
          <p:cNvPr id="19" name="Shape 17"/>
          <p:cNvSpPr/>
          <p:nvPr/>
        </p:nvSpPr>
        <p:spPr>
          <a:xfrm>
            <a:off x="6277356" y="3886200"/>
            <a:ext cx="5344668" cy="1965960"/>
          </a:xfrm>
          <a:prstGeom prst="roundRect">
            <a:avLst>
              <a:gd name="adj" fmla="val 4186"/>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Shape 18"/>
          <p:cNvSpPr/>
          <p:nvPr/>
        </p:nvSpPr>
        <p:spPr>
          <a:xfrm>
            <a:off x="6551676" y="4160520"/>
            <a:ext cx="457200" cy="457200"/>
          </a:xfrm>
          <a:prstGeom prst="ellipse">
            <a:avLst/>
          </a:prstGeom>
          <a:solidFill>
            <a:srgbClr val="D31242"/>
          </a:solidFill>
          <a:ln/>
        </p:spPr>
      </p:sp>
      <p:sp>
        <p:nvSpPr>
          <p:cNvPr id="21" name="Text 19"/>
          <p:cNvSpPr/>
          <p:nvPr/>
        </p:nvSpPr>
        <p:spPr>
          <a:xfrm>
            <a:off x="6551676" y="41605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2" name="Text 20"/>
          <p:cNvSpPr/>
          <p:nvPr/>
        </p:nvSpPr>
        <p:spPr>
          <a:xfrm>
            <a:off x="7146036" y="4178808"/>
            <a:ext cx="4247388" cy="457200"/>
          </a:xfrm>
          <a:prstGeom prst="rect">
            <a:avLst/>
          </a:prstGeom>
          <a:noFill/>
          <a:ln/>
        </p:spPr>
        <p:txBody>
          <a:bodyPr wrap="square" lIns="0" tIns="0" rIns="0" bIns="0" rtlCol="0" anchor="ctr"/>
          <a:lstStyle/>
          <a:p>
            <a:pPr indent="0" marL="0">
              <a:buNone/>
            </a:pPr>
            <a:r>
              <a:rPr lang="en-US" sz="1600" b="1" dirty="0">
                <a:solidFill>
                  <a:srgbClr val="D31242"/>
                </a:solidFill>
                <a:latin typeface="Arial" pitchFamily="34" charset="0"/>
                <a:ea typeface="Arial" pitchFamily="34" charset="-122"/>
                <a:cs typeface="Arial" pitchFamily="34" charset="-120"/>
              </a:rPr>
              <a:t>Start fresh</a:t>
            </a:r>
            <a:endParaRPr lang="en-US" sz="1600" dirty="0"/>
          </a:p>
        </p:txBody>
      </p:sp>
      <p:sp>
        <p:nvSpPr>
          <p:cNvPr id="23" name="Text 21"/>
          <p:cNvSpPr/>
          <p:nvPr/>
        </p:nvSpPr>
        <p:spPr>
          <a:xfrm>
            <a:off x="6551676" y="4800600"/>
            <a:ext cx="4796028" cy="914400"/>
          </a:xfrm>
          <a:prstGeom prst="rect">
            <a:avLst/>
          </a:prstGeom>
          <a:noFill/>
          <a:ln/>
        </p:spPr>
        <p:txBody>
          <a:bodyPr wrap="square" rtlCol="0" anchor="ctr"/>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If it keeps missing, open a new chat and paste only what matters.</a:t>
            </a:r>
            <a:endParaRPr lang="en-US" sz="1300" dirty="0"/>
          </a:p>
        </p:txBody>
      </p:sp>
      <p:sp>
        <p:nvSpPr>
          <p:cNvPr id="24" name="Text 22"/>
          <p:cNvSpPr/>
          <p:nvPr/>
        </p:nvSpPr>
        <p:spPr>
          <a:xfrm>
            <a:off x="566928" y="5806440"/>
            <a:ext cx="11055096" cy="365760"/>
          </a:xfrm>
          <a:prstGeom prst="rect">
            <a:avLst/>
          </a:prstGeom>
          <a:noFill/>
          <a:ln/>
        </p:spPr>
        <p:txBody>
          <a:bodyPr wrap="square" rtlCol="0" anchor="ctr"/>
          <a:lstStyle/>
          <a:p>
            <a:pPr algn="ctr" indent="0" marL="0">
              <a:buNone/>
            </a:pPr>
            <a:r>
              <a:rPr lang="en-US" sz="1250" b="1" dirty="0">
                <a:solidFill>
                  <a:srgbClr val="1F2733"/>
                </a:solidFill>
                <a:latin typeface="Arial" pitchFamily="34" charset="0"/>
                <a:ea typeface="Arial" pitchFamily="34" charset="-122"/>
                <a:cs typeface="Arial" pitchFamily="34" charset="-120"/>
              </a:rPr>
              <a:t>Rule of thumb: two bad tries in a row → stop iterating, reset or restart. Don't argue with a stuck thread.</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USE REAL CONTEXT</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Attach the file, don't retype it</a:t>
            </a:r>
            <a:endParaRPr lang="en-US" sz="2900" dirty="0"/>
          </a:p>
        </p:txBody>
      </p:sp>
      <p:sp>
        <p:nvSpPr>
          <p:cNvPr id="4" name="Text 2"/>
          <p:cNvSpPr/>
          <p:nvPr/>
        </p:nvSpPr>
        <p:spPr>
          <a:xfrm>
            <a:off x="566928" y="1417320"/>
            <a:ext cx="2194560" cy="228600"/>
          </a:xfrm>
          <a:prstGeom prst="rect">
            <a:avLst/>
          </a:prstGeom>
          <a:noFill/>
          <a:ln/>
        </p:spPr>
        <p:txBody>
          <a:bodyPr wrap="square" rtlCol="0" anchor="ctr"/>
          <a:lstStyle/>
          <a:p>
            <a:pPr indent="0" marL="0">
              <a:buNone/>
            </a:pPr>
            <a:r>
              <a:rPr lang="en-US" sz="800" b="1" spc="150" kern="0" dirty="0">
                <a:solidFill>
                  <a:srgbClr val="5E6A78"/>
                </a:solidFill>
                <a:latin typeface="Arial" pitchFamily="34" charset="0"/>
                <a:ea typeface="Arial" pitchFamily="34" charset="-122"/>
                <a:cs typeface="Arial" pitchFamily="34" charset="-120"/>
              </a:rPr>
              <a:t>ILLUSTRATIVE MOCK-UP</a:t>
            </a:r>
            <a:endParaRPr lang="en-US" sz="800" dirty="0"/>
          </a:p>
        </p:txBody>
      </p:sp>
      <p:sp>
        <p:nvSpPr>
          <p:cNvPr id="5" name="Shape 3"/>
          <p:cNvSpPr/>
          <p:nvPr/>
        </p:nvSpPr>
        <p:spPr>
          <a:xfrm>
            <a:off x="566928" y="1691640"/>
            <a:ext cx="4754880" cy="2980944"/>
          </a:xfrm>
          <a:prstGeom prst="roundRect">
            <a:avLst>
              <a:gd name="adj" fmla="val 2761"/>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6" name="Text 4"/>
          <p:cNvSpPr/>
          <p:nvPr/>
        </p:nvSpPr>
        <p:spPr>
          <a:xfrm>
            <a:off x="795528" y="1837944"/>
            <a:ext cx="4389120" cy="292608"/>
          </a:xfrm>
          <a:prstGeom prst="rect">
            <a:avLst/>
          </a:prstGeom>
          <a:noFill/>
          <a:ln/>
        </p:spPr>
        <p:txBody>
          <a:bodyPr wrap="square" rtlCol="0" anchor="ctr"/>
          <a:lstStyle/>
          <a:p>
            <a:pPr indent="0" marL="0">
              <a:buNone/>
            </a:pPr>
            <a:r>
              <a:rPr lang="en-US" sz="1200" b="1" dirty="0">
                <a:solidFill>
                  <a:srgbClr val="D31242"/>
                </a:solidFill>
                <a:latin typeface="Arial" pitchFamily="34" charset="0"/>
                <a:ea typeface="Arial" pitchFamily="34" charset="-122"/>
                <a:cs typeface="Arial" pitchFamily="34" charset="-120"/>
              </a:rPr>
              <a:t>The “+” attach menu</a:t>
            </a:r>
            <a:endParaRPr lang="en-US" sz="1200" dirty="0"/>
          </a:p>
        </p:txBody>
      </p:sp>
      <p:sp>
        <p:nvSpPr>
          <p:cNvPr id="7" name="Shape 5"/>
          <p:cNvSpPr/>
          <p:nvPr/>
        </p:nvSpPr>
        <p:spPr>
          <a:xfrm>
            <a:off x="795528" y="2212848"/>
            <a:ext cx="182880" cy="182880"/>
          </a:xfrm>
          <a:prstGeom prst="ellipse">
            <a:avLst/>
          </a:prstGeom>
          <a:solidFill>
            <a:srgbClr val="FCE4EA"/>
          </a:solidFill>
          <a:ln/>
        </p:spPr>
      </p:sp>
      <p:sp>
        <p:nvSpPr>
          <p:cNvPr id="8" name="Text 6"/>
          <p:cNvSpPr/>
          <p:nvPr/>
        </p:nvSpPr>
        <p:spPr>
          <a:xfrm>
            <a:off x="1115568" y="2148840"/>
            <a:ext cx="3200400" cy="292608"/>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Add files or photos</a:t>
            </a:r>
            <a:endParaRPr lang="en-US" sz="1250" dirty="0"/>
          </a:p>
        </p:txBody>
      </p:sp>
      <p:sp>
        <p:nvSpPr>
          <p:cNvPr id="9" name="Text 7"/>
          <p:cNvSpPr/>
          <p:nvPr/>
        </p:nvSpPr>
        <p:spPr>
          <a:xfrm>
            <a:off x="4270248" y="2148840"/>
            <a:ext cx="914400" cy="292608"/>
          </a:xfrm>
          <a:prstGeom prst="rect">
            <a:avLst/>
          </a:prstGeom>
          <a:noFill/>
          <a:ln/>
        </p:spPr>
        <p:txBody>
          <a:bodyPr wrap="square" lIns="0" tIns="0" rIns="0" bIns="0" rtlCol="0" anchor="ctr"/>
          <a:lstStyle/>
          <a:p>
            <a:pPr algn="r" indent="0" marL="0">
              <a:buNone/>
            </a:pPr>
            <a:r>
              <a:rPr lang="en-US" sz="1000" dirty="0">
                <a:solidFill>
                  <a:srgbClr val="5E6A78"/>
                </a:solidFill>
                <a:latin typeface="Arial" pitchFamily="34" charset="0"/>
                <a:ea typeface="Arial" pitchFamily="34" charset="-122"/>
                <a:cs typeface="Arial" pitchFamily="34" charset="-120"/>
              </a:rPr>
              <a:t>⌘U</a:t>
            </a:r>
            <a:endParaRPr lang="en-US" sz="1000" dirty="0"/>
          </a:p>
        </p:txBody>
      </p:sp>
      <p:sp>
        <p:nvSpPr>
          <p:cNvPr id="10" name="Shape 8"/>
          <p:cNvSpPr/>
          <p:nvPr/>
        </p:nvSpPr>
        <p:spPr>
          <a:xfrm>
            <a:off x="795528" y="2633472"/>
            <a:ext cx="182880" cy="182880"/>
          </a:xfrm>
          <a:prstGeom prst="ellipse">
            <a:avLst/>
          </a:prstGeom>
          <a:solidFill>
            <a:srgbClr val="FCE4EA"/>
          </a:solidFill>
          <a:ln/>
        </p:spPr>
      </p:sp>
      <p:sp>
        <p:nvSpPr>
          <p:cNvPr id="11" name="Text 9"/>
          <p:cNvSpPr/>
          <p:nvPr/>
        </p:nvSpPr>
        <p:spPr>
          <a:xfrm>
            <a:off x="1115568" y="2569464"/>
            <a:ext cx="3200400" cy="292608"/>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Take a screenshot</a:t>
            </a:r>
            <a:endParaRPr lang="en-US" sz="1250" dirty="0"/>
          </a:p>
        </p:txBody>
      </p:sp>
      <p:sp>
        <p:nvSpPr>
          <p:cNvPr id="12" name="Shape 10"/>
          <p:cNvSpPr/>
          <p:nvPr/>
        </p:nvSpPr>
        <p:spPr>
          <a:xfrm>
            <a:off x="795528" y="3054096"/>
            <a:ext cx="182880" cy="182880"/>
          </a:xfrm>
          <a:prstGeom prst="ellipse">
            <a:avLst/>
          </a:prstGeom>
          <a:solidFill>
            <a:srgbClr val="FCE4EA"/>
          </a:solidFill>
          <a:ln/>
        </p:spPr>
      </p:sp>
      <p:sp>
        <p:nvSpPr>
          <p:cNvPr id="13" name="Text 11"/>
          <p:cNvSpPr/>
          <p:nvPr/>
        </p:nvSpPr>
        <p:spPr>
          <a:xfrm>
            <a:off x="1115568" y="2990088"/>
            <a:ext cx="3200400" cy="292608"/>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Add to project</a:t>
            </a:r>
            <a:endParaRPr lang="en-US" sz="1250" dirty="0"/>
          </a:p>
        </p:txBody>
      </p:sp>
      <p:sp>
        <p:nvSpPr>
          <p:cNvPr id="14" name="Shape 12"/>
          <p:cNvSpPr/>
          <p:nvPr/>
        </p:nvSpPr>
        <p:spPr>
          <a:xfrm>
            <a:off x="795528" y="3474720"/>
            <a:ext cx="182880" cy="182880"/>
          </a:xfrm>
          <a:prstGeom prst="ellipse">
            <a:avLst/>
          </a:prstGeom>
          <a:solidFill>
            <a:srgbClr val="FCE4EA"/>
          </a:solidFill>
          <a:ln/>
        </p:spPr>
      </p:sp>
      <p:sp>
        <p:nvSpPr>
          <p:cNvPr id="15" name="Text 13"/>
          <p:cNvSpPr/>
          <p:nvPr/>
        </p:nvSpPr>
        <p:spPr>
          <a:xfrm>
            <a:off x="1115568" y="3410712"/>
            <a:ext cx="3200400" cy="292608"/>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Skills</a:t>
            </a:r>
            <a:endParaRPr lang="en-US" sz="1250" dirty="0"/>
          </a:p>
        </p:txBody>
      </p:sp>
      <p:sp>
        <p:nvSpPr>
          <p:cNvPr id="16" name="Shape 14"/>
          <p:cNvSpPr/>
          <p:nvPr/>
        </p:nvSpPr>
        <p:spPr>
          <a:xfrm>
            <a:off x="795528" y="3895344"/>
            <a:ext cx="182880" cy="182880"/>
          </a:xfrm>
          <a:prstGeom prst="ellipse">
            <a:avLst/>
          </a:prstGeom>
          <a:solidFill>
            <a:srgbClr val="FCE4EA"/>
          </a:solidFill>
          <a:ln/>
        </p:spPr>
      </p:sp>
      <p:sp>
        <p:nvSpPr>
          <p:cNvPr id="17" name="Text 15"/>
          <p:cNvSpPr/>
          <p:nvPr/>
        </p:nvSpPr>
        <p:spPr>
          <a:xfrm>
            <a:off x="1115568" y="3831336"/>
            <a:ext cx="3200400" cy="292608"/>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Connectors</a:t>
            </a:r>
            <a:endParaRPr lang="en-US" sz="1250" dirty="0"/>
          </a:p>
        </p:txBody>
      </p:sp>
      <p:sp>
        <p:nvSpPr>
          <p:cNvPr id="18" name="Shape 16"/>
          <p:cNvSpPr/>
          <p:nvPr/>
        </p:nvSpPr>
        <p:spPr>
          <a:xfrm>
            <a:off x="795528" y="4315968"/>
            <a:ext cx="182880" cy="182880"/>
          </a:xfrm>
          <a:prstGeom prst="ellipse">
            <a:avLst/>
          </a:prstGeom>
          <a:solidFill>
            <a:srgbClr val="15803D"/>
          </a:solidFill>
          <a:ln/>
        </p:spPr>
      </p:sp>
      <p:sp>
        <p:nvSpPr>
          <p:cNvPr id="19" name="Text 17"/>
          <p:cNvSpPr/>
          <p:nvPr/>
        </p:nvSpPr>
        <p:spPr>
          <a:xfrm>
            <a:off x="1115568" y="4251960"/>
            <a:ext cx="3200400" cy="292608"/>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Web search</a:t>
            </a:r>
            <a:endParaRPr lang="en-US" sz="1250" dirty="0"/>
          </a:p>
        </p:txBody>
      </p:sp>
      <p:sp>
        <p:nvSpPr>
          <p:cNvPr id="20" name="Text 18"/>
          <p:cNvSpPr/>
          <p:nvPr/>
        </p:nvSpPr>
        <p:spPr>
          <a:xfrm>
            <a:off x="4270248" y="4251960"/>
            <a:ext cx="914400" cy="292608"/>
          </a:xfrm>
          <a:prstGeom prst="rect">
            <a:avLst/>
          </a:prstGeom>
          <a:noFill/>
          <a:ln/>
        </p:spPr>
        <p:txBody>
          <a:bodyPr wrap="square" lIns="0" tIns="0" rIns="0" bIns="0" rtlCol="0" anchor="ctr"/>
          <a:lstStyle/>
          <a:p>
            <a:pPr algn="r" indent="0" marL="0">
              <a:buNone/>
            </a:pPr>
            <a:r>
              <a:rPr lang="en-US" sz="1000" dirty="0">
                <a:solidFill>
                  <a:srgbClr val="5E6A78"/>
                </a:solidFill>
                <a:latin typeface="Arial" pitchFamily="34" charset="0"/>
                <a:ea typeface="Arial" pitchFamily="34" charset="-122"/>
                <a:cs typeface="Arial" pitchFamily="34" charset="-120"/>
              </a:rPr>
              <a:t>✓</a:t>
            </a:r>
            <a:endParaRPr lang="en-US" sz="1000" dirty="0"/>
          </a:p>
        </p:txBody>
      </p:sp>
      <p:sp>
        <p:nvSpPr>
          <p:cNvPr id="21" name="Shape 19"/>
          <p:cNvSpPr/>
          <p:nvPr/>
        </p:nvSpPr>
        <p:spPr>
          <a:xfrm>
            <a:off x="5943600" y="1691640"/>
            <a:ext cx="5440680" cy="3931920"/>
          </a:xfrm>
          <a:prstGeom prst="roundRect">
            <a:avLst>
              <a:gd name="adj" fmla="val 2093"/>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2" name="Text 20"/>
          <p:cNvSpPr/>
          <p:nvPr/>
        </p:nvSpPr>
        <p:spPr>
          <a:xfrm>
            <a:off x="6217920" y="1920240"/>
            <a:ext cx="4937760" cy="411480"/>
          </a:xfrm>
          <a:prstGeom prst="rect">
            <a:avLst/>
          </a:prstGeom>
          <a:noFill/>
          <a:ln/>
        </p:spPr>
        <p:txBody>
          <a:bodyPr wrap="square" rtlCol="0" anchor="ctr"/>
          <a:lstStyle/>
          <a:p>
            <a:pPr indent="0" marL="0">
              <a:buNone/>
            </a:pPr>
            <a:r>
              <a:rPr lang="en-US" sz="1650" b="1" dirty="0">
                <a:solidFill>
                  <a:srgbClr val="1F2733"/>
                </a:solidFill>
                <a:latin typeface="Arial" pitchFamily="34" charset="0"/>
                <a:ea typeface="Arial" pitchFamily="34" charset="-122"/>
                <a:cs typeface="Arial" pitchFamily="34" charset="-120"/>
              </a:rPr>
              <a:t>Feed Claude the source</a:t>
            </a:r>
            <a:endParaRPr lang="en-US" sz="1650" dirty="0"/>
          </a:p>
        </p:txBody>
      </p:sp>
      <p:sp>
        <p:nvSpPr>
          <p:cNvPr id="23" name="Text 21"/>
          <p:cNvSpPr/>
          <p:nvPr/>
        </p:nvSpPr>
        <p:spPr>
          <a:xfrm>
            <a:off x="6217920" y="2331720"/>
            <a:ext cx="4937760" cy="3200400"/>
          </a:xfrm>
          <a:prstGeom prst="rect">
            <a:avLst/>
          </a:prstGeom>
          <a:noFill/>
          <a:ln/>
        </p:spPr>
        <p:txBody>
          <a:bodyPr wrap="square" rtlCol="0" anchor="t"/>
          <a:lstStyle/>
          <a:p>
            <a:pPr indent="0" marL="0">
              <a:lnSpc>
                <a:spcPts val="1900"/>
              </a:lnSpc>
              <a:buNone/>
            </a:pPr>
            <a:r>
              <a:rPr lang="en-US" sz="1300" b="1" dirty="0">
                <a:solidFill>
                  <a:srgbClr val="1F2733"/>
                </a:solidFill>
                <a:latin typeface="Arial" pitchFamily="34" charset="0"/>
                <a:ea typeface="Arial" pitchFamily="34" charset="-122"/>
                <a:cs typeface="Arial" pitchFamily="34" charset="-120"/>
              </a:rPr>
              <a:t>Attach a PDF, spreadsheet, or screenshot </a:t>
            </a:r>
            <a:pPr indent="0" marL="0">
              <a:lnSpc>
                <a:spcPts val="1900"/>
              </a:lnSpc>
              <a:buNone/>
            </a:pPr>
            <a:r>
              <a:rPr lang="en-US" sz="1300" dirty="0">
                <a:solidFill>
                  <a:srgbClr val="3A4452"/>
                </a:solidFill>
                <a:latin typeface="Arial" pitchFamily="34" charset="0"/>
                <a:ea typeface="Arial" pitchFamily="34" charset="-122"/>
                <a:cs typeface="Arial" pitchFamily="34" charset="-120"/>
              </a:rPr>
              <a:t>and Claude reads it directly — far better than a description.</a:t>
            </a:r>
            <a:endParaRPr lang="en-US" sz="1300" dirty="0"/>
          </a:p>
          <a:p>
            <a:pPr indent="0" marL="0">
              <a:lnSpc>
                <a:spcPts val="1900"/>
              </a:lnSpc>
              <a:buNone/>
            </a:pPr>
            <a:endParaRPr lang="en-US" sz="1300" dirty="0"/>
          </a:p>
          <a:p>
            <a:pPr indent="0" marL="0">
              <a:lnSpc>
                <a:spcPts val="1900"/>
              </a:lnSpc>
              <a:buNone/>
            </a:pPr>
            <a:r>
              <a:rPr lang="en-US" sz="1300" b="1" dirty="0">
                <a:solidFill>
                  <a:srgbClr val="D31242"/>
                </a:solidFill>
                <a:latin typeface="Arial" pitchFamily="34" charset="0"/>
                <a:ea typeface="Arial" pitchFamily="34" charset="-122"/>
                <a:cs typeface="Arial" pitchFamily="34" charset="-120"/>
              </a:rPr>
              <a:t>Good uses: </a:t>
            </a:r>
            <a:pPr indent="0" marL="0">
              <a:lnSpc>
                <a:spcPts val="1900"/>
              </a:lnSpc>
              <a:buNone/>
            </a:pPr>
            <a:r>
              <a:rPr lang="en-US" sz="1300" dirty="0">
                <a:solidFill>
                  <a:srgbClr val="3A4452"/>
                </a:solidFill>
                <a:latin typeface="Arial" pitchFamily="34" charset="0"/>
                <a:ea typeface="Arial" pitchFamily="34" charset="-122"/>
                <a:cs typeface="Arial" pitchFamily="34" charset="-120"/>
              </a:rPr>
              <a:t>summarize a long bulletin, pull action items from a vendor email, turn a photo of a whiteboard into a checklist.</a:t>
            </a:r>
            <a:endParaRPr lang="en-US" sz="1300" dirty="0"/>
          </a:p>
          <a:p>
            <a:pPr indent="0" marL="0">
              <a:lnSpc>
                <a:spcPts val="1900"/>
              </a:lnSpc>
              <a:buNone/>
            </a:pPr>
            <a:endParaRPr lang="en-US" sz="1300" dirty="0"/>
          </a:p>
          <a:p>
            <a:pPr indent="0" marL="0">
              <a:lnSpc>
                <a:spcPts val="1900"/>
              </a:lnSpc>
              <a:buNone/>
            </a:pPr>
            <a:r>
              <a:rPr lang="en-US" sz="1300" b="1" dirty="0">
                <a:solidFill>
                  <a:srgbClr val="D31242"/>
                </a:solidFill>
                <a:latin typeface="Arial" pitchFamily="34" charset="0"/>
                <a:ea typeface="Arial" pitchFamily="34" charset="-122"/>
                <a:cs typeface="Arial" pitchFamily="34" charset="-120"/>
              </a:rPr>
              <a:t>Web search </a:t>
            </a:r>
            <a:pPr indent="0" marL="0">
              <a:lnSpc>
                <a:spcPts val="1900"/>
              </a:lnSpc>
              <a:buNone/>
            </a:pPr>
            <a:r>
              <a:rPr lang="en-US" sz="1300" dirty="0">
                <a:solidFill>
                  <a:srgbClr val="3A4452"/>
                </a:solidFill>
                <a:latin typeface="Arial" pitchFamily="34" charset="0"/>
                <a:ea typeface="Arial" pitchFamily="34" charset="-122"/>
                <a:cs typeface="Arial" pitchFamily="34" charset="-120"/>
              </a:rPr>
              <a:t>can be toggled here when you need current info with sources.</a:t>
            </a:r>
            <a:endParaRPr lang="en-US" sz="1300" dirty="0"/>
          </a:p>
        </p:txBody>
      </p:sp>
      <p:sp>
        <p:nvSpPr>
          <p:cNvPr id="24" name="Text 22"/>
          <p:cNvSpPr/>
          <p:nvPr/>
        </p:nvSpPr>
        <p:spPr>
          <a:xfrm>
            <a:off x="566928" y="5852160"/>
            <a:ext cx="11055096" cy="274320"/>
          </a:xfrm>
          <a:prstGeom prst="rect">
            <a:avLst/>
          </a:prstGeom>
          <a:noFill/>
          <a:ln/>
        </p:spPr>
        <p:txBody>
          <a:bodyPr wrap="square" rtlCol="0" anchor="ctr"/>
          <a:lstStyle/>
          <a:p>
            <a:pPr indent="0" marL="0">
              <a:buNone/>
            </a:pPr>
            <a:r>
              <a:rPr lang="en-US" sz="1050" i="1" dirty="0">
                <a:solidFill>
                  <a:srgbClr val="5E6A78"/>
                </a:solidFill>
                <a:latin typeface="Arial" pitchFamily="34" charset="0"/>
                <a:ea typeface="Arial" pitchFamily="34" charset="-122"/>
                <a:cs typeface="Arial" pitchFamily="34" charset="-120"/>
              </a:rPr>
              <a:t>DEMO: open the “+” menu live. Only ever attach non-sensitive example content — see the privacy slide.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PICK THE RIGHT ENGINE</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Which model, when</a:t>
            </a:r>
            <a:endParaRPr lang="en-US" sz="2900" dirty="0"/>
          </a:p>
        </p:txBody>
      </p:sp>
      <p:sp>
        <p:nvSpPr>
          <p:cNvPr id="4" name="Text 2"/>
          <p:cNvSpPr/>
          <p:nvPr/>
        </p:nvSpPr>
        <p:spPr>
          <a:xfrm>
            <a:off x="9052560" y="1417320"/>
            <a:ext cx="2194560" cy="228600"/>
          </a:xfrm>
          <a:prstGeom prst="rect">
            <a:avLst/>
          </a:prstGeom>
          <a:noFill/>
          <a:ln/>
        </p:spPr>
        <p:txBody>
          <a:bodyPr wrap="square" rtlCol="0" anchor="ctr"/>
          <a:lstStyle/>
          <a:p>
            <a:pPr indent="0" marL="0">
              <a:buNone/>
            </a:pPr>
            <a:r>
              <a:rPr lang="en-US" sz="800" b="1" spc="150" kern="0" dirty="0">
                <a:solidFill>
                  <a:srgbClr val="5E6A78"/>
                </a:solidFill>
                <a:latin typeface="Arial" pitchFamily="34" charset="0"/>
                <a:ea typeface="Arial" pitchFamily="34" charset="-122"/>
                <a:cs typeface="Arial" pitchFamily="34" charset="-120"/>
              </a:rPr>
              <a:t>ILLUSTRATIVE MOCK-UP</a:t>
            </a:r>
            <a:endParaRPr lang="en-US" sz="800" dirty="0"/>
          </a:p>
        </p:txBody>
      </p:sp>
      <p:sp>
        <p:nvSpPr>
          <p:cNvPr id="5" name="Shape 3"/>
          <p:cNvSpPr/>
          <p:nvPr/>
        </p:nvSpPr>
        <p:spPr>
          <a:xfrm>
            <a:off x="566928" y="1691640"/>
            <a:ext cx="2407920" cy="3474720"/>
          </a:xfrm>
          <a:prstGeom prst="roundRect">
            <a:avLst>
              <a:gd name="adj" fmla="val 3418"/>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6" name="Shape 4"/>
          <p:cNvSpPr/>
          <p:nvPr/>
        </p:nvSpPr>
        <p:spPr>
          <a:xfrm>
            <a:off x="795528" y="1965960"/>
            <a:ext cx="1950720" cy="594360"/>
          </a:xfrm>
          <a:prstGeom prst="roundRect">
            <a:avLst>
              <a:gd name="adj" fmla="val 10769"/>
            </a:avLst>
          </a:prstGeom>
          <a:solidFill>
            <a:srgbClr val="FCE4EA"/>
          </a:solidFill>
          <a:ln/>
        </p:spPr>
      </p:sp>
      <p:sp>
        <p:nvSpPr>
          <p:cNvPr id="7" name="Text 5"/>
          <p:cNvSpPr/>
          <p:nvPr/>
        </p:nvSpPr>
        <p:spPr>
          <a:xfrm>
            <a:off x="795528" y="1965960"/>
            <a:ext cx="1950720" cy="594360"/>
          </a:xfrm>
          <a:prstGeom prst="rect">
            <a:avLst/>
          </a:prstGeom>
          <a:noFill/>
          <a:ln/>
        </p:spPr>
        <p:txBody>
          <a:bodyPr wrap="square" lIns="0" tIns="0" rIns="0" bIns="0" rtlCol="0" anchor="ctr"/>
          <a:lstStyle/>
          <a:p>
            <a:pPr algn="ctr" indent="0" marL="0">
              <a:buNone/>
            </a:pPr>
            <a:r>
              <a:rPr lang="en-US" sz="1600" b="1" dirty="0">
                <a:solidFill>
                  <a:srgbClr val="7E0A27"/>
                </a:solidFill>
                <a:latin typeface="Arial" pitchFamily="34" charset="0"/>
                <a:ea typeface="Arial" pitchFamily="34" charset="-122"/>
                <a:cs typeface="Arial" pitchFamily="34" charset="-120"/>
              </a:rPr>
              <a:t>Haiku 4.5</a:t>
            </a:r>
            <a:endParaRPr lang="en-US" sz="1600" dirty="0"/>
          </a:p>
        </p:txBody>
      </p:sp>
      <p:sp>
        <p:nvSpPr>
          <p:cNvPr id="8" name="Text 6"/>
          <p:cNvSpPr/>
          <p:nvPr/>
        </p:nvSpPr>
        <p:spPr>
          <a:xfrm>
            <a:off x="795528" y="2697480"/>
            <a:ext cx="1950720" cy="548640"/>
          </a:xfrm>
          <a:prstGeom prst="rect">
            <a:avLst/>
          </a:prstGeom>
          <a:noFill/>
          <a:ln/>
        </p:spPr>
        <p:txBody>
          <a:bodyPr wrap="square" rtlCol="0" anchor="ctr"/>
          <a:lstStyle/>
          <a:p>
            <a:pPr indent="0" marL="0">
              <a:lnSpc>
                <a:spcPts val="1500"/>
              </a:lnSpc>
              <a:buNone/>
            </a:pPr>
            <a:r>
              <a:rPr lang="en-US" sz="1200" b="1" dirty="0">
                <a:solidFill>
                  <a:srgbClr val="1F2733"/>
                </a:solidFill>
                <a:latin typeface="Arial" pitchFamily="34" charset="0"/>
                <a:ea typeface="Arial" pitchFamily="34" charset="-122"/>
                <a:cs typeface="Arial" pitchFamily="34" charset="-120"/>
              </a:rPr>
              <a:t>Fastest for quick answers</a:t>
            </a:r>
            <a:endParaRPr lang="en-US" sz="1200" dirty="0"/>
          </a:p>
        </p:txBody>
      </p:sp>
      <p:sp>
        <p:nvSpPr>
          <p:cNvPr id="9" name="Text 7"/>
          <p:cNvSpPr/>
          <p:nvPr/>
        </p:nvSpPr>
        <p:spPr>
          <a:xfrm>
            <a:off x="795528" y="3291840"/>
            <a:ext cx="1950720" cy="1645920"/>
          </a:xfrm>
          <a:prstGeom prst="rect">
            <a:avLst/>
          </a:prstGeom>
          <a:noFill/>
          <a:ln/>
        </p:spPr>
        <p:txBody>
          <a:bodyPr wrap="square" rtlCol="0" anchor="ctr"/>
          <a:lstStyle/>
          <a:p>
            <a:pPr indent="0" marL="0">
              <a:lnSpc>
                <a:spcPts val="1700"/>
              </a:lnSpc>
              <a:buNone/>
            </a:pPr>
            <a:r>
              <a:rPr lang="en-US" sz="1200" dirty="0">
                <a:solidFill>
                  <a:srgbClr val="3A4452"/>
                </a:solidFill>
                <a:latin typeface="Arial" pitchFamily="34" charset="0"/>
                <a:ea typeface="Arial" pitchFamily="34" charset="-122"/>
                <a:cs typeface="Arial" pitchFamily="34" charset="-120"/>
              </a:rPr>
              <a:t>Quick rewrites, simple Q&amp;A, high-volume tasks.</a:t>
            </a:r>
            <a:endParaRPr lang="en-US" sz="1200" dirty="0"/>
          </a:p>
        </p:txBody>
      </p:sp>
      <p:sp>
        <p:nvSpPr>
          <p:cNvPr id="10" name="Shape 8"/>
          <p:cNvSpPr/>
          <p:nvPr/>
        </p:nvSpPr>
        <p:spPr>
          <a:xfrm>
            <a:off x="3294888" y="1691640"/>
            <a:ext cx="2407920" cy="3474720"/>
          </a:xfrm>
          <a:prstGeom prst="roundRect">
            <a:avLst>
              <a:gd name="adj" fmla="val 3418"/>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Shape 9"/>
          <p:cNvSpPr/>
          <p:nvPr/>
        </p:nvSpPr>
        <p:spPr>
          <a:xfrm>
            <a:off x="3523488" y="1965960"/>
            <a:ext cx="1950720" cy="594360"/>
          </a:xfrm>
          <a:prstGeom prst="roundRect">
            <a:avLst>
              <a:gd name="adj" fmla="val 10769"/>
            </a:avLst>
          </a:prstGeom>
          <a:solidFill>
            <a:srgbClr val="FBD6DE"/>
          </a:solidFill>
          <a:ln/>
        </p:spPr>
      </p:sp>
      <p:sp>
        <p:nvSpPr>
          <p:cNvPr id="12" name="Text 10"/>
          <p:cNvSpPr/>
          <p:nvPr/>
        </p:nvSpPr>
        <p:spPr>
          <a:xfrm>
            <a:off x="3523488" y="1965960"/>
            <a:ext cx="1950720" cy="594360"/>
          </a:xfrm>
          <a:prstGeom prst="rect">
            <a:avLst/>
          </a:prstGeom>
          <a:noFill/>
          <a:ln/>
        </p:spPr>
        <p:txBody>
          <a:bodyPr wrap="square" lIns="0" tIns="0" rIns="0" bIns="0" rtlCol="0" anchor="ctr"/>
          <a:lstStyle/>
          <a:p>
            <a:pPr algn="ctr" indent="0" marL="0">
              <a:buNone/>
            </a:pPr>
            <a:r>
              <a:rPr lang="en-US" sz="1600" b="1" dirty="0">
                <a:solidFill>
                  <a:srgbClr val="7E0A27"/>
                </a:solidFill>
                <a:latin typeface="Arial" pitchFamily="34" charset="0"/>
                <a:ea typeface="Arial" pitchFamily="34" charset="-122"/>
                <a:cs typeface="Arial" pitchFamily="34" charset="-120"/>
              </a:rPr>
              <a:t>Sonnet 4.6</a:t>
            </a:r>
            <a:endParaRPr lang="en-US" sz="1600" dirty="0"/>
          </a:p>
        </p:txBody>
      </p:sp>
      <p:sp>
        <p:nvSpPr>
          <p:cNvPr id="13" name="Text 11"/>
          <p:cNvSpPr/>
          <p:nvPr/>
        </p:nvSpPr>
        <p:spPr>
          <a:xfrm>
            <a:off x="3523488" y="2697480"/>
            <a:ext cx="1950720" cy="548640"/>
          </a:xfrm>
          <a:prstGeom prst="rect">
            <a:avLst/>
          </a:prstGeom>
          <a:noFill/>
          <a:ln/>
        </p:spPr>
        <p:txBody>
          <a:bodyPr wrap="square" rtlCol="0" anchor="ctr"/>
          <a:lstStyle/>
          <a:p>
            <a:pPr indent="0" marL="0">
              <a:lnSpc>
                <a:spcPts val="1500"/>
              </a:lnSpc>
              <a:buNone/>
            </a:pPr>
            <a:r>
              <a:rPr lang="en-US" sz="1200" b="1" dirty="0">
                <a:solidFill>
                  <a:srgbClr val="1F2733"/>
                </a:solidFill>
                <a:latin typeface="Arial" pitchFamily="34" charset="0"/>
                <a:ea typeface="Arial" pitchFamily="34" charset="-122"/>
                <a:cs typeface="Arial" pitchFamily="34" charset="-120"/>
              </a:rPr>
              <a:t>Most efficient for everyday tasks</a:t>
            </a:r>
            <a:endParaRPr lang="en-US" sz="1200" dirty="0"/>
          </a:p>
        </p:txBody>
      </p:sp>
      <p:sp>
        <p:nvSpPr>
          <p:cNvPr id="14" name="Text 12"/>
          <p:cNvSpPr/>
          <p:nvPr/>
        </p:nvSpPr>
        <p:spPr>
          <a:xfrm>
            <a:off x="3523488" y="3291840"/>
            <a:ext cx="1950720" cy="1645920"/>
          </a:xfrm>
          <a:prstGeom prst="rect">
            <a:avLst/>
          </a:prstGeom>
          <a:noFill/>
          <a:ln/>
        </p:spPr>
        <p:txBody>
          <a:bodyPr wrap="square" rtlCol="0" anchor="ctr"/>
          <a:lstStyle/>
          <a:p>
            <a:pPr indent="0" marL="0">
              <a:lnSpc>
                <a:spcPts val="1700"/>
              </a:lnSpc>
              <a:buNone/>
            </a:pPr>
            <a:r>
              <a:rPr lang="en-US" sz="1200" dirty="0">
                <a:solidFill>
                  <a:srgbClr val="3A4452"/>
                </a:solidFill>
                <a:latin typeface="Arial" pitchFamily="34" charset="0"/>
                <a:ea typeface="Arial" pitchFamily="34" charset="-122"/>
                <a:cs typeface="Arial" pitchFamily="34" charset="-120"/>
              </a:rPr>
              <a:t>Your default — most drafting, analysis, summarizing.</a:t>
            </a:r>
            <a:endParaRPr lang="en-US" sz="1200" dirty="0"/>
          </a:p>
        </p:txBody>
      </p:sp>
      <p:sp>
        <p:nvSpPr>
          <p:cNvPr id="15" name="Shape 13"/>
          <p:cNvSpPr/>
          <p:nvPr/>
        </p:nvSpPr>
        <p:spPr>
          <a:xfrm>
            <a:off x="6022848" y="1691640"/>
            <a:ext cx="2407920" cy="3474720"/>
          </a:xfrm>
          <a:prstGeom prst="roundRect">
            <a:avLst>
              <a:gd name="adj" fmla="val 3418"/>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6" name="Shape 14"/>
          <p:cNvSpPr/>
          <p:nvPr/>
        </p:nvSpPr>
        <p:spPr>
          <a:xfrm>
            <a:off x="6251448" y="1965960"/>
            <a:ext cx="1950720" cy="594360"/>
          </a:xfrm>
          <a:prstGeom prst="roundRect">
            <a:avLst>
              <a:gd name="adj" fmla="val 10769"/>
            </a:avLst>
          </a:prstGeom>
          <a:solidFill>
            <a:srgbClr val="F3B7C4"/>
          </a:solidFill>
          <a:ln/>
        </p:spPr>
      </p:sp>
      <p:sp>
        <p:nvSpPr>
          <p:cNvPr id="17" name="Text 15"/>
          <p:cNvSpPr/>
          <p:nvPr/>
        </p:nvSpPr>
        <p:spPr>
          <a:xfrm>
            <a:off x="6251448" y="1965960"/>
            <a:ext cx="1950720" cy="594360"/>
          </a:xfrm>
          <a:prstGeom prst="rect">
            <a:avLst/>
          </a:prstGeom>
          <a:noFill/>
          <a:ln/>
        </p:spPr>
        <p:txBody>
          <a:bodyPr wrap="square" lIns="0" tIns="0" rIns="0" bIns="0" rtlCol="0" anchor="ctr"/>
          <a:lstStyle/>
          <a:p>
            <a:pPr algn="ctr" indent="0" marL="0">
              <a:buNone/>
            </a:pPr>
            <a:r>
              <a:rPr lang="en-US" sz="1600" b="1" dirty="0">
                <a:solidFill>
                  <a:srgbClr val="7E0A27"/>
                </a:solidFill>
                <a:latin typeface="Arial" pitchFamily="34" charset="0"/>
                <a:ea typeface="Arial" pitchFamily="34" charset="-122"/>
                <a:cs typeface="Arial" pitchFamily="34" charset="-120"/>
              </a:rPr>
              <a:t>Opus 4.8</a:t>
            </a:r>
            <a:endParaRPr lang="en-US" sz="1600" dirty="0"/>
          </a:p>
        </p:txBody>
      </p:sp>
      <p:sp>
        <p:nvSpPr>
          <p:cNvPr id="18" name="Text 16"/>
          <p:cNvSpPr/>
          <p:nvPr/>
        </p:nvSpPr>
        <p:spPr>
          <a:xfrm>
            <a:off x="6251448" y="2697480"/>
            <a:ext cx="1950720" cy="548640"/>
          </a:xfrm>
          <a:prstGeom prst="rect">
            <a:avLst/>
          </a:prstGeom>
          <a:noFill/>
          <a:ln/>
        </p:spPr>
        <p:txBody>
          <a:bodyPr wrap="square" rtlCol="0" anchor="ctr"/>
          <a:lstStyle/>
          <a:p>
            <a:pPr indent="0" marL="0">
              <a:lnSpc>
                <a:spcPts val="1500"/>
              </a:lnSpc>
              <a:buNone/>
            </a:pPr>
            <a:r>
              <a:rPr lang="en-US" sz="1200" b="1" dirty="0">
                <a:solidFill>
                  <a:srgbClr val="1F2733"/>
                </a:solidFill>
                <a:latin typeface="Arial" pitchFamily="34" charset="0"/>
                <a:ea typeface="Arial" pitchFamily="34" charset="-122"/>
                <a:cs typeface="Arial" pitchFamily="34" charset="-120"/>
              </a:rPr>
              <a:t>For complex tasks</a:t>
            </a:r>
            <a:endParaRPr lang="en-US" sz="1200" dirty="0"/>
          </a:p>
        </p:txBody>
      </p:sp>
      <p:sp>
        <p:nvSpPr>
          <p:cNvPr id="19" name="Text 17"/>
          <p:cNvSpPr/>
          <p:nvPr/>
        </p:nvSpPr>
        <p:spPr>
          <a:xfrm>
            <a:off x="6251448" y="3291840"/>
            <a:ext cx="1950720" cy="1645920"/>
          </a:xfrm>
          <a:prstGeom prst="rect">
            <a:avLst/>
          </a:prstGeom>
          <a:noFill/>
          <a:ln/>
        </p:spPr>
        <p:txBody>
          <a:bodyPr wrap="square" rtlCol="0" anchor="ctr"/>
          <a:lstStyle/>
          <a:p>
            <a:pPr indent="0" marL="0">
              <a:lnSpc>
                <a:spcPts val="1700"/>
              </a:lnSpc>
              <a:buNone/>
            </a:pPr>
            <a:r>
              <a:rPr lang="en-US" sz="1200" dirty="0">
                <a:solidFill>
                  <a:srgbClr val="3A4452"/>
                </a:solidFill>
                <a:latin typeface="Arial" pitchFamily="34" charset="0"/>
                <a:ea typeface="Arial" pitchFamily="34" charset="-122"/>
                <a:cs typeface="Arial" pitchFamily="34" charset="-120"/>
              </a:rPr>
              <a:t>Hardest reasoning, long/complex documents.</a:t>
            </a:r>
            <a:endParaRPr lang="en-US" sz="1200" dirty="0"/>
          </a:p>
        </p:txBody>
      </p:sp>
      <p:sp>
        <p:nvSpPr>
          <p:cNvPr id="20" name="Shape 18"/>
          <p:cNvSpPr/>
          <p:nvPr/>
        </p:nvSpPr>
        <p:spPr>
          <a:xfrm>
            <a:off x="8732520" y="1691640"/>
            <a:ext cx="2697480" cy="3474720"/>
          </a:xfrm>
          <a:prstGeom prst="roundRect">
            <a:avLst>
              <a:gd name="adj" fmla="val 3051"/>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1" name="Text 19"/>
          <p:cNvSpPr/>
          <p:nvPr/>
        </p:nvSpPr>
        <p:spPr>
          <a:xfrm>
            <a:off x="8961120" y="1920240"/>
            <a:ext cx="2286000" cy="365760"/>
          </a:xfrm>
          <a:prstGeom prst="rect">
            <a:avLst/>
          </a:prstGeom>
          <a:noFill/>
          <a:ln/>
        </p:spPr>
        <p:txBody>
          <a:bodyPr wrap="square" rtlCol="0" anchor="ctr"/>
          <a:lstStyle/>
          <a:p>
            <a:pPr indent="0" marL="0">
              <a:buNone/>
            </a:pPr>
            <a:r>
              <a:rPr lang="en-US" sz="1300" b="1" dirty="0">
                <a:solidFill>
                  <a:srgbClr val="D31242"/>
                </a:solidFill>
                <a:latin typeface="Arial" pitchFamily="34" charset="0"/>
                <a:ea typeface="Arial" pitchFamily="34" charset="-122"/>
                <a:cs typeface="Arial" pitchFamily="34" charset="-120"/>
              </a:rPr>
              <a:t>Also good to know</a:t>
            </a:r>
            <a:endParaRPr lang="en-US" sz="1300" dirty="0"/>
          </a:p>
        </p:txBody>
      </p:sp>
      <p:sp>
        <p:nvSpPr>
          <p:cNvPr id="22" name="Text 20"/>
          <p:cNvSpPr/>
          <p:nvPr/>
        </p:nvSpPr>
        <p:spPr>
          <a:xfrm>
            <a:off x="8961120" y="2331720"/>
            <a:ext cx="2240280" cy="2743200"/>
          </a:xfrm>
          <a:prstGeom prst="rect">
            <a:avLst/>
          </a:prstGeom>
          <a:noFill/>
          <a:ln/>
        </p:spPr>
        <p:txBody>
          <a:bodyPr wrap="square" rtlCol="0" anchor="t"/>
          <a:lstStyle/>
          <a:p>
            <a:pPr indent="0" marL="0">
              <a:lnSpc>
                <a:spcPts val="1600"/>
              </a:lnSpc>
              <a:buNone/>
            </a:pPr>
            <a:r>
              <a:rPr lang="en-US" sz="1150" b="1" dirty="0">
                <a:solidFill>
                  <a:srgbClr val="1F2733"/>
                </a:solidFill>
                <a:latin typeface="Arial" pitchFamily="34" charset="0"/>
                <a:ea typeface="Arial" pitchFamily="34" charset="-122"/>
                <a:cs typeface="Arial" pitchFamily="34" charset="-120"/>
              </a:rPr>
              <a:t>Effort </a:t>
            </a:r>
            <a:pPr indent="0" marL="0">
              <a:lnSpc>
                <a:spcPts val="1600"/>
              </a:lnSpc>
              <a:buNone/>
            </a:pPr>
            <a:r>
              <a:rPr lang="en-US" sz="1150" dirty="0">
                <a:solidFill>
                  <a:srgbClr val="3A4452"/>
                </a:solidFill>
                <a:latin typeface="Arial" pitchFamily="34" charset="0"/>
                <a:ea typeface="Arial" pitchFamily="34" charset="-122"/>
                <a:cs typeface="Arial" pitchFamily="34" charset="-120"/>
              </a:rPr>
              <a:t>setting (e.g. Max) lets capable models think harder on tough asks.</a:t>
            </a:r>
            <a:endParaRPr lang="en-US" sz="1150" dirty="0"/>
          </a:p>
          <a:p>
            <a:pPr indent="0" marL="0">
              <a:lnSpc>
                <a:spcPts val="1600"/>
              </a:lnSpc>
              <a:buNone/>
            </a:pPr>
            <a:endParaRPr lang="en-US" sz="1150" dirty="0"/>
          </a:p>
          <a:p>
            <a:pPr indent="0" marL="0">
              <a:lnSpc>
                <a:spcPts val="1600"/>
              </a:lnSpc>
              <a:buNone/>
            </a:pPr>
            <a:r>
              <a:rPr lang="en-US" sz="1150" b="1" dirty="0">
                <a:solidFill>
                  <a:srgbClr val="1F2733"/>
                </a:solidFill>
                <a:latin typeface="Arial" pitchFamily="34" charset="0"/>
                <a:ea typeface="Arial" pitchFamily="34" charset="-122"/>
                <a:cs typeface="Arial" pitchFamily="34" charset="-120"/>
              </a:rPr>
              <a:t>Fable 5 </a:t>
            </a:r>
            <a:pPr indent="0" marL="0">
              <a:lnSpc>
                <a:spcPts val="1600"/>
              </a:lnSpc>
              <a:buNone/>
            </a:pPr>
            <a:r>
              <a:rPr lang="en-US" sz="1150" dirty="0">
                <a:solidFill>
                  <a:srgbClr val="3A4452"/>
                </a:solidFill>
                <a:latin typeface="Arial" pitchFamily="34" charset="0"/>
                <a:ea typeface="Arial" pitchFamily="34" charset="-122"/>
                <a:cs typeface="Arial" pitchFamily="34" charset="-120"/>
              </a:rPr>
              <a:t>is the frontier tier for the very toughest challenges (limited access).</a:t>
            </a:r>
            <a:endParaRPr lang="en-US" sz="1150" dirty="0"/>
          </a:p>
        </p:txBody>
      </p:sp>
      <p:sp>
        <p:nvSpPr>
          <p:cNvPr id="23" name="Text 21"/>
          <p:cNvSpPr/>
          <p:nvPr/>
        </p:nvSpPr>
        <p:spPr>
          <a:xfrm>
            <a:off x="566928" y="5349240"/>
            <a:ext cx="11055096" cy="457200"/>
          </a:xfrm>
          <a:prstGeom prst="rect">
            <a:avLst/>
          </a:prstGeom>
          <a:noFill/>
          <a:ln/>
        </p:spPr>
        <p:txBody>
          <a:bodyPr wrap="square" rtlCol="0" anchor="ctr"/>
          <a:lstStyle/>
          <a:p>
            <a:pPr algn="ctr" indent="0" marL="0">
              <a:buNone/>
            </a:pPr>
            <a:r>
              <a:rPr lang="en-US" sz="1200" b="1" dirty="0">
                <a:solidFill>
                  <a:srgbClr val="1F2733"/>
                </a:solidFill>
                <a:latin typeface="Arial" pitchFamily="34" charset="0"/>
                <a:ea typeface="Arial" pitchFamily="34" charset="-122"/>
                <a:cs typeface="Arial" pitchFamily="34" charset="-120"/>
              </a:rPr>
              <a:t>Rule of thumb: start on Sonnet. Haiku for speed, Opus for hard. Model names change — verify the current lineup.</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NON-NEGOTIABLE</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Trust, but verify — you are the editor</a:t>
            </a:r>
            <a:endParaRPr lang="en-US" sz="2900" dirty="0"/>
          </a:p>
        </p:txBody>
      </p:sp>
      <p:sp>
        <p:nvSpPr>
          <p:cNvPr id="4" name="Shape 2"/>
          <p:cNvSpPr/>
          <p:nvPr/>
        </p:nvSpPr>
        <p:spPr>
          <a:xfrm>
            <a:off x="566928" y="1554480"/>
            <a:ext cx="6766560" cy="4297680"/>
          </a:xfrm>
          <a:prstGeom prst="roundRect">
            <a:avLst>
              <a:gd name="adj" fmla="val 1915"/>
            </a:avLst>
          </a:prstGeom>
          <a:solidFill>
            <a:srgbClr val="FDEC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6217920" cy="457200"/>
          </a:xfrm>
          <a:prstGeom prst="rect">
            <a:avLst/>
          </a:prstGeom>
          <a:noFill/>
          <a:ln/>
        </p:spPr>
        <p:txBody>
          <a:bodyPr wrap="square" rtlCol="0" anchor="ctr"/>
          <a:lstStyle/>
          <a:p>
            <a:pPr indent="0" marL="0">
              <a:buNone/>
            </a:pPr>
            <a:r>
              <a:rPr lang="en-US" sz="1700" b="1" dirty="0">
                <a:solidFill>
                  <a:srgbClr val="B91C1C"/>
                </a:solidFill>
                <a:latin typeface="Arial" pitchFamily="34" charset="0"/>
                <a:ea typeface="Arial" pitchFamily="34" charset="-122"/>
                <a:cs typeface="Arial" pitchFamily="34" charset="-120"/>
              </a:rPr>
              <a:t>Claude can sound confident and still be wrong</a:t>
            </a:r>
            <a:endParaRPr lang="en-US" sz="1700" dirty="0"/>
          </a:p>
        </p:txBody>
      </p:sp>
      <p:sp>
        <p:nvSpPr>
          <p:cNvPr id="6" name="Text 4"/>
          <p:cNvSpPr/>
          <p:nvPr/>
        </p:nvSpPr>
        <p:spPr>
          <a:xfrm>
            <a:off x="841248" y="2286000"/>
            <a:ext cx="6263640" cy="3474720"/>
          </a:xfrm>
          <a:prstGeom prst="rect">
            <a:avLst/>
          </a:prstGeom>
          <a:noFill/>
          <a:ln/>
        </p:spPr>
        <p:txBody>
          <a:bodyPr wrap="square" rtlCol="0" anchor="t"/>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It can state a wrong fact, figure, date, or policy in a fluent, convincing way. Always check before it leaves your hands:</a:t>
            </a:r>
            <a:endParaRPr lang="en-US" sz="1350" dirty="0"/>
          </a:p>
          <a:p>
            <a:pPr indent="0" marL="0">
              <a:lnSpc>
                <a:spcPts val="1900"/>
              </a:lnSpc>
              <a:buNone/>
            </a:pPr>
            <a:endParaRPr lang="en-US" sz="1350" dirty="0"/>
          </a:p>
          <a:p>
            <a:pPr marL="342900" indent="-342900">
              <a:lnSpc>
                <a:spcPts val="1900"/>
              </a:lnSpc>
              <a:buSzPct val="100000"/>
              <a:buChar char="•"/>
            </a:pPr>
            <a:r>
              <a:rPr lang="en-US" sz="1350" dirty="0">
                <a:solidFill>
                  <a:srgbClr val="3A4452"/>
                </a:solidFill>
                <a:latin typeface="Arial" pitchFamily="34" charset="0"/>
                <a:ea typeface="Arial" pitchFamily="34" charset="-122"/>
                <a:cs typeface="Arial" pitchFamily="34" charset="-120"/>
              </a:rPr>
              <a:t>Numbers, prices, dates, quantities</a:t>
            </a:r>
            <a:endParaRPr lang="en-US" sz="1350" dirty="0"/>
          </a:p>
          <a:p>
            <a:pPr marL="342900" indent="-342900">
              <a:lnSpc>
                <a:spcPts val="1900"/>
              </a:lnSpc>
              <a:buSzPct val="100000"/>
              <a:buChar char="•"/>
            </a:pPr>
            <a:r>
              <a:rPr lang="en-US" sz="1350" dirty="0">
                <a:solidFill>
                  <a:srgbClr val="3A4452"/>
                </a:solidFill>
                <a:latin typeface="Arial" pitchFamily="34" charset="0"/>
                <a:ea typeface="Arial" pitchFamily="34" charset="-122"/>
                <a:cs typeface="Arial" pitchFamily="34" charset="-120"/>
              </a:rPr>
              <a:t>Policies, rules, anything compliance-related</a:t>
            </a:r>
            <a:endParaRPr lang="en-US" sz="1350" dirty="0"/>
          </a:p>
          <a:p>
            <a:pPr marL="342900" indent="-342900">
              <a:lnSpc>
                <a:spcPts val="1900"/>
              </a:lnSpc>
              <a:buSzPct val="100000"/>
              <a:buChar char="•"/>
            </a:pPr>
            <a:r>
              <a:rPr lang="en-US" sz="1350" dirty="0">
                <a:solidFill>
                  <a:srgbClr val="3A4452"/>
                </a:solidFill>
                <a:latin typeface="Arial" pitchFamily="34" charset="0"/>
                <a:ea typeface="Arial" pitchFamily="34" charset="-122"/>
                <a:cs typeface="Arial" pitchFamily="34" charset="-120"/>
              </a:rPr>
              <a:t>Names, quotes, 'facts' you can't confirm</a:t>
            </a:r>
            <a:endParaRPr lang="en-US" sz="1350" dirty="0"/>
          </a:p>
          <a:p>
            <a:pPr marL="342900" indent="-342900">
              <a:lnSpc>
                <a:spcPts val="1900"/>
              </a:lnSpc>
              <a:buSzPct val="100000"/>
              <a:buChar char="•"/>
            </a:pPr>
            <a:r>
              <a:rPr lang="en-US" sz="1350" dirty="0">
                <a:solidFill>
                  <a:srgbClr val="3A4452"/>
                </a:solidFill>
                <a:latin typeface="Arial" pitchFamily="34" charset="0"/>
                <a:ea typeface="Arial" pitchFamily="34" charset="-122"/>
                <a:cs typeface="Arial" pitchFamily="34" charset="-120"/>
              </a:rPr>
              <a:t>Anything member- or associate-facing</a:t>
            </a:r>
            <a:endParaRPr lang="en-US" sz="1350" dirty="0"/>
          </a:p>
        </p:txBody>
      </p:sp>
      <p:sp>
        <p:nvSpPr>
          <p:cNvPr id="7" name="Shape 5"/>
          <p:cNvSpPr/>
          <p:nvPr/>
        </p:nvSpPr>
        <p:spPr>
          <a:xfrm>
            <a:off x="7635240" y="1554480"/>
            <a:ext cx="3977640" cy="4297680"/>
          </a:xfrm>
          <a:prstGeom prst="roundRect">
            <a:avLst>
              <a:gd name="adj" fmla="val 2069"/>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7863840" y="1783080"/>
            <a:ext cx="3566160" cy="411480"/>
          </a:xfrm>
          <a:prstGeom prst="rect">
            <a:avLst/>
          </a:prstGeom>
          <a:noFill/>
          <a:ln/>
        </p:spPr>
        <p:txBody>
          <a:bodyPr wrap="square" rtlCol="0" anchor="ctr"/>
          <a:lstStyle/>
          <a:p>
            <a:pPr indent="0" marL="0">
              <a:buNone/>
            </a:pPr>
            <a:r>
              <a:rPr lang="en-US" sz="1500" b="1" dirty="0">
                <a:solidFill>
                  <a:srgbClr val="1F2733"/>
                </a:solidFill>
                <a:latin typeface="Arial" pitchFamily="34" charset="0"/>
                <a:ea typeface="Arial" pitchFamily="34" charset="-122"/>
                <a:cs typeface="Arial" pitchFamily="34" charset="-120"/>
              </a:rPr>
              <a:t>Two questions to ask Claude</a:t>
            </a:r>
            <a:endParaRPr lang="en-US" sz="1500" dirty="0"/>
          </a:p>
        </p:txBody>
      </p:sp>
      <p:sp>
        <p:nvSpPr>
          <p:cNvPr id="9" name="Text 7"/>
          <p:cNvSpPr/>
          <p:nvPr/>
        </p:nvSpPr>
        <p:spPr>
          <a:xfrm>
            <a:off x="7863840" y="2286000"/>
            <a:ext cx="3520440" cy="3474720"/>
          </a:xfrm>
          <a:prstGeom prst="rect">
            <a:avLst/>
          </a:prstGeom>
          <a:noFill/>
          <a:ln/>
        </p:spPr>
        <p:txBody>
          <a:bodyPr wrap="square" rtlCol="0" anchor="t"/>
          <a:lstStyle/>
          <a:p>
            <a:pPr indent="0" marL="0">
              <a:lnSpc>
                <a:spcPts val="1700"/>
              </a:lnSpc>
              <a:buNone/>
            </a:pPr>
            <a:r>
              <a:rPr lang="en-US" sz="1250" b="1" dirty="0">
                <a:solidFill>
                  <a:srgbClr val="D31242"/>
                </a:solidFill>
                <a:latin typeface="Arial" pitchFamily="34" charset="0"/>
                <a:ea typeface="Arial" pitchFamily="34" charset="-122"/>
                <a:cs typeface="Arial" pitchFamily="34" charset="-120"/>
              </a:rPr>
              <a:t>“What assumptions did you make?”</a:t>
            </a:r>
            <a:endParaRPr lang="en-US" sz="1250" dirty="0"/>
          </a:p>
          <a:p>
            <a:pPr indent="0" marL="0">
              <a:lnSpc>
                <a:spcPts val="1700"/>
              </a:lnSpc>
              <a:buNone/>
            </a:pPr>
            <a:r>
              <a:rPr lang="en-US" sz="1250" dirty="0">
                <a:solidFill>
                  <a:srgbClr val="3A4452"/>
                </a:solidFill>
                <a:latin typeface="Arial" pitchFamily="34" charset="0"/>
                <a:ea typeface="Arial" pitchFamily="34" charset="-122"/>
                <a:cs typeface="Arial" pitchFamily="34" charset="-120"/>
              </a:rPr>
              <a:t>surfaces the guesses behind the answer.</a:t>
            </a:r>
            <a:endParaRPr lang="en-US" sz="1250" dirty="0"/>
          </a:p>
          <a:p>
            <a:pPr indent="0" marL="0">
              <a:lnSpc>
                <a:spcPts val="1700"/>
              </a:lnSpc>
              <a:buNone/>
            </a:pPr>
            <a:endParaRPr lang="en-US" sz="1250" dirty="0"/>
          </a:p>
          <a:p>
            <a:pPr indent="0" marL="0">
              <a:lnSpc>
                <a:spcPts val="1700"/>
              </a:lnSpc>
              <a:buNone/>
            </a:pPr>
            <a:r>
              <a:rPr lang="en-US" sz="1250" b="1" dirty="0">
                <a:solidFill>
                  <a:srgbClr val="D31242"/>
                </a:solidFill>
                <a:latin typeface="Arial" pitchFamily="34" charset="0"/>
                <a:ea typeface="Arial" pitchFamily="34" charset="-122"/>
                <a:cs typeface="Arial" pitchFamily="34" charset="-120"/>
              </a:rPr>
              <a:t>“Which parts should I verify?”</a:t>
            </a:r>
            <a:endParaRPr lang="en-US" sz="1250" dirty="0"/>
          </a:p>
          <a:p>
            <a:pPr indent="0" marL="0">
              <a:lnSpc>
                <a:spcPts val="1700"/>
              </a:lnSpc>
              <a:buNone/>
            </a:pPr>
            <a:r>
              <a:rPr lang="en-US" sz="1250" dirty="0">
                <a:solidFill>
                  <a:srgbClr val="3A4452"/>
                </a:solidFill>
                <a:latin typeface="Arial" pitchFamily="34" charset="0"/>
                <a:ea typeface="Arial" pitchFamily="34" charset="-122"/>
                <a:cs typeface="Arial" pitchFamily="34" charset="-120"/>
              </a:rPr>
              <a:t>points you straight to the risky bits.</a:t>
            </a:r>
            <a:endParaRPr lang="en-US" sz="1250" dirty="0"/>
          </a:p>
          <a:p>
            <a:pPr indent="0" marL="0">
              <a:lnSpc>
                <a:spcPts val="1700"/>
              </a:lnSpc>
              <a:buNone/>
            </a:pPr>
            <a:endParaRPr lang="en-US" sz="1250" dirty="0"/>
          </a:p>
          <a:p>
            <a:pPr indent="0" marL="0">
              <a:lnSpc>
                <a:spcPts val="1700"/>
              </a:lnSpc>
              <a:buNone/>
            </a:pPr>
            <a:r>
              <a:rPr lang="en-US" sz="1250" b="1" dirty="0">
                <a:solidFill>
                  <a:srgbClr val="1F2733"/>
                </a:solidFill>
                <a:latin typeface="Arial" pitchFamily="34" charset="0"/>
                <a:ea typeface="Arial" pitchFamily="34" charset="-122"/>
                <a:cs typeface="Arial" pitchFamily="34" charset="-120"/>
              </a:rPr>
              <a:t>And: </a:t>
            </a:r>
            <a:pPr indent="0" marL="0">
              <a:lnSpc>
                <a:spcPts val="1700"/>
              </a:lnSpc>
              <a:buNone/>
            </a:pPr>
            <a:r>
              <a:rPr lang="en-US" sz="1250" dirty="0">
                <a:solidFill>
                  <a:srgbClr val="3A4452"/>
                </a:solidFill>
                <a:latin typeface="Arial" pitchFamily="34" charset="0"/>
                <a:ea typeface="Arial" pitchFamily="34" charset="-122"/>
                <a:cs typeface="Arial" pitchFamily="34" charset="-120"/>
              </a:rPr>
              <a:t>give it the source doc, and don't present output as final without a human review.</a:t>
            </a:r>
            <a:endParaRPr lang="en-US" sz="1250" dirty="0"/>
          </a:p>
        </p:txBody>
      </p:sp>
      <p:sp>
        <p:nvSpPr>
          <p:cNvPr id="10" name="Text 8"/>
          <p:cNvSpPr/>
          <p:nvPr/>
        </p:nvSpPr>
        <p:spPr>
          <a:xfrm>
            <a:off x="566928" y="5943600"/>
            <a:ext cx="11055096" cy="274320"/>
          </a:xfrm>
          <a:prstGeom prst="rect">
            <a:avLst/>
          </a:prstGeom>
          <a:noFill/>
          <a:ln/>
        </p:spPr>
        <p:txBody>
          <a:bodyPr wrap="square" rtlCol="0" anchor="ctr"/>
          <a:lstStyle/>
          <a:p>
            <a:pPr indent="0" marL="0">
              <a:buNone/>
            </a:pPr>
            <a:r>
              <a:rPr lang="en-US" sz="1050" i="1" dirty="0">
                <a:solidFill>
                  <a:srgbClr val="5E6A78"/>
                </a:solidFill>
                <a:latin typeface="Arial" pitchFamily="34" charset="0"/>
                <a:ea typeface="Arial" pitchFamily="34" charset="-122"/>
                <a:cs typeface="Arial" pitchFamily="34" charset="-120"/>
              </a:rPr>
              <a:t>The app itself reminds you: “Claude is AI and can make mistakes. Please double-check responses.”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USE CLAUDE RESPONSIBLY</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What NOT to paste</a:t>
            </a:r>
            <a:endParaRPr lang="en-US" sz="2900" dirty="0"/>
          </a:p>
        </p:txBody>
      </p:sp>
      <p:sp>
        <p:nvSpPr>
          <p:cNvPr id="4" name="Shape 2"/>
          <p:cNvSpPr/>
          <p:nvPr/>
        </p:nvSpPr>
        <p:spPr>
          <a:xfrm>
            <a:off x="566928" y="1600200"/>
            <a:ext cx="6035040" cy="4114800"/>
          </a:xfrm>
          <a:prstGeom prst="roundRect">
            <a:avLst>
              <a:gd name="adj" fmla="val 2000"/>
            </a:avLst>
          </a:prstGeom>
          <a:solidFill>
            <a:srgbClr val="FDEC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5486400" cy="411480"/>
          </a:xfrm>
          <a:prstGeom prst="rect">
            <a:avLst/>
          </a:prstGeom>
          <a:noFill/>
          <a:ln/>
        </p:spPr>
        <p:txBody>
          <a:bodyPr wrap="square" rtlCol="0" anchor="ctr"/>
          <a:lstStyle/>
          <a:p>
            <a:pPr indent="0" marL="0">
              <a:buNone/>
            </a:pPr>
            <a:r>
              <a:rPr lang="en-US" sz="1600" b="1" dirty="0">
                <a:solidFill>
                  <a:srgbClr val="B91C1C"/>
                </a:solidFill>
                <a:latin typeface="Arial" pitchFamily="34" charset="0"/>
                <a:ea typeface="Arial" pitchFamily="34" charset="-122"/>
                <a:cs typeface="Arial" pitchFamily="34" charset="-120"/>
              </a:rPr>
              <a:t>Don't paste this unless approved:</a:t>
            </a:r>
            <a:endParaRPr lang="en-US" sz="1600" dirty="0"/>
          </a:p>
        </p:txBody>
      </p:sp>
      <p:sp>
        <p:nvSpPr>
          <p:cNvPr id="6" name="Text 4"/>
          <p:cNvSpPr/>
          <p:nvPr/>
        </p:nvSpPr>
        <p:spPr>
          <a:xfrm>
            <a:off x="886968" y="2331720"/>
            <a:ext cx="5486400" cy="3200400"/>
          </a:xfrm>
          <a:prstGeom prst="rect">
            <a:avLst/>
          </a:prstGeom>
          <a:noFill/>
          <a:ln/>
        </p:spPr>
        <p:txBody>
          <a:bodyPr wrap="square" rtlCol="0" anchor="t"/>
          <a:lstStyle/>
          <a:p>
            <a:pPr marL="342900" indent="-342900">
              <a:lnSpc>
                <a:spcPts val="2200"/>
              </a:lnSpc>
              <a:buSzPct val="100000"/>
              <a:buChar char="•"/>
            </a:pPr>
            <a:r>
              <a:rPr lang="en-US" sz="1350" dirty="0">
                <a:solidFill>
                  <a:srgbClr val="3A4452"/>
                </a:solidFill>
                <a:latin typeface="Arial" pitchFamily="34" charset="0"/>
                <a:ea typeface="Arial" pitchFamily="34" charset="-122"/>
                <a:cs typeface="Arial" pitchFamily="34" charset="-120"/>
              </a:rPr>
              <a:t>Confidential business information</a:t>
            </a:r>
            <a:endParaRPr lang="en-US" sz="1350" dirty="0"/>
          </a:p>
          <a:p>
            <a:pPr marL="342900" indent="-342900">
              <a:lnSpc>
                <a:spcPts val="2200"/>
              </a:lnSpc>
              <a:buSzPct val="100000"/>
              <a:buChar char="•"/>
            </a:pPr>
            <a:r>
              <a:rPr lang="en-US" sz="1350" dirty="0">
                <a:solidFill>
                  <a:srgbClr val="3A4452"/>
                </a:solidFill>
                <a:latin typeface="Arial" pitchFamily="34" charset="0"/>
                <a:ea typeface="Arial" pitchFamily="34" charset="-122"/>
                <a:cs typeface="Arial" pitchFamily="34" charset="-120"/>
              </a:rPr>
              <a:t>Member personal data</a:t>
            </a:r>
            <a:endParaRPr lang="en-US" sz="1350" dirty="0"/>
          </a:p>
          <a:p>
            <a:pPr marL="342900" indent="-342900">
              <a:lnSpc>
                <a:spcPts val="2200"/>
              </a:lnSpc>
              <a:buSzPct val="100000"/>
              <a:buChar char="•"/>
            </a:pPr>
            <a:r>
              <a:rPr lang="en-US" sz="1350" dirty="0">
                <a:solidFill>
                  <a:srgbClr val="3A4452"/>
                </a:solidFill>
                <a:latin typeface="Arial" pitchFamily="34" charset="0"/>
                <a:ea typeface="Arial" pitchFamily="34" charset="-122"/>
                <a:cs typeface="Arial" pitchFamily="34" charset="-120"/>
              </a:rPr>
              <a:t>Associate personal data</a:t>
            </a:r>
            <a:endParaRPr lang="en-US" sz="1350" dirty="0"/>
          </a:p>
          <a:p>
            <a:pPr marL="342900" indent="-342900">
              <a:lnSpc>
                <a:spcPts val="2200"/>
              </a:lnSpc>
              <a:buSzPct val="100000"/>
              <a:buChar char="•"/>
            </a:pPr>
            <a:r>
              <a:rPr lang="en-US" sz="1350" dirty="0">
                <a:solidFill>
                  <a:srgbClr val="3A4452"/>
                </a:solidFill>
                <a:latin typeface="Arial" pitchFamily="34" charset="0"/>
                <a:ea typeface="Arial" pitchFamily="34" charset="-122"/>
                <a:cs typeface="Arial" pitchFamily="34" charset="-120"/>
              </a:rPr>
              <a:t>Payroll, HR, legal, medical, or sensitive operational details</a:t>
            </a:r>
            <a:endParaRPr lang="en-US" sz="1350" dirty="0"/>
          </a:p>
          <a:p>
            <a:pPr marL="342900" indent="-342900">
              <a:lnSpc>
                <a:spcPts val="2200"/>
              </a:lnSpc>
              <a:buSzPct val="100000"/>
              <a:buChar char="•"/>
            </a:pPr>
            <a:r>
              <a:rPr lang="en-US" sz="1350" dirty="0">
                <a:solidFill>
                  <a:srgbClr val="3A4452"/>
                </a:solidFill>
                <a:latin typeface="Arial" pitchFamily="34" charset="0"/>
                <a:ea typeface="Arial" pitchFamily="34" charset="-122"/>
                <a:cs typeface="Arial" pitchFamily="34" charset="-120"/>
              </a:rPr>
              <a:t>Credentials, passwords, access tokens</a:t>
            </a:r>
            <a:endParaRPr lang="en-US" sz="1350" dirty="0"/>
          </a:p>
        </p:txBody>
      </p:sp>
      <p:sp>
        <p:nvSpPr>
          <p:cNvPr id="7" name="Shape 5"/>
          <p:cNvSpPr/>
          <p:nvPr/>
        </p:nvSpPr>
        <p:spPr>
          <a:xfrm>
            <a:off x="6903720" y="1600200"/>
            <a:ext cx="4709160" cy="4114800"/>
          </a:xfrm>
          <a:prstGeom prst="roundRect">
            <a:avLst>
              <a:gd name="adj" fmla="val 2000"/>
            </a:avLst>
          </a:prstGeom>
          <a:solidFill>
            <a:srgbClr val="EAF6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7178040" y="1828800"/>
            <a:ext cx="4206240" cy="411480"/>
          </a:xfrm>
          <a:prstGeom prst="rect">
            <a:avLst/>
          </a:prstGeom>
          <a:noFill/>
          <a:ln/>
        </p:spPr>
        <p:txBody>
          <a:bodyPr wrap="square" rtlCol="0" anchor="ctr"/>
          <a:lstStyle/>
          <a:p>
            <a:pPr indent="0" marL="0">
              <a:buNone/>
            </a:pPr>
            <a:r>
              <a:rPr lang="en-US" sz="1600" b="1" dirty="0">
                <a:solidFill>
                  <a:srgbClr val="15803D"/>
                </a:solidFill>
                <a:latin typeface="Arial" pitchFamily="34" charset="0"/>
                <a:ea typeface="Arial" pitchFamily="34" charset="-122"/>
                <a:cs typeface="Arial" pitchFamily="34" charset="-120"/>
              </a:rPr>
              <a:t>The mindset</a:t>
            </a:r>
            <a:endParaRPr lang="en-US" sz="1600" dirty="0"/>
          </a:p>
        </p:txBody>
      </p:sp>
      <p:sp>
        <p:nvSpPr>
          <p:cNvPr id="9" name="Text 7"/>
          <p:cNvSpPr/>
          <p:nvPr/>
        </p:nvSpPr>
        <p:spPr>
          <a:xfrm>
            <a:off x="7178040" y="2331720"/>
            <a:ext cx="4206240" cy="3200400"/>
          </a:xfrm>
          <a:prstGeom prst="rect">
            <a:avLst/>
          </a:prstGeom>
          <a:noFill/>
          <a:ln/>
        </p:spPr>
        <p:txBody>
          <a:bodyPr wrap="square" rtlCol="0" anchor="t"/>
          <a:lstStyle/>
          <a:p>
            <a:pPr indent="0" marL="0">
              <a:lnSpc>
                <a:spcPts val="1900"/>
              </a:lnSpc>
              <a:buNone/>
            </a:pPr>
            <a:r>
              <a:rPr lang="en-US" sz="1350" b="1" i="1" dirty="0">
                <a:solidFill>
                  <a:srgbClr val="1F2733"/>
                </a:solidFill>
                <a:latin typeface="Arial" pitchFamily="34" charset="0"/>
                <a:ea typeface="Arial" pitchFamily="34" charset="-122"/>
                <a:cs typeface="Arial" pitchFamily="34" charset="-120"/>
              </a:rPr>
              <a:t>“Use Claude responsibly so we can scale adoption safely.”</a:t>
            </a:r>
            <a:endParaRPr lang="en-US" sz="1350" dirty="0"/>
          </a:p>
          <a:p>
            <a:pPr indent="0" marL="0">
              <a:lnSpc>
                <a:spcPts val="1900"/>
              </a:lnSpc>
              <a:buNone/>
            </a:pPr>
            <a:endParaRPr lang="en-US" sz="1350" dirty="0"/>
          </a:p>
          <a:p>
            <a:pPr indent="0" marL="0">
              <a:lnSpc>
                <a:spcPts val="1900"/>
              </a:lnSpc>
              <a:buNone/>
            </a:pPr>
            <a:r>
              <a:rPr lang="en-US" sz="1350" b="1" dirty="0">
                <a:solidFill>
                  <a:srgbClr val="15803D"/>
                </a:solidFill>
                <a:latin typeface="Arial" pitchFamily="34" charset="0"/>
                <a:ea typeface="Arial" pitchFamily="34" charset="-122"/>
                <a:cs typeface="Arial" pitchFamily="34" charset="-120"/>
              </a:rPr>
              <a:t>When in doubt, leave it out — </a:t>
            </a:r>
            <a:pPr indent="0" marL="0">
              <a:lnSpc>
                <a:spcPts val="1900"/>
              </a:lnSpc>
              <a:buNone/>
            </a:pPr>
            <a:r>
              <a:rPr lang="en-US" sz="1350" dirty="0">
                <a:solidFill>
                  <a:srgbClr val="3A4452"/>
                </a:solidFill>
                <a:latin typeface="Arial" pitchFamily="34" charset="0"/>
                <a:ea typeface="Arial" pitchFamily="34" charset="-122"/>
                <a:cs typeface="Arial" pitchFamily="34" charset="-120"/>
              </a:rPr>
              <a:t>or check approved tools and data-handling guidance first. Responsible use is what lets us give more people access.</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WATCH OUT FOR THESE</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Common mistakes (and the fix)</a:t>
            </a:r>
            <a:endParaRPr lang="en-US" sz="2900" dirty="0"/>
          </a:p>
        </p:txBody>
      </p:sp>
      <p:sp>
        <p:nvSpPr>
          <p:cNvPr id="4" name="Shape 2"/>
          <p:cNvSpPr/>
          <p:nvPr/>
        </p:nvSpPr>
        <p:spPr>
          <a:xfrm>
            <a:off x="566928" y="1600200"/>
            <a:ext cx="3471672" cy="1920240"/>
          </a:xfrm>
          <a:prstGeom prst="roundRect">
            <a:avLst>
              <a:gd name="adj" fmla="val 42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95528" y="1801368"/>
            <a:ext cx="457200" cy="457200"/>
          </a:xfrm>
          <a:prstGeom prst="rect">
            <a:avLst/>
          </a:prstGeom>
          <a:noFill/>
          <a:ln/>
        </p:spPr>
        <p:txBody>
          <a:bodyPr wrap="square" lIns="0" tIns="0" rIns="0" bIns="0" rtlCol="0" anchor="ctr"/>
          <a:lstStyle/>
          <a:p>
            <a:pPr indent="0" marL="0">
              <a:buNone/>
            </a:pPr>
            <a:r>
              <a:rPr lang="en-US" sz="2000" b="1" dirty="0">
                <a:solidFill>
                  <a:srgbClr val="B91C1C"/>
                </a:solidFill>
                <a:latin typeface="Arial" pitchFamily="34" charset="0"/>
                <a:ea typeface="Arial" pitchFamily="34" charset="-122"/>
                <a:cs typeface="Arial" pitchFamily="34" charset="-120"/>
              </a:rPr>
              <a:t>✕</a:t>
            </a:r>
            <a:endParaRPr lang="en-US" sz="2000" dirty="0"/>
          </a:p>
        </p:txBody>
      </p:sp>
      <p:sp>
        <p:nvSpPr>
          <p:cNvPr id="6" name="Text 4"/>
          <p:cNvSpPr/>
          <p:nvPr/>
        </p:nvSpPr>
        <p:spPr>
          <a:xfrm>
            <a:off x="1280160" y="1819656"/>
            <a:ext cx="2557272" cy="640080"/>
          </a:xfrm>
          <a:prstGeom prst="rect">
            <a:avLst/>
          </a:prstGeom>
          <a:noFill/>
          <a:ln/>
        </p:spPr>
        <p:txBody>
          <a:bodyPr wrap="square" rtlCol="0" anchor="t"/>
          <a:lstStyle/>
          <a:p>
            <a:pPr indent="0" marL="0">
              <a:lnSpc>
                <a:spcPts val="1600"/>
              </a:lnSpc>
              <a:buNone/>
            </a:pPr>
            <a:r>
              <a:rPr lang="en-US" sz="1350" b="1" dirty="0">
                <a:solidFill>
                  <a:srgbClr val="1F2733"/>
                </a:solidFill>
                <a:latin typeface="Arial" pitchFamily="34" charset="0"/>
                <a:ea typeface="Arial" pitchFamily="34" charset="-122"/>
                <a:cs typeface="Arial" pitchFamily="34" charset="-120"/>
              </a:rPr>
              <a:t>Vague one-line asks</a:t>
            </a:r>
            <a:endParaRPr lang="en-US" sz="1350" dirty="0"/>
          </a:p>
        </p:txBody>
      </p:sp>
      <p:sp>
        <p:nvSpPr>
          <p:cNvPr id="7" name="Text 5"/>
          <p:cNvSpPr/>
          <p:nvPr/>
        </p:nvSpPr>
        <p:spPr>
          <a:xfrm>
            <a:off x="822960" y="2560320"/>
            <a:ext cx="2968752" cy="86868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Add Task + Context: who it's for, what 'done' looks like.</a:t>
            </a:r>
            <a:endParaRPr lang="en-US" sz="1200" dirty="0"/>
          </a:p>
        </p:txBody>
      </p:sp>
      <p:sp>
        <p:nvSpPr>
          <p:cNvPr id="8" name="Shape 6"/>
          <p:cNvSpPr/>
          <p:nvPr/>
        </p:nvSpPr>
        <p:spPr>
          <a:xfrm>
            <a:off x="4358640" y="1600200"/>
            <a:ext cx="3471672" cy="1920240"/>
          </a:xfrm>
          <a:prstGeom prst="roundRect">
            <a:avLst>
              <a:gd name="adj" fmla="val 42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9" name="Text 7"/>
          <p:cNvSpPr/>
          <p:nvPr/>
        </p:nvSpPr>
        <p:spPr>
          <a:xfrm>
            <a:off x="4587240" y="1801368"/>
            <a:ext cx="457200" cy="457200"/>
          </a:xfrm>
          <a:prstGeom prst="rect">
            <a:avLst/>
          </a:prstGeom>
          <a:noFill/>
          <a:ln/>
        </p:spPr>
        <p:txBody>
          <a:bodyPr wrap="square" lIns="0" tIns="0" rIns="0" bIns="0" rtlCol="0" anchor="ctr"/>
          <a:lstStyle/>
          <a:p>
            <a:pPr indent="0" marL="0">
              <a:buNone/>
            </a:pPr>
            <a:r>
              <a:rPr lang="en-US" sz="2000" b="1" dirty="0">
                <a:solidFill>
                  <a:srgbClr val="B91C1C"/>
                </a:solidFill>
                <a:latin typeface="Arial" pitchFamily="34" charset="0"/>
                <a:ea typeface="Arial" pitchFamily="34" charset="-122"/>
                <a:cs typeface="Arial" pitchFamily="34" charset="-120"/>
              </a:rPr>
              <a:t>✕</a:t>
            </a:r>
            <a:endParaRPr lang="en-US" sz="2000" dirty="0"/>
          </a:p>
        </p:txBody>
      </p:sp>
      <p:sp>
        <p:nvSpPr>
          <p:cNvPr id="10" name="Text 8"/>
          <p:cNvSpPr/>
          <p:nvPr/>
        </p:nvSpPr>
        <p:spPr>
          <a:xfrm>
            <a:off x="5071872" y="1819656"/>
            <a:ext cx="2557272" cy="640080"/>
          </a:xfrm>
          <a:prstGeom prst="rect">
            <a:avLst/>
          </a:prstGeom>
          <a:noFill/>
          <a:ln/>
        </p:spPr>
        <p:txBody>
          <a:bodyPr wrap="square" rtlCol="0" anchor="t"/>
          <a:lstStyle/>
          <a:p>
            <a:pPr indent="0" marL="0">
              <a:lnSpc>
                <a:spcPts val="1600"/>
              </a:lnSpc>
              <a:buNone/>
            </a:pPr>
            <a:r>
              <a:rPr lang="en-US" sz="1350" b="1" dirty="0">
                <a:solidFill>
                  <a:srgbClr val="1F2733"/>
                </a:solidFill>
                <a:latin typeface="Arial" pitchFamily="34" charset="0"/>
                <a:ea typeface="Arial" pitchFamily="34" charset="-122"/>
                <a:cs typeface="Arial" pitchFamily="34" charset="-120"/>
              </a:rPr>
              <a:t>Topic-hopping in one chat</a:t>
            </a:r>
            <a:endParaRPr lang="en-US" sz="1350" dirty="0"/>
          </a:p>
        </p:txBody>
      </p:sp>
      <p:sp>
        <p:nvSpPr>
          <p:cNvPr id="11" name="Text 9"/>
          <p:cNvSpPr/>
          <p:nvPr/>
        </p:nvSpPr>
        <p:spPr>
          <a:xfrm>
            <a:off x="4614672" y="2560320"/>
            <a:ext cx="2968752" cy="86868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New topic → new chat. Keep the desk clean.</a:t>
            </a:r>
            <a:endParaRPr lang="en-US" sz="1200" dirty="0"/>
          </a:p>
        </p:txBody>
      </p:sp>
      <p:sp>
        <p:nvSpPr>
          <p:cNvPr id="12" name="Shape 10"/>
          <p:cNvSpPr/>
          <p:nvPr/>
        </p:nvSpPr>
        <p:spPr>
          <a:xfrm>
            <a:off x="8150352" y="1600200"/>
            <a:ext cx="3471672" cy="1920240"/>
          </a:xfrm>
          <a:prstGeom prst="roundRect">
            <a:avLst>
              <a:gd name="adj" fmla="val 42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3" name="Text 11"/>
          <p:cNvSpPr/>
          <p:nvPr/>
        </p:nvSpPr>
        <p:spPr>
          <a:xfrm>
            <a:off x="8378952" y="1801368"/>
            <a:ext cx="457200" cy="457200"/>
          </a:xfrm>
          <a:prstGeom prst="rect">
            <a:avLst/>
          </a:prstGeom>
          <a:noFill/>
          <a:ln/>
        </p:spPr>
        <p:txBody>
          <a:bodyPr wrap="square" lIns="0" tIns="0" rIns="0" bIns="0" rtlCol="0" anchor="ctr"/>
          <a:lstStyle/>
          <a:p>
            <a:pPr indent="0" marL="0">
              <a:buNone/>
            </a:pPr>
            <a:r>
              <a:rPr lang="en-US" sz="2000" b="1" dirty="0">
                <a:solidFill>
                  <a:srgbClr val="B91C1C"/>
                </a:solidFill>
                <a:latin typeface="Arial" pitchFamily="34" charset="0"/>
                <a:ea typeface="Arial" pitchFamily="34" charset="-122"/>
                <a:cs typeface="Arial" pitchFamily="34" charset="-120"/>
              </a:rPr>
              <a:t>✕</a:t>
            </a:r>
            <a:endParaRPr lang="en-US" sz="2000" dirty="0"/>
          </a:p>
        </p:txBody>
      </p:sp>
      <p:sp>
        <p:nvSpPr>
          <p:cNvPr id="14" name="Text 12"/>
          <p:cNvSpPr/>
          <p:nvPr/>
        </p:nvSpPr>
        <p:spPr>
          <a:xfrm>
            <a:off x="8863584" y="1819656"/>
            <a:ext cx="2557272" cy="640080"/>
          </a:xfrm>
          <a:prstGeom prst="rect">
            <a:avLst/>
          </a:prstGeom>
          <a:noFill/>
          <a:ln/>
        </p:spPr>
        <p:txBody>
          <a:bodyPr wrap="square" rtlCol="0" anchor="t"/>
          <a:lstStyle/>
          <a:p>
            <a:pPr indent="0" marL="0">
              <a:lnSpc>
                <a:spcPts val="1600"/>
              </a:lnSpc>
              <a:buNone/>
            </a:pPr>
            <a:r>
              <a:rPr lang="en-US" sz="1350" b="1" dirty="0">
                <a:solidFill>
                  <a:srgbClr val="1F2733"/>
                </a:solidFill>
                <a:latin typeface="Arial" pitchFamily="34" charset="0"/>
                <a:ea typeface="Arial" pitchFamily="34" charset="-122"/>
                <a:cs typeface="Arial" pitchFamily="34" charset="-120"/>
              </a:rPr>
              <a:t>Describing instead of pasting</a:t>
            </a:r>
            <a:endParaRPr lang="en-US" sz="1350" dirty="0"/>
          </a:p>
        </p:txBody>
      </p:sp>
      <p:sp>
        <p:nvSpPr>
          <p:cNvPr id="15" name="Text 13"/>
          <p:cNvSpPr/>
          <p:nvPr/>
        </p:nvSpPr>
        <p:spPr>
          <a:xfrm>
            <a:off x="8406384" y="2560320"/>
            <a:ext cx="2968752" cy="86868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Give Claude the real text, file, or numbers.</a:t>
            </a:r>
            <a:endParaRPr lang="en-US" sz="1200" dirty="0"/>
          </a:p>
        </p:txBody>
      </p:sp>
      <p:sp>
        <p:nvSpPr>
          <p:cNvPr id="16" name="Shape 14"/>
          <p:cNvSpPr/>
          <p:nvPr/>
        </p:nvSpPr>
        <p:spPr>
          <a:xfrm>
            <a:off x="566928" y="3840480"/>
            <a:ext cx="3471672" cy="1920240"/>
          </a:xfrm>
          <a:prstGeom prst="roundRect">
            <a:avLst>
              <a:gd name="adj" fmla="val 42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795528" y="4041648"/>
            <a:ext cx="457200" cy="457200"/>
          </a:xfrm>
          <a:prstGeom prst="rect">
            <a:avLst/>
          </a:prstGeom>
          <a:noFill/>
          <a:ln/>
        </p:spPr>
        <p:txBody>
          <a:bodyPr wrap="square" lIns="0" tIns="0" rIns="0" bIns="0" rtlCol="0" anchor="ctr"/>
          <a:lstStyle/>
          <a:p>
            <a:pPr indent="0" marL="0">
              <a:buNone/>
            </a:pPr>
            <a:r>
              <a:rPr lang="en-US" sz="2000" b="1" dirty="0">
                <a:solidFill>
                  <a:srgbClr val="B91C1C"/>
                </a:solidFill>
                <a:latin typeface="Arial" pitchFamily="34" charset="0"/>
                <a:ea typeface="Arial" pitchFamily="34" charset="-122"/>
                <a:cs typeface="Arial" pitchFamily="34" charset="-120"/>
              </a:rPr>
              <a:t>✕</a:t>
            </a:r>
            <a:endParaRPr lang="en-US" sz="2000" dirty="0"/>
          </a:p>
        </p:txBody>
      </p:sp>
      <p:sp>
        <p:nvSpPr>
          <p:cNvPr id="18" name="Text 16"/>
          <p:cNvSpPr/>
          <p:nvPr/>
        </p:nvSpPr>
        <p:spPr>
          <a:xfrm>
            <a:off x="1280160" y="4059936"/>
            <a:ext cx="2557272" cy="640080"/>
          </a:xfrm>
          <a:prstGeom prst="rect">
            <a:avLst/>
          </a:prstGeom>
          <a:noFill/>
          <a:ln/>
        </p:spPr>
        <p:txBody>
          <a:bodyPr wrap="square" rtlCol="0" anchor="t"/>
          <a:lstStyle/>
          <a:p>
            <a:pPr indent="0" marL="0">
              <a:lnSpc>
                <a:spcPts val="1600"/>
              </a:lnSpc>
              <a:buNone/>
            </a:pPr>
            <a:r>
              <a:rPr lang="en-US" sz="1350" b="1" dirty="0">
                <a:solidFill>
                  <a:srgbClr val="1F2733"/>
                </a:solidFill>
                <a:latin typeface="Arial" pitchFamily="34" charset="0"/>
                <a:ea typeface="Arial" pitchFamily="34" charset="-122"/>
                <a:cs typeface="Arial" pitchFamily="34" charset="-120"/>
              </a:rPr>
              <a:t>Accepting the first draft</a:t>
            </a:r>
            <a:endParaRPr lang="en-US" sz="1350" dirty="0"/>
          </a:p>
        </p:txBody>
      </p:sp>
      <p:sp>
        <p:nvSpPr>
          <p:cNvPr id="19" name="Text 17"/>
          <p:cNvSpPr/>
          <p:nvPr/>
        </p:nvSpPr>
        <p:spPr>
          <a:xfrm>
            <a:off x="822960" y="4800600"/>
            <a:ext cx="2968752" cy="86868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Iterate: 'shorter,' 'warmer,' 'as a table.'</a:t>
            </a:r>
            <a:endParaRPr lang="en-US" sz="1200" dirty="0"/>
          </a:p>
        </p:txBody>
      </p:sp>
      <p:sp>
        <p:nvSpPr>
          <p:cNvPr id="20" name="Shape 18"/>
          <p:cNvSpPr/>
          <p:nvPr/>
        </p:nvSpPr>
        <p:spPr>
          <a:xfrm>
            <a:off x="4358640" y="3840480"/>
            <a:ext cx="3471672" cy="1920240"/>
          </a:xfrm>
          <a:prstGeom prst="roundRect">
            <a:avLst>
              <a:gd name="adj" fmla="val 42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1" name="Text 19"/>
          <p:cNvSpPr/>
          <p:nvPr/>
        </p:nvSpPr>
        <p:spPr>
          <a:xfrm>
            <a:off x="4587240" y="4041648"/>
            <a:ext cx="457200" cy="457200"/>
          </a:xfrm>
          <a:prstGeom prst="rect">
            <a:avLst/>
          </a:prstGeom>
          <a:noFill/>
          <a:ln/>
        </p:spPr>
        <p:txBody>
          <a:bodyPr wrap="square" lIns="0" tIns="0" rIns="0" bIns="0" rtlCol="0" anchor="ctr"/>
          <a:lstStyle/>
          <a:p>
            <a:pPr indent="0" marL="0">
              <a:buNone/>
            </a:pPr>
            <a:r>
              <a:rPr lang="en-US" sz="2000" b="1" dirty="0">
                <a:solidFill>
                  <a:srgbClr val="B91C1C"/>
                </a:solidFill>
                <a:latin typeface="Arial" pitchFamily="34" charset="0"/>
                <a:ea typeface="Arial" pitchFamily="34" charset="-122"/>
                <a:cs typeface="Arial" pitchFamily="34" charset="-120"/>
              </a:rPr>
              <a:t>✕</a:t>
            </a:r>
            <a:endParaRPr lang="en-US" sz="2000" dirty="0"/>
          </a:p>
        </p:txBody>
      </p:sp>
      <p:sp>
        <p:nvSpPr>
          <p:cNvPr id="22" name="Text 20"/>
          <p:cNvSpPr/>
          <p:nvPr/>
        </p:nvSpPr>
        <p:spPr>
          <a:xfrm>
            <a:off x="5071872" y="4059936"/>
            <a:ext cx="2557272" cy="640080"/>
          </a:xfrm>
          <a:prstGeom prst="rect">
            <a:avLst/>
          </a:prstGeom>
          <a:noFill/>
          <a:ln/>
        </p:spPr>
        <p:txBody>
          <a:bodyPr wrap="square" rtlCol="0" anchor="t"/>
          <a:lstStyle/>
          <a:p>
            <a:pPr indent="0" marL="0">
              <a:lnSpc>
                <a:spcPts val="1600"/>
              </a:lnSpc>
              <a:buNone/>
            </a:pPr>
            <a:r>
              <a:rPr lang="en-US" sz="1350" b="1" dirty="0">
                <a:solidFill>
                  <a:srgbClr val="1F2733"/>
                </a:solidFill>
                <a:latin typeface="Arial" pitchFamily="34" charset="0"/>
                <a:ea typeface="Arial" pitchFamily="34" charset="-122"/>
                <a:cs typeface="Arial" pitchFamily="34" charset="-120"/>
              </a:rPr>
              <a:t>Trusting facts blindly</a:t>
            </a:r>
            <a:endParaRPr lang="en-US" sz="1350" dirty="0"/>
          </a:p>
        </p:txBody>
      </p:sp>
      <p:sp>
        <p:nvSpPr>
          <p:cNvPr id="23" name="Text 21"/>
          <p:cNvSpPr/>
          <p:nvPr/>
        </p:nvSpPr>
        <p:spPr>
          <a:xfrm>
            <a:off x="4614672" y="4800600"/>
            <a:ext cx="2968752" cy="86868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Verify numbers, policies, names before sending.</a:t>
            </a:r>
            <a:endParaRPr lang="en-US" sz="1200" dirty="0"/>
          </a:p>
        </p:txBody>
      </p:sp>
      <p:sp>
        <p:nvSpPr>
          <p:cNvPr id="24" name="Shape 22"/>
          <p:cNvSpPr/>
          <p:nvPr/>
        </p:nvSpPr>
        <p:spPr>
          <a:xfrm>
            <a:off x="8150352" y="3840480"/>
            <a:ext cx="3471672" cy="1920240"/>
          </a:xfrm>
          <a:prstGeom prst="roundRect">
            <a:avLst>
              <a:gd name="adj" fmla="val 42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5" name="Text 23"/>
          <p:cNvSpPr/>
          <p:nvPr/>
        </p:nvSpPr>
        <p:spPr>
          <a:xfrm>
            <a:off x="8378952" y="4041648"/>
            <a:ext cx="457200" cy="457200"/>
          </a:xfrm>
          <a:prstGeom prst="rect">
            <a:avLst/>
          </a:prstGeom>
          <a:noFill/>
          <a:ln/>
        </p:spPr>
        <p:txBody>
          <a:bodyPr wrap="square" lIns="0" tIns="0" rIns="0" bIns="0" rtlCol="0" anchor="ctr"/>
          <a:lstStyle/>
          <a:p>
            <a:pPr indent="0" marL="0">
              <a:buNone/>
            </a:pPr>
            <a:r>
              <a:rPr lang="en-US" sz="2000" b="1" dirty="0">
                <a:solidFill>
                  <a:srgbClr val="B91C1C"/>
                </a:solidFill>
                <a:latin typeface="Arial" pitchFamily="34" charset="0"/>
                <a:ea typeface="Arial" pitchFamily="34" charset="-122"/>
                <a:cs typeface="Arial" pitchFamily="34" charset="-120"/>
              </a:rPr>
              <a:t>✕</a:t>
            </a:r>
            <a:endParaRPr lang="en-US" sz="2000" dirty="0"/>
          </a:p>
        </p:txBody>
      </p:sp>
      <p:sp>
        <p:nvSpPr>
          <p:cNvPr id="26" name="Text 24"/>
          <p:cNvSpPr/>
          <p:nvPr/>
        </p:nvSpPr>
        <p:spPr>
          <a:xfrm>
            <a:off x="8863584" y="4059936"/>
            <a:ext cx="2557272" cy="640080"/>
          </a:xfrm>
          <a:prstGeom prst="rect">
            <a:avLst/>
          </a:prstGeom>
          <a:noFill/>
          <a:ln/>
        </p:spPr>
        <p:txBody>
          <a:bodyPr wrap="square" rtlCol="0" anchor="t"/>
          <a:lstStyle/>
          <a:p>
            <a:pPr indent="0" marL="0">
              <a:lnSpc>
                <a:spcPts val="1600"/>
              </a:lnSpc>
              <a:buNone/>
            </a:pPr>
            <a:r>
              <a:rPr lang="en-US" sz="1350" b="1" dirty="0">
                <a:solidFill>
                  <a:srgbClr val="1F2733"/>
                </a:solidFill>
                <a:latin typeface="Arial" pitchFamily="34" charset="0"/>
                <a:ea typeface="Arial" pitchFamily="34" charset="-122"/>
                <a:cs typeface="Arial" pitchFamily="34" charset="-120"/>
              </a:rPr>
              <a:t>Pasting sensitive data</a:t>
            </a:r>
            <a:endParaRPr lang="en-US" sz="1350" dirty="0"/>
          </a:p>
        </p:txBody>
      </p:sp>
      <p:sp>
        <p:nvSpPr>
          <p:cNvPr id="27" name="Text 25"/>
          <p:cNvSpPr/>
          <p:nvPr/>
        </p:nvSpPr>
        <p:spPr>
          <a:xfrm>
            <a:off x="8406384" y="4800600"/>
            <a:ext cx="2968752" cy="86868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When in doubt, leave it out.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MAKE IT REAL</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Core chat at BJ's — by role</a:t>
            </a:r>
            <a:endParaRPr lang="en-US" sz="2900" dirty="0"/>
          </a:p>
        </p:txBody>
      </p:sp>
      <p:sp>
        <p:nvSpPr>
          <p:cNvPr id="4" name="Shape 2"/>
          <p:cNvSpPr/>
          <p:nvPr/>
        </p:nvSpPr>
        <p:spPr>
          <a:xfrm>
            <a:off x="566928" y="1645920"/>
            <a:ext cx="5344668" cy="1965960"/>
          </a:xfrm>
          <a:prstGeom prst="roundRect">
            <a:avLst>
              <a:gd name="adj" fmla="val 4186"/>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74520"/>
            <a:ext cx="4796028" cy="411480"/>
          </a:xfrm>
          <a:prstGeom prst="rect">
            <a:avLst/>
          </a:prstGeom>
          <a:noFill/>
          <a:ln/>
        </p:spPr>
        <p:txBody>
          <a:bodyPr wrap="square" rtlCol="0" anchor="ctr"/>
          <a:lstStyle/>
          <a:p>
            <a:pPr indent="0" marL="0">
              <a:buNone/>
            </a:pPr>
            <a:r>
              <a:rPr lang="en-US" sz="1650" b="1" dirty="0">
                <a:solidFill>
                  <a:srgbClr val="D31242"/>
                </a:solidFill>
                <a:latin typeface="Arial" pitchFamily="34" charset="0"/>
                <a:ea typeface="Arial" pitchFamily="34" charset="-122"/>
                <a:cs typeface="Arial" pitchFamily="34" charset="-120"/>
              </a:rPr>
              <a:t>Club operations</a:t>
            </a:r>
            <a:endParaRPr lang="en-US" sz="1650" dirty="0"/>
          </a:p>
        </p:txBody>
      </p:sp>
      <p:sp>
        <p:nvSpPr>
          <p:cNvPr id="6" name="Text 4"/>
          <p:cNvSpPr/>
          <p:nvPr/>
        </p:nvSpPr>
        <p:spPr>
          <a:xfrm>
            <a:off x="841248" y="2359152"/>
            <a:ext cx="4796028" cy="1097280"/>
          </a:xfrm>
          <a:prstGeom prst="rect">
            <a:avLst/>
          </a:prstGeom>
          <a:noFill/>
          <a:ln/>
        </p:spPr>
        <p:txBody>
          <a:bodyPr wrap="square" rtlCol="0" anchor="ctr"/>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Draft shift announcements, turn a messy task list into a checklist, summarize a long ops bulletin.</a:t>
            </a:r>
            <a:endParaRPr lang="en-US" sz="1350" dirty="0"/>
          </a:p>
        </p:txBody>
      </p:sp>
      <p:sp>
        <p:nvSpPr>
          <p:cNvPr id="7" name="Shape 5"/>
          <p:cNvSpPr/>
          <p:nvPr/>
        </p:nvSpPr>
        <p:spPr>
          <a:xfrm>
            <a:off x="6277356" y="1645920"/>
            <a:ext cx="5344668" cy="1965960"/>
          </a:xfrm>
          <a:prstGeom prst="roundRect">
            <a:avLst>
              <a:gd name="adj" fmla="val 4186"/>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1676" y="1874520"/>
            <a:ext cx="4796028" cy="411480"/>
          </a:xfrm>
          <a:prstGeom prst="rect">
            <a:avLst/>
          </a:prstGeom>
          <a:noFill/>
          <a:ln/>
        </p:spPr>
        <p:txBody>
          <a:bodyPr wrap="square" rtlCol="0" anchor="ctr"/>
          <a:lstStyle/>
          <a:p>
            <a:pPr indent="0" marL="0">
              <a:buNone/>
            </a:pPr>
            <a:r>
              <a:rPr lang="en-US" sz="1650" b="1" dirty="0">
                <a:solidFill>
                  <a:srgbClr val="D31242"/>
                </a:solidFill>
                <a:latin typeface="Arial" pitchFamily="34" charset="0"/>
                <a:ea typeface="Arial" pitchFamily="34" charset="-122"/>
                <a:cs typeface="Arial" pitchFamily="34" charset="-120"/>
              </a:rPr>
              <a:t>Member services</a:t>
            </a:r>
            <a:endParaRPr lang="en-US" sz="1650" dirty="0"/>
          </a:p>
        </p:txBody>
      </p:sp>
      <p:sp>
        <p:nvSpPr>
          <p:cNvPr id="9" name="Text 7"/>
          <p:cNvSpPr/>
          <p:nvPr/>
        </p:nvSpPr>
        <p:spPr>
          <a:xfrm>
            <a:off x="6551676" y="2359152"/>
            <a:ext cx="4796028" cy="1097280"/>
          </a:xfrm>
          <a:prstGeom prst="rect">
            <a:avLst/>
          </a:prstGeom>
          <a:noFill/>
          <a:ln/>
        </p:spPr>
        <p:txBody>
          <a:bodyPr wrap="square" rtlCol="0" anchor="ctr"/>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Rewrite a reply to be warmer, draft FAQ answers, turn a complaint into a calm response.</a:t>
            </a:r>
            <a:endParaRPr lang="en-US" sz="1350" dirty="0"/>
          </a:p>
        </p:txBody>
      </p:sp>
      <p:sp>
        <p:nvSpPr>
          <p:cNvPr id="10" name="Shape 8"/>
          <p:cNvSpPr/>
          <p:nvPr/>
        </p:nvSpPr>
        <p:spPr>
          <a:xfrm>
            <a:off x="566928" y="3886200"/>
            <a:ext cx="5344668" cy="1965960"/>
          </a:xfrm>
          <a:prstGeom prst="roundRect">
            <a:avLst>
              <a:gd name="adj" fmla="val 4186"/>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841248" y="4114800"/>
            <a:ext cx="4796028" cy="411480"/>
          </a:xfrm>
          <a:prstGeom prst="rect">
            <a:avLst/>
          </a:prstGeom>
          <a:noFill/>
          <a:ln/>
        </p:spPr>
        <p:txBody>
          <a:bodyPr wrap="square" rtlCol="0" anchor="ctr"/>
          <a:lstStyle/>
          <a:p>
            <a:pPr indent="0" marL="0">
              <a:buNone/>
            </a:pPr>
            <a:r>
              <a:rPr lang="en-US" sz="1650" b="1" dirty="0">
                <a:solidFill>
                  <a:srgbClr val="D31242"/>
                </a:solidFill>
                <a:latin typeface="Arial" pitchFamily="34" charset="0"/>
                <a:ea typeface="Arial" pitchFamily="34" charset="-122"/>
                <a:cs typeface="Arial" pitchFamily="34" charset="-120"/>
              </a:rPr>
              <a:t>Merchandising</a:t>
            </a:r>
            <a:endParaRPr lang="en-US" sz="1650" dirty="0"/>
          </a:p>
        </p:txBody>
      </p:sp>
      <p:sp>
        <p:nvSpPr>
          <p:cNvPr id="12" name="Text 10"/>
          <p:cNvSpPr/>
          <p:nvPr/>
        </p:nvSpPr>
        <p:spPr>
          <a:xfrm>
            <a:off x="841248" y="4599432"/>
            <a:ext cx="4796028" cy="1097280"/>
          </a:xfrm>
          <a:prstGeom prst="rect">
            <a:avLst/>
          </a:prstGeom>
          <a:noFill/>
          <a:ln/>
        </p:spPr>
        <p:txBody>
          <a:bodyPr wrap="square" rtlCol="0" anchor="ctr"/>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Summarize vendor emails, compare two options in a table, draft product callout copy.</a:t>
            </a:r>
            <a:endParaRPr lang="en-US" sz="1350" dirty="0"/>
          </a:p>
        </p:txBody>
      </p:sp>
      <p:sp>
        <p:nvSpPr>
          <p:cNvPr id="13" name="Shape 11"/>
          <p:cNvSpPr/>
          <p:nvPr/>
        </p:nvSpPr>
        <p:spPr>
          <a:xfrm>
            <a:off x="6277356" y="3886200"/>
            <a:ext cx="5344668" cy="1965960"/>
          </a:xfrm>
          <a:prstGeom prst="roundRect">
            <a:avLst>
              <a:gd name="adj" fmla="val 4186"/>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6551676" y="4114800"/>
            <a:ext cx="4796028" cy="411480"/>
          </a:xfrm>
          <a:prstGeom prst="rect">
            <a:avLst/>
          </a:prstGeom>
          <a:noFill/>
          <a:ln/>
        </p:spPr>
        <p:txBody>
          <a:bodyPr wrap="square" rtlCol="0" anchor="ctr"/>
          <a:lstStyle/>
          <a:p>
            <a:pPr indent="0" marL="0">
              <a:buNone/>
            </a:pPr>
            <a:r>
              <a:rPr lang="en-US" sz="1650" b="1" dirty="0">
                <a:solidFill>
                  <a:srgbClr val="D31242"/>
                </a:solidFill>
                <a:latin typeface="Arial" pitchFamily="34" charset="0"/>
                <a:ea typeface="Arial" pitchFamily="34" charset="-122"/>
                <a:cs typeface="Arial" pitchFamily="34" charset="-120"/>
              </a:rPr>
              <a:t>HR &amp; training</a:t>
            </a:r>
            <a:endParaRPr lang="en-US" sz="1650" dirty="0"/>
          </a:p>
        </p:txBody>
      </p:sp>
      <p:sp>
        <p:nvSpPr>
          <p:cNvPr id="15" name="Text 13"/>
          <p:cNvSpPr/>
          <p:nvPr/>
        </p:nvSpPr>
        <p:spPr>
          <a:xfrm>
            <a:off x="6551676" y="4599432"/>
            <a:ext cx="4796028" cy="1097280"/>
          </a:xfrm>
          <a:prstGeom prst="rect">
            <a:avLst/>
          </a:prstGeom>
          <a:noFill/>
          <a:ln/>
        </p:spPr>
        <p:txBody>
          <a:bodyPr wrap="square" rtlCol="0" anchor="ctr"/>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Outline a training agenda, simplify a policy into plain English, draft onboarding notes.</a:t>
            </a:r>
            <a:endParaRPr lang="en-US" sz="1350" dirty="0"/>
          </a:p>
        </p:txBody>
      </p:sp>
      <p:sp>
        <p:nvSpPr>
          <p:cNvPr id="16" name="Text 14"/>
          <p:cNvSpPr/>
          <p:nvPr/>
        </p:nvSpPr>
        <p:spPr>
          <a:xfrm>
            <a:off x="566928" y="5852160"/>
            <a:ext cx="11055096" cy="320040"/>
          </a:xfrm>
          <a:prstGeom prst="rect">
            <a:avLst/>
          </a:prstGeom>
          <a:noFill/>
          <a:ln/>
        </p:spPr>
        <p:txBody>
          <a:bodyPr wrap="square" rtlCol="0" anchor="ctr"/>
          <a:lstStyle/>
          <a:p>
            <a:pPr algn="ctr" indent="0" marL="0">
              <a:buNone/>
            </a:pPr>
            <a:r>
              <a:rPr lang="en-US" sz="1250" b="1" dirty="0">
                <a:solidFill>
                  <a:srgbClr val="1F2733"/>
                </a:solidFill>
                <a:latin typeface="Arial" pitchFamily="34" charset="0"/>
                <a:ea typeface="Arial" pitchFamily="34" charset="-122"/>
                <a:cs typeface="Arial" pitchFamily="34" charset="-120"/>
              </a:rPr>
              <a:t>All of these are core chat — no special features required. That's the point.</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9875520" y="-1463040"/>
            <a:ext cx="4754880" cy="4754880"/>
          </a:xfrm>
          <a:prstGeom prst="ellipse">
            <a:avLst/>
          </a:prstGeom>
          <a:solidFill>
            <a:srgbClr val="A60E34"/>
          </a:solidFill>
          <a:ln/>
        </p:spPr>
      </p:sp>
      <p:sp>
        <p:nvSpPr>
          <p:cNvPr id="3" name="Text 1"/>
          <p:cNvSpPr/>
          <p:nvPr/>
        </p:nvSpPr>
        <p:spPr>
          <a:xfrm>
            <a:off x="566928" y="548640"/>
            <a:ext cx="10058400" cy="365760"/>
          </a:xfrm>
          <a:prstGeom prst="rect">
            <a:avLst/>
          </a:prstGeom>
          <a:noFill/>
          <a:ln/>
        </p:spPr>
        <p:txBody>
          <a:bodyPr wrap="square" rtlCol="0" anchor="ctr"/>
          <a:lstStyle/>
          <a:p>
            <a:pPr indent="0" marL="0">
              <a:buNone/>
            </a:pPr>
            <a:r>
              <a:rPr lang="en-US" sz="1300" b="1" spc="300" kern="0" dirty="0">
                <a:solidFill>
                  <a:srgbClr val="F7B9C6"/>
                </a:solidFill>
                <a:latin typeface="Arial" pitchFamily="34" charset="0"/>
                <a:ea typeface="Arial" pitchFamily="34" charset="-122"/>
                <a:cs typeface="Arial" pitchFamily="34" charset="-120"/>
              </a:rPr>
              <a:t>FACILITATOR LIVE DEMO</a:t>
            </a:r>
            <a:endParaRPr lang="en-US" sz="1300" dirty="0"/>
          </a:p>
        </p:txBody>
      </p:sp>
      <p:sp>
        <p:nvSpPr>
          <p:cNvPr id="4" name="Text 2"/>
          <p:cNvSpPr/>
          <p:nvPr/>
        </p:nvSpPr>
        <p:spPr>
          <a:xfrm>
            <a:off x="566928" y="914400"/>
            <a:ext cx="10789920" cy="68580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Demos 1 &amp; 2 — weak vs. strong, then iterate</a:t>
            </a:r>
            <a:endParaRPr lang="en-US" sz="2700" dirty="0"/>
          </a:p>
        </p:txBody>
      </p:sp>
      <p:sp>
        <p:nvSpPr>
          <p:cNvPr id="5" name="Shape 3"/>
          <p:cNvSpPr/>
          <p:nvPr/>
        </p:nvSpPr>
        <p:spPr>
          <a:xfrm>
            <a:off x="566928" y="1828800"/>
            <a:ext cx="5440680" cy="3886200"/>
          </a:xfrm>
          <a:prstGeom prst="roundRect">
            <a:avLst>
              <a:gd name="adj" fmla="val 2118"/>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6" name="Text 4"/>
          <p:cNvSpPr/>
          <p:nvPr/>
        </p:nvSpPr>
        <p:spPr>
          <a:xfrm>
            <a:off x="841248" y="2011680"/>
            <a:ext cx="4937760" cy="365760"/>
          </a:xfrm>
          <a:prstGeom prst="rect">
            <a:avLst/>
          </a:prstGeom>
          <a:noFill/>
          <a:ln/>
        </p:spPr>
        <p:txBody>
          <a:bodyPr wrap="square" rtlCol="0" anchor="ctr"/>
          <a:lstStyle/>
          <a:p>
            <a:pPr indent="0" marL="0">
              <a:buNone/>
            </a:pPr>
            <a:r>
              <a:rPr lang="en-US" sz="1500" b="1" dirty="0">
                <a:solidFill>
                  <a:srgbClr val="D31242"/>
                </a:solidFill>
                <a:latin typeface="Arial" pitchFamily="34" charset="0"/>
                <a:ea typeface="Arial" pitchFamily="34" charset="-122"/>
                <a:cs typeface="Arial" pitchFamily="34" charset="-120"/>
              </a:rPr>
              <a:t>Demo 1 — Weak vs. strong</a:t>
            </a:r>
            <a:endParaRPr lang="en-US" sz="1500" dirty="0"/>
          </a:p>
        </p:txBody>
      </p:sp>
      <p:sp>
        <p:nvSpPr>
          <p:cNvPr id="7" name="Text 5"/>
          <p:cNvSpPr/>
          <p:nvPr/>
        </p:nvSpPr>
        <p:spPr>
          <a:xfrm>
            <a:off x="841248" y="2395728"/>
            <a:ext cx="4937760" cy="3108960"/>
          </a:xfrm>
          <a:prstGeom prst="rect">
            <a:avLst/>
          </a:prstGeom>
          <a:noFill/>
          <a:ln/>
        </p:spPr>
        <p:txBody>
          <a:bodyPr wrap="square" rtlCol="0" anchor="t"/>
          <a:lstStyle/>
          <a:p>
            <a:pPr indent="0" marL="0">
              <a:lnSpc>
                <a:spcPts val="1700"/>
              </a:lnSpc>
              <a:buNone/>
            </a:pPr>
            <a:r>
              <a:rPr lang="en-US" sz="1250" b="1" dirty="0">
                <a:solidFill>
                  <a:srgbClr val="1F2733"/>
                </a:solidFill>
                <a:latin typeface="Arial" pitchFamily="34" charset="0"/>
                <a:ea typeface="Arial" pitchFamily="34" charset="-122"/>
                <a:cs typeface="Arial" pitchFamily="34" charset="-120"/>
              </a:rPr>
              <a:t>Paste: </a:t>
            </a:r>
            <a:pPr indent="0" marL="0">
              <a:lnSpc>
                <a:spcPts val="1700"/>
              </a:lnSpc>
              <a:buNone/>
            </a:pPr>
            <a:r>
              <a:rPr lang="en-US" sz="1250" i="1" dirty="0">
                <a:solidFill>
                  <a:srgbClr val="3A4452"/>
                </a:solidFill>
                <a:latin typeface="Arial" pitchFamily="34" charset="0"/>
                <a:ea typeface="Arial" pitchFamily="34" charset="-122"/>
                <a:cs typeface="Arial" pitchFamily="34" charset="-120"/>
              </a:rPr>
              <a:t>"Write something about the new self-checkout for the club."</a:t>
            </a:r>
            <a:endParaRPr lang="en-US" sz="1250" dirty="0"/>
          </a:p>
          <a:p>
            <a:pPr indent="0" marL="0">
              <a:lnSpc>
                <a:spcPts val="1700"/>
              </a:lnSpc>
              <a:buNone/>
            </a:pPr>
            <a:r>
              <a:rPr lang="en-US" sz="1250" dirty="0">
                <a:solidFill>
                  <a:srgbClr val="3A4452"/>
                </a:solidFill>
                <a:latin typeface="Arial" pitchFamily="34" charset="0"/>
                <a:ea typeface="Arial" pitchFamily="34" charset="-122"/>
                <a:cs typeface="Arial" pitchFamily="34" charset="-120"/>
              </a:rPr>
              <a:t>Then paste the strong version (slide 13).</a:t>
            </a:r>
            <a:endParaRPr lang="en-US" sz="1250" dirty="0"/>
          </a:p>
          <a:p>
            <a:pPr indent="0" marL="0">
              <a:lnSpc>
                <a:spcPts val="1700"/>
              </a:lnSpc>
              <a:buNone/>
            </a:pPr>
            <a:endParaRPr lang="en-US" sz="1250" dirty="0"/>
          </a:p>
          <a:p>
            <a:pPr indent="0" marL="0">
              <a:lnSpc>
                <a:spcPts val="1700"/>
              </a:lnSpc>
              <a:buNone/>
            </a:pPr>
            <a:r>
              <a:rPr lang="en-US" sz="1250" b="1" dirty="0">
                <a:solidFill>
                  <a:srgbClr val="15803D"/>
                </a:solidFill>
                <a:latin typeface="Arial" pitchFamily="34" charset="0"/>
                <a:ea typeface="Arial" pitchFamily="34" charset="-122"/>
                <a:cs typeface="Arial" pitchFamily="34" charset="-120"/>
              </a:rPr>
              <a:t>Point out: </a:t>
            </a:r>
            <a:pPr indent="0" marL="0">
              <a:lnSpc>
                <a:spcPts val="1700"/>
              </a:lnSpc>
              <a:buNone/>
            </a:pPr>
            <a:r>
              <a:rPr lang="en-US" sz="1250" dirty="0">
                <a:solidFill>
                  <a:srgbClr val="3A4452"/>
                </a:solidFill>
                <a:latin typeface="Arial" pitchFamily="34" charset="0"/>
                <a:ea typeface="Arial" pitchFamily="34" charset="-122"/>
                <a:cs typeface="Arial" pitchFamily="34" charset="-120"/>
              </a:rPr>
              <a:t>length, tone, who it's for.</a:t>
            </a:r>
            <a:endParaRPr lang="en-US" sz="1250" dirty="0"/>
          </a:p>
          <a:p>
            <a:pPr indent="0" marL="0">
              <a:lnSpc>
                <a:spcPts val="1700"/>
              </a:lnSpc>
              <a:buNone/>
            </a:pPr>
            <a:r>
              <a:rPr lang="en-US" sz="1250" b="1" dirty="0">
                <a:solidFill>
                  <a:srgbClr val="15803D"/>
                </a:solidFill>
                <a:latin typeface="Arial" pitchFamily="34" charset="0"/>
                <a:ea typeface="Arial" pitchFamily="34" charset="-122"/>
                <a:cs typeface="Arial" pitchFamily="34" charset="-120"/>
              </a:rPr>
              <a:t>Learners notice: </a:t>
            </a:r>
            <a:pPr indent="0" marL="0">
              <a:lnSpc>
                <a:spcPts val="1700"/>
              </a:lnSpc>
              <a:buNone/>
            </a:pPr>
            <a:r>
              <a:rPr lang="en-US" sz="1250" dirty="0">
                <a:solidFill>
                  <a:srgbClr val="3A4452"/>
                </a:solidFill>
                <a:latin typeface="Arial" pitchFamily="34" charset="0"/>
                <a:ea typeface="Arial" pitchFamily="34" charset="-122"/>
                <a:cs typeface="Arial" pitchFamily="34" charset="-120"/>
              </a:rPr>
              <a:t>same task, very different output.</a:t>
            </a:r>
            <a:endParaRPr lang="en-US" sz="1250" dirty="0"/>
          </a:p>
        </p:txBody>
      </p:sp>
      <p:sp>
        <p:nvSpPr>
          <p:cNvPr id="8" name="Shape 6"/>
          <p:cNvSpPr/>
          <p:nvPr/>
        </p:nvSpPr>
        <p:spPr>
          <a:xfrm>
            <a:off x="6126480" y="1828800"/>
            <a:ext cx="5440680" cy="3886200"/>
          </a:xfrm>
          <a:prstGeom prst="roundRect">
            <a:avLst>
              <a:gd name="adj" fmla="val 2118"/>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9" name="Text 7"/>
          <p:cNvSpPr/>
          <p:nvPr/>
        </p:nvSpPr>
        <p:spPr>
          <a:xfrm>
            <a:off x="6400800" y="2011680"/>
            <a:ext cx="4937760" cy="365760"/>
          </a:xfrm>
          <a:prstGeom prst="rect">
            <a:avLst/>
          </a:prstGeom>
          <a:noFill/>
          <a:ln/>
        </p:spPr>
        <p:txBody>
          <a:bodyPr wrap="square" rtlCol="0" anchor="ctr"/>
          <a:lstStyle/>
          <a:p>
            <a:pPr indent="0" marL="0">
              <a:buNone/>
            </a:pPr>
            <a:r>
              <a:rPr lang="en-US" sz="1500" b="1" dirty="0">
                <a:solidFill>
                  <a:srgbClr val="D31242"/>
                </a:solidFill>
                <a:latin typeface="Arial" pitchFamily="34" charset="0"/>
                <a:ea typeface="Arial" pitchFamily="34" charset="-122"/>
                <a:cs typeface="Arial" pitchFamily="34" charset="-120"/>
              </a:rPr>
              <a:t>Demo 2 — Iterate</a:t>
            </a:r>
            <a:endParaRPr lang="en-US" sz="1500" dirty="0"/>
          </a:p>
        </p:txBody>
      </p:sp>
      <p:sp>
        <p:nvSpPr>
          <p:cNvPr id="10" name="Text 8"/>
          <p:cNvSpPr/>
          <p:nvPr/>
        </p:nvSpPr>
        <p:spPr>
          <a:xfrm>
            <a:off x="6400800" y="2395728"/>
            <a:ext cx="4937760" cy="3108960"/>
          </a:xfrm>
          <a:prstGeom prst="rect">
            <a:avLst/>
          </a:prstGeom>
          <a:noFill/>
          <a:ln/>
        </p:spPr>
        <p:txBody>
          <a:bodyPr wrap="square" rtlCol="0" anchor="t"/>
          <a:lstStyle/>
          <a:p>
            <a:pPr indent="0" marL="0">
              <a:lnSpc>
                <a:spcPts val="1700"/>
              </a:lnSpc>
              <a:buNone/>
            </a:pPr>
            <a:r>
              <a:rPr lang="en-US" sz="1250" b="1" dirty="0">
                <a:solidFill>
                  <a:srgbClr val="1F2733"/>
                </a:solidFill>
                <a:latin typeface="Arial" pitchFamily="34" charset="0"/>
                <a:ea typeface="Arial" pitchFamily="34" charset="-122"/>
                <a:cs typeface="Arial" pitchFamily="34" charset="-120"/>
              </a:rPr>
              <a:t>On the strong result, send follow-ups: </a:t>
            </a:r>
            <a:endParaRPr lang="en-US" sz="1250" dirty="0"/>
          </a:p>
          <a:p>
            <a:pPr indent="0" marL="0">
              <a:lnSpc>
                <a:spcPts val="1700"/>
              </a:lnSpc>
              <a:buNone/>
            </a:pPr>
            <a:r>
              <a:rPr lang="en-US" sz="1250" i="1" dirty="0">
                <a:solidFill>
                  <a:srgbClr val="3A4452"/>
                </a:solidFill>
                <a:latin typeface="Arial" pitchFamily="34" charset="0"/>
                <a:ea typeface="Arial" pitchFamily="34" charset="-122"/>
                <a:cs typeface="Arial" pitchFamily="34" charset="-120"/>
              </a:rPr>
              <a:t>"Make it warmer."  →  "Cut to 80 words."  →  "Add a bullet on safety."</a:t>
            </a:r>
            <a:endParaRPr lang="en-US" sz="1250" dirty="0"/>
          </a:p>
          <a:p>
            <a:pPr indent="0" marL="0">
              <a:lnSpc>
                <a:spcPts val="1700"/>
              </a:lnSpc>
              <a:buNone/>
            </a:pPr>
            <a:endParaRPr lang="en-US" sz="1250" dirty="0"/>
          </a:p>
          <a:p>
            <a:pPr indent="0" marL="0">
              <a:lnSpc>
                <a:spcPts val="1700"/>
              </a:lnSpc>
              <a:buNone/>
            </a:pPr>
            <a:r>
              <a:rPr lang="en-US" sz="1250" b="1" dirty="0">
                <a:solidFill>
                  <a:srgbClr val="15803D"/>
                </a:solidFill>
                <a:latin typeface="Arial" pitchFamily="34" charset="0"/>
                <a:ea typeface="Arial" pitchFamily="34" charset="-122"/>
                <a:cs typeface="Arial" pitchFamily="34" charset="-120"/>
              </a:rPr>
              <a:t>Point out: </a:t>
            </a:r>
            <a:pPr indent="0" marL="0">
              <a:lnSpc>
                <a:spcPts val="1700"/>
              </a:lnSpc>
              <a:buNone/>
            </a:pPr>
            <a:r>
              <a:rPr lang="en-US" sz="1250" dirty="0">
                <a:solidFill>
                  <a:srgbClr val="3A4452"/>
                </a:solidFill>
                <a:latin typeface="Arial" pitchFamily="34" charset="0"/>
                <a:ea typeface="Arial" pitchFamily="34" charset="-122"/>
                <a:cs typeface="Arial" pitchFamily="34" charset="-120"/>
              </a:rPr>
              <a:t>no re-typing the whole prompt; Claude keeps context.</a:t>
            </a:r>
            <a:endParaRPr lang="en-US" sz="1250" dirty="0"/>
          </a:p>
          <a:p>
            <a:pPr indent="0" marL="0">
              <a:lnSpc>
                <a:spcPts val="1700"/>
              </a:lnSpc>
              <a:buNone/>
            </a:pPr>
            <a:r>
              <a:rPr lang="en-US" sz="1250" b="1" dirty="0">
                <a:solidFill>
                  <a:srgbClr val="15803D"/>
                </a:solidFill>
                <a:latin typeface="Arial" pitchFamily="34" charset="0"/>
                <a:ea typeface="Arial" pitchFamily="34" charset="-122"/>
                <a:cs typeface="Arial" pitchFamily="34" charset="-120"/>
              </a:rPr>
              <a:t>Learners notice: </a:t>
            </a:r>
            <a:pPr indent="0" marL="0">
              <a:lnSpc>
                <a:spcPts val="1700"/>
              </a:lnSpc>
              <a:buNone/>
            </a:pPr>
            <a:r>
              <a:rPr lang="en-US" sz="1250" dirty="0">
                <a:solidFill>
                  <a:srgbClr val="3A4452"/>
                </a:solidFill>
                <a:latin typeface="Arial" pitchFamily="34" charset="0"/>
                <a:ea typeface="Arial" pitchFamily="34" charset="-122"/>
                <a:cs typeface="Arial" pitchFamily="34" charset="-120"/>
              </a:rPr>
              <a:t>steering is fast and conversational.</a:t>
            </a:r>
            <a:endParaRPr lang="en-US" sz="1250" dirty="0"/>
          </a:p>
        </p:txBody>
      </p:sp>
      <p:sp>
        <p:nvSpPr>
          <p:cNvPr id="11" name="Text 9"/>
          <p:cNvSpPr/>
          <p:nvPr/>
        </p:nvSpPr>
        <p:spPr>
          <a:xfrm>
            <a:off x="566928" y="6565392"/>
            <a:ext cx="10515600" cy="228600"/>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Claude UI changes over time; verify before each session.</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1828800" y="3108960"/>
            <a:ext cx="4937760" cy="4937760"/>
          </a:xfrm>
          <a:prstGeom prst="ellipse">
            <a:avLst/>
          </a:prstGeom>
          <a:solidFill>
            <a:srgbClr val="A60E34"/>
          </a:solidFill>
          <a:ln/>
        </p:spPr>
      </p:sp>
      <p:sp>
        <p:nvSpPr>
          <p:cNvPr id="3" name="Text 1"/>
          <p:cNvSpPr/>
          <p:nvPr/>
        </p:nvSpPr>
        <p:spPr>
          <a:xfrm>
            <a:off x="566928" y="548640"/>
            <a:ext cx="10058400" cy="365760"/>
          </a:xfrm>
          <a:prstGeom prst="rect">
            <a:avLst/>
          </a:prstGeom>
          <a:noFill/>
          <a:ln/>
        </p:spPr>
        <p:txBody>
          <a:bodyPr wrap="square" rtlCol="0" anchor="ctr"/>
          <a:lstStyle/>
          <a:p>
            <a:pPr indent="0" marL="0">
              <a:buNone/>
            </a:pPr>
            <a:r>
              <a:rPr lang="en-US" sz="1300" b="1" spc="300" kern="0" dirty="0">
                <a:solidFill>
                  <a:srgbClr val="F7B9C6"/>
                </a:solidFill>
                <a:latin typeface="Arial" pitchFamily="34" charset="0"/>
                <a:ea typeface="Arial" pitchFamily="34" charset="-122"/>
                <a:cs typeface="Arial" pitchFamily="34" charset="-120"/>
              </a:rPr>
              <a:t>FACILITATOR LIVE DEMO</a:t>
            </a:r>
            <a:endParaRPr lang="en-US" sz="1300" dirty="0"/>
          </a:p>
        </p:txBody>
      </p:sp>
      <p:sp>
        <p:nvSpPr>
          <p:cNvPr id="4" name="Text 2"/>
          <p:cNvSpPr/>
          <p:nvPr/>
        </p:nvSpPr>
        <p:spPr>
          <a:xfrm>
            <a:off x="566928" y="914400"/>
            <a:ext cx="10789920" cy="68580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Demos 3 &amp; 4 — clarifying questions, then verify</a:t>
            </a:r>
            <a:endParaRPr lang="en-US" sz="2700" dirty="0"/>
          </a:p>
        </p:txBody>
      </p:sp>
      <p:sp>
        <p:nvSpPr>
          <p:cNvPr id="5" name="Shape 3"/>
          <p:cNvSpPr/>
          <p:nvPr/>
        </p:nvSpPr>
        <p:spPr>
          <a:xfrm>
            <a:off x="566928" y="1828800"/>
            <a:ext cx="5440680" cy="3886200"/>
          </a:xfrm>
          <a:prstGeom prst="roundRect">
            <a:avLst>
              <a:gd name="adj" fmla="val 2118"/>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6" name="Text 4"/>
          <p:cNvSpPr/>
          <p:nvPr/>
        </p:nvSpPr>
        <p:spPr>
          <a:xfrm>
            <a:off x="841248" y="2011680"/>
            <a:ext cx="4937760" cy="365760"/>
          </a:xfrm>
          <a:prstGeom prst="rect">
            <a:avLst/>
          </a:prstGeom>
          <a:noFill/>
          <a:ln/>
        </p:spPr>
        <p:txBody>
          <a:bodyPr wrap="square" rtlCol="0" anchor="ctr"/>
          <a:lstStyle/>
          <a:p>
            <a:pPr indent="0" marL="0">
              <a:buNone/>
            </a:pPr>
            <a:r>
              <a:rPr lang="en-US" sz="1500" b="1" dirty="0">
                <a:solidFill>
                  <a:srgbClr val="D31242"/>
                </a:solidFill>
                <a:latin typeface="Arial" pitchFamily="34" charset="0"/>
                <a:ea typeface="Arial" pitchFamily="34" charset="-122"/>
                <a:cs typeface="Arial" pitchFamily="34" charset="-120"/>
              </a:rPr>
              <a:t>Demo 3 — Ask clarifying questions</a:t>
            </a:r>
            <a:endParaRPr lang="en-US" sz="1500" dirty="0"/>
          </a:p>
        </p:txBody>
      </p:sp>
      <p:sp>
        <p:nvSpPr>
          <p:cNvPr id="7" name="Text 5"/>
          <p:cNvSpPr/>
          <p:nvPr/>
        </p:nvSpPr>
        <p:spPr>
          <a:xfrm>
            <a:off x="841248" y="2395728"/>
            <a:ext cx="4937760" cy="3154680"/>
          </a:xfrm>
          <a:prstGeom prst="rect">
            <a:avLst/>
          </a:prstGeom>
          <a:noFill/>
          <a:ln/>
        </p:spPr>
        <p:txBody>
          <a:bodyPr wrap="square" rtlCol="0" anchor="t"/>
          <a:lstStyle/>
          <a:p>
            <a:pPr indent="0" marL="0">
              <a:lnSpc>
                <a:spcPts val="1700"/>
              </a:lnSpc>
              <a:buNone/>
            </a:pPr>
            <a:r>
              <a:rPr lang="en-US" sz="1250" b="1" dirty="0">
                <a:solidFill>
                  <a:srgbClr val="1F2733"/>
                </a:solidFill>
                <a:latin typeface="Arial" pitchFamily="34" charset="0"/>
                <a:ea typeface="Arial" pitchFamily="34" charset="-122"/>
                <a:cs typeface="Arial" pitchFamily="34" charset="-120"/>
              </a:rPr>
              <a:t>Paste: </a:t>
            </a:r>
            <a:pPr indent="0" marL="0">
              <a:lnSpc>
                <a:spcPts val="1700"/>
              </a:lnSpc>
              <a:buNone/>
            </a:pPr>
            <a:r>
              <a:rPr lang="en-US" sz="1250" i="1" dirty="0">
                <a:solidFill>
                  <a:srgbClr val="3A4452"/>
                </a:solidFill>
                <a:latin typeface="Arial" pitchFamily="34" charset="0"/>
                <a:ea typeface="Arial" pitchFamily="34" charset="-122"/>
                <a:cs typeface="Arial" pitchFamily="34" charset="-120"/>
              </a:rPr>
              <a:t>"Help me write a note to associates about a schedule change. Before answering, ask me up to 3 clarifying questions if anything is unclear."</a:t>
            </a:r>
            <a:endParaRPr lang="en-US" sz="1250" dirty="0"/>
          </a:p>
          <a:p>
            <a:pPr indent="0" marL="0">
              <a:lnSpc>
                <a:spcPts val="1700"/>
              </a:lnSpc>
              <a:buNone/>
            </a:pPr>
            <a:endParaRPr lang="en-US" sz="1250" dirty="0"/>
          </a:p>
          <a:p>
            <a:pPr indent="0" marL="0">
              <a:lnSpc>
                <a:spcPts val="1700"/>
              </a:lnSpc>
              <a:buNone/>
            </a:pPr>
            <a:r>
              <a:rPr lang="en-US" sz="1250" b="1" dirty="0">
                <a:solidFill>
                  <a:srgbClr val="15803D"/>
                </a:solidFill>
                <a:latin typeface="Arial" pitchFamily="34" charset="0"/>
                <a:ea typeface="Arial" pitchFamily="34" charset="-122"/>
                <a:cs typeface="Arial" pitchFamily="34" charset="-120"/>
              </a:rPr>
              <a:t>Point out: </a:t>
            </a:r>
            <a:pPr indent="0" marL="0">
              <a:lnSpc>
                <a:spcPts val="1700"/>
              </a:lnSpc>
              <a:buNone/>
            </a:pPr>
            <a:r>
              <a:rPr lang="en-US" sz="1250" dirty="0">
                <a:solidFill>
                  <a:srgbClr val="3A4452"/>
                </a:solidFill>
                <a:latin typeface="Arial" pitchFamily="34" charset="0"/>
                <a:ea typeface="Arial" pitchFamily="34" charset="-122"/>
                <a:cs typeface="Arial" pitchFamily="34" charset="-120"/>
              </a:rPr>
              <a:t>Claude interviews you instead of guessing.</a:t>
            </a:r>
            <a:endParaRPr lang="en-US" sz="1250" dirty="0"/>
          </a:p>
          <a:p>
            <a:pPr indent="0" marL="0">
              <a:lnSpc>
                <a:spcPts val="1700"/>
              </a:lnSpc>
              <a:buNone/>
            </a:pPr>
            <a:r>
              <a:rPr lang="en-US" sz="1250" b="1" dirty="0">
                <a:solidFill>
                  <a:srgbClr val="15803D"/>
                </a:solidFill>
                <a:latin typeface="Arial" pitchFamily="34" charset="0"/>
                <a:ea typeface="Arial" pitchFamily="34" charset="-122"/>
                <a:cs typeface="Arial" pitchFamily="34" charset="-120"/>
              </a:rPr>
              <a:t>Learners notice: </a:t>
            </a:r>
            <a:pPr indent="0" marL="0">
              <a:lnSpc>
                <a:spcPts val="1700"/>
              </a:lnSpc>
              <a:buNone/>
            </a:pPr>
            <a:r>
              <a:rPr lang="en-US" sz="1250" dirty="0">
                <a:solidFill>
                  <a:srgbClr val="3A4452"/>
                </a:solidFill>
                <a:latin typeface="Arial" pitchFamily="34" charset="0"/>
                <a:ea typeface="Arial" pitchFamily="34" charset="-122"/>
                <a:cs typeface="Arial" pitchFamily="34" charset="-120"/>
              </a:rPr>
              <a:t>answering 3 questions beats 3 rewrites.</a:t>
            </a:r>
            <a:endParaRPr lang="en-US" sz="1250" dirty="0"/>
          </a:p>
        </p:txBody>
      </p:sp>
      <p:sp>
        <p:nvSpPr>
          <p:cNvPr id="8" name="Shape 6"/>
          <p:cNvSpPr/>
          <p:nvPr/>
        </p:nvSpPr>
        <p:spPr>
          <a:xfrm>
            <a:off x="6126480" y="1828800"/>
            <a:ext cx="5440680" cy="3886200"/>
          </a:xfrm>
          <a:prstGeom prst="roundRect">
            <a:avLst>
              <a:gd name="adj" fmla="val 2118"/>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9" name="Text 7"/>
          <p:cNvSpPr/>
          <p:nvPr/>
        </p:nvSpPr>
        <p:spPr>
          <a:xfrm>
            <a:off x="6400800" y="2011680"/>
            <a:ext cx="4937760" cy="365760"/>
          </a:xfrm>
          <a:prstGeom prst="rect">
            <a:avLst/>
          </a:prstGeom>
          <a:noFill/>
          <a:ln/>
        </p:spPr>
        <p:txBody>
          <a:bodyPr wrap="square" rtlCol="0" anchor="ctr"/>
          <a:lstStyle/>
          <a:p>
            <a:pPr indent="0" marL="0">
              <a:buNone/>
            </a:pPr>
            <a:r>
              <a:rPr lang="en-US" sz="1500" b="1" dirty="0">
                <a:solidFill>
                  <a:srgbClr val="D31242"/>
                </a:solidFill>
                <a:latin typeface="Arial" pitchFamily="34" charset="0"/>
                <a:ea typeface="Arial" pitchFamily="34" charset="-122"/>
                <a:cs typeface="Arial" pitchFamily="34" charset="-120"/>
              </a:rPr>
              <a:t>Demo 4 — Verify assumptions</a:t>
            </a:r>
            <a:endParaRPr lang="en-US" sz="1500" dirty="0"/>
          </a:p>
        </p:txBody>
      </p:sp>
      <p:sp>
        <p:nvSpPr>
          <p:cNvPr id="10" name="Text 8"/>
          <p:cNvSpPr/>
          <p:nvPr/>
        </p:nvSpPr>
        <p:spPr>
          <a:xfrm>
            <a:off x="6400800" y="2395728"/>
            <a:ext cx="4937760" cy="3154680"/>
          </a:xfrm>
          <a:prstGeom prst="rect">
            <a:avLst/>
          </a:prstGeom>
          <a:noFill/>
          <a:ln/>
        </p:spPr>
        <p:txBody>
          <a:bodyPr wrap="square" rtlCol="0" anchor="t"/>
          <a:lstStyle/>
          <a:p>
            <a:pPr indent="0" marL="0">
              <a:lnSpc>
                <a:spcPts val="1700"/>
              </a:lnSpc>
              <a:buNone/>
            </a:pPr>
            <a:r>
              <a:rPr lang="en-US" sz="1250" b="1" dirty="0">
                <a:solidFill>
                  <a:srgbClr val="1F2733"/>
                </a:solidFill>
                <a:latin typeface="Arial" pitchFamily="34" charset="0"/>
                <a:ea typeface="Arial" pitchFamily="34" charset="-122"/>
                <a:cs typeface="Arial" pitchFamily="34" charset="-120"/>
              </a:rPr>
              <a:t>After any answer, ask: </a:t>
            </a:r>
            <a:endParaRPr lang="en-US" sz="1250" dirty="0"/>
          </a:p>
          <a:p>
            <a:pPr indent="0" marL="0">
              <a:lnSpc>
                <a:spcPts val="1700"/>
              </a:lnSpc>
              <a:buNone/>
            </a:pPr>
            <a:r>
              <a:rPr lang="en-US" sz="1250" i="1" dirty="0">
                <a:solidFill>
                  <a:srgbClr val="3A4452"/>
                </a:solidFill>
                <a:latin typeface="Arial" pitchFamily="34" charset="0"/>
                <a:ea typeface="Arial" pitchFamily="34" charset="-122"/>
                <a:cs typeface="Arial" pitchFamily="34" charset="-120"/>
              </a:rPr>
              <a:t>"What assumptions did you make, and which parts should I verify?"</a:t>
            </a:r>
            <a:endParaRPr lang="en-US" sz="1250" dirty="0"/>
          </a:p>
          <a:p>
            <a:pPr indent="0" marL="0">
              <a:lnSpc>
                <a:spcPts val="1700"/>
              </a:lnSpc>
              <a:buNone/>
            </a:pPr>
            <a:endParaRPr lang="en-US" sz="1250" dirty="0"/>
          </a:p>
          <a:p>
            <a:pPr indent="0" marL="0">
              <a:lnSpc>
                <a:spcPts val="1700"/>
              </a:lnSpc>
              <a:buNone/>
            </a:pPr>
            <a:r>
              <a:rPr lang="en-US" sz="1250" b="1" dirty="0">
                <a:solidFill>
                  <a:srgbClr val="15803D"/>
                </a:solidFill>
                <a:latin typeface="Arial" pitchFamily="34" charset="0"/>
                <a:ea typeface="Arial" pitchFamily="34" charset="-122"/>
                <a:cs typeface="Arial" pitchFamily="34" charset="-120"/>
              </a:rPr>
              <a:t>Point out: </a:t>
            </a:r>
            <a:pPr indent="0" marL="0">
              <a:lnSpc>
                <a:spcPts val="1700"/>
              </a:lnSpc>
              <a:buNone/>
            </a:pPr>
            <a:r>
              <a:rPr lang="en-US" sz="1250" dirty="0">
                <a:solidFill>
                  <a:srgbClr val="3A4452"/>
                </a:solidFill>
                <a:latin typeface="Arial" pitchFamily="34" charset="0"/>
                <a:ea typeface="Arial" pitchFamily="34" charset="-122"/>
                <a:cs typeface="Arial" pitchFamily="34" charset="-120"/>
              </a:rPr>
              <a:t>it lists its guesses and flags the risky bits.</a:t>
            </a:r>
            <a:endParaRPr lang="en-US" sz="1250" dirty="0"/>
          </a:p>
          <a:p>
            <a:pPr indent="0" marL="0">
              <a:lnSpc>
                <a:spcPts val="1700"/>
              </a:lnSpc>
              <a:buNone/>
            </a:pPr>
            <a:r>
              <a:rPr lang="en-US" sz="1250" b="1" dirty="0">
                <a:solidFill>
                  <a:srgbClr val="15803D"/>
                </a:solidFill>
                <a:latin typeface="Arial" pitchFamily="34" charset="0"/>
                <a:ea typeface="Arial" pitchFamily="34" charset="-122"/>
                <a:cs typeface="Arial" pitchFamily="34" charset="-120"/>
              </a:rPr>
              <a:t>Learners notice: </a:t>
            </a:r>
            <a:pPr indent="0" marL="0">
              <a:lnSpc>
                <a:spcPts val="1700"/>
              </a:lnSpc>
              <a:buNone/>
            </a:pPr>
            <a:r>
              <a:rPr lang="en-US" sz="1250" dirty="0">
                <a:solidFill>
                  <a:srgbClr val="3A4452"/>
                </a:solidFill>
                <a:latin typeface="Arial" pitchFamily="34" charset="0"/>
                <a:ea typeface="Arial" pitchFamily="34" charset="-122"/>
                <a:cs typeface="Arial" pitchFamily="34" charset="-120"/>
              </a:rPr>
              <a:t>verification becomes a quick habit, not a chore.</a:t>
            </a:r>
            <a:endParaRPr lang="en-US" sz="1250" dirty="0"/>
          </a:p>
        </p:txBody>
      </p:sp>
      <p:sp>
        <p:nvSpPr>
          <p:cNvPr id="11" name="Text 9"/>
          <p:cNvSpPr/>
          <p:nvPr/>
        </p:nvSpPr>
        <p:spPr>
          <a:xfrm>
            <a:off x="566928" y="6565392"/>
            <a:ext cx="10515600" cy="228600"/>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Claude UI changes over time; verify before each session.</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YOUR JOB AS A CHAMPION</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How to teach this in 5 minutes</a:t>
            </a:r>
            <a:endParaRPr lang="en-US" sz="2900" dirty="0"/>
          </a:p>
        </p:txBody>
      </p:sp>
      <p:sp>
        <p:nvSpPr>
          <p:cNvPr id="4" name="Shape 2"/>
          <p:cNvSpPr/>
          <p:nvPr/>
        </p:nvSpPr>
        <p:spPr>
          <a:xfrm>
            <a:off x="566928" y="1645920"/>
            <a:ext cx="3471672" cy="3931920"/>
          </a:xfrm>
          <a:prstGeom prst="roundRect">
            <a:avLst>
              <a:gd name="adj" fmla="val 2371"/>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841248" y="1920240"/>
            <a:ext cx="502920" cy="502920"/>
          </a:xfrm>
          <a:prstGeom prst="ellipse">
            <a:avLst/>
          </a:prstGeom>
          <a:solidFill>
            <a:srgbClr val="D31242"/>
          </a:solidFill>
          <a:ln/>
        </p:spPr>
      </p:sp>
      <p:sp>
        <p:nvSpPr>
          <p:cNvPr id="6" name="Text 4"/>
          <p:cNvSpPr/>
          <p:nvPr/>
        </p:nvSpPr>
        <p:spPr>
          <a:xfrm>
            <a:off x="841248" y="192024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7" name="Text 5"/>
          <p:cNvSpPr/>
          <p:nvPr/>
        </p:nvSpPr>
        <p:spPr>
          <a:xfrm>
            <a:off x="841248" y="2606040"/>
            <a:ext cx="292303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The one-liner</a:t>
            </a:r>
            <a:endParaRPr lang="en-US" sz="1600" dirty="0"/>
          </a:p>
        </p:txBody>
      </p:sp>
      <p:sp>
        <p:nvSpPr>
          <p:cNvPr id="8" name="Text 6"/>
          <p:cNvSpPr/>
          <p:nvPr/>
        </p:nvSpPr>
        <p:spPr>
          <a:xfrm>
            <a:off x="841248" y="3108960"/>
            <a:ext cx="2923032" cy="2286000"/>
          </a:xfrm>
          <a:prstGeom prst="rect">
            <a:avLst/>
          </a:prstGeom>
          <a:noFill/>
          <a:ln/>
        </p:spPr>
        <p:txBody>
          <a:bodyPr wrap="square" rtlCol="0" anchor="ctr"/>
          <a:lstStyle/>
          <a:p>
            <a:pPr indent="0" marL="0">
              <a:lnSpc>
                <a:spcPts val="1900"/>
              </a:lnSpc>
              <a:buNone/>
            </a:pPr>
            <a:r>
              <a:rPr lang="en-US" sz="1300" dirty="0">
                <a:solidFill>
                  <a:srgbClr val="3A4452"/>
                </a:solidFill>
                <a:latin typeface="Arial" pitchFamily="34" charset="0"/>
                <a:ea typeface="Arial" pitchFamily="34" charset="-122"/>
                <a:cs typeface="Arial" pitchFamily="34" charset="-120"/>
              </a:rPr>
              <a:t>"Talk to Claude like a brilliant new teammate who's eager but can't read your mind — tell it who, what, and the details."</a:t>
            </a:r>
            <a:endParaRPr lang="en-US" sz="1300" dirty="0"/>
          </a:p>
        </p:txBody>
      </p:sp>
      <p:sp>
        <p:nvSpPr>
          <p:cNvPr id="9" name="Shape 7"/>
          <p:cNvSpPr/>
          <p:nvPr/>
        </p:nvSpPr>
        <p:spPr>
          <a:xfrm>
            <a:off x="4358640" y="1645920"/>
            <a:ext cx="3471672" cy="3931920"/>
          </a:xfrm>
          <a:prstGeom prst="roundRect">
            <a:avLst>
              <a:gd name="adj" fmla="val 2371"/>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Shape 8"/>
          <p:cNvSpPr/>
          <p:nvPr/>
        </p:nvSpPr>
        <p:spPr>
          <a:xfrm>
            <a:off x="4632960" y="1920240"/>
            <a:ext cx="502920" cy="502920"/>
          </a:xfrm>
          <a:prstGeom prst="ellipse">
            <a:avLst/>
          </a:prstGeom>
          <a:solidFill>
            <a:srgbClr val="D31242"/>
          </a:solidFill>
          <a:ln/>
        </p:spPr>
      </p:sp>
      <p:sp>
        <p:nvSpPr>
          <p:cNvPr id="11" name="Text 9"/>
          <p:cNvSpPr/>
          <p:nvPr/>
        </p:nvSpPr>
        <p:spPr>
          <a:xfrm>
            <a:off x="4632960" y="192024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2" name="Text 10"/>
          <p:cNvSpPr/>
          <p:nvPr/>
        </p:nvSpPr>
        <p:spPr>
          <a:xfrm>
            <a:off x="4632960" y="2606040"/>
            <a:ext cx="292303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The 2-minute demo</a:t>
            </a:r>
            <a:endParaRPr lang="en-US" sz="1600" dirty="0"/>
          </a:p>
        </p:txBody>
      </p:sp>
      <p:sp>
        <p:nvSpPr>
          <p:cNvPr id="13" name="Text 11"/>
          <p:cNvSpPr/>
          <p:nvPr/>
        </p:nvSpPr>
        <p:spPr>
          <a:xfrm>
            <a:off x="4632960" y="3108960"/>
            <a:ext cx="2923032" cy="2286000"/>
          </a:xfrm>
          <a:prstGeom prst="rect">
            <a:avLst/>
          </a:prstGeom>
          <a:noFill/>
          <a:ln/>
        </p:spPr>
        <p:txBody>
          <a:bodyPr wrap="square" rtlCol="0" anchor="ctr"/>
          <a:lstStyle/>
          <a:p>
            <a:pPr indent="0" marL="0">
              <a:lnSpc>
                <a:spcPts val="1900"/>
              </a:lnSpc>
              <a:buNone/>
            </a:pPr>
            <a:r>
              <a:rPr lang="en-US" sz="1300" dirty="0">
                <a:solidFill>
                  <a:srgbClr val="3A4452"/>
                </a:solidFill>
                <a:latin typeface="Arial" pitchFamily="34" charset="0"/>
                <a:ea typeface="Arial" pitchFamily="34" charset="-122"/>
                <a:cs typeface="Arial" pitchFamily="34" charset="-120"/>
              </a:rPr>
              <a:t>Run a weak prompt, show the meh result, add the 5 parts live, show the upgrade. Same task, side by side.</a:t>
            </a:r>
            <a:endParaRPr lang="en-US" sz="1300" dirty="0"/>
          </a:p>
        </p:txBody>
      </p:sp>
      <p:sp>
        <p:nvSpPr>
          <p:cNvPr id="14" name="Shape 12"/>
          <p:cNvSpPr/>
          <p:nvPr/>
        </p:nvSpPr>
        <p:spPr>
          <a:xfrm>
            <a:off x="8150352" y="1645920"/>
            <a:ext cx="3471672" cy="3931920"/>
          </a:xfrm>
          <a:prstGeom prst="roundRect">
            <a:avLst>
              <a:gd name="adj" fmla="val 2371"/>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5" name="Shape 13"/>
          <p:cNvSpPr/>
          <p:nvPr/>
        </p:nvSpPr>
        <p:spPr>
          <a:xfrm>
            <a:off x="8424672" y="1920240"/>
            <a:ext cx="502920" cy="502920"/>
          </a:xfrm>
          <a:prstGeom prst="ellipse">
            <a:avLst/>
          </a:prstGeom>
          <a:solidFill>
            <a:srgbClr val="D31242"/>
          </a:solidFill>
          <a:ln/>
        </p:spPr>
      </p:sp>
      <p:sp>
        <p:nvSpPr>
          <p:cNvPr id="16" name="Text 14"/>
          <p:cNvSpPr/>
          <p:nvPr/>
        </p:nvSpPr>
        <p:spPr>
          <a:xfrm>
            <a:off x="8424672" y="192024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7" name="Text 15"/>
          <p:cNvSpPr/>
          <p:nvPr/>
        </p:nvSpPr>
        <p:spPr>
          <a:xfrm>
            <a:off x="8424672" y="2606040"/>
            <a:ext cx="292303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The 'first try this'</a:t>
            </a:r>
            <a:endParaRPr lang="en-US" sz="1600" dirty="0"/>
          </a:p>
        </p:txBody>
      </p:sp>
      <p:sp>
        <p:nvSpPr>
          <p:cNvPr id="18" name="Text 16"/>
          <p:cNvSpPr/>
          <p:nvPr/>
        </p:nvSpPr>
        <p:spPr>
          <a:xfrm>
            <a:off x="8424672" y="3108960"/>
            <a:ext cx="2923032" cy="2286000"/>
          </a:xfrm>
          <a:prstGeom prst="rect">
            <a:avLst/>
          </a:prstGeom>
          <a:noFill/>
          <a:ln/>
        </p:spPr>
        <p:txBody>
          <a:bodyPr wrap="square" rtlCol="0" anchor="ctr"/>
          <a:lstStyle/>
          <a:p>
            <a:pPr indent="0" marL="0">
              <a:lnSpc>
                <a:spcPts val="1900"/>
              </a:lnSpc>
              <a:buNone/>
            </a:pPr>
            <a:r>
              <a:rPr lang="en-US" sz="1300" dirty="0">
                <a:solidFill>
                  <a:srgbClr val="3A4452"/>
                </a:solidFill>
                <a:latin typeface="Arial" pitchFamily="34" charset="0"/>
                <a:ea typeface="Arial" pitchFamily="34" charset="-122"/>
                <a:cs typeface="Arial" pitchFamily="34" charset="-120"/>
              </a:rPr>
              <a:t>Give them one task from their own job + the checklist. Watch them do one. Then have them verify it.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HANDS-ON EXERCISE</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Fix this messy request</a:t>
            </a:r>
            <a:endParaRPr lang="en-US" sz="2900" dirty="0"/>
          </a:p>
        </p:txBody>
      </p:sp>
      <p:sp>
        <p:nvSpPr>
          <p:cNvPr id="4" name="Shape 2"/>
          <p:cNvSpPr/>
          <p:nvPr/>
        </p:nvSpPr>
        <p:spPr>
          <a:xfrm>
            <a:off x="566928" y="1554480"/>
            <a:ext cx="10469880" cy="1143000"/>
          </a:xfrm>
          <a:prstGeom prst="roundRect">
            <a:avLst>
              <a:gd name="adj" fmla="val 7200"/>
            </a:avLst>
          </a:prstGeom>
          <a:solidFill>
            <a:srgbClr val="FDEC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691640"/>
            <a:ext cx="10058400" cy="868680"/>
          </a:xfrm>
          <a:prstGeom prst="rect">
            <a:avLst/>
          </a:prstGeom>
          <a:noFill/>
          <a:ln/>
        </p:spPr>
        <p:txBody>
          <a:bodyPr wrap="square" rtlCol="0" anchor="ctr"/>
          <a:lstStyle/>
          <a:p>
            <a:pPr indent="0" marL="0">
              <a:lnSpc>
                <a:spcPts val="2000"/>
              </a:lnSpc>
              <a:buNone/>
            </a:pPr>
            <a:r>
              <a:rPr lang="en-US" sz="1500" b="1" dirty="0">
                <a:solidFill>
                  <a:srgbClr val="B91C1C"/>
                </a:solidFill>
                <a:latin typeface="Arial" pitchFamily="34" charset="0"/>
                <a:ea typeface="Arial" pitchFamily="34" charset="-122"/>
                <a:cs typeface="Arial" pitchFamily="34" charset="-120"/>
              </a:rPr>
              <a:t>The messy request:  </a:t>
            </a:r>
            <a:pPr indent="0" marL="0">
              <a:lnSpc>
                <a:spcPts val="2000"/>
              </a:lnSpc>
              <a:buNone/>
            </a:pPr>
            <a:r>
              <a:rPr lang="en-US" sz="1500" i="1" dirty="0">
                <a:solidFill>
                  <a:srgbClr val="1F2733"/>
                </a:solidFill>
                <a:latin typeface="Arial" pitchFamily="34" charset="0"/>
                <a:ea typeface="Arial" pitchFamily="34" charset="-122"/>
                <a:cs typeface="Arial" pitchFamily="34" charset="-120"/>
              </a:rPr>
              <a:t>“Write something to associates about a new curbside pickup process.”</a:t>
            </a:r>
            <a:endParaRPr lang="en-US" sz="1500" dirty="0"/>
          </a:p>
        </p:txBody>
      </p:sp>
      <p:sp>
        <p:nvSpPr>
          <p:cNvPr id="6" name="Shape 4"/>
          <p:cNvSpPr/>
          <p:nvPr/>
        </p:nvSpPr>
        <p:spPr>
          <a:xfrm>
            <a:off x="566928" y="2834640"/>
            <a:ext cx="10469880" cy="2743200"/>
          </a:xfrm>
          <a:prstGeom prst="roundRect">
            <a:avLst>
              <a:gd name="adj" fmla="val 3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7" name="Text 5"/>
          <p:cNvSpPr/>
          <p:nvPr/>
        </p:nvSpPr>
        <p:spPr>
          <a:xfrm>
            <a:off x="841248" y="3017520"/>
            <a:ext cx="9875520" cy="365760"/>
          </a:xfrm>
          <a:prstGeom prst="rect">
            <a:avLst/>
          </a:prstGeom>
          <a:noFill/>
          <a:ln/>
        </p:spPr>
        <p:txBody>
          <a:bodyPr wrap="square" rtlCol="0" anchor="ctr"/>
          <a:lstStyle/>
          <a:p>
            <a:pPr indent="0" marL="0">
              <a:buNone/>
            </a:pPr>
            <a:r>
              <a:rPr lang="en-US" sz="1400" b="1" dirty="0">
                <a:solidFill>
                  <a:srgbClr val="1F2733"/>
                </a:solidFill>
                <a:latin typeface="Arial" pitchFamily="34" charset="0"/>
                <a:ea typeface="Arial" pitchFamily="34" charset="-122"/>
                <a:cs typeface="Arial" pitchFamily="34" charset="-120"/>
              </a:rPr>
              <a:t>Rewrite it into a strong Core Chat prompt that includes:</a:t>
            </a:r>
            <a:endParaRPr lang="en-US" sz="1400" dirty="0"/>
          </a:p>
        </p:txBody>
      </p:sp>
      <p:sp>
        <p:nvSpPr>
          <p:cNvPr id="8" name="Text 6"/>
          <p:cNvSpPr/>
          <p:nvPr/>
        </p:nvSpPr>
        <p:spPr>
          <a:xfrm>
            <a:off x="841248" y="3474720"/>
            <a:ext cx="9875520" cy="548640"/>
          </a:xfrm>
          <a:prstGeom prst="rect">
            <a:avLst/>
          </a:prstGeom>
          <a:noFill/>
          <a:ln/>
        </p:spPr>
        <p:txBody>
          <a:bodyPr wrap="square" rtlCol="0" anchor="t"/>
          <a:lstStyle/>
          <a:p>
            <a:pPr indent="0" marL="0">
              <a:lnSpc>
                <a:spcPts val="2000"/>
              </a:lnSpc>
              <a:buNone/>
            </a:pPr>
            <a:r>
              <a:rPr lang="en-US" sz="1400" b="1" dirty="0">
                <a:solidFill>
                  <a:srgbClr val="D31242"/>
                </a:solidFill>
                <a:latin typeface="Arial" pitchFamily="34" charset="0"/>
                <a:ea typeface="Arial" pitchFamily="34" charset="-122"/>
                <a:cs typeface="Arial" pitchFamily="34" charset="-120"/>
              </a:rPr>
              <a:t>Role </a:t>
            </a:r>
            <a:pPr indent="0" marL="0">
              <a:lnSpc>
                <a:spcPts val="2000"/>
              </a:lnSpc>
              <a:buNone/>
            </a:pPr>
            <a:r>
              <a:rPr lang="en-US" sz="1400" dirty="0">
                <a:solidFill>
                  <a:srgbClr val="5E6A78"/>
                </a:solidFill>
                <a:latin typeface="Arial" pitchFamily="34" charset="0"/>
                <a:ea typeface="Arial" pitchFamily="34" charset="-122"/>
                <a:cs typeface="Arial" pitchFamily="34" charset="-120"/>
              </a:rPr>
              <a:t>· </a:t>
            </a:r>
            <a:pPr indent="0" marL="0">
              <a:lnSpc>
                <a:spcPts val="2000"/>
              </a:lnSpc>
              <a:buNone/>
            </a:pPr>
            <a:r>
              <a:rPr lang="en-US" sz="1400" b="1" dirty="0">
                <a:solidFill>
                  <a:srgbClr val="D31242"/>
                </a:solidFill>
                <a:latin typeface="Arial" pitchFamily="34" charset="0"/>
                <a:ea typeface="Arial" pitchFamily="34" charset="-122"/>
                <a:cs typeface="Arial" pitchFamily="34" charset="-120"/>
              </a:rPr>
              <a:t>Task </a:t>
            </a:r>
            <a:pPr indent="0" marL="0">
              <a:lnSpc>
                <a:spcPts val="2000"/>
              </a:lnSpc>
              <a:buNone/>
            </a:pPr>
            <a:r>
              <a:rPr lang="en-US" sz="1400" dirty="0">
                <a:solidFill>
                  <a:srgbClr val="5E6A78"/>
                </a:solidFill>
                <a:latin typeface="Arial" pitchFamily="34" charset="0"/>
                <a:ea typeface="Arial" pitchFamily="34" charset="-122"/>
                <a:cs typeface="Arial" pitchFamily="34" charset="-120"/>
              </a:rPr>
              <a:t>· </a:t>
            </a:r>
            <a:pPr indent="0" marL="0">
              <a:lnSpc>
                <a:spcPts val="2000"/>
              </a:lnSpc>
              <a:buNone/>
            </a:pPr>
            <a:r>
              <a:rPr lang="en-US" sz="1400" b="1" dirty="0">
                <a:solidFill>
                  <a:srgbClr val="D31242"/>
                </a:solidFill>
                <a:latin typeface="Arial" pitchFamily="34" charset="0"/>
                <a:ea typeface="Arial" pitchFamily="34" charset="-122"/>
                <a:cs typeface="Arial" pitchFamily="34" charset="-120"/>
              </a:rPr>
              <a:t>Audience / context </a:t>
            </a:r>
            <a:pPr indent="0" marL="0">
              <a:lnSpc>
                <a:spcPts val="2000"/>
              </a:lnSpc>
              <a:buNone/>
            </a:pPr>
            <a:r>
              <a:rPr lang="en-US" sz="1400" dirty="0">
                <a:solidFill>
                  <a:srgbClr val="5E6A78"/>
                </a:solidFill>
                <a:latin typeface="Arial" pitchFamily="34" charset="0"/>
                <a:ea typeface="Arial" pitchFamily="34" charset="-122"/>
                <a:cs typeface="Arial" pitchFamily="34" charset="-120"/>
              </a:rPr>
              <a:t>· </a:t>
            </a:r>
            <a:pPr indent="0" marL="0">
              <a:lnSpc>
                <a:spcPts val="2000"/>
              </a:lnSpc>
              <a:buNone/>
            </a:pPr>
            <a:r>
              <a:rPr lang="en-US" sz="1400" b="1" dirty="0">
                <a:solidFill>
                  <a:srgbClr val="D31242"/>
                </a:solidFill>
                <a:latin typeface="Arial" pitchFamily="34" charset="0"/>
                <a:ea typeface="Arial" pitchFamily="34" charset="-122"/>
                <a:cs typeface="Arial" pitchFamily="34" charset="-120"/>
              </a:rPr>
              <a:t>Format </a:t>
            </a:r>
            <a:pPr indent="0" marL="0">
              <a:lnSpc>
                <a:spcPts val="2000"/>
              </a:lnSpc>
              <a:buNone/>
            </a:pPr>
            <a:r>
              <a:rPr lang="en-US" sz="1400" dirty="0">
                <a:solidFill>
                  <a:srgbClr val="5E6A78"/>
                </a:solidFill>
                <a:latin typeface="Arial" pitchFamily="34" charset="0"/>
                <a:ea typeface="Arial" pitchFamily="34" charset="-122"/>
                <a:cs typeface="Arial" pitchFamily="34" charset="-120"/>
              </a:rPr>
              <a:t>· </a:t>
            </a:r>
            <a:pPr indent="0" marL="0">
              <a:lnSpc>
                <a:spcPts val="2000"/>
              </a:lnSpc>
              <a:buNone/>
            </a:pPr>
            <a:r>
              <a:rPr lang="en-US" sz="1400" b="1" dirty="0">
                <a:solidFill>
                  <a:srgbClr val="D31242"/>
                </a:solidFill>
                <a:latin typeface="Arial" pitchFamily="34" charset="0"/>
                <a:ea typeface="Arial" pitchFamily="34" charset="-122"/>
                <a:cs typeface="Arial" pitchFamily="34" charset="-120"/>
              </a:rPr>
              <a:t>Constraints </a:t>
            </a:r>
            <a:pPr indent="0" marL="0">
              <a:lnSpc>
                <a:spcPts val="2000"/>
              </a:lnSpc>
              <a:buNone/>
            </a:pPr>
            <a:r>
              <a:rPr lang="en-US" sz="1400" dirty="0">
                <a:solidFill>
                  <a:srgbClr val="5E6A78"/>
                </a:solidFill>
                <a:latin typeface="Arial" pitchFamily="34" charset="0"/>
                <a:ea typeface="Arial" pitchFamily="34" charset="-122"/>
                <a:cs typeface="Arial" pitchFamily="34" charset="-120"/>
              </a:rPr>
              <a:t>· </a:t>
            </a:r>
            <a:pPr indent="0" marL="0">
              <a:lnSpc>
                <a:spcPts val="2000"/>
              </a:lnSpc>
              <a:buNone/>
            </a:pPr>
            <a:r>
              <a:rPr lang="en-US" sz="1400" b="1" dirty="0">
                <a:solidFill>
                  <a:srgbClr val="7E0A27"/>
                </a:solidFill>
                <a:latin typeface="Arial" pitchFamily="34" charset="0"/>
                <a:ea typeface="Arial" pitchFamily="34" charset="-122"/>
                <a:cs typeface="Arial" pitchFamily="34" charset="-120"/>
              </a:rPr>
              <a:t>+ a verification or clarifying-question instruction</a:t>
            </a:r>
            <a:endParaRPr lang="en-US" sz="1400" dirty="0"/>
          </a:p>
        </p:txBody>
      </p:sp>
      <p:sp>
        <p:nvSpPr>
          <p:cNvPr id="9" name="Text 7"/>
          <p:cNvSpPr/>
          <p:nvPr/>
        </p:nvSpPr>
        <p:spPr>
          <a:xfrm>
            <a:off x="841248" y="4114800"/>
            <a:ext cx="9875520" cy="1280160"/>
          </a:xfrm>
          <a:prstGeom prst="rect">
            <a:avLst/>
          </a:prstGeom>
          <a:noFill/>
          <a:ln/>
        </p:spPr>
        <p:txBody>
          <a:bodyPr wrap="square" rtlCol="0" anchor="t"/>
          <a:lstStyle/>
          <a:p>
            <a:pPr indent="0" marL="0">
              <a:lnSpc>
                <a:spcPts val="2000"/>
              </a:lnSpc>
              <a:buNone/>
            </a:pPr>
            <a:r>
              <a:rPr lang="en-US" sz="1350" b="1" dirty="0">
                <a:solidFill>
                  <a:srgbClr val="1F2733"/>
                </a:solidFill>
                <a:latin typeface="Arial" pitchFamily="34" charset="0"/>
                <a:ea typeface="Arial" pitchFamily="34" charset="-122"/>
                <a:cs typeface="Arial" pitchFamily="34" charset="-120"/>
              </a:rPr>
              <a:t>Then: </a:t>
            </a:r>
            <a:pPr indent="0" marL="0">
              <a:lnSpc>
                <a:spcPts val="2000"/>
              </a:lnSpc>
              <a:buNone/>
            </a:pPr>
            <a:r>
              <a:rPr lang="en-US" sz="1350" dirty="0">
                <a:solidFill>
                  <a:srgbClr val="3A4452"/>
                </a:solidFill>
                <a:latin typeface="Arial" pitchFamily="34" charset="0"/>
                <a:ea typeface="Arial" pitchFamily="34" charset="-122"/>
                <a:cs typeface="Arial" pitchFamily="34" charset="-120"/>
              </a:rPr>
              <a:t>run it, iterate once to improve tone or length, and verify anything you'd actually send. Score your partner's prompt with the rubric on the next slide.</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EXERCISE ANSWER KEY</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One strong version (not the only one)</a:t>
            </a:r>
            <a:endParaRPr lang="en-US" sz="2900" dirty="0"/>
          </a:p>
        </p:txBody>
      </p:sp>
      <p:sp>
        <p:nvSpPr>
          <p:cNvPr id="4" name="Shape 2"/>
          <p:cNvSpPr/>
          <p:nvPr/>
        </p:nvSpPr>
        <p:spPr>
          <a:xfrm>
            <a:off x="566928" y="1554480"/>
            <a:ext cx="10469880" cy="2926080"/>
          </a:xfrm>
          <a:prstGeom prst="roundRect">
            <a:avLst>
              <a:gd name="adj" fmla="val 2813"/>
            </a:avLst>
          </a:prstGeom>
          <a:solidFill>
            <a:srgbClr val="EAF6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10058400" cy="2468880"/>
          </a:xfrm>
          <a:prstGeom prst="rect">
            <a:avLst/>
          </a:prstGeom>
          <a:noFill/>
          <a:ln/>
        </p:spPr>
        <p:txBody>
          <a:bodyPr wrap="square" rtlCol="0" anchor="t"/>
          <a:lstStyle/>
          <a:p>
            <a:pPr indent="0" marL="0">
              <a:lnSpc>
                <a:spcPts val="2300"/>
              </a:lnSpc>
              <a:buNone/>
            </a:pPr>
            <a:r>
              <a:rPr lang="en-US" sz="1450" i="1" dirty="0">
                <a:solidFill>
                  <a:srgbClr val="1F2733"/>
                </a:solidFill>
                <a:latin typeface="Arial" pitchFamily="34" charset="0"/>
                <a:ea typeface="Arial" pitchFamily="34" charset="-122"/>
                <a:cs typeface="Arial" pitchFamily="34" charset="-120"/>
              </a:rPr>
              <a:t>"You are a BJ's club operations lead (role). Draft a short announcement (task) for our club associates introducing the new curbside pickup process that starts Monday (audience + context). Format it as a friendly one-line intro, then 4 numbered steps, then a one-line where-to-get-help (format). Keep it under 150 words, warm and plain-English, no acronyms (constraints). Before you write it, ask me up to 3 clarifying questions if anything is unclear, and after, list which details I should verify (clarify + verify)."</a:t>
            </a:r>
            <a:endParaRPr lang="en-US" sz="1450" dirty="0"/>
          </a:p>
        </p:txBody>
      </p:sp>
      <p:sp>
        <p:nvSpPr>
          <p:cNvPr id="6" name="Shape 4"/>
          <p:cNvSpPr/>
          <p:nvPr/>
        </p:nvSpPr>
        <p:spPr>
          <a:xfrm>
            <a:off x="566928" y="4617720"/>
            <a:ext cx="10469880" cy="1143000"/>
          </a:xfrm>
          <a:prstGeom prst="roundRect">
            <a:avLst>
              <a:gd name="adj" fmla="val 72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7" name="Text 5"/>
          <p:cNvSpPr/>
          <p:nvPr/>
        </p:nvSpPr>
        <p:spPr>
          <a:xfrm>
            <a:off x="841248" y="4754880"/>
            <a:ext cx="10058400" cy="914400"/>
          </a:xfrm>
          <a:prstGeom prst="rect">
            <a:avLst/>
          </a:prstGeom>
          <a:noFill/>
          <a:ln/>
        </p:spPr>
        <p:txBody>
          <a:bodyPr wrap="square" rtlCol="0" anchor="ctr"/>
          <a:lstStyle/>
          <a:p>
            <a:pPr indent="0" marL="0">
              <a:lnSpc>
                <a:spcPts val="1800"/>
              </a:lnSpc>
              <a:buNone/>
            </a:pPr>
            <a:r>
              <a:rPr lang="en-US" sz="1300" b="1" dirty="0">
                <a:solidFill>
                  <a:srgbClr val="D31242"/>
                </a:solidFill>
                <a:latin typeface="Arial" pitchFamily="34" charset="0"/>
                <a:ea typeface="Arial" pitchFamily="34" charset="-122"/>
                <a:cs typeface="Arial" pitchFamily="34" charset="-120"/>
              </a:rPr>
              <a:t>Why it's strong: </a:t>
            </a:r>
            <a:pPr indent="0" marL="0">
              <a:lnSpc>
                <a:spcPts val="1800"/>
              </a:lnSpc>
              <a:buNone/>
            </a:pPr>
            <a:r>
              <a:rPr lang="en-US" sz="1300" dirty="0">
                <a:solidFill>
                  <a:srgbClr val="3A4452"/>
                </a:solidFill>
                <a:latin typeface="Arial" pitchFamily="34" charset="0"/>
                <a:ea typeface="Arial" pitchFamily="34" charset="-122"/>
                <a:cs typeface="Arial" pitchFamily="34" charset="-120"/>
              </a:rPr>
              <a:t>every part is named, the format is concrete, it's bounded for length and tone, and it builds in both a clarifying-question step and a verification step — the two safety habits from this module.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SCORE A PROMPT</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Champion scoring rubric (10 points)</a:t>
            </a:r>
            <a:endParaRPr lang="en-US" sz="2900" dirty="0"/>
          </a:p>
        </p:txBody>
      </p:sp>
      <p:sp>
        <p:nvSpPr>
          <p:cNvPr id="4" name="Shape 2"/>
          <p:cNvSpPr/>
          <p:nvPr/>
        </p:nvSpPr>
        <p:spPr>
          <a:xfrm>
            <a:off x="566928" y="1645920"/>
            <a:ext cx="10469880" cy="658368"/>
          </a:xfrm>
          <a:prstGeom prst="roundRect">
            <a:avLst>
              <a:gd name="adj" fmla="val 125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645920"/>
            <a:ext cx="2926080" cy="658368"/>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Clear task</a:t>
            </a:r>
            <a:endParaRPr lang="en-US" sz="1450" dirty="0"/>
          </a:p>
        </p:txBody>
      </p:sp>
      <p:sp>
        <p:nvSpPr>
          <p:cNvPr id="6" name="Text 4"/>
          <p:cNvSpPr/>
          <p:nvPr/>
        </p:nvSpPr>
        <p:spPr>
          <a:xfrm>
            <a:off x="3858768" y="1645920"/>
            <a:ext cx="5486400" cy="658368"/>
          </a:xfrm>
          <a:prstGeom prst="rect">
            <a:avLst/>
          </a:prstGeom>
          <a:noFill/>
          <a:ln/>
        </p:spPr>
        <p:txBody>
          <a:bodyPr wrap="square" lIns="0" tIns="0" rIns="0" bIns="0" rtlCol="0" anchor="ctr"/>
          <a:lstStyle/>
          <a:p>
            <a:pPr indent="0" marL="0">
              <a:buNone/>
            </a:pPr>
            <a:r>
              <a:rPr lang="en-US" sz="1300" dirty="0">
                <a:solidFill>
                  <a:srgbClr val="3A4452"/>
                </a:solidFill>
                <a:latin typeface="Arial" pitchFamily="34" charset="0"/>
                <a:ea typeface="Arial" pitchFamily="34" charset="-122"/>
                <a:cs typeface="Arial" pitchFamily="34" charset="-120"/>
              </a:rPr>
              <a:t>Is there one specific ask with an action verb?</a:t>
            </a:r>
            <a:endParaRPr lang="en-US" sz="1300" dirty="0"/>
          </a:p>
        </p:txBody>
      </p:sp>
      <p:sp>
        <p:nvSpPr>
          <p:cNvPr id="7" name="Text 5"/>
          <p:cNvSpPr/>
          <p:nvPr/>
        </p:nvSpPr>
        <p:spPr>
          <a:xfrm>
            <a:off x="9619488" y="1645920"/>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8" name="Shape 6"/>
          <p:cNvSpPr/>
          <p:nvPr/>
        </p:nvSpPr>
        <p:spPr>
          <a:xfrm>
            <a:off x="566928" y="2395728"/>
            <a:ext cx="10469880" cy="658368"/>
          </a:xfrm>
          <a:prstGeom prst="roundRect">
            <a:avLst>
              <a:gd name="adj" fmla="val 125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9" name="Text 7"/>
          <p:cNvSpPr/>
          <p:nvPr/>
        </p:nvSpPr>
        <p:spPr>
          <a:xfrm>
            <a:off x="841248" y="2395728"/>
            <a:ext cx="2926080" cy="658368"/>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Useful context</a:t>
            </a:r>
            <a:endParaRPr lang="en-US" sz="1450" dirty="0"/>
          </a:p>
        </p:txBody>
      </p:sp>
      <p:sp>
        <p:nvSpPr>
          <p:cNvPr id="10" name="Text 8"/>
          <p:cNvSpPr/>
          <p:nvPr/>
        </p:nvSpPr>
        <p:spPr>
          <a:xfrm>
            <a:off x="3858768" y="2395728"/>
            <a:ext cx="5486400" cy="658368"/>
          </a:xfrm>
          <a:prstGeom prst="rect">
            <a:avLst/>
          </a:prstGeom>
          <a:noFill/>
          <a:ln/>
        </p:spPr>
        <p:txBody>
          <a:bodyPr wrap="square" lIns="0" tIns="0" rIns="0" bIns="0" rtlCol="0" anchor="ctr"/>
          <a:lstStyle/>
          <a:p>
            <a:pPr indent="0" marL="0">
              <a:buNone/>
            </a:pPr>
            <a:r>
              <a:rPr lang="en-US" sz="1300" dirty="0">
                <a:solidFill>
                  <a:srgbClr val="3A4452"/>
                </a:solidFill>
                <a:latin typeface="Arial" pitchFamily="34" charset="0"/>
                <a:ea typeface="Arial" pitchFamily="34" charset="-122"/>
                <a:cs typeface="Arial" pitchFamily="34" charset="-120"/>
              </a:rPr>
              <a:t>Audience, purpose, and key facts provided?</a:t>
            </a:r>
            <a:endParaRPr lang="en-US" sz="1300" dirty="0"/>
          </a:p>
        </p:txBody>
      </p:sp>
      <p:sp>
        <p:nvSpPr>
          <p:cNvPr id="11" name="Text 9"/>
          <p:cNvSpPr/>
          <p:nvPr/>
        </p:nvSpPr>
        <p:spPr>
          <a:xfrm>
            <a:off x="9619488" y="2395728"/>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12" name="Shape 10"/>
          <p:cNvSpPr/>
          <p:nvPr/>
        </p:nvSpPr>
        <p:spPr>
          <a:xfrm>
            <a:off x="566928" y="3145536"/>
            <a:ext cx="10469880" cy="658368"/>
          </a:xfrm>
          <a:prstGeom prst="roundRect">
            <a:avLst>
              <a:gd name="adj" fmla="val 125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3" name="Text 11"/>
          <p:cNvSpPr/>
          <p:nvPr/>
        </p:nvSpPr>
        <p:spPr>
          <a:xfrm>
            <a:off x="841248" y="3145536"/>
            <a:ext cx="2926080" cy="658368"/>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Audience / tone</a:t>
            </a:r>
            <a:endParaRPr lang="en-US" sz="1450" dirty="0"/>
          </a:p>
        </p:txBody>
      </p:sp>
      <p:sp>
        <p:nvSpPr>
          <p:cNvPr id="14" name="Text 12"/>
          <p:cNvSpPr/>
          <p:nvPr/>
        </p:nvSpPr>
        <p:spPr>
          <a:xfrm>
            <a:off x="3858768" y="3145536"/>
            <a:ext cx="5486400" cy="658368"/>
          </a:xfrm>
          <a:prstGeom prst="rect">
            <a:avLst/>
          </a:prstGeom>
          <a:noFill/>
          <a:ln/>
        </p:spPr>
        <p:txBody>
          <a:bodyPr wrap="square" lIns="0" tIns="0" rIns="0" bIns="0" rtlCol="0" anchor="ctr"/>
          <a:lstStyle/>
          <a:p>
            <a:pPr indent="0" marL="0">
              <a:buNone/>
            </a:pPr>
            <a:r>
              <a:rPr lang="en-US" sz="1300" dirty="0">
                <a:solidFill>
                  <a:srgbClr val="3A4452"/>
                </a:solidFill>
                <a:latin typeface="Arial" pitchFamily="34" charset="0"/>
                <a:ea typeface="Arial" pitchFamily="34" charset="-122"/>
                <a:cs typeface="Arial" pitchFamily="34" charset="-120"/>
              </a:rPr>
              <a:t>Right voice for who will read it?</a:t>
            </a:r>
            <a:endParaRPr lang="en-US" sz="1300" dirty="0"/>
          </a:p>
        </p:txBody>
      </p:sp>
      <p:sp>
        <p:nvSpPr>
          <p:cNvPr id="15" name="Text 13"/>
          <p:cNvSpPr/>
          <p:nvPr/>
        </p:nvSpPr>
        <p:spPr>
          <a:xfrm>
            <a:off x="9619488" y="3145536"/>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16" name="Shape 14"/>
          <p:cNvSpPr/>
          <p:nvPr/>
        </p:nvSpPr>
        <p:spPr>
          <a:xfrm>
            <a:off x="566928" y="3895344"/>
            <a:ext cx="10469880" cy="658368"/>
          </a:xfrm>
          <a:prstGeom prst="roundRect">
            <a:avLst>
              <a:gd name="adj" fmla="val 125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841248" y="3895344"/>
            <a:ext cx="2926080" cy="658368"/>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Output format</a:t>
            </a:r>
            <a:endParaRPr lang="en-US" sz="1450" dirty="0"/>
          </a:p>
        </p:txBody>
      </p:sp>
      <p:sp>
        <p:nvSpPr>
          <p:cNvPr id="18" name="Text 16"/>
          <p:cNvSpPr/>
          <p:nvPr/>
        </p:nvSpPr>
        <p:spPr>
          <a:xfrm>
            <a:off x="3858768" y="3895344"/>
            <a:ext cx="5486400" cy="658368"/>
          </a:xfrm>
          <a:prstGeom prst="rect">
            <a:avLst/>
          </a:prstGeom>
          <a:noFill/>
          <a:ln/>
        </p:spPr>
        <p:txBody>
          <a:bodyPr wrap="square" lIns="0" tIns="0" rIns="0" bIns="0" rtlCol="0" anchor="ctr"/>
          <a:lstStyle/>
          <a:p>
            <a:pPr indent="0" marL="0">
              <a:buNone/>
            </a:pPr>
            <a:r>
              <a:rPr lang="en-US" sz="1300" dirty="0">
                <a:solidFill>
                  <a:srgbClr val="3A4452"/>
                </a:solidFill>
                <a:latin typeface="Arial" pitchFamily="34" charset="0"/>
                <a:ea typeface="Arial" pitchFamily="34" charset="-122"/>
                <a:cs typeface="Arial" pitchFamily="34" charset="-120"/>
              </a:rPr>
              <a:t>Is the shape of the answer specified?</a:t>
            </a:r>
            <a:endParaRPr lang="en-US" sz="1300" dirty="0"/>
          </a:p>
        </p:txBody>
      </p:sp>
      <p:sp>
        <p:nvSpPr>
          <p:cNvPr id="19" name="Text 17"/>
          <p:cNvSpPr/>
          <p:nvPr/>
        </p:nvSpPr>
        <p:spPr>
          <a:xfrm>
            <a:off x="9619488" y="3895344"/>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20" name="Shape 18"/>
          <p:cNvSpPr/>
          <p:nvPr/>
        </p:nvSpPr>
        <p:spPr>
          <a:xfrm>
            <a:off x="566928" y="4645152"/>
            <a:ext cx="10469880" cy="658368"/>
          </a:xfrm>
          <a:prstGeom prst="roundRect">
            <a:avLst>
              <a:gd name="adj" fmla="val 125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1" name="Text 19"/>
          <p:cNvSpPr/>
          <p:nvPr/>
        </p:nvSpPr>
        <p:spPr>
          <a:xfrm>
            <a:off x="841248" y="4645152"/>
            <a:ext cx="2926080" cy="658368"/>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Constraints / safety</a:t>
            </a:r>
            <a:endParaRPr lang="en-US" sz="1450" dirty="0"/>
          </a:p>
        </p:txBody>
      </p:sp>
      <p:sp>
        <p:nvSpPr>
          <p:cNvPr id="22" name="Text 20"/>
          <p:cNvSpPr/>
          <p:nvPr/>
        </p:nvSpPr>
        <p:spPr>
          <a:xfrm>
            <a:off x="3858768" y="4645152"/>
            <a:ext cx="5486400" cy="658368"/>
          </a:xfrm>
          <a:prstGeom prst="rect">
            <a:avLst/>
          </a:prstGeom>
          <a:noFill/>
          <a:ln/>
        </p:spPr>
        <p:txBody>
          <a:bodyPr wrap="square" lIns="0" tIns="0" rIns="0" bIns="0" rtlCol="0" anchor="ctr"/>
          <a:lstStyle/>
          <a:p>
            <a:pPr indent="0" marL="0">
              <a:buNone/>
            </a:pPr>
            <a:r>
              <a:rPr lang="en-US" sz="1300" dirty="0">
                <a:solidFill>
                  <a:srgbClr val="3A4452"/>
                </a:solidFill>
                <a:latin typeface="Arial" pitchFamily="34" charset="0"/>
                <a:ea typeface="Arial" pitchFamily="34" charset="-122"/>
                <a:cs typeface="Arial" pitchFamily="34" charset="-120"/>
              </a:rPr>
              <a:t>Length/limits set; nothing sensitive pasted?</a:t>
            </a:r>
            <a:endParaRPr lang="en-US" sz="1300" dirty="0"/>
          </a:p>
        </p:txBody>
      </p:sp>
      <p:sp>
        <p:nvSpPr>
          <p:cNvPr id="23" name="Text 21"/>
          <p:cNvSpPr/>
          <p:nvPr/>
        </p:nvSpPr>
        <p:spPr>
          <a:xfrm>
            <a:off x="9619488" y="4645152"/>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24" name="Text 22"/>
          <p:cNvSpPr/>
          <p:nvPr/>
        </p:nvSpPr>
        <p:spPr>
          <a:xfrm>
            <a:off x="566928" y="5532120"/>
            <a:ext cx="11055096" cy="411480"/>
          </a:xfrm>
          <a:prstGeom prst="rect">
            <a:avLst/>
          </a:prstGeom>
          <a:noFill/>
          <a:ln/>
        </p:spPr>
        <p:txBody>
          <a:bodyPr wrap="square" rtlCol="0" anchor="ctr"/>
          <a:lstStyle/>
          <a:p>
            <a:pPr algn="ctr" indent="0" marL="0">
              <a:buNone/>
            </a:pPr>
            <a:r>
              <a:rPr lang="en-US" sz="1400" b="1" dirty="0">
                <a:solidFill>
                  <a:srgbClr val="7E0A27"/>
                </a:solidFill>
                <a:latin typeface="Arial" pitchFamily="34" charset="0"/>
                <a:ea typeface="Arial" pitchFamily="34" charset="-122"/>
                <a:cs typeface="Arial" pitchFamily="34" charset="-120"/>
              </a:rPr>
              <a:t>Total: ___ / 10      ·      8–10 strong  ·  5–7 workable, iterate  ·  under 5 rewrite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CHECK YOUR UNDERSTANDING</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Quick knowledge check</a:t>
            </a:r>
            <a:endParaRPr lang="en-US" sz="2900" dirty="0"/>
          </a:p>
        </p:txBody>
      </p:sp>
      <p:sp>
        <p:nvSpPr>
          <p:cNvPr id="4" name="Shape 2"/>
          <p:cNvSpPr/>
          <p:nvPr/>
        </p:nvSpPr>
        <p:spPr>
          <a:xfrm>
            <a:off x="566928" y="1554480"/>
            <a:ext cx="5344668"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73936"/>
            <a:ext cx="4796028" cy="868680"/>
          </a:xfrm>
          <a:prstGeom prst="rect">
            <a:avLst/>
          </a:prstGeom>
          <a:noFill/>
          <a:ln/>
        </p:spPr>
        <p:txBody>
          <a:bodyPr wrap="square" rtlCol="0" anchor="t"/>
          <a:lstStyle/>
          <a:p>
            <a:pPr indent="0" marL="0">
              <a:lnSpc>
                <a:spcPts val="1800"/>
              </a:lnSpc>
              <a:buNone/>
            </a:pPr>
            <a:r>
              <a:rPr lang="en-US" sz="1500" b="1" dirty="0">
                <a:solidFill>
                  <a:srgbClr val="D31242"/>
                </a:solidFill>
                <a:latin typeface="Arial" pitchFamily="34" charset="0"/>
                <a:ea typeface="Arial" pitchFamily="34" charset="-122"/>
                <a:cs typeface="Arial" pitchFamily="34" charset="-120"/>
              </a:rPr>
              <a:t>Q1  </a:t>
            </a:r>
            <a:pPr indent="0" marL="0">
              <a:lnSpc>
                <a:spcPts val="1800"/>
              </a:lnSpc>
              <a:buNone/>
            </a:pPr>
            <a:r>
              <a:rPr lang="en-US" sz="1350" b="1" dirty="0">
                <a:solidFill>
                  <a:srgbClr val="1F2733"/>
                </a:solidFill>
                <a:latin typeface="Arial" pitchFamily="34" charset="0"/>
                <a:ea typeface="Arial" pitchFamily="34" charset="-122"/>
                <a:cs typeface="Arial" pitchFamily="34" charset="-120"/>
              </a:rPr>
              <a:t>Name the five parts of a clear request.</a:t>
            </a:r>
            <a:endParaRPr lang="en-US" sz="1500" dirty="0"/>
          </a:p>
        </p:txBody>
      </p:sp>
      <p:sp>
        <p:nvSpPr>
          <p:cNvPr id="6" name="Text 4"/>
          <p:cNvSpPr/>
          <p:nvPr/>
        </p:nvSpPr>
        <p:spPr>
          <a:xfrm>
            <a:off x="841248" y="2724912"/>
            <a:ext cx="4796028" cy="822960"/>
          </a:xfrm>
          <a:prstGeom prst="rect">
            <a:avLst/>
          </a:prstGeom>
          <a:noFill/>
          <a:ln/>
        </p:spPr>
        <p:txBody>
          <a:bodyPr wrap="square" rtlCol="0" anchor="t"/>
          <a:lstStyle/>
          <a:p>
            <a:pPr indent="0" marL="0">
              <a:lnSpc>
                <a:spcPts val="1600"/>
              </a:lnSpc>
              <a:buNone/>
            </a:pPr>
            <a:r>
              <a:rPr lang="en-US" sz="1200" b="1" dirty="0">
                <a:solidFill>
                  <a:srgbClr val="15803D"/>
                </a:solidFill>
                <a:latin typeface="Arial" pitchFamily="34" charset="0"/>
                <a:ea typeface="Arial" pitchFamily="34" charset="-122"/>
                <a:cs typeface="Arial" pitchFamily="34" charset="-120"/>
              </a:rPr>
              <a:t>Answer: </a:t>
            </a:r>
            <a:pPr indent="0" marL="0">
              <a:lnSpc>
                <a:spcPts val="1600"/>
              </a:lnSpc>
              <a:buNone/>
            </a:pPr>
            <a:r>
              <a:rPr lang="en-US" sz="1200" dirty="0">
                <a:solidFill>
                  <a:srgbClr val="3A4452"/>
                </a:solidFill>
                <a:latin typeface="Arial" pitchFamily="34" charset="0"/>
                <a:ea typeface="Arial" pitchFamily="34" charset="-122"/>
                <a:cs typeface="Arial" pitchFamily="34" charset="-120"/>
              </a:rPr>
              <a:t>Role, Task, Context, Format, Constraints.</a:t>
            </a:r>
            <a:endParaRPr lang="en-US" sz="1200" dirty="0"/>
          </a:p>
        </p:txBody>
      </p:sp>
      <p:sp>
        <p:nvSpPr>
          <p:cNvPr id="7" name="Shape 5"/>
          <p:cNvSpPr/>
          <p:nvPr/>
        </p:nvSpPr>
        <p:spPr>
          <a:xfrm>
            <a:off x="6277356" y="1554480"/>
            <a:ext cx="5344668"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1676" y="1773936"/>
            <a:ext cx="4796028" cy="868680"/>
          </a:xfrm>
          <a:prstGeom prst="rect">
            <a:avLst/>
          </a:prstGeom>
          <a:noFill/>
          <a:ln/>
        </p:spPr>
        <p:txBody>
          <a:bodyPr wrap="square" rtlCol="0" anchor="t"/>
          <a:lstStyle/>
          <a:p>
            <a:pPr indent="0" marL="0">
              <a:lnSpc>
                <a:spcPts val="1800"/>
              </a:lnSpc>
              <a:buNone/>
            </a:pPr>
            <a:r>
              <a:rPr lang="en-US" sz="1500" b="1" dirty="0">
                <a:solidFill>
                  <a:srgbClr val="D31242"/>
                </a:solidFill>
                <a:latin typeface="Arial" pitchFamily="34" charset="0"/>
                <a:ea typeface="Arial" pitchFamily="34" charset="-122"/>
                <a:cs typeface="Arial" pitchFamily="34" charset="-120"/>
              </a:rPr>
              <a:t>Q2  </a:t>
            </a:r>
            <a:pPr indent="0" marL="0">
              <a:lnSpc>
                <a:spcPts val="1800"/>
              </a:lnSpc>
              <a:buNone/>
            </a:pPr>
            <a:r>
              <a:rPr lang="en-US" sz="1350" b="1" dirty="0">
                <a:solidFill>
                  <a:srgbClr val="1F2733"/>
                </a:solidFill>
                <a:latin typeface="Arial" pitchFamily="34" charset="0"/>
                <a:ea typeface="Arial" pitchFamily="34" charset="-122"/>
                <a:cs typeface="Arial" pitchFamily="34" charset="-120"/>
              </a:rPr>
              <a:t>Why can answers 'drift' in a long chat?</a:t>
            </a:r>
            <a:endParaRPr lang="en-US" sz="1500" dirty="0"/>
          </a:p>
        </p:txBody>
      </p:sp>
      <p:sp>
        <p:nvSpPr>
          <p:cNvPr id="9" name="Text 7"/>
          <p:cNvSpPr/>
          <p:nvPr/>
        </p:nvSpPr>
        <p:spPr>
          <a:xfrm>
            <a:off x="6551676" y="2724912"/>
            <a:ext cx="4796028" cy="822960"/>
          </a:xfrm>
          <a:prstGeom prst="rect">
            <a:avLst/>
          </a:prstGeom>
          <a:noFill/>
          <a:ln/>
        </p:spPr>
        <p:txBody>
          <a:bodyPr wrap="square" rtlCol="0" anchor="t"/>
          <a:lstStyle/>
          <a:p>
            <a:pPr indent="0" marL="0">
              <a:lnSpc>
                <a:spcPts val="1600"/>
              </a:lnSpc>
              <a:buNone/>
            </a:pPr>
            <a:r>
              <a:rPr lang="en-US" sz="1200" b="1" dirty="0">
                <a:solidFill>
                  <a:srgbClr val="15803D"/>
                </a:solidFill>
                <a:latin typeface="Arial" pitchFamily="34" charset="0"/>
                <a:ea typeface="Arial" pitchFamily="34" charset="-122"/>
                <a:cs typeface="Arial" pitchFamily="34" charset="-120"/>
              </a:rPr>
              <a:t>Answer: </a:t>
            </a:r>
            <a:pPr indent="0" marL="0">
              <a:lnSpc>
                <a:spcPts val="1600"/>
              </a:lnSpc>
              <a:buNone/>
            </a:pPr>
            <a:r>
              <a:rPr lang="en-US" sz="1200" dirty="0">
                <a:solidFill>
                  <a:srgbClr val="3A4452"/>
                </a:solidFill>
                <a:latin typeface="Arial" pitchFamily="34" charset="0"/>
                <a:ea typeface="Arial" pitchFamily="34" charset="-122"/>
                <a:cs typeface="Arial" pitchFamily="34" charset="-120"/>
              </a:rPr>
              <a:t>The context window (desk) fills up; early details get crowded out. Fix: new chat.</a:t>
            </a:r>
            <a:endParaRPr lang="en-US" sz="1200" dirty="0"/>
          </a:p>
        </p:txBody>
      </p:sp>
      <p:sp>
        <p:nvSpPr>
          <p:cNvPr id="10" name="Shape 8"/>
          <p:cNvSpPr/>
          <p:nvPr/>
        </p:nvSpPr>
        <p:spPr>
          <a:xfrm>
            <a:off x="566928" y="3886200"/>
            <a:ext cx="5344668"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841248" y="4105656"/>
            <a:ext cx="4796028" cy="868680"/>
          </a:xfrm>
          <a:prstGeom prst="rect">
            <a:avLst/>
          </a:prstGeom>
          <a:noFill/>
          <a:ln/>
        </p:spPr>
        <p:txBody>
          <a:bodyPr wrap="square" rtlCol="0" anchor="t"/>
          <a:lstStyle/>
          <a:p>
            <a:pPr indent="0" marL="0">
              <a:lnSpc>
                <a:spcPts val="1800"/>
              </a:lnSpc>
              <a:buNone/>
            </a:pPr>
            <a:r>
              <a:rPr lang="en-US" sz="1500" b="1" dirty="0">
                <a:solidFill>
                  <a:srgbClr val="D31242"/>
                </a:solidFill>
                <a:latin typeface="Arial" pitchFamily="34" charset="0"/>
                <a:ea typeface="Arial" pitchFamily="34" charset="-122"/>
                <a:cs typeface="Arial" pitchFamily="34" charset="-120"/>
              </a:rPr>
              <a:t>Q3  </a:t>
            </a:r>
            <a:pPr indent="0" marL="0">
              <a:lnSpc>
                <a:spcPts val="1800"/>
              </a:lnSpc>
              <a:buNone/>
            </a:pPr>
            <a:r>
              <a:rPr lang="en-US" sz="1350" b="1" dirty="0">
                <a:solidFill>
                  <a:srgbClr val="1F2733"/>
                </a:solidFill>
                <a:latin typeface="Arial" pitchFamily="34" charset="0"/>
                <a:ea typeface="Arial" pitchFamily="34" charset="-122"/>
                <a:cs typeface="Arial" pitchFamily="34" charset="-120"/>
              </a:rPr>
              <a:t>Claude gives a confident statistic. What do you do?</a:t>
            </a:r>
            <a:endParaRPr lang="en-US" sz="1500" dirty="0"/>
          </a:p>
        </p:txBody>
      </p:sp>
      <p:sp>
        <p:nvSpPr>
          <p:cNvPr id="12" name="Text 10"/>
          <p:cNvSpPr/>
          <p:nvPr/>
        </p:nvSpPr>
        <p:spPr>
          <a:xfrm>
            <a:off x="841248" y="5056632"/>
            <a:ext cx="4796028" cy="822960"/>
          </a:xfrm>
          <a:prstGeom prst="rect">
            <a:avLst/>
          </a:prstGeom>
          <a:noFill/>
          <a:ln/>
        </p:spPr>
        <p:txBody>
          <a:bodyPr wrap="square" rtlCol="0" anchor="t"/>
          <a:lstStyle/>
          <a:p>
            <a:pPr indent="0" marL="0">
              <a:lnSpc>
                <a:spcPts val="1600"/>
              </a:lnSpc>
              <a:buNone/>
            </a:pPr>
            <a:r>
              <a:rPr lang="en-US" sz="1200" b="1" dirty="0">
                <a:solidFill>
                  <a:srgbClr val="15803D"/>
                </a:solidFill>
                <a:latin typeface="Arial" pitchFamily="34" charset="0"/>
                <a:ea typeface="Arial" pitchFamily="34" charset="-122"/>
                <a:cs typeface="Arial" pitchFamily="34" charset="-120"/>
              </a:rPr>
              <a:t>Answer: </a:t>
            </a:r>
            <a:pPr indent="0" marL="0">
              <a:lnSpc>
                <a:spcPts val="1600"/>
              </a:lnSpc>
              <a:buNone/>
            </a:pPr>
            <a:r>
              <a:rPr lang="en-US" sz="1200" dirty="0">
                <a:solidFill>
                  <a:srgbClr val="3A4452"/>
                </a:solidFill>
                <a:latin typeface="Arial" pitchFamily="34" charset="0"/>
                <a:ea typeface="Arial" pitchFamily="34" charset="-122"/>
                <a:cs typeface="Arial" pitchFamily="34" charset="-120"/>
              </a:rPr>
              <a:t>Verify it before using — and ask which parts to verify.</a:t>
            </a:r>
            <a:endParaRPr lang="en-US" sz="1200" dirty="0"/>
          </a:p>
        </p:txBody>
      </p:sp>
      <p:sp>
        <p:nvSpPr>
          <p:cNvPr id="13" name="Shape 11"/>
          <p:cNvSpPr/>
          <p:nvPr/>
        </p:nvSpPr>
        <p:spPr>
          <a:xfrm>
            <a:off x="6277356" y="3886200"/>
            <a:ext cx="5344668"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6551676" y="4105656"/>
            <a:ext cx="4796028" cy="868680"/>
          </a:xfrm>
          <a:prstGeom prst="rect">
            <a:avLst/>
          </a:prstGeom>
          <a:noFill/>
          <a:ln/>
        </p:spPr>
        <p:txBody>
          <a:bodyPr wrap="square" rtlCol="0" anchor="t"/>
          <a:lstStyle/>
          <a:p>
            <a:pPr indent="0" marL="0">
              <a:lnSpc>
                <a:spcPts val="1800"/>
              </a:lnSpc>
              <a:buNone/>
            </a:pPr>
            <a:r>
              <a:rPr lang="en-US" sz="1500" b="1" dirty="0">
                <a:solidFill>
                  <a:srgbClr val="D31242"/>
                </a:solidFill>
                <a:latin typeface="Arial" pitchFamily="34" charset="0"/>
                <a:ea typeface="Arial" pitchFamily="34" charset="-122"/>
                <a:cs typeface="Arial" pitchFamily="34" charset="-120"/>
              </a:rPr>
              <a:t>Q4  </a:t>
            </a:r>
            <a:pPr indent="0" marL="0">
              <a:lnSpc>
                <a:spcPts val="1800"/>
              </a:lnSpc>
              <a:buNone/>
            </a:pPr>
            <a:r>
              <a:rPr lang="en-US" sz="1350" b="1" dirty="0">
                <a:solidFill>
                  <a:srgbClr val="1F2733"/>
                </a:solidFill>
                <a:latin typeface="Arial" pitchFamily="34" charset="0"/>
                <a:ea typeface="Arial" pitchFamily="34" charset="-122"/>
                <a:cs typeface="Arial" pitchFamily="34" charset="-120"/>
              </a:rPr>
              <a:t>Name two things you should NOT paste into Claude.</a:t>
            </a:r>
            <a:endParaRPr lang="en-US" sz="1500" dirty="0"/>
          </a:p>
        </p:txBody>
      </p:sp>
      <p:sp>
        <p:nvSpPr>
          <p:cNvPr id="15" name="Text 13"/>
          <p:cNvSpPr/>
          <p:nvPr/>
        </p:nvSpPr>
        <p:spPr>
          <a:xfrm>
            <a:off x="6551676" y="5056632"/>
            <a:ext cx="4796028" cy="822960"/>
          </a:xfrm>
          <a:prstGeom prst="rect">
            <a:avLst/>
          </a:prstGeom>
          <a:noFill/>
          <a:ln/>
        </p:spPr>
        <p:txBody>
          <a:bodyPr wrap="square" rtlCol="0" anchor="t"/>
          <a:lstStyle/>
          <a:p>
            <a:pPr indent="0" marL="0">
              <a:lnSpc>
                <a:spcPts val="1600"/>
              </a:lnSpc>
              <a:buNone/>
            </a:pPr>
            <a:r>
              <a:rPr lang="en-US" sz="1200" b="1" dirty="0">
                <a:solidFill>
                  <a:srgbClr val="15803D"/>
                </a:solidFill>
                <a:latin typeface="Arial" pitchFamily="34" charset="0"/>
                <a:ea typeface="Arial" pitchFamily="34" charset="-122"/>
                <a:cs typeface="Arial" pitchFamily="34" charset="-120"/>
              </a:rPr>
              <a:t>Answer: </a:t>
            </a:r>
            <a:pPr indent="0" marL="0">
              <a:lnSpc>
                <a:spcPts val="1600"/>
              </a:lnSpc>
              <a:buNone/>
            </a:pPr>
            <a:r>
              <a:rPr lang="en-US" sz="1200" dirty="0">
                <a:solidFill>
                  <a:srgbClr val="3A4452"/>
                </a:solidFill>
                <a:latin typeface="Arial" pitchFamily="34" charset="0"/>
                <a:ea typeface="Arial" pitchFamily="34" charset="-122"/>
                <a:cs typeface="Arial" pitchFamily="34" charset="-120"/>
              </a:rPr>
              <a:t>Member/associate personal data, credentials, confidential or HR/legal/medical details.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MAKE IT STICK</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Practice this week</a:t>
            </a:r>
            <a:endParaRPr lang="en-US" sz="2900" dirty="0"/>
          </a:p>
        </p:txBody>
      </p:sp>
      <p:sp>
        <p:nvSpPr>
          <p:cNvPr id="4" name="Shape 2"/>
          <p:cNvSpPr/>
          <p:nvPr/>
        </p:nvSpPr>
        <p:spPr>
          <a:xfrm>
            <a:off x="566928" y="1600200"/>
            <a:ext cx="5760720" cy="4160520"/>
          </a:xfrm>
          <a:prstGeom prst="roundRect">
            <a:avLst>
              <a:gd name="adj" fmla="val 1978"/>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5212080" cy="411480"/>
          </a:xfrm>
          <a:prstGeom prst="rect">
            <a:avLst/>
          </a:prstGeom>
          <a:noFill/>
          <a:ln/>
        </p:spPr>
        <p:txBody>
          <a:bodyPr wrap="square" rtlCol="0" anchor="ctr"/>
          <a:lstStyle/>
          <a:p>
            <a:pPr indent="0" marL="0">
              <a:buNone/>
            </a:pPr>
            <a:r>
              <a:rPr lang="en-US" sz="1650" b="1" dirty="0">
                <a:solidFill>
                  <a:srgbClr val="D31242"/>
                </a:solidFill>
                <a:latin typeface="Arial" pitchFamily="34" charset="0"/>
                <a:ea typeface="Arial" pitchFamily="34" charset="-122"/>
                <a:cs typeface="Arial" pitchFamily="34" charset="-120"/>
              </a:rPr>
              <a:t>5 habits to practice</a:t>
            </a:r>
            <a:endParaRPr lang="en-US" sz="1650" dirty="0"/>
          </a:p>
        </p:txBody>
      </p:sp>
      <p:sp>
        <p:nvSpPr>
          <p:cNvPr id="6" name="Text 4"/>
          <p:cNvSpPr/>
          <p:nvPr/>
        </p:nvSpPr>
        <p:spPr>
          <a:xfrm>
            <a:off x="886968" y="2331720"/>
            <a:ext cx="5212080" cy="3291840"/>
          </a:xfrm>
          <a:prstGeom prst="rect">
            <a:avLst/>
          </a:prstGeom>
          <a:noFill/>
          <a:ln/>
        </p:spPr>
        <p:txBody>
          <a:bodyPr wrap="square" rtlCol="0" anchor="t"/>
          <a:lstStyle/>
          <a:p>
            <a:pPr marL="342900" indent="-342900">
              <a:lnSpc>
                <a:spcPts val="2400"/>
              </a:lnSpc>
              <a:buSzPct val="100000"/>
              <a:buChar char="•"/>
            </a:pPr>
            <a:r>
              <a:rPr lang="en-US" sz="1350" dirty="0">
                <a:solidFill>
                  <a:srgbClr val="3A4452"/>
                </a:solidFill>
                <a:latin typeface="Arial" pitchFamily="34" charset="0"/>
                <a:ea typeface="Arial" pitchFamily="34" charset="-122"/>
                <a:cs typeface="Arial" pitchFamily="34" charset="-120"/>
              </a:rPr>
              <a:t>One chat = one workstream.</a:t>
            </a:r>
            <a:endParaRPr lang="en-US" sz="1350" dirty="0"/>
          </a:p>
          <a:p>
            <a:pPr marL="342900" indent="-342900">
              <a:lnSpc>
                <a:spcPts val="2400"/>
              </a:lnSpc>
              <a:buSzPct val="100000"/>
              <a:buChar char="•"/>
            </a:pPr>
            <a:r>
              <a:rPr lang="en-US" sz="1350" dirty="0">
                <a:solidFill>
                  <a:srgbClr val="3A4452"/>
                </a:solidFill>
                <a:latin typeface="Arial" pitchFamily="34" charset="0"/>
                <a:ea typeface="Arial" pitchFamily="34" charset="-122"/>
                <a:cs typeface="Arial" pitchFamily="34" charset="-120"/>
              </a:rPr>
              <a:t>Name the 5 parts before you send.</a:t>
            </a:r>
            <a:endParaRPr lang="en-US" sz="1350" dirty="0"/>
          </a:p>
          <a:p>
            <a:pPr marL="342900" indent="-342900">
              <a:lnSpc>
                <a:spcPts val="2400"/>
              </a:lnSpc>
              <a:buSzPct val="100000"/>
              <a:buChar char="•"/>
            </a:pPr>
            <a:r>
              <a:rPr lang="en-US" sz="1350" dirty="0">
                <a:solidFill>
                  <a:srgbClr val="3A4452"/>
                </a:solidFill>
                <a:latin typeface="Arial" pitchFamily="34" charset="0"/>
                <a:ea typeface="Arial" pitchFamily="34" charset="-122"/>
                <a:cs typeface="Arial" pitchFamily="34" charset="-120"/>
              </a:rPr>
              <a:t>Paste the source instead of describing it.</a:t>
            </a:r>
            <a:endParaRPr lang="en-US" sz="1350" dirty="0"/>
          </a:p>
          <a:p>
            <a:pPr marL="342900" indent="-342900">
              <a:lnSpc>
                <a:spcPts val="2400"/>
              </a:lnSpc>
              <a:buSzPct val="100000"/>
              <a:buChar char="•"/>
            </a:pPr>
            <a:r>
              <a:rPr lang="en-US" sz="1350" dirty="0">
                <a:solidFill>
                  <a:srgbClr val="3A4452"/>
                </a:solidFill>
                <a:latin typeface="Arial" pitchFamily="34" charset="0"/>
                <a:ea typeface="Arial" pitchFamily="34" charset="-122"/>
                <a:cs typeface="Arial" pitchFamily="34" charset="-120"/>
              </a:rPr>
              <a:t>Iterate with short follow-ups.</a:t>
            </a:r>
            <a:endParaRPr lang="en-US" sz="1350" dirty="0"/>
          </a:p>
          <a:p>
            <a:pPr marL="342900" indent="-342900">
              <a:lnSpc>
                <a:spcPts val="2400"/>
              </a:lnSpc>
              <a:buSzPct val="100000"/>
              <a:buChar char="•"/>
            </a:pPr>
            <a:r>
              <a:rPr lang="en-US" sz="1350" dirty="0">
                <a:solidFill>
                  <a:srgbClr val="3A4452"/>
                </a:solidFill>
                <a:latin typeface="Arial" pitchFamily="34" charset="0"/>
                <a:ea typeface="Arial" pitchFamily="34" charset="-122"/>
                <a:cs typeface="Arial" pitchFamily="34" charset="-120"/>
              </a:rPr>
              <a:t>Verify before it leaves your hands.</a:t>
            </a:r>
            <a:endParaRPr lang="en-US" sz="1350" dirty="0"/>
          </a:p>
        </p:txBody>
      </p:sp>
      <p:sp>
        <p:nvSpPr>
          <p:cNvPr id="7" name="Shape 5"/>
          <p:cNvSpPr/>
          <p:nvPr/>
        </p:nvSpPr>
        <p:spPr>
          <a:xfrm>
            <a:off x="6629400" y="1600200"/>
            <a:ext cx="4983480" cy="4160520"/>
          </a:xfrm>
          <a:prstGeom prst="roundRect">
            <a:avLst>
              <a:gd name="adj" fmla="val 1978"/>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903720" y="1828800"/>
            <a:ext cx="4480560" cy="411480"/>
          </a:xfrm>
          <a:prstGeom prst="rect">
            <a:avLst/>
          </a:prstGeom>
          <a:noFill/>
          <a:ln/>
        </p:spPr>
        <p:txBody>
          <a:bodyPr wrap="square" rtlCol="0" anchor="ctr"/>
          <a:lstStyle/>
          <a:p>
            <a:pPr indent="0" marL="0">
              <a:buNone/>
            </a:pPr>
            <a:r>
              <a:rPr lang="en-US" sz="1650" b="1" dirty="0">
                <a:solidFill>
                  <a:srgbClr val="7E0A27"/>
                </a:solidFill>
                <a:latin typeface="Arial" pitchFamily="34" charset="0"/>
                <a:ea typeface="Arial" pitchFamily="34" charset="-122"/>
                <a:cs typeface="Arial" pitchFamily="34" charset="-120"/>
              </a:rPr>
              <a:t>Your assignment</a:t>
            </a:r>
            <a:endParaRPr lang="en-US" sz="1650" dirty="0"/>
          </a:p>
        </p:txBody>
      </p:sp>
      <p:sp>
        <p:nvSpPr>
          <p:cNvPr id="9" name="Text 7"/>
          <p:cNvSpPr/>
          <p:nvPr/>
        </p:nvSpPr>
        <p:spPr>
          <a:xfrm>
            <a:off x="6903720" y="2331720"/>
            <a:ext cx="4480560" cy="3291840"/>
          </a:xfrm>
          <a:prstGeom prst="rect">
            <a:avLst/>
          </a:prstGeom>
          <a:noFill/>
          <a:ln/>
        </p:spPr>
        <p:txBody>
          <a:bodyPr wrap="square" rtlCol="0" anchor="t"/>
          <a:lstStyle/>
          <a:p>
            <a:pPr indent="0" marL="0">
              <a:lnSpc>
                <a:spcPts val="2000"/>
              </a:lnSpc>
              <a:buNone/>
            </a:pPr>
            <a:r>
              <a:rPr lang="en-US" sz="1350" b="1" dirty="0">
                <a:solidFill>
                  <a:srgbClr val="1F2733"/>
                </a:solidFill>
                <a:latin typeface="Arial" pitchFamily="34" charset="0"/>
                <a:ea typeface="Arial" pitchFamily="34" charset="-122"/>
                <a:cs typeface="Arial" pitchFamily="34" charset="-120"/>
              </a:rPr>
              <a:t>Use core chat on 3 real tasks </a:t>
            </a:r>
            <a:pPr indent="0" marL="0">
              <a:lnSpc>
                <a:spcPts val="2000"/>
              </a:lnSpc>
              <a:buNone/>
            </a:pPr>
            <a:r>
              <a:rPr lang="en-US" sz="1350" dirty="0">
                <a:solidFill>
                  <a:srgbClr val="3A4452"/>
                </a:solidFill>
                <a:latin typeface="Arial" pitchFamily="34" charset="0"/>
                <a:ea typeface="Arial" pitchFamily="34" charset="-122"/>
                <a:cs typeface="Arial" pitchFamily="34" charset="-120"/>
              </a:rPr>
              <a:t>from your week. For one of them, use the clarifying-questions habit and the verify questions.</a:t>
            </a:r>
            <a:endParaRPr lang="en-US" sz="1350" dirty="0"/>
          </a:p>
          <a:p>
            <a:pPr indent="0" marL="0">
              <a:lnSpc>
                <a:spcPts val="2000"/>
              </a:lnSpc>
              <a:buNone/>
            </a:pPr>
            <a:endParaRPr lang="en-US" sz="1350" dirty="0"/>
          </a:p>
          <a:p>
            <a:pPr indent="0" marL="0">
              <a:lnSpc>
                <a:spcPts val="2000"/>
              </a:lnSpc>
              <a:buNone/>
            </a:pPr>
            <a:r>
              <a:rPr lang="en-US" sz="1350" b="1" dirty="0">
                <a:solidFill>
                  <a:srgbClr val="7E0A27"/>
                </a:solidFill>
                <a:latin typeface="Arial" pitchFamily="34" charset="0"/>
                <a:ea typeface="Arial" pitchFamily="34" charset="-122"/>
                <a:cs typeface="Arial" pitchFamily="34" charset="-120"/>
              </a:rPr>
              <a:t>Champion teach-back: </a:t>
            </a:r>
            <a:pPr indent="0" marL="0">
              <a:lnSpc>
                <a:spcPts val="2000"/>
              </a:lnSpc>
              <a:buNone/>
            </a:pPr>
            <a:r>
              <a:rPr lang="en-US" sz="1350" dirty="0">
                <a:solidFill>
                  <a:srgbClr val="3A4452"/>
                </a:solidFill>
                <a:latin typeface="Arial" pitchFamily="34" charset="0"/>
                <a:ea typeface="Arial" pitchFamily="34" charset="-122"/>
                <a:cs typeface="Arial" pitchFamily="34" charset="-120"/>
              </a:rPr>
              <a:t>be ready to explain Core Chat to a new user in 90 seconds.</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274320"/>
          </a:xfrm>
          <a:prstGeom prst="rect">
            <a:avLst/>
          </a:prstGeom>
          <a:noFill/>
          <a:ln/>
        </p:spPr>
        <p:txBody>
          <a:bodyPr wrap="square" rtlCol="0" anchor="ctr"/>
          <a:lstStyle/>
          <a:p>
            <a:pPr indent="0" marL="0">
              <a:buNone/>
            </a:pPr>
            <a:r>
              <a:rPr lang="en-US" sz="1250" b="1" spc="300" kern="0" dirty="0">
                <a:solidFill>
                  <a:srgbClr val="D31242"/>
                </a:solidFill>
                <a:latin typeface="Arial" pitchFamily="34" charset="0"/>
                <a:ea typeface="Arial" pitchFamily="34" charset="-122"/>
                <a:cs typeface="Arial" pitchFamily="34" charset="-120"/>
              </a:rPr>
              <a:t>KEEP THIS AT YOUR DESK</a:t>
            </a:r>
            <a:endParaRPr lang="en-US" sz="1250" dirty="0"/>
          </a:p>
        </p:txBody>
      </p:sp>
      <p:sp>
        <p:nvSpPr>
          <p:cNvPr id="3" name="Text 1"/>
          <p:cNvSpPr/>
          <p:nvPr/>
        </p:nvSpPr>
        <p:spPr>
          <a:xfrm>
            <a:off x="566928" y="658368"/>
            <a:ext cx="11055096" cy="777240"/>
          </a:xfrm>
          <a:prstGeom prst="rect">
            <a:avLst/>
          </a:prstGeom>
          <a:noFill/>
          <a:ln/>
        </p:spPr>
        <p:txBody>
          <a:bodyPr wrap="square" rtlCol="0" anchor="ctr"/>
          <a:lstStyle/>
          <a:p>
            <a:pPr indent="0" marL="0">
              <a:lnSpc>
                <a:spcPts val="3100"/>
              </a:lnSpc>
              <a:buNone/>
            </a:pPr>
            <a:r>
              <a:rPr lang="en-US" sz="2900" b="1" dirty="0">
                <a:solidFill>
                  <a:srgbClr val="1F2733"/>
                </a:solidFill>
                <a:latin typeface="Arial" pitchFamily="34" charset="0"/>
                <a:ea typeface="Arial" pitchFamily="34" charset="-122"/>
                <a:cs typeface="Arial" pitchFamily="34" charset="-120"/>
              </a:rPr>
              <a:t>Core-chat cheat sheet</a:t>
            </a:r>
            <a:endParaRPr lang="en-US" sz="2900" dirty="0"/>
          </a:p>
        </p:txBody>
      </p:sp>
      <p:sp>
        <p:nvSpPr>
          <p:cNvPr id="4" name="Shape 2"/>
          <p:cNvSpPr/>
          <p:nvPr/>
        </p:nvSpPr>
        <p:spPr>
          <a:xfrm>
            <a:off x="566928" y="1554480"/>
            <a:ext cx="5486400" cy="4297680"/>
          </a:xfrm>
          <a:prstGeom prst="roundRect">
            <a:avLst>
              <a:gd name="adj" fmla="val 1915"/>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4937760" cy="411480"/>
          </a:xfrm>
          <a:prstGeom prst="rect">
            <a:avLst/>
          </a:prstGeom>
          <a:noFill/>
          <a:ln/>
        </p:spPr>
        <p:txBody>
          <a:bodyPr wrap="square" rtlCol="0" anchor="ctr"/>
          <a:lstStyle/>
          <a:p>
            <a:pPr indent="0" marL="0">
              <a:buNone/>
            </a:pPr>
            <a:r>
              <a:rPr lang="en-US" sz="1700" b="1" dirty="0">
                <a:solidFill>
                  <a:srgbClr val="D31242"/>
                </a:solidFill>
                <a:latin typeface="Arial" pitchFamily="34" charset="0"/>
                <a:ea typeface="Arial" pitchFamily="34" charset="-122"/>
                <a:cs typeface="Arial" pitchFamily="34" charset="-120"/>
              </a:rPr>
              <a:t>The request recipe</a:t>
            </a:r>
            <a:endParaRPr lang="en-US" sz="1700" dirty="0"/>
          </a:p>
        </p:txBody>
      </p:sp>
      <p:sp>
        <p:nvSpPr>
          <p:cNvPr id="6" name="Text 4"/>
          <p:cNvSpPr/>
          <p:nvPr/>
        </p:nvSpPr>
        <p:spPr>
          <a:xfrm>
            <a:off x="841248" y="2286000"/>
            <a:ext cx="4983480" cy="3474720"/>
          </a:xfrm>
          <a:prstGeom prst="rect">
            <a:avLst/>
          </a:prstGeom>
          <a:noFill/>
          <a:ln/>
        </p:spPr>
        <p:txBody>
          <a:bodyPr wrap="square" rtlCol="0" anchor="t"/>
          <a:lstStyle/>
          <a:p>
            <a:pPr indent="0" marL="0">
              <a:lnSpc>
                <a:spcPts val="2300"/>
              </a:lnSpc>
              <a:buNone/>
            </a:pPr>
            <a:r>
              <a:rPr lang="en-US" sz="1350" b="1" dirty="0">
                <a:solidFill>
                  <a:srgbClr val="1F2733"/>
                </a:solidFill>
                <a:latin typeface="Arial" pitchFamily="34" charset="0"/>
                <a:ea typeface="Arial" pitchFamily="34" charset="-122"/>
                <a:cs typeface="Arial" pitchFamily="34" charset="-120"/>
              </a:rPr>
              <a:t>Role — </a:t>
            </a:r>
            <a:pPr indent="0" marL="0">
              <a:lnSpc>
                <a:spcPts val="2300"/>
              </a:lnSpc>
              <a:buNone/>
            </a:pPr>
            <a:r>
              <a:rPr lang="en-US" sz="1350" dirty="0">
                <a:solidFill>
                  <a:srgbClr val="3A4452"/>
                </a:solidFill>
                <a:latin typeface="Arial" pitchFamily="34" charset="0"/>
                <a:ea typeface="Arial" pitchFamily="34" charset="-122"/>
                <a:cs typeface="Arial" pitchFamily="34" charset="-120"/>
              </a:rPr>
              <a:t>who should Claude be?</a:t>
            </a:r>
            <a:endParaRPr lang="en-US" sz="1350" dirty="0"/>
          </a:p>
          <a:p>
            <a:pPr indent="0" marL="0">
              <a:lnSpc>
                <a:spcPts val="2300"/>
              </a:lnSpc>
              <a:buNone/>
            </a:pPr>
            <a:r>
              <a:rPr lang="en-US" sz="1350" b="1" dirty="0">
                <a:solidFill>
                  <a:srgbClr val="1F2733"/>
                </a:solidFill>
                <a:latin typeface="Arial" pitchFamily="34" charset="0"/>
                <a:ea typeface="Arial" pitchFamily="34" charset="-122"/>
                <a:cs typeface="Arial" pitchFamily="34" charset="-120"/>
              </a:rPr>
              <a:t>Task — </a:t>
            </a:r>
            <a:pPr indent="0" marL="0">
              <a:lnSpc>
                <a:spcPts val="2300"/>
              </a:lnSpc>
              <a:buNone/>
            </a:pPr>
            <a:r>
              <a:rPr lang="en-US" sz="1350" dirty="0">
                <a:solidFill>
                  <a:srgbClr val="3A4452"/>
                </a:solidFill>
                <a:latin typeface="Arial" pitchFamily="34" charset="0"/>
                <a:ea typeface="Arial" pitchFamily="34" charset="-122"/>
                <a:cs typeface="Arial" pitchFamily="34" charset="-120"/>
              </a:rPr>
              <a:t>what exactly do you want?</a:t>
            </a:r>
            <a:endParaRPr lang="en-US" sz="1350" dirty="0"/>
          </a:p>
          <a:p>
            <a:pPr indent="0" marL="0">
              <a:lnSpc>
                <a:spcPts val="2300"/>
              </a:lnSpc>
              <a:buNone/>
            </a:pPr>
            <a:r>
              <a:rPr lang="en-US" sz="1350" b="1" dirty="0">
                <a:solidFill>
                  <a:srgbClr val="1F2733"/>
                </a:solidFill>
                <a:latin typeface="Arial" pitchFamily="34" charset="0"/>
                <a:ea typeface="Arial" pitchFamily="34" charset="-122"/>
                <a:cs typeface="Arial" pitchFamily="34" charset="-120"/>
              </a:rPr>
              <a:t>Context — </a:t>
            </a:r>
            <a:pPr indent="0" marL="0">
              <a:lnSpc>
                <a:spcPts val="2300"/>
              </a:lnSpc>
              <a:buNone/>
            </a:pPr>
            <a:r>
              <a:rPr lang="en-US" sz="1350" dirty="0">
                <a:solidFill>
                  <a:srgbClr val="3A4452"/>
                </a:solidFill>
                <a:latin typeface="Arial" pitchFamily="34" charset="0"/>
                <a:ea typeface="Arial" pitchFamily="34" charset="-122"/>
                <a:cs typeface="Arial" pitchFamily="34" charset="-120"/>
              </a:rPr>
              <a:t>what does it need to know?</a:t>
            </a:r>
            <a:endParaRPr lang="en-US" sz="1350" dirty="0"/>
          </a:p>
          <a:p>
            <a:pPr indent="0" marL="0">
              <a:lnSpc>
                <a:spcPts val="2300"/>
              </a:lnSpc>
              <a:buNone/>
            </a:pPr>
            <a:r>
              <a:rPr lang="en-US" sz="1350" b="1" dirty="0">
                <a:solidFill>
                  <a:srgbClr val="1F2733"/>
                </a:solidFill>
                <a:latin typeface="Arial" pitchFamily="34" charset="0"/>
                <a:ea typeface="Arial" pitchFamily="34" charset="-122"/>
                <a:cs typeface="Arial" pitchFamily="34" charset="-120"/>
              </a:rPr>
              <a:t>Format — </a:t>
            </a:r>
            <a:pPr indent="0" marL="0">
              <a:lnSpc>
                <a:spcPts val="2300"/>
              </a:lnSpc>
              <a:buNone/>
            </a:pPr>
            <a:r>
              <a:rPr lang="en-US" sz="1350" dirty="0">
                <a:solidFill>
                  <a:srgbClr val="3A4452"/>
                </a:solidFill>
                <a:latin typeface="Arial" pitchFamily="34" charset="0"/>
                <a:ea typeface="Arial" pitchFamily="34" charset="-122"/>
                <a:cs typeface="Arial" pitchFamily="34" charset="-120"/>
              </a:rPr>
              <a:t>what shape should it take?</a:t>
            </a:r>
            <a:endParaRPr lang="en-US" sz="1350" dirty="0"/>
          </a:p>
          <a:p>
            <a:pPr indent="0" marL="0">
              <a:lnSpc>
                <a:spcPts val="2300"/>
              </a:lnSpc>
              <a:buNone/>
            </a:pPr>
            <a:r>
              <a:rPr lang="en-US" sz="1350" b="1" dirty="0">
                <a:solidFill>
                  <a:srgbClr val="1F2733"/>
                </a:solidFill>
                <a:latin typeface="Arial" pitchFamily="34" charset="0"/>
                <a:ea typeface="Arial" pitchFamily="34" charset="-122"/>
                <a:cs typeface="Arial" pitchFamily="34" charset="-120"/>
              </a:rPr>
              <a:t>Constraints — </a:t>
            </a:r>
            <a:pPr indent="0" marL="0">
              <a:lnSpc>
                <a:spcPts val="2300"/>
              </a:lnSpc>
              <a:buNone/>
            </a:pPr>
            <a:r>
              <a:rPr lang="en-US" sz="1350" dirty="0">
                <a:solidFill>
                  <a:srgbClr val="3A4452"/>
                </a:solidFill>
                <a:latin typeface="Arial" pitchFamily="34" charset="0"/>
                <a:ea typeface="Arial" pitchFamily="34" charset="-122"/>
                <a:cs typeface="Arial" pitchFamily="34" charset="-120"/>
              </a:rPr>
              <a:t>length, tone, must-haves.</a:t>
            </a:r>
            <a:endParaRPr lang="en-US" sz="1350" dirty="0"/>
          </a:p>
          <a:p>
            <a:pPr indent="0" marL="0">
              <a:lnSpc>
                <a:spcPts val="2300"/>
              </a:lnSpc>
              <a:buNone/>
            </a:pPr>
            <a:r>
              <a:rPr lang="en-US" sz="1350" b="1" dirty="0">
                <a:solidFill>
                  <a:srgbClr val="D31242"/>
                </a:solidFill>
                <a:latin typeface="Arial" pitchFamily="34" charset="0"/>
                <a:ea typeface="Arial" pitchFamily="34" charset="-122"/>
                <a:cs typeface="Arial" pitchFamily="34" charset="-120"/>
              </a:rPr>
              <a:t>+ Clarify/Verify — </a:t>
            </a:r>
            <a:pPr indent="0" marL="0">
              <a:lnSpc>
                <a:spcPts val="2300"/>
              </a:lnSpc>
              <a:buNone/>
            </a:pPr>
            <a:r>
              <a:rPr lang="en-US" sz="1350" dirty="0">
                <a:solidFill>
                  <a:srgbClr val="3A4452"/>
                </a:solidFill>
                <a:latin typeface="Arial" pitchFamily="34" charset="0"/>
                <a:ea typeface="Arial" pitchFamily="34" charset="-122"/>
                <a:cs typeface="Arial" pitchFamily="34" charset="-120"/>
              </a:rPr>
              <a:t>ask questions first; check facts after.</a:t>
            </a:r>
            <a:endParaRPr lang="en-US" sz="1350" dirty="0"/>
          </a:p>
        </p:txBody>
      </p:sp>
      <p:sp>
        <p:nvSpPr>
          <p:cNvPr id="7" name="Shape 5"/>
          <p:cNvSpPr/>
          <p:nvPr/>
        </p:nvSpPr>
        <p:spPr>
          <a:xfrm>
            <a:off x="6355080" y="1554480"/>
            <a:ext cx="5486400" cy="4297680"/>
          </a:xfrm>
          <a:prstGeom prst="roundRect">
            <a:avLst>
              <a:gd name="adj" fmla="val 1915"/>
            </a:avLst>
          </a:prstGeom>
          <a:solidFill>
            <a:srgbClr val="FBF0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783080"/>
            <a:ext cx="4937760" cy="411480"/>
          </a:xfrm>
          <a:prstGeom prst="rect">
            <a:avLst/>
          </a:prstGeom>
          <a:noFill/>
          <a:ln/>
        </p:spPr>
        <p:txBody>
          <a:bodyPr wrap="square" rtlCol="0" anchor="ctr"/>
          <a:lstStyle/>
          <a:p>
            <a:pPr indent="0" marL="0">
              <a:buNone/>
            </a:pPr>
            <a:r>
              <a:rPr lang="en-US" sz="1700" b="1" dirty="0">
                <a:solidFill>
                  <a:srgbClr val="7E0A27"/>
                </a:solidFill>
                <a:latin typeface="Arial" pitchFamily="34" charset="0"/>
                <a:ea typeface="Arial" pitchFamily="34" charset="-122"/>
                <a:cs typeface="Arial" pitchFamily="34" charset="-120"/>
              </a:rPr>
              <a:t>The habits</a:t>
            </a:r>
            <a:endParaRPr lang="en-US" sz="1700" dirty="0"/>
          </a:p>
        </p:txBody>
      </p:sp>
      <p:sp>
        <p:nvSpPr>
          <p:cNvPr id="9" name="Text 7"/>
          <p:cNvSpPr/>
          <p:nvPr/>
        </p:nvSpPr>
        <p:spPr>
          <a:xfrm>
            <a:off x="6629400" y="2286000"/>
            <a:ext cx="4983480" cy="3474720"/>
          </a:xfrm>
          <a:prstGeom prst="rect">
            <a:avLst/>
          </a:prstGeom>
          <a:noFill/>
          <a:ln/>
        </p:spPr>
        <p:txBody>
          <a:bodyPr wrap="square" rtlCol="0" anchor="t"/>
          <a:lstStyle/>
          <a:p>
            <a:pPr indent="0" marL="0">
              <a:lnSpc>
                <a:spcPts val="2300"/>
              </a:lnSpc>
              <a:buNone/>
            </a:pPr>
            <a:r>
              <a:rPr lang="en-US" sz="1350" b="1" dirty="0">
                <a:solidFill>
                  <a:srgbClr val="1F2733"/>
                </a:solidFill>
                <a:latin typeface="Arial" pitchFamily="34" charset="0"/>
                <a:ea typeface="Arial" pitchFamily="34" charset="-122"/>
                <a:cs typeface="Arial" pitchFamily="34" charset="-120"/>
              </a:rPr>
              <a:t>One chat = </a:t>
            </a:r>
            <a:pPr indent="0" marL="0">
              <a:lnSpc>
                <a:spcPts val="2300"/>
              </a:lnSpc>
              <a:buNone/>
            </a:pPr>
            <a:r>
              <a:rPr lang="en-US" sz="1350" dirty="0">
                <a:solidFill>
                  <a:srgbClr val="3A4452"/>
                </a:solidFill>
                <a:latin typeface="Arial" pitchFamily="34" charset="0"/>
                <a:ea typeface="Arial" pitchFamily="34" charset="-122"/>
                <a:cs typeface="Arial" pitchFamily="34" charset="-120"/>
              </a:rPr>
              <a:t>one workstream.</a:t>
            </a:r>
            <a:endParaRPr lang="en-US" sz="1350" dirty="0"/>
          </a:p>
          <a:p>
            <a:pPr indent="0" marL="0">
              <a:lnSpc>
                <a:spcPts val="2300"/>
              </a:lnSpc>
              <a:buNone/>
            </a:pPr>
            <a:r>
              <a:rPr lang="en-US" sz="1350" b="1" dirty="0">
                <a:solidFill>
                  <a:srgbClr val="1F2733"/>
                </a:solidFill>
                <a:latin typeface="Arial" pitchFamily="34" charset="0"/>
                <a:ea typeface="Arial" pitchFamily="34" charset="-122"/>
                <a:cs typeface="Arial" pitchFamily="34" charset="-120"/>
              </a:rPr>
              <a:t>Stuck? </a:t>
            </a:r>
            <a:pPr indent="0" marL="0">
              <a:lnSpc>
                <a:spcPts val="2300"/>
              </a:lnSpc>
              <a:buNone/>
            </a:pPr>
            <a:r>
              <a:rPr lang="en-US" sz="1350" dirty="0">
                <a:solidFill>
                  <a:srgbClr val="3A4452"/>
                </a:solidFill>
                <a:latin typeface="Arial" pitchFamily="34" charset="0"/>
                <a:ea typeface="Arial" pitchFamily="34" charset="-122"/>
                <a:cs typeface="Arial" pitchFamily="34" charset="-120"/>
              </a:rPr>
              <a:t>Restate, summarize, or start fresh.</a:t>
            </a:r>
            <a:endParaRPr lang="en-US" sz="1350" dirty="0"/>
          </a:p>
          <a:p>
            <a:pPr indent="0" marL="0">
              <a:lnSpc>
                <a:spcPts val="2300"/>
              </a:lnSpc>
              <a:buNone/>
            </a:pPr>
            <a:r>
              <a:rPr lang="en-US" sz="1350" b="1" dirty="0">
                <a:solidFill>
                  <a:srgbClr val="1F2733"/>
                </a:solidFill>
                <a:latin typeface="Arial" pitchFamily="34" charset="0"/>
                <a:ea typeface="Arial" pitchFamily="34" charset="-122"/>
                <a:cs typeface="Arial" pitchFamily="34" charset="-120"/>
              </a:rPr>
              <a:t>Retry </a:t>
            </a:r>
            <a:pPr indent="0" marL="0">
              <a:lnSpc>
                <a:spcPts val="2300"/>
              </a:lnSpc>
              <a:buNone/>
            </a:pPr>
            <a:r>
              <a:rPr lang="en-US" sz="1350" dirty="0">
                <a:solidFill>
                  <a:srgbClr val="3A4452"/>
                </a:solidFill>
                <a:latin typeface="Arial" pitchFamily="34" charset="0"/>
                <a:ea typeface="Arial" pitchFamily="34" charset="-122"/>
                <a:cs typeface="Arial" pitchFamily="34" charset="-120"/>
              </a:rPr>
              <a:t>a near-miss; </a:t>
            </a:r>
            <a:pPr indent="0" marL="0">
              <a:lnSpc>
                <a:spcPts val="2300"/>
              </a:lnSpc>
              <a:buNone/>
            </a:pPr>
            <a:r>
              <a:rPr lang="en-US" sz="1350" b="1" dirty="0">
                <a:solidFill>
                  <a:srgbClr val="1F2733"/>
                </a:solidFill>
                <a:latin typeface="Arial" pitchFamily="34" charset="0"/>
                <a:ea typeface="Arial" pitchFamily="34" charset="-122"/>
                <a:cs typeface="Arial" pitchFamily="34" charset="-120"/>
              </a:rPr>
              <a:t>Edit </a:t>
            </a:r>
            <a:pPr indent="0" marL="0">
              <a:lnSpc>
                <a:spcPts val="2300"/>
              </a:lnSpc>
              <a:buNone/>
            </a:pPr>
            <a:r>
              <a:rPr lang="en-US" sz="1350" dirty="0">
                <a:solidFill>
                  <a:srgbClr val="3A4452"/>
                </a:solidFill>
                <a:latin typeface="Arial" pitchFamily="34" charset="0"/>
                <a:ea typeface="Arial" pitchFamily="34" charset="-122"/>
                <a:cs typeface="Arial" pitchFamily="34" charset="-120"/>
              </a:rPr>
              <a:t>a flawed prompt.</a:t>
            </a:r>
            <a:endParaRPr lang="en-US" sz="1350" dirty="0"/>
          </a:p>
          <a:p>
            <a:pPr indent="0" marL="0">
              <a:lnSpc>
                <a:spcPts val="2300"/>
              </a:lnSpc>
              <a:buNone/>
            </a:pPr>
            <a:r>
              <a:rPr lang="en-US" sz="1350" b="1" dirty="0">
                <a:solidFill>
                  <a:srgbClr val="1F2733"/>
                </a:solidFill>
                <a:latin typeface="Arial" pitchFamily="34" charset="0"/>
                <a:ea typeface="Arial" pitchFamily="34" charset="-122"/>
                <a:cs typeface="Arial" pitchFamily="34" charset="-120"/>
              </a:rPr>
              <a:t>Paste the source </a:t>
            </a:r>
            <a:pPr indent="0" marL="0">
              <a:lnSpc>
                <a:spcPts val="2300"/>
              </a:lnSpc>
              <a:buNone/>
            </a:pPr>
            <a:r>
              <a:rPr lang="en-US" sz="1350" dirty="0">
                <a:solidFill>
                  <a:srgbClr val="3A4452"/>
                </a:solidFill>
                <a:latin typeface="Arial" pitchFamily="34" charset="0"/>
                <a:ea typeface="Arial" pitchFamily="34" charset="-122"/>
                <a:cs typeface="Arial" pitchFamily="34" charset="-120"/>
              </a:rPr>
              <a:t>— don't describe it.</a:t>
            </a:r>
            <a:endParaRPr lang="en-US" sz="1350" dirty="0"/>
          </a:p>
          <a:p>
            <a:pPr indent="0" marL="0">
              <a:lnSpc>
                <a:spcPts val="2300"/>
              </a:lnSpc>
              <a:buNone/>
            </a:pPr>
            <a:r>
              <a:rPr lang="en-US" sz="1350" b="1" dirty="0">
                <a:solidFill>
                  <a:srgbClr val="1F2733"/>
                </a:solidFill>
                <a:latin typeface="Arial" pitchFamily="34" charset="0"/>
                <a:ea typeface="Arial" pitchFamily="34" charset="-122"/>
                <a:cs typeface="Arial" pitchFamily="34" charset="-120"/>
              </a:rPr>
              <a:t>Default Sonnet; </a:t>
            </a:r>
            <a:pPr indent="0" marL="0">
              <a:lnSpc>
                <a:spcPts val="2300"/>
              </a:lnSpc>
              <a:buNone/>
            </a:pPr>
            <a:r>
              <a:rPr lang="en-US" sz="1350" dirty="0">
                <a:solidFill>
                  <a:srgbClr val="3A4452"/>
                </a:solidFill>
                <a:latin typeface="Arial" pitchFamily="34" charset="0"/>
                <a:ea typeface="Arial" pitchFamily="34" charset="-122"/>
                <a:cs typeface="Arial" pitchFamily="34" charset="-120"/>
              </a:rPr>
              <a:t>Haiku fast, Opus hard.</a:t>
            </a:r>
            <a:endParaRPr lang="en-US" sz="1350" dirty="0"/>
          </a:p>
          <a:p>
            <a:pPr indent="0" marL="0">
              <a:lnSpc>
                <a:spcPts val="2300"/>
              </a:lnSpc>
              <a:buNone/>
            </a:pPr>
            <a:r>
              <a:rPr lang="en-US" sz="1350" b="1" dirty="0">
                <a:solidFill>
                  <a:srgbClr val="D31242"/>
                </a:solidFill>
                <a:latin typeface="Arial" pitchFamily="34" charset="0"/>
                <a:ea typeface="Arial" pitchFamily="34" charset="-122"/>
                <a:cs typeface="Arial" pitchFamily="34" charset="-120"/>
              </a:rPr>
              <a:t>When in doubt, </a:t>
            </a:r>
            <a:pPr indent="0" marL="0">
              <a:lnSpc>
                <a:spcPts val="2300"/>
              </a:lnSpc>
              <a:buNone/>
            </a:pPr>
            <a:r>
              <a:rPr lang="en-US" sz="1350" dirty="0">
                <a:solidFill>
                  <a:srgbClr val="3A4452"/>
                </a:solidFill>
                <a:latin typeface="Arial" pitchFamily="34" charset="0"/>
                <a:ea typeface="Arial" pitchFamily="34" charset="-122"/>
                <a:cs typeface="Arial" pitchFamily="34" charset="-120"/>
              </a:rPr>
              <a:t>leave it out. AI drafts, a human approves.</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1828800" y="3291840"/>
            <a:ext cx="5120640" cy="5120640"/>
          </a:xfrm>
          <a:prstGeom prst="ellipse">
            <a:avLst/>
          </a:prstGeom>
          <a:solidFill>
            <a:srgbClr val="A60E34"/>
          </a:solidFill>
          <a:ln/>
        </p:spPr>
      </p:sp>
      <p:sp>
        <p:nvSpPr>
          <p:cNvPr id="3" name="Shape 1"/>
          <p:cNvSpPr/>
          <p:nvPr/>
        </p:nvSpPr>
        <p:spPr>
          <a:xfrm>
            <a:off x="9692640" y="-1828800"/>
            <a:ext cx="4754880" cy="4754880"/>
          </a:xfrm>
          <a:prstGeom prst="ellipse">
            <a:avLst/>
          </a:prstGeom>
          <a:solidFill>
            <a:srgbClr val="D31242"/>
          </a:solidFill>
          <a:ln/>
        </p:spPr>
      </p:sp>
      <p:sp>
        <p:nvSpPr>
          <p:cNvPr id="4" name="Text 2"/>
          <p:cNvSpPr/>
          <p:nvPr/>
        </p:nvSpPr>
        <p:spPr>
          <a:xfrm>
            <a:off x="566928" y="1005840"/>
            <a:ext cx="10058400" cy="365760"/>
          </a:xfrm>
          <a:prstGeom prst="rect">
            <a:avLst/>
          </a:prstGeom>
          <a:noFill/>
          <a:ln/>
        </p:spPr>
        <p:txBody>
          <a:bodyPr wrap="square" rtlCol="0" anchor="ctr"/>
          <a:lstStyle/>
          <a:p>
            <a:pPr indent="0" marL="0">
              <a:buNone/>
            </a:pPr>
            <a:r>
              <a:rPr lang="en-US" sz="1400" b="1" spc="300" kern="0" dirty="0">
                <a:solidFill>
                  <a:srgbClr val="F7B9C6"/>
                </a:solidFill>
                <a:latin typeface="Arial" pitchFamily="34" charset="0"/>
                <a:ea typeface="Arial" pitchFamily="34" charset="-122"/>
                <a:cs typeface="Arial" pitchFamily="34" charset="-120"/>
              </a:rPr>
              <a:t>YOU'VE GOT THE FOUNDATION</a:t>
            </a:r>
            <a:endParaRPr lang="en-US" sz="1400" dirty="0"/>
          </a:p>
        </p:txBody>
      </p:sp>
      <p:sp>
        <p:nvSpPr>
          <p:cNvPr id="5" name="Text 3"/>
          <p:cNvSpPr/>
          <p:nvPr/>
        </p:nvSpPr>
        <p:spPr>
          <a:xfrm>
            <a:off x="566928" y="1417320"/>
            <a:ext cx="10789920" cy="1280160"/>
          </a:xfrm>
          <a:prstGeom prst="rect">
            <a:avLst/>
          </a:prstGeom>
          <a:noFill/>
          <a:ln/>
        </p:spPr>
        <p:txBody>
          <a:bodyPr wrap="square" rtlCol="0" anchor="ctr"/>
          <a:lstStyle/>
          <a:p>
            <a:pPr indent="0" marL="0">
              <a:lnSpc>
                <a:spcPts val="3600"/>
              </a:lnSpc>
              <a:buNone/>
            </a:pPr>
            <a:r>
              <a:rPr lang="en-US" sz="3200" b="1" dirty="0">
                <a:solidFill>
                  <a:srgbClr val="FFFFFF"/>
                </a:solidFill>
                <a:latin typeface="Arial" pitchFamily="34" charset="0"/>
                <a:ea typeface="Arial" pitchFamily="34" charset="-122"/>
                <a:cs typeface="Arial" pitchFamily="34" charset="-120"/>
              </a:rPr>
              <a:t>Run a great chat — then teach someone else to</a:t>
            </a:r>
            <a:endParaRPr lang="en-US" sz="3200" dirty="0"/>
          </a:p>
        </p:txBody>
      </p:sp>
      <p:sp>
        <p:nvSpPr>
          <p:cNvPr id="6" name="Shape 4"/>
          <p:cNvSpPr/>
          <p:nvPr/>
        </p:nvSpPr>
        <p:spPr>
          <a:xfrm>
            <a:off x="566928" y="2926080"/>
            <a:ext cx="10469880" cy="2331720"/>
          </a:xfrm>
          <a:prstGeom prst="roundRect">
            <a:avLst>
              <a:gd name="adj" fmla="val 35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7" name="Text 5"/>
          <p:cNvSpPr/>
          <p:nvPr/>
        </p:nvSpPr>
        <p:spPr>
          <a:xfrm>
            <a:off x="841248" y="3108960"/>
            <a:ext cx="9875520" cy="411480"/>
          </a:xfrm>
          <a:prstGeom prst="rect">
            <a:avLst/>
          </a:prstGeom>
          <a:noFill/>
          <a:ln/>
        </p:spPr>
        <p:txBody>
          <a:bodyPr wrap="square" rtlCol="0" anchor="ctr"/>
          <a:lstStyle/>
          <a:p>
            <a:pPr indent="0" marL="0">
              <a:buNone/>
            </a:pPr>
            <a:r>
              <a:rPr lang="en-US" sz="1500" b="1" dirty="0">
                <a:solidFill>
                  <a:srgbClr val="D31242"/>
                </a:solidFill>
                <a:latin typeface="Arial" pitchFamily="34" charset="0"/>
                <a:ea typeface="Arial" pitchFamily="34" charset="-122"/>
                <a:cs typeface="Arial" pitchFamily="34" charset="-120"/>
              </a:rPr>
              <a:t>Coming next in the curriculum</a:t>
            </a:r>
            <a:endParaRPr lang="en-US" sz="1500" dirty="0"/>
          </a:p>
        </p:txBody>
      </p:sp>
      <p:sp>
        <p:nvSpPr>
          <p:cNvPr id="8" name="Text 6"/>
          <p:cNvSpPr/>
          <p:nvPr/>
        </p:nvSpPr>
        <p:spPr>
          <a:xfrm>
            <a:off x="841248" y="3611880"/>
            <a:ext cx="9875520" cy="1463040"/>
          </a:xfrm>
          <a:prstGeom prst="rect">
            <a:avLst/>
          </a:prstGeom>
          <a:noFill/>
          <a:ln/>
        </p:spPr>
        <p:txBody>
          <a:bodyPr wrap="square" rtlCol="0" anchor="t"/>
          <a:lstStyle/>
          <a:p>
            <a:pPr indent="0" marL="0">
              <a:lnSpc>
                <a:spcPts val="2400"/>
              </a:lnSpc>
              <a:buNone/>
            </a:pPr>
            <a:r>
              <a:rPr lang="en-US" sz="1450" b="1" dirty="0">
                <a:solidFill>
                  <a:srgbClr val="1F2733"/>
                </a:solidFill>
                <a:latin typeface="Arial" pitchFamily="34" charset="0"/>
                <a:ea typeface="Arial" pitchFamily="34" charset="-122"/>
                <a:cs typeface="Arial" pitchFamily="34" charset="-120"/>
              </a:rPr>
              <a:t>M02–M03 Prompt Engineering </a:t>
            </a:r>
            <a:pPr indent="0" marL="0">
              <a:lnSpc>
                <a:spcPts val="2400"/>
              </a:lnSpc>
              <a:buNone/>
            </a:pPr>
            <a:r>
              <a:rPr lang="en-US" sz="1450" dirty="0">
                <a:solidFill>
                  <a:srgbClr val="3A4452"/>
                </a:solidFill>
                <a:latin typeface="Arial" pitchFamily="34" charset="0"/>
                <a:ea typeface="Arial" pitchFamily="34" charset="-122"/>
                <a:cs typeface="Arial" pitchFamily="34" charset="-120"/>
              </a:rPr>
              <a:t>(system prompts, XML tags, templates)  ·  </a:t>
            </a:r>
            <a:pPr indent="0" marL="0">
              <a:lnSpc>
                <a:spcPts val="2400"/>
              </a:lnSpc>
              <a:buNone/>
            </a:pPr>
            <a:r>
              <a:rPr lang="en-US" sz="1450" dirty="0">
                <a:solidFill>
                  <a:srgbClr val="3A4452"/>
                </a:solidFill>
                <a:latin typeface="Arial" pitchFamily="34" charset="0"/>
                <a:ea typeface="Arial" pitchFamily="34" charset="-122"/>
                <a:cs typeface="Arial" pitchFamily="34" charset="-120"/>
              </a:rPr>
              <a:t>then Projects, Artifacts, Research, and Skills.</a:t>
            </a:r>
            <a:endParaRPr lang="en-US" sz="1450" dirty="0"/>
          </a:p>
        </p:txBody>
      </p:sp>
      <p:sp>
        <p:nvSpPr>
          <p:cNvPr id="9" name="Text 7"/>
          <p:cNvSpPr/>
          <p:nvPr/>
        </p:nvSpPr>
        <p:spPr>
          <a:xfrm>
            <a:off x="566928" y="6565392"/>
            <a:ext cx="10515600" cy="228600"/>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Claude UI changes over time; verify before each session.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Core Chat with Claude (v2)</dc:title>
  <dc:subject>PptxGenJS Presentation</dc:subject>
  <dc:creator>BJ's AI Enablement</dc:creator>
  <cp:lastModifiedBy>BJ's AI Enablement</cp:lastModifiedBy>
  <cp:revision>1</cp:revision>
  <dcterms:created xsi:type="dcterms:W3CDTF">2026-06-26T19:21:28Z</dcterms:created>
  <dcterms:modified xsi:type="dcterms:W3CDTF">2026-06-26T19:21:28Z</dcterms:modified>
</cp:coreProperties>
</file>