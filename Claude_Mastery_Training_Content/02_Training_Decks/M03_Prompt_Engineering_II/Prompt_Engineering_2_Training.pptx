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M2 was about structure. M3 is about reasoning quality and reliability. Big theme up front: modern Claude reasons by default, so the job shifts from 'force it to think' to 'steer HOW it thinks and make it check itself.' Scope: reasoning patterns + self-improvement. Control/reuse/tools (chaining, templates, Console) are M3b. Keep it practical — most of these are plain-English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Promises for the hour. Emphasize the last two — verification and restraint — are what make reasoning trustworthy and efficient. The self-check patterns (self-refine, chain-of-verification) are the highest day-to-day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map. The arc: understand the modern thinking model, build a reasoning toolkit, add self-improvement, learn restraint, then practice. Protect time for demos and the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mental shift clearly — it changes which techniques matter. Many classic 'reasoning hacks' now add little because the model already reasons. The durable skills: steering the reasoning shape (decompose, step back), making it verify, and tuning Effort. Currency: budget_tokens is deprecated; adaptive thinking + Effort is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Effort is the single most useful new lever. I verified it live on the model picker ('Opus 4.8 Max'). Teach it as a depth dial, not a magic setting. Higher Effort = better on hard tasks but slower/costlier and can over-think simple ones. This ties directly to the 'when NOT to over-think'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 this is what builds your authority. CoT is real and foundational, but on reasoning-capable models the marginal benefit of the magic phrase is declining (cited 2026 report). Teach it as a concept and a fallback, not a guaranteed boost. Note Opus 4.8 can be over-sensitive to the literal word 'think' when thinking is off — 'reason through / evaluate'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when you need to audit the logic (e.g. a staffing or eligibility calc) or want a tidy final answer. Tags also let Claude 'work' without cluttering the deliverable. Reinforce the word-choice tip from the prior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steering patterns. Most are one plain-English line. Teach the top ones deeply; the rest as a quick toolkit. All still add value even on reasoning models because they shape the STRUCTURE of the reasoning, not just trigger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Decomposition is the most broadly useful reasoning pattern. For business users: 'do it in order, one step at a time.' It prevents the model from jumping to a deliverable before it has the facts straight. Source: Zhou 2022 (least-to-most).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Plan-and-solve (Wang 2023) is clean for phased work. Step-back (Zheng 2023) is great for judgment calls — 'what's the return-policy principle?' before answering a tricky member case. Both are single plain-English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rapid-fire toolkit. Don't drill each — show that they're all simple plain-English moves you reach for situationally. Self-ask (Press 2022), generated-knowledge (Liu 2021), analogical (Yasunaga 2023), skeleton (Ning 2023), rephrase-respond (Deng 2023), self-consistency (Wang 2022). Self-consistency costs more (multiple runs) — flag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Program-aided (Gao 2022) is the fix for the classic 'AI got the math wrong.' For BJ's: hours, headcounts, budgets, percentages. Tell associates: when numbers matter, say 'use code so the math is exact.' This connects to the Analysis tool topic in the curriculum.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an authority-builder: being honest about what DOESN'T work matters as much as what does. Tier-3 methods are real but impractical here. Emotion prompting specifically has shaky, non-replicating evidence — call it out so Champions don't pass along folklore. Full list lives in the Pattern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where business value concentrates. 'AI drafts, then improves itself, then a human approves.' These pair directly with the M1 verify habit and the M2 rubric-as-instruction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Self-refine (Madaan 2023) / Reflexion (Shinn 2023). For business users: 'write it, critique it, rewrite it' — all in one message. This is the loop version of M2's single-pass rubric-as-instruction. Demo it: the second draft is almost always noticeably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 (Dhuliawala 2023) is the structured 'check your own work' pattern. Distinct from self-refine: it specifically generates verification questions to catch hallucinated facts. Pair with source-grounded (M2) and the M1 verify habit for fact-heavy, member-facing, or compliance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Best-of-N is a lightweight reliability boost for important deliverables. Note the cost trade-off — not for everything, but worth it for a leadership summary or a sensitive member reply. Connects to self-consistency (consensus) but here you pick on quality/accuracy.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for credibility and efficiency. Reasoning patterns are tools, not defaults. Knowing when to keep it simple is expertise — and it keeps adoption from feeling heavy. Match the method (and Effort) to the stakes of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Localize to the room. Map each person's hardest recurring task to a pattern. The pairing of 'reasoning to get it right' + 'verification to keep it safe' is the takeaway — especially for anything member-facing or numeric.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it up live, step by step (the progressive-build standard). It layers M2's structure (role, tags) with M3's reasoning (decompose, code) and verification. This is the model for the exercise. Every block is labeled on the right so nothing is dropped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live, ~8 min. Demo 1 proves the math point dramatically (ask the same calc without code first and let it slip). Demo 2 is the everyday win. Demo 3 shows verification catching errors. Non-sensitive examples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 min, in pairs, with a non-sensitive sample policy + case. The skill is combining reasoning (step-back, decompose) with grounding and verification — the safe way to handle judgment calls. Stress: the reply must not invent policy. Have pairs read their reasoning and the verify list, then reveal the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red label to its pattern. The teaching point: judgment calls need reasoning to get right AND verification to stay safe — never one without the other for member-facing/compliance work. No single right answer; this is a strong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0/1/2. 'Restraint' is deliberately a scored row so reasoning never becomes over-engineering. Verification and grounding keep judgment calls safe. Encouraging, shared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not a test. Q1 and Q4 reinforce intellectual honesty (the declining-CoT and weak-emotion-prompting points). Q3 distinguishes the two key self-improvement patterns. Reveal after the room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slide — screenshot or print. The full catalog (with sources) is the Prompt Pattern Library. Offer the one-page PDF after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action. The reason-then-verify prompt is the keeper deliverable. Run a 2-minute teach-back if time allows. Offer office hours and the cheat-sheet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forward: M3 made reasoning reliable; M3b makes it repeatable and scalable — turning strong prompts into shareable templates and accelerators. Reaffirm the assignment and teach-back. The Pattern Library is the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E0A27"/>
        </a:solidFill>
      </p:bgPr>
    </p:bg>
    <p:spTree>
      <p:nvGrpSpPr>
        <p:cNvPr id="1" name=""/>
        <p:cNvGrpSpPr/>
        <p:nvPr/>
      </p:nvGrpSpPr>
      <p:grpSpPr>
        <a:xfrm>
          <a:off x="0" y="0"/>
          <a:ext cx="0" cy="0"/>
          <a:chOff x="0" y="0"/>
          <a:chExt cx="0" cy="0"/>
        </a:xfrm>
      </p:grpSpPr>
      <p:sp>
        <p:nvSpPr>
          <p:cNvPr id="2" name="Shape 0"/>
          <p:cNvSpPr/>
          <p:nvPr/>
        </p:nvSpPr>
        <p:spPr>
          <a:xfrm>
            <a:off x="8778240" y="-1920240"/>
            <a:ext cx="5669280" cy="5669280"/>
          </a:xfrm>
          <a:prstGeom prst="ellipse">
            <a:avLst/>
          </a:prstGeom>
          <a:solidFill>
            <a:srgbClr val="A60E34"/>
          </a:solidFill>
          <a:ln/>
        </p:spPr>
      </p:sp>
      <p:sp>
        <p:nvSpPr>
          <p:cNvPr id="3" name="Shape 1"/>
          <p:cNvSpPr/>
          <p:nvPr/>
        </p:nvSpPr>
        <p:spPr>
          <a:xfrm>
            <a:off x="10424160" y="3566160"/>
            <a:ext cx="3840480" cy="3840480"/>
          </a:xfrm>
          <a:prstGeom prst="ellipse">
            <a:avLst/>
          </a:prstGeom>
          <a:solidFill>
            <a:srgbClr val="D31242"/>
          </a:solidFill>
          <a:ln/>
        </p:spPr>
      </p:sp>
      <p:sp>
        <p:nvSpPr>
          <p:cNvPr id="4" name="Shape 2"/>
          <p:cNvSpPr/>
          <p:nvPr/>
        </p:nvSpPr>
        <p:spPr>
          <a:xfrm>
            <a:off x="566928" y="502920"/>
            <a:ext cx="1417320" cy="713232"/>
          </a:xfrm>
          <a:prstGeom prst="roundRect">
            <a:avLst>
              <a:gd name="adj" fmla="val 15385"/>
            </a:avLst>
          </a:prstGeom>
          <a:solidFill>
            <a:srgbClr val="FFFFFF"/>
          </a:solidFill>
          <a:ln/>
          <a:effectLst>
            <a:outerShdw sx="100000" sy="100000" kx="0" ky="0" algn="bl" rotWithShape="0" blurRad="114300" dist="38100" dir="5400000">
              <a:srgbClr val="1F2733">
                <a:alpha val="10000"/>
              </a:srgbClr>
            </a:outerShdw>
          </a:effectLst>
        </p:spPr>
      </p:sp>
      <p:sp>
        <p:nvSpPr>
          <p:cNvPr id="5" name="Text 3"/>
          <p:cNvSpPr/>
          <p:nvPr/>
        </p:nvSpPr>
        <p:spPr>
          <a:xfrm>
            <a:off x="566928" y="576072"/>
            <a:ext cx="1417320" cy="384048"/>
          </a:xfrm>
          <a:prstGeom prst="rect">
            <a:avLst/>
          </a:prstGeom>
          <a:noFill/>
          <a:ln/>
        </p:spPr>
        <p:txBody>
          <a:bodyPr wrap="square" lIns="0" tIns="0" rIns="0" bIns="0" rtlCol="0" anchor="ctr"/>
          <a:lstStyle/>
          <a:p>
            <a:pPr algn="ctr" indent="0" marL="0">
              <a:buNone/>
            </a:pPr>
            <a:r>
              <a:rPr lang="en-US" sz="2500" b="1" dirty="0">
                <a:solidFill>
                  <a:srgbClr val="D31242"/>
                </a:solidFill>
                <a:latin typeface="Arial" pitchFamily="34" charset="0"/>
                <a:ea typeface="Arial" pitchFamily="34" charset="-122"/>
                <a:cs typeface="Arial" pitchFamily="34" charset="-120"/>
              </a:rPr>
              <a:t>BJ's</a:t>
            </a:r>
            <a:endParaRPr lang="en-US" sz="2500" dirty="0"/>
          </a:p>
        </p:txBody>
      </p:sp>
      <p:sp>
        <p:nvSpPr>
          <p:cNvPr id="6" name="Text 4"/>
          <p:cNvSpPr/>
          <p:nvPr/>
        </p:nvSpPr>
        <p:spPr>
          <a:xfrm>
            <a:off x="566928" y="960120"/>
            <a:ext cx="1417320" cy="182880"/>
          </a:xfrm>
          <a:prstGeom prst="rect">
            <a:avLst/>
          </a:prstGeom>
          <a:noFill/>
          <a:ln/>
        </p:spPr>
        <p:txBody>
          <a:bodyPr wrap="square" lIns="0" tIns="0" rIns="0" bIns="0" rtlCol="0" anchor="ctr"/>
          <a:lstStyle/>
          <a:p>
            <a:pPr algn="ctr" indent="0" marL="0">
              <a:buNone/>
            </a:pPr>
            <a:r>
              <a:rPr lang="en-US" sz="700" b="1" spc="200" kern="0" dirty="0">
                <a:solidFill>
                  <a:srgbClr val="D31242"/>
                </a:solidFill>
                <a:latin typeface="Arial" pitchFamily="34" charset="0"/>
                <a:ea typeface="Arial" pitchFamily="34" charset="-122"/>
                <a:cs typeface="Arial" pitchFamily="34" charset="-120"/>
              </a:rPr>
              <a:t>WHOLESALE CLUB</a:t>
            </a:r>
            <a:endParaRPr lang="en-US" sz="700" dirty="0"/>
          </a:p>
        </p:txBody>
      </p:sp>
      <p:sp>
        <p:nvSpPr>
          <p:cNvPr id="7" name="Text 5"/>
          <p:cNvSpPr/>
          <p:nvPr/>
        </p:nvSpPr>
        <p:spPr>
          <a:xfrm>
            <a:off x="566928" y="2057400"/>
            <a:ext cx="10058400" cy="320040"/>
          </a:xfrm>
          <a:prstGeom prst="rect">
            <a:avLst/>
          </a:prstGeom>
          <a:noFill/>
          <a:ln/>
        </p:spPr>
        <p:txBody>
          <a:bodyPr wrap="square" rtlCol="0" anchor="ctr"/>
          <a:lstStyle/>
          <a:p>
            <a:pPr indent="0" marL="0">
              <a:buNone/>
            </a:pPr>
            <a:r>
              <a:rPr lang="en-US" sz="1300" b="1" spc="250" kern="0" dirty="0">
                <a:solidFill>
                  <a:srgbClr val="F7B9C6"/>
                </a:solidFill>
                <a:latin typeface="Arial" pitchFamily="34" charset="0"/>
                <a:ea typeface="Arial" pitchFamily="34" charset="-122"/>
                <a:cs typeface="Arial" pitchFamily="34" charset="-120"/>
              </a:rPr>
              <a:t>AI ENABLEMENT • CHAMPION TRAINING • MODULE 3</a:t>
            </a:r>
            <a:endParaRPr lang="en-US" sz="1300" dirty="0"/>
          </a:p>
        </p:txBody>
      </p:sp>
      <p:sp>
        <p:nvSpPr>
          <p:cNvPr id="8" name="Text 6"/>
          <p:cNvSpPr/>
          <p:nvPr/>
        </p:nvSpPr>
        <p:spPr>
          <a:xfrm>
            <a:off x="566928" y="2468880"/>
            <a:ext cx="9875520" cy="868680"/>
          </a:xfrm>
          <a:prstGeom prst="rect">
            <a:avLst/>
          </a:prstGeom>
          <a:noFill/>
          <a:ln/>
        </p:spPr>
        <p:txBody>
          <a:bodyPr wrap="square" rtlCol="0" anchor="ctr"/>
          <a:lstStyle/>
          <a:p>
            <a:pPr indent="0" marL="0">
              <a:buNone/>
            </a:pPr>
            <a:r>
              <a:rPr lang="en-US" sz="4400" b="1" dirty="0">
                <a:solidFill>
                  <a:srgbClr val="FFFFFF"/>
                </a:solidFill>
                <a:latin typeface="Arial" pitchFamily="34" charset="0"/>
                <a:ea typeface="Arial" pitchFamily="34" charset="-122"/>
                <a:cs typeface="Arial" pitchFamily="34" charset="-120"/>
              </a:rPr>
              <a:t>Prompt Engineering II</a:t>
            </a:r>
            <a:endParaRPr lang="en-US" sz="4400" dirty="0"/>
          </a:p>
        </p:txBody>
      </p:sp>
      <p:sp>
        <p:nvSpPr>
          <p:cNvPr id="9" name="Text 7"/>
          <p:cNvSpPr/>
          <p:nvPr/>
        </p:nvSpPr>
        <p:spPr>
          <a:xfrm>
            <a:off x="566928" y="3520440"/>
            <a:ext cx="9692640" cy="640080"/>
          </a:xfrm>
          <a:prstGeom prst="rect">
            <a:avLst/>
          </a:prstGeom>
          <a:noFill/>
          <a:ln/>
        </p:spPr>
        <p:txBody>
          <a:bodyPr wrap="square" rtlCol="0" anchor="ctr"/>
          <a:lstStyle/>
          <a:p>
            <a:pPr indent="0" marL="0">
              <a:lnSpc>
                <a:spcPts val="2300"/>
              </a:lnSpc>
              <a:buNone/>
            </a:pPr>
            <a:r>
              <a:rPr lang="en-US" sz="1550" dirty="0">
                <a:solidFill>
                  <a:srgbClr val="F2D9DF"/>
                </a:solidFill>
                <a:latin typeface="Arial" pitchFamily="34" charset="0"/>
                <a:ea typeface="Arial" pitchFamily="34" charset="-122"/>
                <a:cs typeface="Arial" pitchFamily="34" charset="-120"/>
              </a:rPr>
              <a:t>Reasoning &amp; Self-Improvement — getting Claude to think well, then check its own work.</a:t>
            </a:r>
            <a:endParaRPr lang="en-US" sz="1550" dirty="0"/>
          </a:p>
        </p:txBody>
      </p:sp>
      <p:sp>
        <p:nvSpPr>
          <p:cNvPr id="10" name="Text 8"/>
          <p:cNvSpPr/>
          <p:nvPr/>
        </p:nvSpPr>
        <p:spPr>
          <a:xfrm>
            <a:off x="566928" y="4892040"/>
            <a:ext cx="10789920" cy="365760"/>
          </a:xfrm>
          <a:prstGeom prst="rect">
            <a:avLst/>
          </a:prstGeom>
          <a:noFill/>
          <a:ln/>
        </p:spPr>
        <p:txBody>
          <a:bodyPr wrap="square" rtlCol="0" anchor="ctr"/>
          <a:lstStyle/>
          <a:p>
            <a:pPr indent="0" marL="0">
              <a:buNone/>
            </a:pPr>
            <a:r>
              <a:rPr lang="en-US" sz="1200" dirty="0">
                <a:solidFill>
                  <a:srgbClr val="F2D9DF"/>
                </a:solidFill>
                <a:latin typeface="Arial" pitchFamily="34" charset="0"/>
                <a:ea typeface="Arial" pitchFamily="34" charset="-122"/>
                <a:cs typeface="Arial" pitchFamily="34" charset="-120"/>
              </a:rPr>
              <a:t>Builds on M2 (Structure &amp; Patterns)  </a:t>
            </a:r>
            <a:pPr indent="0" marL="0">
              <a:buNone/>
            </a:pPr>
            <a:r>
              <a:rPr lang="en-US" sz="1200" dirty="0">
                <a:solidFill>
                  <a:srgbClr val="C98A98"/>
                </a:solidFill>
                <a:latin typeface="Arial" pitchFamily="34" charset="0"/>
                <a:ea typeface="Arial" pitchFamily="34" charset="-122"/>
                <a:cs typeface="Arial" pitchFamily="34" charset="-120"/>
              </a:rPr>
              <a:t>|  </a:t>
            </a:r>
            <a:pPr indent="0" marL="0">
              <a:buNone/>
            </a:pPr>
            <a:r>
              <a:rPr lang="en-US" sz="1200" dirty="0">
                <a:solidFill>
                  <a:srgbClr val="F2D9DF"/>
                </a:solidFill>
                <a:latin typeface="Arial" pitchFamily="34" charset="0"/>
                <a:ea typeface="Arial" pitchFamily="34" charset="-122"/>
                <a:cs typeface="Arial" pitchFamily="34" charset="-120"/>
              </a:rPr>
              <a:t>Champions &amp; business users · ~75 min</a:t>
            </a:r>
            <a:endParaRPr lang="en-US" sz="1200" dirty="0"/>
          </a:p>
        </p:txBody>
      </p:sp>
      <p:sp>
        <p:nvSpPr>
          <p:cNvPr id="11" name="Text 9"/>
          <p:cNvSpPr/>
          <p:nvPr/>
        </p:nvSpPr>
        <p:spPr>
          <a:xfrm>
            <a:off x="566928" y="6583680"/>
            <a:ext cx="10515600" cy="219456"/>
          </a:xfrm>
          <a:prstGeom prst="rect">
            <a:avLst/>
          </a:prstGeom>
          <a:noFill/>
          <a:ln/>
        </p:spPr>
        <p:txBody>
          <a:bodyPr wrap="square" rtlCol="0" anchor="ctr"/>
          <a:lstStyle/>
          <a:p>
            <a:pPr indent="0" marL="0">
              <a:buNone/>
            </a:pPr>
            <a:r>
              <a:rPr lang="en-US" sz="800" i="1" dirty="0">
                <a:solidFill>
                  <a:srgbClr val="C98A98"/>
                </a:solidFill>
                <a:latin typeface="Arial" pitchFamily="34" charset="0"/>
                <a:ea typeface="Arial" pitchFamily="34" charset="-122"/>
                <a:cs typeface="Arial" pitchFamily="34" charset="-120"/>
              </a:rPr>
              <a:t>Illustrative training material — not an official BJ's Wholesale Club publication. Verify model/feature details before each session.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WHAT YOU'LL BE ABLE TO DO</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Learning objectives</a:t>
            </a:r>
            <a:endParaRPr lang="en-US" sz="2700" dirty="0"/>
          </a:p>
        </p:txBody>
      </p:sp>
      <p:sp>
        <p:nvSpPr>
          <p:cNvPr id="4" name="Shape 2"/>
          <p:cNvSpPr/>
          <p:nvPr/>
        </p:nvSpPr>
        <p:spPr>
          <a:xfrm>
            <a:off x="566928" y="1508760"/>
            <a:ext cx="3441192" cy="2057400"/>
          </a:xfrm>
          <a:prstGeom prst="roundRect">
            <a:avLst>
              <a:gd name="adj" fmla="val 4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Shape 3"/>
          <p:cNvSpPr/>
          <p:nvPr/>
        </p:nvSpPr>
        <p:spPr>
          <a:xfrm>
            <a:off x="841248" y="1783080"/>
            <a:ext cx="475488" cy="475488"/>
          </a:xfrm>
          <a:prstGeom prst="ellipse">
            <a:avLst/>
          </a:prstGeom>
          <a:solidFill>
            <a:srgbClr val="D31242"/>
          </a:solidFill>
          <a:ln/>
        </p:spPr>
      </p:sp>
      <p:sp>
        <p:nvSpPr>
          <p:cNvPr id="6" name="Text 4"/>
          <p:cNvSpPr/>
          <p:nvPr/>
        </p:nvSpPr>
        <p:spPr>
          <a:xfrm>
            <a:off x="841248" y="17830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841248" y="2404872"/>
            <a:ext cx="2892552" cy="45720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Dial the depth</a:t>
            </a:r>
            <a:endParaRPr lang="en-US" sz="1600" dirty="0"/>
          </a:p>
        </p:txBody>
      </p:sp>
      <p:sp>
        <p:nvSpPr>
          <p:cNvPr id="8" name="Text 6"/>
          <p:cNvSpPr/>
          <p:nvPr/>
        </p:nvSpPr>
        <p:spPr>
          <a:xfrm>
            <a:off x="841248" y="2843784"/>
            <a:ext cx="2892552" cy="658368"/>
          </a:xfrm>
          <a:prstGeom prst="rect">
            <a:avLst/>
          </a:prstGeom>
          <a:noFill/>
          <a:ln/>
        </p:spPr>
        <p:txBody>
          <a:bodyPr wrap="square" rtlCol="0" anchor="ctr"/>
          <a:lstStyle/>
          <a:p>
            <a:pPr indent="0" marL="0">
              <a:lnSpc>
                <a:spcPts val="1700"/>
              </a:lnSpc>
              <a:buNone/>
            </a:pPr>
            <a:r>
              <a:rPr lang="en-US" sz="1250" dirty="0">
                <a:solidFill>
                  <a:srgbClr val="3A4452"/>
                </a:solidFill>
                <a:latin typeface="Arial" pitchFamily="34" charset="0"/>
                <a:ea typeface="Arial" pitchFamily="34" charset="-122"/>
                <a:cs typeface="Arial" pitchFamily="34" charset="-120"/>
              </a:rPr>
              <a:t>Use Effort to match thinking to the stakes</a:t>
            </a:r>
            <a:endParaRPr lang="en-US" sz="1250" dirty="0"/>
          </a:p>
        </p:txBody>
      </p:sp>
      <p:sp>
        <p:nvSpPr>
          <p:cNvPr id="9" name="Shape 7"/>
          <p:cNvSpPr/>
          <p:nvPr/>
        </p:nvSpPr>
        <p:spPr>
          <a:xfrm>
            <a:off x="4373880" y="1508760"/>
            <a:ext cx="3441192" cy="2057400"/>
          </a:xfrm>
          <a:prstGeom prst="roundRect">
            <a:avLst>
              <a:gd name="adj" fmla="val 4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0" name="Shape 8"/>
          <p:cNvSpPr/>
          <p:nvPr/>
        </p:nvSpPr>
        <p:spPr>
          <a:xfrm>
            <a:off x="4648200" y="1783080"/>
            <a:ext cx="475488" cy="475488"/>
          </a:xfrm>
          <a:prstGeom prst="ellipse">
            <a:avLst/>
          </a:prstGeom>
          <a:solidFill>
            <a:srgbClr val="D31242"/>
          </a:solidFill>
          <a:ln/>
        </p:spPr>
      </p:sp>
      <p:sp>
        <p:nvSpPr>
          <p:cNvPr id="11" name="Text 9"/>
          <p:cNvSpPr/>
          <p:nvPr/>
        </p:nvSpPr>
        <p:spPr>
          <a:xfrm>
            <a:off x="4648200" y="17830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4648200" y="2404872"/>
            <a:ext cx="2892552" cy="45720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Steer reasoning</a:t>
            </a:r>
            <a:endParaRPr lang="en-US" sz="1600" dirty="0"/>
          </a:p>
        </p:txBody>
      </p:sp>
      <p:sp>
        <p:nvSpPr>
          <p:cNvPr id="13" name="Text 11"/>
          <p:cNvSpPr/>
          <p:nvPr/>
        </p:nvSpPr>
        <p:spPr>
          <a:xfrm>
            <a:off x="4648200" y="2843784"/>
            <a:ext cx="2892552" cy="658368"/>
          </a:xfrm>
          <a:prstGeom prst="rect">
            <a:avLst/>
          </a:prstGeom>
          <a:noFill/>
          <a:ln/>
        </p:spPr>
        <p:txBody>
          <a:bodyPr wrap="square" rtlCol="0" anchor="ctr"/>
          <a:lstStyle/>
          <a:p>
            <a:pPr indent="0" marL="0">
              <a:lnSpc>
                <a:spcPts val="1700"/>
              </a:lnSpc>
              <a:buNone/>
            </a:pPr>
            <a:r>
              <a:rPr lang="en-US" sz="1250" dirty="0">
                <a:solidFill>
                  <a:srgbClr val="3A4452"/>
                </a:solidFill>
                <a:latin typeface="Arial" pitchFamily="34" charset="0"/>
                <a:ea typeface="Arial" pitchFamily="34" charset="-122"/>
                <a:cs typeface="Arial" pitchFamily="34" charset="-120"/>
              </a:rPr>
              <a:t>Decompose, plan, step back when it helps</a:t>
            </a:r>
            <a:endParaRPr lang="en-US" sz="1250" dirty="0"/>
          </a:p>
        </p:txBody>
      </p:sp>
      <p:sp>
        <p:nvSpPr>
          <p:cNvPr id="14" name="Shape 12"/>
          <p:cNvSpPr/>
          <p:nvPr/>
        </p:nvSpPr>
        <p:spPr>
          <a:xfrm>
            <a:off x="8180832" y="1508760"/>
            <a:ext cx="3441192" cy="2057400"/>
          </a:xfrm>
          <a:prstGeom prst="roundRect">
            <a:avLst>
              <a:gd name="adj" fmla="val 4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5" name="Shape 13"/>
          <p:cNvSpPr/>
          <p:nvPr/>
        </p:nvSpPr>
        <p:spPr>
          <a:xfrm>
            <a:off x="8455152" y="1783080"/>
            <a:ext cx="475488" cy="475488"/>
          </a:xfrm>
          <a:prstGeom prst="ellipse">
            <a:avLst/>
          </a:prstGeom>
          <a:solidFill>
            <a:srgbClr val="D31242"/>
          </a:solidFill>
          <a:ln/>
        </p:spPr>
      </p:sp>
      <p:sp>
        <p:nvSpPr>
          <p:cNvPr id="16" name="Text 14"/>
          <p:cNvSpPr/>
          <p:nvPr/>
        </p:nvSpPr>
        <p:spPr>
          <a:xfrm>
            <a:off x="8455152" y="17830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8455152" y="2404872"/>
            <a:ext cx="2892552" cy="45720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Compute exactly</a:t>
            </a:r>
            <a:endParaRPr lang="en-US" sz="1600" dirty="0"/>
          </a:p>
        </p:txBody>
      </p:sp>
      <p:sp>
        <p:nvSpPr>
          <p:cNvPr id="18" name="Text 16"/>
          <p:cNvSpPr/>
          <p:nvPr/>
        </p:nvSpPr>
        <p:spPr>
          <a:xfrm>
            <a:off x="8455152" y="2843784"/>
            <a:ext cx="2892552" cy="658368"/>
          </a:xfrm>
          <a:prstGeom prst="rect">
            <a:avLst/>
          </a:prstGeom>
          <a:noFill/>
          <a:ln/>
        </p:spPr>
        <p:txBody>
          <a:bodyPr wrap="square" rtlCol="0" anchor="ctr"/>
          <a:lstStyle/>
          <a:p>
            <a:pPr indent="0" marL="0">
              <a:lnSpc>
                <a:spcPts val="1700"/>
              </a:lnSpc>
              <a:buNone/>
            </a:pPr>
            <a:r>
              <a:rPr lang="en-US" sz="1250" dirty="0">
                <a:solidFill>
                  <a:srgbClr val="3A4452"/>
                </a:solidFill>
                <a:latin typeface="Arial" pitchFamily="34" charset="0"/>
                <a:ea typeface="Arial" pitchFamily="34" charset="-122"/>
                <a:cs typeface="Arial" pitchFamily="34" charset="-120"/>
              </a:rPr>
              <a:t>Use 'think in code' for precise math/data</a:t>
            </a:r>
            <a:endParaRPr lang="en-US" sz="1250" dirty="0"/>
          </a:p>
        </p:txBody>
      </p:sp>
      <p:sp>
        <p:nvSpPr>
          <p:cNvPr id="19" name="Shape 17"/>
          <p:cNvSpPr/>
          <p:nvPr/>
        </p:nvSpPr>
        <p:spPr>
          <a:xfrm>
            <a:off x="566928" y="3886200"/>
            <a:ext cx="3441192" cy="2057400"/>
          </a:xfrm>
          <a:prstGeom prst="roundRect">
            <a:avLst>
              <a:gd name="adj" fmla="val 4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0" name="Shape 18"/>
          <p:cNvSpPr/>
          <p:nvPr/>
        </p:nvSpPr>
        <p:spPr>
          <a:xfrm>
            <a:off x="841248" y="4160520"/>
            <a:ext cx="475488" cy="475488"/>
          </a:xfrm>
          <a:prstGeom prst="ellipse">
            <a:avLst/>
          </a:prstGeom>
          <a:solidFill>
            <a:srgbClr val="D31242"/>
          </a:solidFill>
          <a:ln/>
        </p:spPr>
      </p:sp>
      <p:sp>
        <p:nvSpPr>
          <p:cNvPr id="21" name="Text 19"/>
          <p:cNvSpPr/>
          <p:nvPr/>
        </p:nvSpPr>
        <p:spPr>
          <a:xfrm>
            <a:off x="841248" y="41605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841248" y="4782312"/>
            <a:ext cx="2892552" cy="45720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Make it self-check</a:t>
            </a:r>
            <a:endParaRPr lang="en-US" sz="1600" dirty="0"/>
          </a:p>
        </p:txBody>
      </p:sp>
      <p:sp>
        <p:nvSpPr>
          <p:cNvPr id="23" name="Text 21"/>
          <p:cNvSpPr/>
          <p:nvPr/>
        </p:nvSpPr>
        <p:spPr>
          <a:xfrm>
            <a:off x="841248" y="5221224"/>
            <a:ext cx="2892552" cy="658368"/>
          </a:xfrm>
          <a:prstGeom prst="rect">
            <a:avLst/>
          </a:prstGeom>
          <a:noFill/>
          <a:ln/>
        </p:spPr>
        <p:txBody>
          <a:bodyPr wrap="square" rtlCol="0" anchor="ctr"/>
          <a:lstStyle/>
          <a:p>
            <a:pPr indent="0" marL="0">
              <a:lnSpc>
                <a:spcPts val="1700"/>
              </a:lnSpc>
              <a:buNone/>
            </a:pPr>
            <a:r>
              <a:rPr lang="en-US" sz="1250" dirty="0">
                <a:solidFill>
                  <a:srgbClr val="3A4452"/>
                </a:solidFill>
                <a:latin typeface="Arial" pitchFamily="34" charset="0"/>
                <a:ea typeface="Arial" pitchFamily="34" charset="-122"/>
                <a:cs typeface="Arial" pitchFamily="34" charset="-120"/>
              </a:rPr>
              <a:t>Self-refine and verify before finalizing</a:t>
            </a:r>
            <a:endParaRPr lang="en-US" sz="1250" dirty="0"/>
          </a:p>
        </p:txBody>
      </p:sp>
      <p:sp>
        <p:nvSpPr>
          <p:cNvPr id="24" name="Shape 22"/>
          <p:cNvSpPr/>
          <p:nvPr/>
        </p:nvSpPr>
        <p:spPr>
          <a:xfrm>
            <a:off x="4373880" y="3886200"/>
            <a:ext cx="3441192" cy="2057400"/>
          </a:xfrm>
          <a:prstGeom prst="roundRect">
            <a:avLst>
              <a:gd name="adj" fmla="val 4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5" name="Shape 23"/>
          <p:cNvSpPr/>
          <p:nvPr/>
        </p:nvSpPr>
        <p:spPr>
          <a:xfrm>
            <a:off x="4648200" y="4160520"/>
            <a:ext cx="475488" cy="475488"/>
          </a:xfrm>
          <a:prstGeom prst="ellipse">
            <a:avLst/>
          </a:prstGeom>
          <a:solidFill>
            <a:srgbClr val="D31242"/>
          </a:solidFill>
          <a:ln/>
        </p:spPr>
      </p:sp>
      <p:sp>
        <p:nvSpPr>
          <p:cNvPr id="26" name="Text 24"/>
          <p:cNvSpPr/>
          <p:nvPr/>
        </p:nvSpPr>
        <p:spPr>
          <a:xfrm>
            <a:off x="4648200" y="41605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4648200" y="4782312"/>
            <a:ext cx="2892552" cy="45720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Catch errors</a:t>
            </a:r>
            <a:endParaRPr lang="en-US" sz="1600" dirty="0"/>
          </a:p>
        </p:txBody>
      </p:sp>
      <p:sp>
        <p:nvSpPr>
          <p:cNvPr id="28" name="Text 26"/>
          <p:cNvSpPr/>
          <p:nvPr/>
        </p:nvSpPr>
        <p:spPr>
          <a:xfrm>
            <a:off x="4648200" y="5221224"/>
            <a:ext cx="2892552" cy="658368"/>
          </a:xfrm>
          <a:prstGeom prst="rect">
            <a:avLst/>
          </a:prstGeom>
          <a:noFill/>
          <a:ln/>
        </p:spPr>
        <p:txBody>
          <a:bodyPr wrap="square" rtlCol="0" anchor="ctr"/>
          <a:lstStyle/>
          <a:p>
            <a:pPr indent="0" marL="0">
              <a:lnSpc>
                <a:spcPts val="1700"/>
              </a:lnSpc>
              <a:buNone/>
            </a:pPr>
            <a:r>
              <a:rPr lang="en-US" sz="1250" dirty="0">
                <a:solidFill>
                  <a:srgbClr val="3A4452"/>
                </a:solidFill>
                <a:latin typeface="Arial" pitchFamily="34" charset="0"/>
                <a:ea typeface="Arial" pitchFamily="34" charset="-122"/>
                <a:cs typeface="Arial" pitchFamily="34" charset="-120"/>
              </a:rPr>
              <a:t>Use chain-of-verification on fact-heavy work</a:t>
            </a:r>
            <a:endParaRPr lang="en-US" sz="1250" dirty="0"/>
          </a:p>
        </p:txBody>
      </p:sp>
      <p:sp>
        <p:nvSpPr>
          <p:cNvPr id="29" name="Shape 27"/>
          <p:cNvSpPr/>
          <p:nvPr/>
        </p:nvSpPr>
        <p:spPr>
          <a:xfrm>
            <a:off x="8180832" y="3886200"/>
            <a:ext cx="3441192" cy="2057400"/>
          </a:xfrm>
          <a:prstGeom prst="roundRect">
            <a:avLst>
              <a:gd name="adj" fmla="val 4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30" name="Shape 28"/>
          <p:cNvSpPr/>
          <p:nvPr/>
        </p:nvSpPr>
        <p:spPr>
          <a:xfrm>
            <a:off x="8455152" y="4160520"/>
            <a:ext cx="475488" cy="475488"/>
          </a:xfrm>
          <a:prstGeom prst="ellipse">
            <a:avLst/>
          </a:prstGeom>
          <a:solidFill>
            <a:srgbClr val="D31242"/>
          </a:solidFill>
          <a:ln/>
        </p:spPr>
      </p:sp>
      <p:sp>
        <p:nvSpPr>
          <p:cNvPr id="31" name="Text 29"/>
          <p:cNvSpPr/>
          <p:nvPr/>
        </p:nvSpPr>
        <p:spPr>
          <a:xfrm>
            <a:off x="8455152" y="41605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8455152" y="4782312"/>
            <a:ext cx="2892552" cy="45720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Know when to stop</a:t>
            </a:r>
            <a:endParaRPr lang="en-US" sz="1600" dirty="0"/>
          </a:p>
        </p:txBody>
      </p:sp>
      <p:sp>
        <p:nvSpPr>
          <p:cNvPr id="33" name="Text 31"/>
          <p:cNvSpPr/>
          <p:nvPr/>
        </p:nvSpPr>
        <p:spPr>
          <a:xfrm>
            <a:off x="8455152" y="5221224"/>
            <a:ext cx="2892552" cy="658368"/>
          </a:xfrm>
          <a:prstGeom prst="rect">
            <a:avLst/>
          </a:prstGeom>
          <a:noFill/>
          <a:ln/>
        </p:spPr>
        <p:txBody>
          <a:bodyPr wrap="square" rtlCol="0" anchor="ctr"/>
          <a:lstStyle/>
          <a:p>
            <a:pPr indent="0" marL="0">
              <a:lnSpc>
                <a:spcPts val="1700"/>
              </a:lnSpc>
              <a:buNone/>
            </a:pPr>
            <a:r>
              <a:rPr lang="en-US" sz="1250" dirty="0">
                <a:solidFill>
                  <a:srgbClr val="3A4452"/>
                </a:solidFill>
                <a:latin typeface="Arial" pitchFamily="34" charset="0"/>
                <a:ea typeface="Arial" pitchFamily="34" charset="-122"/>
                <a:cs typeface="Arial" pitchFamily="34" charset="-120"/>
              </a:rPr>
              <a:t>Avoid over-thinking simple tasks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HOW WE'LL SPEND THE TIME</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Agenda</a:t>
            </a:r>
            <a:endParaRPr lang="en-US" sz="2700" dirty="0"/>
          </a:p>
        </p:txBody>
      </p:sp>
      <p:sp>
        <p:nvSpPr>
          <p:cNvPr id="4" name="Shape 2"/>
          <p:cNvSpPr/>
          <p:nvPr/>
        </p:nvSpPr>
        <p:spPr>
          <a:xfrm>
            <a:off x="566928" y="1508760"/>
            <a:ext cx="3441192" cy="2057400"/>
          </a:xfrm>
          <a:prstGeom prst="roundRect">
            <a:avLst>
              <a:gd name="adj" fmla="val 4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Shape 3"/>
          <p:cNvSpPr/>
          <p:nvPr/>
        </p:nvSpPr>
        <p:spPr>
          <a:xfrm>
            <a:off x="841248" y="1783080"/>
            <a:ext cx="475488" cy="475488"/>
          </a:xfrm>
          <a:prstGeom prst="ellipse">
            <a:avLst/>
          </a:prstGeom>
          <a:solidFill>
            <a:srgbClr val="D31242"/>
          </a:solidFill>
          <a:ln/>
        </p:spPr>
      </p:sp>
      <p:sp>
        <p:nvSpPr>
          <p:cNvPr id="6" name="Text 4"/>
          <p:cNvSpPr/>
          <p:nvPr/>
        </p:nvSpPr>
        <p:spPr>
          <a:xfrm>
            <a:off x="841248" y="17830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841248" y="2404872"/>
            <a:ext cx="2892552" cy="457200"/>
          </a:xfrm>
          <a:prstGeom prst="rect">
            <a:avLst/>
          </a:prstGeom>
          <a:noFill/>
          <a:ln/>
        </p:spPr>
        <p:txBody>
          <a:bodyPr wrap="square" rtlCol="0" anchor="ctr"/>
          <a:lstStyle/>
          <a:p>
            <a:pPr indent="0" marL="0">
              <a:buNone/>
            </a:pPr>
            <a:r>
              <a:rPr lang="en-US" sz="1550" b="1" dirty="0">
                <a:solidFill>
                  <a:srgbClr val="1F2733"/>
                </a:solidFill>
                <a:latin typeface="Arial" pitchFamily="34" charset="0"/>
                <a:ea typeface="Arial" pitchFamily="34" charset="-122"/>
                <a:cs typeface="Arial" pitchFamily="34" charset="-120"/>
              </a:rPr>
              <a:t>The big shift</a:t>
            </a:r>
            <a:endParaRPr lang="en-US" sz="1550" dirty="0"/>
          </a:p>
        </p:txBody>
      </p:sp>
      <p:sp>
        <p:nvSpPr>
          <p:cNvPr id="8" name="Text 6"/>
          <p:cNvSpPr/>
          <p:nvPr/>
        </p:nvSpPr>
        <p:spPr>
          <a:xfrm>
            <a:off x="841248" y="2843784"/>
            <a:ext cx="2892552" cy="658368"/>
          </a:xfrm>
          <a:prstGeom prst="rect">
            <a:avLst/>
          </a:prstGeom>
          <a:noFill/>
          <a:ln/>
        </p:spPr>
        <p:txBody>
          <a:bodyPr wrap="square" rtlCol="0" anchor="ctr"/>
          <a:lstStyle/>
          <a:p>
            <a:pPr indent="0" marL="0">
              <a:lnSpc>
                <a:spcPts val="1600"/>
              </a:lnSpc>
              <a:buNone/>
            </a:pPr>
            <a:r>
              <a:rPr lang="en-US" sz="1200" dirty="0">
                <a:solidFill>
                  <a:srgbClr val="5E6A78"/>
                </a:solidFill>
                <a:latin typeface="Arial" pitchFamily="34" charset="0"/>
                <a:ea typeface="Arial" pitchFamily="34" charset="-122"/>
                <a:cs typeface="Arial" pitchFamily="34" charset="-120"/>
              </a:rPr>
              <a:t>Models reason by default; Effort</a:t>
            </a:r>
            <a:endParaRPr lang="en-US" sz="1200" dirty="0"/>
          </a:p>
        </p:txBody>
      </p:sp>
      <p:sp>
        <p:nvSpPr>
          <p:cNvPr id="9" name="Shape 7"/>
          <p:cNvSpPr/>
          <p:nvPr/>
        </p:nvSpPr>
        <p:spPr>
          <a:xfrm>
            <a:off x="4373880" y="1508760"/>
            <a:ext cx="3441192" cy="2057400"/>
          </a:xfrm>
          <a:prstGeom prst="roundRect">
            <a:avLst>
              <a:gd name="adj" fmla="val 4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0" name="Shape 8"/>
          <p:cNvSpPr/>
          <p:nvPr/>
        </p:nvSpPr>
        <p:spPr>
          <a:xfrm>
            <a:off x="4648200" y="1783080"/>
            <a:ext cx="475488" cy="475488"/>
          </a:xfrm>
          <a:prstGeom prst="ellipse">
            <a:avLst/>
          </a:prstGeom>
          <a:solidFill>
            <a:srgbClr val="D31242"/>
          </a:solidFill>
          <a:ln/>
        </p:spPr>
      </p:sp>
      <p:sp>
        <p:nvSpPr>
          <p:cNvPr id="11" name="Text 9"/>
          <p:cNvSpPr/>
          <p:nvPr/>
        </p:nvSpPr>
        <p:spPr>
          <a:xfrm>
            <a:off x="4648200" y="17830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4648200" y="2404872"/>
            <a:ext cx="2892552" cy="457200"/>
          </a:xfrm>
          <a:prstGeom prst="rect">
            <a:avLst/>
          </a:prstGeom>
          <a:noFill/>
          <a:ln/>
        </p:spPr>
        <p:txBody>
          <a:bodyPr wrap="square" rtlCol="0" anchor="ctr"/>
          <a:lstStyle/>
          <a:p>
            <a:pPr indent="0" marL="0">
              <a:buNone/>
            </a:pPr>
            <a:r>
              <a:rPr lang="en-US" sz="1550" b="1" dirty="0">
                <a:solidFill>
                  <a:srgbClr val="1F2733"/>
                </a:solidFill>
                <a:latin typeface="Arial" pitchFamily="34" charset="0"/>
                <a:ea typeface="Arial" pitchFamily="34" charset="-122"/>
                <a:cs typeface="Arial" pitchFamily="34" charset="-120"/>
              </a:rPr>
              <a:t>Reasoning toolkit</a:t>
            </a:r>
            <a:endParaRPr lang="en-US" sz="1550" dirty="0"/>
          </a:p>
        </p:txBody>
      </p:sp>
      <p:sp>
        <p:nvSpPr>
          <p:cNvPr id="13" name="Text 11"/>
          <p:cNvSpPr/>
          <p:nvPr/>
        </p:nvSpPr>
        <p:spPr>
          <a:xfrm>
            <a:off x="4648200" y="2843784"/>
            <a:ext cx="2892552" cy="658368"/>
          </a:xfrm>
          <a:prstGeom prst="rect">
            <a:avLst/>
          </a:prstGeom>
          <a:noFill/>
          <a:ln/>
        </p:spPr>
        <p:txBody>
          <a:bodyPr wrap="square" rtlCol="0" anchor="ctr"/>
          <a:lstStyle/>
          <a:p>
            <a:pPr indent="0" marL="0">
              <a:lnSpc>
                <a:spcPts val="1600"/>
              </a:lnSpc>
              <a:buNone/>
            </a:pPr>
            <a:r>
              <a:rPr lang="en-US" sz="1200" dirty="0">
                <a:solidFill>
                  <a:srgbClr val="5E6A78"/>
                </a:solidFill>
                <a:latin typeface="Arial" pitchFamily="34" charset="0"/>
                <a:ea typeface="Arial" pitchFamily="34" charset="-122"/>
                <a:cs typeface="Arial" pitchFamily="34" charset="-120"/>
              </a:rPr>
              <a:t>Decompose, plan, step-back, code &amp; more</a:t>
            </a:r>
            <a:endParaRPr lang="en-US" sz="1200" dirty="0"/>
          </a:p>
        </p:txBody>
      </p:sp>
      <p:sp>
        <p:nvSpPr>
          <p:cNvPr id="14" name="Shape 12"/>
          <p:cNvSpPr/>
          <p:nvPr/>
        </p:nvSpPr>
        <p:spPr>
          <a:xfrm>
            <a:off x="8180832" y="1508760"/>
            <a:ext cx="3441192" cy="2057400"/>
          </a:xfrm>
          <a:prstGeom prst="roundRect">
            <a:avLst>
              <a:gd name="adj" fmla="val 4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5" name="Shape 13"/>
          <p:cNvSpPr/>
          <p:nvPr/>
        </p:nvSpPr>
        <p:spPr>
          <a:xfrm>
            <a:off x="8455152" y="1783080"/>
            <a:ext cx="475488" cy="475488"/>
          </a:xfrm>
          <a:prstGeom prst="ellipse">
            <a:avLst/>
          </a:prstGeom>
          <a:solidFill>
            <a:srgbClr val="D31242"/>
          </a:solidFill>
          <a:ln/>
        </p:spPr>
      </p:sp>
      <p:sp>
        <p:nvSpPr>
          <p:cNvPr id="16" name="Text 14"/>
          <p:cNvSpPr/>
          <p:nvPr/>
        </p:nvSpPr>
        <p:spPr>
          <a:xfrm>
            <a:off x="8455152" y="17830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8455152" y="2404872"/>
            <a:ext cx="2892552" cy="457200"/>
          </a:xfrm>
          <a:prstGeom prst="rect">
            <a:avLst/>
          </a:prstGeom>
          <a:noFill/>
          <a:ln/>
        </p:spPr>
        <p:txBody>
          <a:bodyPr wrap="square" rtlCol="0" anchor="ctr"/>
          <a:lstStyle/>
          <a:p>
            <a:pPr indent="0" marL="0">
              <a:buNone/>
            </a:pPr>
            <a:r>
              <a:rPr lang="en-US" sz="1550" b="1" dirty="0">
                <a:solidFill>
                  <a:srgbClr val="1F2733"/>
                </a:solidFill>
                <a:latin typeface="Arial" pitchFamily="34" charset="0"/>
                <a:ea typeface="Arial" pitchFamily="34" charset="-122"/>
                <a:cs typeface="Arial" pitchFamily="34" charset="-120"/>
              </a:rPr>
              <a:t>Self-improvement</a:t>
            </a:r>
            <a:endParaRPr lang="en-US" sz="1550" dirty="0"/>
          </a:p>
        </p:txBody>
      </p:sp>
      <p:sp>
        <p:nvSpPr>
          <p:cNvPr id="18" name="Text 16"/>
          <p:cNvSpPr/>
          <p:nvPr/>
        </p:nvSpPr>
        <p:spPr>
          <a:xfrm>
            <a:off x="8455152" y="2843784"/>
            <a:ext cx="2892552" cy="658368"/>
          </a:xfrm>
          <a:prstGeom prst="rect">
            <a:avLst/>
          </a:prstGeom>
          <a:noFill/>
          <a:ln/>
        </p:spPr>
        <p:txBody>
          <a:bodyPr wrap="square" rtlCol="0" anchor="ctr"/>
          <a:lstStyle/>
          <a:p>
            <a:pPr indent="0" marL="0">
              <a:lnSpc>
                <a:spcPts val="1600"/>
              </a:lnSpc>
              <a:buNone/>
            </a:pPr>
            <a:r>
              <a:rPr lang="en-US" sz="1200" dirty="0">
                <a:solidFill>
                  <a:srgbClr val="5E6A78"/>
                </a:solidFill>
                <a:latin typeface="Arial" pitchFamily="34" charset="0"/>
                <a:ea typeface="Arial" pitchFamily="34" charset="-122"/>
                <a:cs typeface="Arial" pitchFamily="34" charset="-120"/>
              </a:rPr>
              <a:t>Self-refine, verify, best-of-N</a:t>
            </a:r>
            <a:endParaRPr lang="en-US" sz="1200" dirty="0"/>
          </a:p>
        </p:txBody>
      </p:sp>
      <p:sp>
        <p:nvSpPr>
          <p:cNvPr id="19" name="Shape 17"/>
          <p:cNvSpPr/>
          <p:nvPr/>
        </p:nvSpPr>
        <p:spPr>
          <a:xfrm>
            <a:off x="566928" y="3886200"/>
            <a:ext cx="3441192" cy="2057400"/>
          </a:xfrm>
          <a:prstGeom prst="roundRect">
            <a:avLst>
              <a:gd name="adj" fmla="val 4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0" name="Shape 18"/>
          <p:cNvSpPr/>
          <p:nvPr/>
        </p:nvSpPr>
        <p:spPr>
          <a:xfrm>
            <a:off x="841248" y="4160520"/>
            <a:ext cx="475488" cy="475488"/>
          </a:xfrm>
          <a:prstGeom prst="ellipse">
            <a:avLst/>
          </a:prstGeom>
          <a:solidFill>
            <a:srgbClr val="D31242"/>
          </a:solidFill>
          <a:ln/>
        </p:spPr>
      </p:sp>
      <p:sp>
        <p:nvSpPr>
          <p:cNvPr id="21" name="Text 19"/>
          <p:cNvSpPr/>
          <p:nvPr/>
        </p:nvSpPr>
        <p:spPr>
          <a:xfrm>
            <a:off x="841248" y="41605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841248" y="4782312"/>
            <a:ext cx="2892552" cy="457200"/>
          </a:xfrm>
          <a:prstGeom prst="rect">
            <a:avLst/>
          </a:prstGeom>
          <a:noFill/>
          <a:ln/>
        </p:spPr>
        <p:txBody>
          <a:bodyPr wrap="square" rtlCol="0" anchor="ctr"/>
          <a:lstStyle/>
          <a:p>
            <a:pPr indent="0" marL="0">
              <a:buNone/>
            </a:pPr>
            <a:r>
              <a:rPr lang="en-US" sz="1550" b="1" dirty="0">
                <a:solidFill>
                  <a:srgbClr val="1F2733"/>
                </a:solidFill>
                <a:latin typeface="Arial" pitchFamily="34" charset="0"/>
                <a:ea typeface="Arial" pitchFamily="34" charset="-122"/>
                <a:cs typeface="Arial" pitchFamily="34" charset="-120"/>
              </a:rPr>
              <a:t>When NOT to</a:t>
            </a:r>
            <a:endParaRPr lang="en-US" sz="1550" dirty="0"/>
          </a:p>
        </p:txBody>
      </p:sp>
      <p:sp>
        <p:nvSpPr>
          <p:cNvPr id="23" name="Text 21"/>
          <p:cNvSpPr/>
          <p:nvPr/>
        </p:nvSpPr>
        <p:spPr>
          <a:xfrm>
            <a:off x="841248" y="5221224"/>
            <a:ext cx="2892552" cy="658368"/>
          </a:xfrm>
          <a:prstGeom prst="rect">
            <a:avLst/>
          </a:prstGeom>
          <a:noFill/>
          <a:ln/>
        </p:spPr>
        <p:txBody>
          <a:bodyPr wrap="square" rtlCol="0" anchor="ctr"/>
          <a:lstStyle/>
          <a:p>
            <a:pPr indent="0" marL="0">
              <a:lnSpc>
                <a:spcPts val="1600"/>
              </a:lnSpc>
              <a:buNone/>
            </a:pPr>
            <a:r>
              <a:rPr lang="en-US" sz="1200" dirty="0">
                <a:solidFill>
                  <a:srgbClr val="5E6A78"/>
                </a:solidFill>
                <a:latin typeface="Arial" pitchFamily="34" charset="0"/>
                <a:ea typeface="Arial" pitchFamily="34" charset="-122"/>
                <a:cs typeface="Arial" pitchFamily="34" charset="-120"/>
              </a:rPr>
              <a:t>Restraint &amp; cost</a:t>
            </a:r>
            <a:endParaRPr lang="en-US" sz="1200" dirty="0"/>
          </a:p>
        </p:txBody>
      </p:sp>
      <p:sp>
        <p:nvSpPr>
          <p:cNvPr id="24" name="Shape 22"/>
          <p:cNvSpPr/>
          <p:nvPr/>
        </p:nvSpPr>
        <p:spPr>
          <a:xfrm>
            <a:off x="4373880" y="3886200"/>
            <a:ext cx="3441192" cy="2057400"/>
          </a:xfrm>
          <a:prstGeom prst="roundRect">
            <a:avLst>
              <a:gd name="adj" fmla="val 4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5" name="Shape 23"/>
          <p:cNvSpPr/>
          <p:nvPr/>
        </p:nvSpPr>
        <p:spPr>
          <a:xfrm>
            <a:off x="4648200" y="4160520"/>
            <a:ext cx="475488" cy="475488"/>
          </a:xfrm>
          <a:prstGeom prst="ellipse">
            <a:avLst/>
          </a:prstGeom>
          <a:solidFill>
            <a:srgbClr val="D31242"/>
          </a:solidFill>
          <a:ln/>
        </p:spPr>
      </p:sp>
      <p:sp>
        <p:nvSpPr>
          <p:cNvPr id="26" name="Text 24"/>
          <p:cNvSpPr/>
          <p:nvPr/>
        </p:nvSpPr>
        <p:spPr>
          <a:xfrm>
            <a:off x="4648200" y="41605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4648200" y="4782312"/>
            <a:ext cx="2892552" cy="457200"/>
          </a:xfrm>
          <a:prstGeom prst="rect">
            <a:avLst/>
          </a:prstGeom>
          <a:noFill/>
          <a:ln/>
        </p:spPr>
        <p:txBody>
          <a:bodyPr wrap="square" rtlCol="0" anchor="ctr"/>
          <a:lstStyle/>
          <a:p>
            <a:pPr indent="0" marL="0">
              <a:buNone/>
            </a:pPr>
            <a:r>
              <a:rPr lang="en-US" sz="1550" b="1" dirty="0">
                <a:solidFill>
                  <a:srgbClr val="1F2733"/>
                </a:solidFill>
                <a:latin typeface="Arial" pitchFamily="34" charset="0"/>
                <a:ea typeface="Arial" pitchFamily="34" charset="-122"/>
                <a:cs typeface="Arial" pitchFamily="34" charset="-120"/>
              </a:rPr>
              <a:t>Make it real</a:t>
            </a:r>
            <a:endParaRPr lang="en-US" sz="1550" dirty="0"/>
          </a:p>
        </p:txBody>
      </p:sp>
      <p:sp>
        <p:nvSpPr>
          <p:cNvPr id="28" name="Text 26"/>
          <p:cNvSpPr/>
          <p:nvPr/>
        </p:nvSpPr>
        <p:spPr>
          <a:xfrm>
            <a:off x="4648200" y="5221224"/>
            <a:ext cx="2892552" cy="658368"/>
          </a:xfrm>
          <a:prstGeom prst="rect">
            <a:avLst/>
          </a:prstGeom>
          <a:noFill/>
          <a:ln/>
        </p:spPr>
        <p:txBody>
          <a:bodyPr wrap="square" rtlCol="0" anchor="ctr"/>
          <a:lstStyle/>
          <a:p>
            <a:pPr indent="0" marL="0">
              <a:lnSpc>
                <a:spcPts val="1600"/>
              </a:lnSpc>
              <a:buNone/>
            </a:pPr>
            <a:r>
              <a:rPr lang="en-US" sz="1200" dirty="0">
                <a:solidFill>
                  <a:srgbClr val="5E6A78"/>
                </a:solidFill>
                <a:latin typeface="Arial" pitchFamily="34" charset="0"/>
                <a:ea typeface="Arial" pitchFamily="34" charset="-122"/>
                <a:cs typeface="Arial" pitchFamily="34" charset="-120"/>
              </a:rPr>
              <a:t>BJ's uses + assemble</a:t>
            </a:r>
            <a:endParaRPr lang="en-US" sz="1200" dirty="0"/>
          </a:p>
        </p:txBody>
      </p:sp>
      <p:sp>
        <p:nvSpPr>
          <p:cNvPr id="29" name="Shape 27"/>
          <p:cNvSpPr/>
          <p:nvPr/>
        </p:nvSpPr>
        <p:spPr>
          <a:xfrm>
            <a:off x="8180832" y="3886200"/>
            <a:ext cx="3441192" cy="2057400"/>
          </a:xfrm>
          <a:prstGeom prst="roundRect">
            <a:avLst>
              <a:gd name="adj" fmla="val 4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30" name="Shape 28"/>
          <p:cNvSpPr/>
          <p:nvPr/>
        </p:nvSpPr>
        <p:spPr>
          <a:xfrm>
            <a:off x="8455152" y="4160520"/>
            <a:ext cx="475488" cy="475488"/>
          </a:xfrm>
          <a:prstGeom prst="ellipse">
            <a:avLst/>
          </a:prstGeom>
          <a:solidFill>
            <a:srgbClr val="D31242"/>
          </a:solidFill>
          <a:ln/>
        </p:spPr>
      </p:sp>
      <p:sp>
        <p:nvSpPr>
          <p:cNvPr id="31" name="Text 29"/>
          <p:cNvSpPr/>
          <p:nvPr/>
        </p:nvSpPr>
        <p:spPr>
          <a:xfrm>
            <a:off x="8455152" y="41605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8455152" y="4782312"/>
            <a:ext cx="2892552" cy="457200"/>
          </a:xfrm>
          <a:prstGeom prst="rect">
            <a:avLst/>
          </a:prstGeom>
          <a:noFill/>
          <a:ln/>
        </p:spPr>
        <p:txBody>
          <a:bodyPr wrap="square" rtlCol="0" anchor="ctr"/>
          <a:lstStyle/>
          <a:p>
            <a:pPr indent="0" marL="0">
              <a:buNone/>
            </a:pPr>
            <a:r>
              <a:rPr lang="en-US" sz="1550" b="1" dirty="0">
                <a:solidFill>
                  <a:srgbClr val="1F2733"/>
                </a:solidFill>
                <a:latin typeface="Arial" pitchFamily="34" charset="0"/>
                <a:ea typeface="Arial" pitchFamily="34" charset="-122"/>
                <a:cs typeface="Arial" pitchFamily="34" charset="-120"/>
              </a:rPr>
              <a:t>Practice</a:t>
            </a:r>
            <a:endParaRPr lang="en-US" sz="1550" dirty="0"/>
          </a:p>
        </p:txBody>
      </p:sp>
      <p:sp>
        <p:nvSpPr>
          <p:cNvPr id="33" name="Text 31"/>
          <p:cNvSpPr/>
          <p:nvPr/>
        </p:nvSpPr>
        <p:spPr>
          <a:xfrm>
            <a:off x="8455152" y="5221224"/>
            <a:ext cx="2892552" cy="658368"/>
          </a:xfrm>
          <a:prstGeom prst="rect">
            <a:avLst/>
          </a:prstGeom>
          <a:noFill/>
          <a:ln/>
        </p:spPr>
        <p:txBody>
          <a:bodyPr wrap="square" rtlCol="0" anchor="ctr"/>
          <a:lstStyle/>
          <a:p>
            <a:pPr indent="0" marL="0">
              <a:lnSpc>
                <a:spcPts val="1600"/>
              </a:lnSpc>
              <a:buNone/>
            </a:pPr>
            <a:r>
              <a:rPr lang="en-US" sz="1200" dirty="0">
                <a:solidFill>
                  <a:srgbClr val="5E6A78"/>
                </a:solidFill>
                <a:latin typeface="Arial" pitchFamily="34" charset="0"/>
                <a:ea typeface="Arial" pitchFamily="34" charset="-122"/>
                <a:cs typeface="Arial" pitchFamily="34" charset="-120"/>
              </a:rPr>
              <a:t>Demos, exercise, check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THE BIG SHIFT</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Modern Claude reasons by default</a:t>
            </a:r>
            <a:endParaRPr lang="en-US" sz="2700" dirty="0"/>
          </a:p>
        </p:txBody>
      </p:sp>
      <p:sp>
        <p:nvSpPr>
          <p:cNvPr id="4" name="Shape 2"/>
          <p:cNvSpPr/>
          <p:nvPr/>
        </p:nvSpPr>
        <p:spPr>
          <a:xfrm>
            <a:off x="566928" y="1600200"/>
            <a:ext cx="5486400" cy="4069080"/>
          </a:xfrm>
          <a:prstGeom prst="roundRect">
            <a:avLst>
              <a:gd name="adj" fmla="val 2022"/>
            </a:avLst>
          </a:prstGeom>
          <a:solidFill>
            <a:srgbClr val="FDECEE"/>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4937760" cy="411480"/>
          </a:xfrm>
          <a:prstGeom prst="rect">
            <a:avLst/>
          </a:prstGeom>
          <a:noFill/>
          <a:ln/>
        </p:spPr>
        <p:txBody>
          <a:bodyPr wrap="square" rtlCol="0" anchor="ctr"/>
          <a:lstStyle/>
          <a:p>
            <a:pPr indent="0" marL="0">
              <a:buNone/>
            </a:pPr>
            <a:r>
              <a:rPr lang="en-US" sz="1550" b="1" dirty="0">
                <a:solidFill>
                  <a:srgbClr val="B91C1C"/>
                </a:solidFill>
                <a:latin typeface="Arial" pitchFamily="34" charset="0"/>
                <a:ea typeface="Arial" pitchFamily="34" charset="-122"/>
                <a:cs typeface="Arial" pitchFamily="34" charset="-120"/>
              </a:rPr>
              <a:t>The old way (2022–2023)</a:t>
            </a:r>
            <a:endParaRPr lang="en-US" sz="1550" dirty="0"/>
          </a:p>
        </p:txBody>
      </p:sp>
      <p:sp>
        <p:nvSpPr>
          <p:cNvPr id="6" name="Text 4"/>
          <p:cNvSpPr/>
          <p:nvPr/>
        </p:nvSpPr>
        <p:spPr>
          <a:xfrm>
            <a:off x="841248" y="2286000"/>
            <a:ext cx="4983480" cy="3108960"/>
          </a:xfrm>
          <a:prstGeom prst="rect">
            <a:avLst/>
          </a:prstGeom>
          <a:noFill/>
          <a:ln/>
        </p:spPr>
        <p:txBody>
          <a:bodyPr wrap="square" rtlCol="0" anchor="t"/>
          <a:lstStyle/>
          <a:p>
            <a:pPr indent="0" marL="0">
              <a:lnSpc>
                <a:spcPts val="2000"/>
              </a:lnSpc>
              <a:buNone/>
            </a:pPr>
            <a:r>
              <a:rPr lang="en-US" sz="1350" dirty="0">
                <a:solidFill>
                  <a:srgbClr val="3A4452"/>
                </a:solidFill>
                <a:latin typeface="Arial" pitchFamily="34" charset="0"/>
                <a:ea typeface="Arial" pitchFamily="34" charset="-122"/>
                <a:cs typeface="Arial" pitchFamily="34" charset="-120"/>
              </a:rPr>
              <a:t>You had to FORCE reasoning: "let's think step by step," manual 'extended thinking' budgets, elaborate scaffolds — or the model would answer too fast and get it wrong.</a:t>
            </a:r>
            <a:endParaRPr lang="en-US" sz="1350" dirty="0"/>
          </a:p>
        </p:txBody>
      </p:sp>
      <p:sp>
        <p:nvSpPr>
          <p:cNvPr id="7" name="Shape 5"/>
          <p:cNvSpPr/>
          <p:nvPr/>
        </p:nvSpPr>
        <p:spPr>
          <a:xfrm>
            <a:off x="6355080" y="1600200"/>
            <a:ext cx="5486400" cy="4069080"/>
          </a:xfrm>
          <a:prstGeom prst="roundRect">
            <a:avLst>
              <a:gd name="adj" fmla="val 2022"/>
            </a:avLst>
          </a:prstGeom>
          <a:solidFill>
            <a:srgbClr val="EAF6EE"/>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629400" y="1828800"/>
            <a:ext cx="4937760" cy="411480"/>
          </a:xfrm>
          <a:prstGeom prst="rect">
            <a:avLst/>
          </a:prstGeom>
          <a:noFill/>
          <a:ln/>
        </p:spPr>
        <p:txBody>
          <a:bodyPr wrap="square" rtlCol="0" anchor="ctr"/>
          <a:lstStyle/>
          <a:p>
            <a:pPr indent="0" marL="0">
              <a:buNone/>
            </a:pPr>
            <a:r>
              <a:rPr lang="en-US" sz="1550" b="1" dirty="0">
                <a:solidFill>
                  <a:srgbClr val="15803D"/>
                </a:solidFill>
                <a:latin typeface="Arial" pitchFamily="34" charset="0"/>
                <a:ea typeface="Arial" pitchFamily="34" charset="-122"/>
                <a:cs typeface="Arial" pitchFamily="34" charset="-120"/>
              </a:rPr>
              <a:t>Today (Opus 4.8 / Sonnet 4.6)</a:t>
            </a:r>
            <a:endParaRPr lang="en-US" sz="1550" dirty="0"/>
          </a:p>
        </p:txBody>
      </p:sp>
      <p:sp>
        <p:nvSpPr>
          <p:cNvPr id="9" name="Text 7"/>
          <p:cNvSpPr/>
          <p:nvPr/>
        </p:nvSpPr>
        <p:spPr>
          <a:xfrm>
            <a:off x="6629400" y="2286000"/>
            <a:ext cx="4983480" cy="3108960"/>
          </a:xfrm>
          <a:prstGeom prst="rect">
            <a:avLst/>
          </a:prstGeom>
          <a:noFill/>
          <a:ln/>
        </p:spPr>
        <p:txBody>
          <a:bodyPr wrap="square" rtlCol="0" anchor="t"/>
          <a:lstStyle/>
          <a:p>
            <a:pPr indent="0" marL="0">
              <a:lnSpc>
                <a:spcPts val="2000"/>
              </a:lnSpc>
              <a:buNone/>
            </a:pPr>
            <a:r>
              <a:rPr lang="en-US" sz="1350" dirty="0">
                <a:solidFill>
                  <a:srgbClr val="3A4452"/>
                </a:solidFill>
                <a:latin typeface="Arial" pitchFamily="34" charset="0"/>
                <a:ea typeface="Arial" pitchFamily="34" charset="-122"/>
                <a:cs typeface="Arial" pitchFamily="34" charset="-120"/>
              </a:rPr>
              <a:t>Claude reasons on its own when a task needs it. Your job shifts from </a:t>
            </a:r>
            <a:pPr indent="0" marL="0">
              <a:lnSpc>
                <a:spcPts val="2000"/>
              </a:lnSpc>
              <a:buNone/>
            </a:pPr>
            <a:r>
              <a:rPr lang="en-US" sz="1350" i="1" dirty="0">
                <a:solidFill>
                  <a:srgbClr val="1F2733"/>
                </a:solidFill>
                <a:latin typeface="Arial" pitchFamily="34" charset="0"/>
                <a:ea typeface="Arial" pitchFamily="34" charset="-122"/>
                <a:cs typeface="Arial" pitchFamily="34" charset="-120"/>
              </a:rPr>
              <a:t>forcing thinking</a:t>
            </a:r>
            <a:pPr indent="0" marL="0">
              <a:lnSpc>
                <a:spcPts val="2000"/>
              </a:lnSpc>
              <a:buNone/>
            </a:pPr>
            <a:r>
              <a:rPr lang="en-US" sz="1350" dirty="0">
                <a:solidFill>
                  <a:srgbClr val="3A4452"/>
                </a:solidFill>
                <a:latin typeface="Arial" pitchFamily="34" charset="0"/>
                <a:ea typeface="Arial" pitchFamily="34" charset="-122"/>
                <a:cs typeface="Arial" pitchFamily="34" charset="-120"/>
              </a:rPr>
              <a:t> to </a:t>
            </a:r>
            <a:pPr indent="0" marL="0">
              <a:lnSpc>
                <a:spcPts val="2000"/>
              </a:lnSpc>
              <a:buNone/>
            </a:pPr>
            <a:r>
              <a:rPr lang="en-US" sz="1350" b="1" dirty="0">
                <a:solidFill>
                  <a:srgbClr val="1F2733"/>
                </a:solidFill>
                <a:latin typeface="Arial" pitchFamily="34" charset="0"/>
                <a:ea typeface="Arial" pitchFamily="34" charset="-122"/>
                <a:cs typeface="Arial" pitchFamily="34" charset="-120"/>
              </a:rPr>
              <a:t>steering how it reasons and making it check itself</a:t>
            </a:r>
            <a:pPr indent="0" marL="0">
              <a:lnSpc>
                <a:spcPts val="2000"/>
              </a:lnSpc>
              <a:buNone/>
            </a:pPr>
            <a:r>
              <a:rPr lang="en-US" sz="1350" dirty="0">
                <a:solidFill>
                  <a:srgbClr val="3A4452"/>
                </a:solidFill>
                <a:latin typeface="Arial" pitchFamily="34" charset="0"/>
                <a:ea typeface="Arial" pitchFamily="34" charset="-122"/>
                <a:cs typeface="Arial" pitchFamily="34" charset="-120"/>
              </a:rPr>
              <a:t> — and dialing depth with Effort.</a:t>
            </a:r>
            <a:endParaRPr lang="en-US" sz="1350" dirty="0"/>
          </a:p>
        </p:txBody>
      </p:sp>
      <p:sp>
        <p:nvSpPr>
          <p:cNvPr id="10" name="Text 8"/>
          <p:cNvSpPr/>
          <p:nvPr/>
        </p:nvSpPr>
        <p:spPr>
          <a:xfrm>
            <a:off x="566928" y="5806440"/>
            <a:ext cx="11055096" cy="365760"/>
          </a:xfrm>
          <a:prstGeom prst="rect">
            <a:avLst/>
          </a:prstGeom>
          <a:noFill/>
          <a:ln/>
        </p:spPr>
        <p:txBody>
          <a:bodyPr wrap="square" rtlCol="0" anchor="ctr"/>
          <a:lstStyle/>
          <a:p>
            <a:pPr indent="0" marL="0">
              <a:buNone/>
            </a:pPr>
            <a:r>
              <a:rPr lang="en-US" sz="1100" i="1" dirty="0">
                <a:solidFill>
                  <a:srgbClr val="5E6A78"/>
                </a:solidFill>
                <a:latin typeface="Arial" pitchFamily="34" charset="0"/>
                <a:ea typeface="Arial" pitchFamily="34" charset="-122"/>
                <a:cs typeface="Arial" pitchFamily="34" charset="-120"/>
              </a:rPr>
              <a:t>Currency note (verified June 2026): manual 'extended thinking budgets' are deprecated, replaced by adaptive thinking + the Effort control.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THE DEPTH DIAL</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Effort — match thinking to the stakes</a:t>
            </a:r>
            <a:endParaRPr lang="en-US" sz="2700" dirty="0"/>
          </a:p>
        </p:txBody>
      </p:sp>
      <p:sp>
        <p:nvSpPr>
          <p:cNvPr id="4" name="Shape 2"/>
          <p:cNvSpPr/>
          <p:nvPr/>
        </p:nvSpPr>
        <p:spPr>
          <a:xfrm>
            <a:off x="566928" y="1600200"/>
            <a:ext cx="5486400" cy="4023360"/>
          </a:xfrm>
          <a:prstGeom prst="roundRect">
            <a:avLst>
              <a:gd name="adj" fmla="val 2045"/>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4937760" cy="41148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Higher Effort</a:t>
            </a:r>
            <a:endParaRPr lang="en-US" sz="1600" dirty="0"/>
          </a:p>
        </p:txBody>
      </p:sp>
      <p:sp>
        <p:nvSpPr>
          <p:cNvPr id="6" name="Text 4"/>
          <p:cNvSpPr/>
          <p:nvPr/>
        </p:nvSpPr>
        <p:spPr>
          <a:xfrm>
            <a:off x="841248" y="2286000"/>
            <a:ext cx="4983480" cy="3108960"/>
          </a:xfrm>
          <a:prstGeom prst="rect">
            <a:avLst/>
          </a:prstGeom>
          <a:noFill/>
          <a:ln/>
        </p:spPr>
        <p:txBody>
          <a:bodyPr wrap="square" rtlCol="0" anchor="t"/>
          <a:lstStyle/>
          <a:p>
            <a:pPr indent="0" marL="0">
              <a:lnSpc>
                <a:spcPts val="2000"/>
              </a:lnSpc>
              <a:buNone/>
            </a:pPr>
            <a:r>
              <a:rPr lang="en-US" sz="1350" dirty="0">
                <a:solidFill>
                  <a:srgbClr val="3A4452"/>
                </a:solidFill>
                <a:latin typeface="Arial" pitchFamily="34" charset="0"/>
                <a:ea typeface="Arial" pitchFamily="34" charset="-122"/>
                <a:cs typeface="Arial" pitchFamily="34" charset="-120"/>
              </a:rPr>
              <a:t>More deliberation (and more tool use).</a:t>
            </a:r>
            <a:endParaRPr lang="en-US" sz="1350" dirty="0"/>
          </a:p>
          <a:p>
            <a:pPr indent="0" marL="0">
              <a:lnSpc>
                <a:spcPts val="2000"/>
              </a:lnSpc>
              <a:buNone/>
            </a:pPr>
            <a:r>
              <a:rPr lang="en-US" sz="1350" b="1" dirty="0">
                <a:solidFill>
                  <a:srgbClr val="1F2733"/>
                </a:solidFill>
                <a:latin typeface="Arial" pitchFamily="34" charset="0"/>
                <a:ea typeface="Arial" pitchFamily="34" charset="-122"/>
                <a:cs typeface="Arial" pitchFamily="34" charset="-120"/>
              </a:rPr>
              <a:t>Use for: </a:t>
            </a:r>
            <a:pPr indent="0" marL="0">
              <a:lnSpc>
                <a:spcPts val="2000"/>
              </a:lnSpc>
              <a:buNone/>
            </a:pPr>
            <a:r>
              <a:rPr lang="en-US" sz="1350" dirty="0">
                <a:solidFill>
                  <a:srgbClr val="3A4452"/>
                </a:solidFill>
                <a:latin typeface="Arial" pitchFamily="34" charset="0"/>
                <a:ea typeface="Arial" pitchFamily="34" charset="-122"/>
                <a:cs typeface="Arial" pitchFamily="34" charset="-120"/>
              </a:rPr>
              <a:t>hard analysis, tricky policy logic, multi-step problems where quality beats speed.</a:t>
            </a:r>
            <a:endParaRPr lang="en-US" sz="1350" dirty="0"/>
          </a:p>
        </p:txBody>
      </p:sp>
      <p:sp>
        <p:nvSpPr>
          <p:cNvPr id="7" name="Shape 5"/>
          <p:cNvSpPr/>
          <p:nvPr/>
        </p:nvSpPr>
        <p:spPr>
          <a:xfrm>
            <a:off x="6355080" y="1600200"/>
            <a:ext cx="5486400" cy="4023360"/>
          </a:xfrm>
          <a:prstGeom prst="roundRect">
            <a:avLst>
              <a:gd name="adj" fmla="val 2045"/>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629400" y="1828800"/>
            <a:ext cx="4937760" cy="41148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Lower Effort</a:t>
            </a:r>
            <a:endParaRPr lang="en-US" sz="1600" dirty="0"/>
          </a:p>
        </p:txBody>
      </p:sp>
      <p:sp>
        <p:nvSpPr>
          <p:cNvPr id="9" name="Text 7"/>
          <p:cNvSpPr/>
          <p:nvPr/>
        </p:nvSpPr>
        <p:spPr>
          <a:xfrm>
            <a:off x="6629400" y="2286000"/>
            <a:ext cx="4983480" cy="3108960"/>
          </a:xfrm>
          <a:prstGeom prst="rect">
            <a:avLst/>
          </a:prstGeom>
          <a:noFill/>
          <a:ln/>
        </p:spPr>
        <p:txBody>
          <a:bodyPr wrap="square" rtlCol="0" anchor="t"/>
          <a:lstStyle/>
          <a:p>
            <a:pPr indent="0" marL="0">
              <a:lnSpc>
                <a:spcPts val="2000"/>
              </a:lnSpc>
              <a:buNone/>
            </a:pPr>
            <a:r>
              <a:rPr lang="en-US" sz="1350" dirty="0">
                <a:solidFill>
                  <a:srgbClr val="3A4452"/>
                </a:solidFill>
                <a:latin typeface="Arial" pitchFamily="34" charset="0"/>
                <a:ea typeface="Arial" pitchFamily="34" charset="-122"/>
                <a:cs typeface="Arial" pitchFamily="34" charset="-120"/>
              </a:rPr>
              <a:t>Faster and cheaper.</a:t>
            </a:r>
            <a:endParaRPr lang="en-US" sz="1350" dirty="0"/>
          </a:p>
          <a:p>
            <a:pPr indent="0" marL="0">
              <a:lnSpc>
                <a:spcPts val="2000"/>
              </a:lnSpc>
              <a:buNone/>
            </a:pPr>
            <a:r>
              <a:rPr lang="en-US" sz="1350" b="1" dirty="0">
                <a:solidFill>
                  <a:srgbClr val="1F2733"/>
                </a:solidFill>
                <a:latin typeface="Arial" pitchFamily="34" charset="0"/>
                <a:ea typeface="Arial" pitchFamily="34" charset="-122"/>
                <a:cs typeface="Arial" pitchFamily="34" charset="-120"/>
              </a:rPr>
              <a:t>Use for: </a:t>
            </a:r>
            <a:pPr indent="0" marL="0">
              <a:lnSpc>
                <a:spcPts val="2000"/>
              </a:lnSpc>
              <a:buNone/>
            </a:pPr>
            <a:r>
              <a:rPr lang="en-US" sz="1350" dirty="0">
                <a:solidFill>
                  <a:srgbClr val="3A4452"/>
                </a:solidFill>
                <a:latin typeface="Arial" pitchFamily="34" charset="0"/>
                <a:ea typeface="Arial" pitchFamily="34" charset="-122"/>
                <a:cs typeface="Arial" pitchFamily="34" charset="-120"/>
              </a:rPr>
              <a:t>quick rewrites, simple Q&amp;A, high-volume everyday tasks — and to curb over-thinking.</a:t>
            </a:r>
            <a:endParaRPr lang="en-US" sz="1350" dirty="0"/>
          </a:p>
        </p:txBody>
      </p:sp>
      <p:sp>
        <p:nvSpPr>
          <p:cNvPr id="10" name="Text 8"/>
          <p:cNvSpPr/>
          <p:nvPr/>
        </p:nvSpPr>
        <p:spPr>
          <a:xfrm>
            <a:off x="566928" y="5760720"/>
            <a:ext cx="11055096" cy="365760"/>
          </a:xfrm>
          <a:prstGeom prst="rect">
            <a:avLst/>
          </a:prstGeom>
          <a:noFill/>
          <a:ln/>
        </p:spPr>
        <p:txBody>
          <a:bodyPr wrap="square" rtlCol="0" anchor="ctr"/>
          <a:lstStyle/>
          <a:p>
            <a:pPr indent="0" marL="0">
              <a:buNone/>
            </a:pPr>
            <a:r>
              <a:rPr lang="en-US" sz="1100" i="1" dirty="0">
                <a:solidFill>
                  <a:srgbClr val="5E6A78"/>
                </a:solidFill>
                <a:latin typeface="Arial" pitchFamily="34" charset="0"/>
                <a:ea typeface="Arial" pitchFamily="34" charset="-122"/>
                <a:cs typeface="Arial" pitchFamily="34" charset="-120"/>
              </a:rPr>
              <a:t>Verified in-app: an Effort control sits on the model picker (e.g. 'Max'). Default to a sensible middle; raise it for hard problems, lower it for speed.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A CLASSIC, WITH AN HONEST CAVEAT</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"Think step by step" (chain-of-thought)</a:t>
            </a:r>
            <a:endParaRPr lang="en-US" sz="2700" dirty="0"/>
          </a:p>
        </p:txBody>
      </p:sp>
      <p:sp>
        <p:nvSpPr>
          <p:cNvPr id="4" name="Shape 2"/>
          <p:cNvSpPr/>
          <p:nvPr/>
        </p:nvSpPr>
        <p:spPr>
          <a:xfrm>
            <a:off x="566928" y="1600200"/>
            <a:ext cx="5486400" cy="4023360"/>
          </a:xfrm>
          <a:prstGeom prst="roundRect">
            <a:avLst>
              <a:gd name="adj" fmla="val 2045"/>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4937760" cy="411480"/>
          </a:xfrm>
          <a:prstGeom prst="rect">
            <a:avLst/>
          </a:prstGeom>
          <a:noFill/>
          <a:ln/>
        </p:spPr>
        <p:txBody>
          <a:bodyPr wrap="square" rtlCol="0" anchor="ctr"/>
          <a:lstStyle/>
          <a:p>
            <a:pPr indent="0" marL="0">
              <a:buNone/>
            </a:pPr>
            <a:r>
              <a:rPr lang="en-US" sz="1550" b="1" dirty="0">
                <a:solidFill>
                  <a:srgbClr val="1F2733"/>
                </a:solidFill>
                <a:latin typeface="Arial" pitchFamily="34" charset="0"/>
                <a:ea typeface="Arial" pitchFamily="34" charset="-122"/>
                <a:cs typeface="Arial" pitchFamily="34" charset="-120"/>
              </a:rPr>
              <a:t>What it is</a:t>
            </a:r>
            <a:endParaRPr lang="en-US" sz="1550" dirty="0"/>
          </a:p>
        </p:txBody>
      </p:sp>
      <p:sp>
        <p:nvSpPr>
          <p:cNvPr id="6" name="Text 4"/>
          <p:cNvSpPr/>
          <p:nvPr/>
        </p:nvSpPr>
        <p:spPr>
          <a:xfrm>
            <a:off x="841248" y="2286000"/>
            <a:ext cx="4983480" cy="3200400"/>
          </a:xfrm>
          <a:prstGeom prst="rect">
            <a:avLst/>
          </a:prstGeom>
          <a:noFill/>
          <a:ln/>
        </p:spPr>
        <p:txBody>
          <a:bodyPr wrap="square" rtlCol="0" anchor="t"/>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Asking Claude to reason out the steps before answering. The foundational reasoning technique (Wei 2022; Kojima 2022).</a:t>
            </a:r>
            <a:endParaRPr lang="en-US" sz="1350" dirty="0"/>
          </a:p>
          <a:p>
            <a:pPr indent="0" marL="0">
              <a:lnSpc>
                <a:spcPts val="1900"/>
              </a:lnSpc>
              <a:buNone/>
            </a:pPr>
            <a:endParaRPr lang="en-US" sz="1350" dirty="0"/>
          </a:p>
          <a:p>
            <a:pPr indent="0" marL="0">
              <a:lnSpc>
                <a:spcPts val="1900"/>
              </a:lnSpc>
              <a:buNone/>
            </a:pPr>
            <a:r>
              <a:rPr lang="en-US" sz="1350" b="1" dirty="0">
                <a:solidFill>
                  <a:srgbClr val="D31242"/>
                </a:solidFill>
                <a:latin typeface="Arial" pitchFamily="34" charset="0"/>
                <a:ea typeface="Arial" pitchFamily="34" charset="-122"/>
                <a:cs typeface="Arial" pitchFamily="34" charset="-120"/>
              </a:rPr>
              <a:t>Still helps when: </a:t>
            </a:r>
            <a:pPr indent="0" marL="0">
              <a:lnSpc>
                <a:spcPts val="1900"/>
              </a:lnSpc>
              <a:buNone/>
            </a:pPr>
            <a:r>
              <a:rPr lang="en-US" sz="1350" dirty="0">
                <a:solidFill>
                  <a:srgbClr val="3A4452"/>
                </a:solidFill>
                <a:latin typeface="Arial" pitchFamily="34" charset="0"/>
                <a:ea typeface="Arial" pitchFamily="34" charset="-122"/>
                <a:cs typeface="Arial" pitchFamily="34" charset="-120"/>
              </a:rPr>
              <a:t>thinking is off, you want the reasoning shown, or the task is genuinely multi-step.</a:t>
            </a:r>
            <a:endParaRPr lang="en-US" sz="1350" dirty="0"/>
          </a:p>
        </p:txBody>
      </p:sp>
      <p:sp>
        <p:nvSpPr>
          <p:cNvPr id="7" name="Shape 5"/>
          <p:cNvSpPr/>
          <p:nvPr/>
        </p:nvSpPr>
        <p:spPr>
          <a:xfrm>
            <a:off x="6355080" y="1600200"/>
            <a:ext cx="5486400" cy="4023360"/>
          </a:xfrm>
          <a:prstGeom prst="roundRect">
            <a:avLst>
              <a:gd name="adj" fmla="val 2045"/>
            </a:avLst>
          </a:prstGeom>
          <a:solidFill>
            <a:srgbClr val="FDECEE"/>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629400" y="1828800"/>
            <a:ext cx="4937760" cy="411480"/>
          </a:xfrm>
          <a:prstGeom prst="rect">
            <a:avLst/>
          </a:prstGeom>
          <a:noFill/>
          <a:ln/>
        </p:spPr>
        <p:txBody>
          <a:bodyPr wrap="square" rtlCol="0" anchor="ctr"/>
          <a:lstStyle/>
          <a:p>
            <a:pPr indent="0" marL="0">
              <a:buNone/>
            </a:pPr>
            <a:r>
              <a:rPr lang="en-US" sz="1550" b="1" dirty="0">
                <a:solidFill>
                  <a:srgbClr val="B91C1C"/>
                </a:solidFill>
                <a:latin typeface="Arial" pitchFamily="34" charset="0"/>
                <a:ea typeface="Arial" pitchFamily="34" charset="-122"/>
                <a:cs typeface="Arial" pitchFamily="34" charset="-120"/>
              </a:rPr>
              <a:t>The honest caveat</a:t>
            </a:r>
            <a:endParaRPr lang="en-US" sz="1550" dirty="0"/>
          </a:p>
        </p:txBody>
      </p:sp>
      <p:sp>
        <p:nvSpPr>
          <p:cNvPr id="9" name="Text 7"/>
          <p:cNvSpPr/>
          <p:nvPr/>
        </p:nvSpPr>
        <p:spPr>
          <a:xfrm>
            <a:off x="6629400" y="2286000"/>
            <a:ext cx="4983480" cy="3200400"/>
          </a:xfrm>
          <a:prstGeom prst="rect">
            <a:avLst/>
          </a:prstGeom>
          <a:noFill/>
          <a:ln/>
        </p:spPr>
        <p:txBody>
          <a:bodyPr wrap="square" rtlCol="0" anchor="t"/>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On today's reasoning models, the </a:t>
            </a:r>
            <a:pPr indent="0" marL="0">
              <a:lnSpc>
                <a:spcPts val="1900"/>
              </a:lnSpc>
              <a:buNone/>
            </a:pPr>
            <a:r>
              <a:rPr lang="en-US" sz="1350" i="1" dirty="0">
                <a:solidFill>
                  <a:srgbClr val="1F2733"/>
                </a:solidFill>
                <a:latin typeface="Arial" pitchFamily="34" charset="0"/>
                <a:ea typeface="Arial" pitchFamily="34" charset="-122"/>
                <a:cs typeface="Arial" pitchFamily="34" charset="-120"/>
              </a:rPr>
              <a:t>added</a:t>
            </a:r>
            <a:pPr indent="0" marL="0">
              <a:lnSpc>
                <a:spcPts val="1900"/>
              </a:lnSpc>
              <a:buNone/>
            </a:pPr>
            <a:r>
              <a:rPr lang="en-US" sz="1350" dirty="0">
                <a:solidFill>
                  <a:srgbClr val="3A4452"/>
                </a:solidFill>
                <a:latin typeface="Arial" pitchFamily="34" charset="0"/>
                <a:ea typeface="Arial" pitchFamily="34" charset="-122"/>
                <a:cs typeface="Arial" pitchFamily="34" charset="-120"/>
              </a:rPr>
              <a:t> benefit of saying 'think step by step' is shrinking — they often already do it.</a:t>
            </a:r>
            <a:endParaRPr lang="en-US" sz="1350" dirty="0"/>
          </a:p>
          <a:p>
            <a:pPr indent="0" marL="0">
              <a:lnSpc>
                <a:spcPts val="1900"/>
              </a:lnSpc>
              <a:buNone/>
            </a:pPr>
            <a:endParaRPr lang="en-US" sz="1350" dirty="0"/>
          </a:p>
          <a:p>
            <a:pPr indent="0" marL="0">
              <a:lnSpc>
                <a:spcPts val="1900"/>
              </a:lnSpc>
              <a:buNone/>
            </a:pPr>
            <a:r>
              <a:rPr lang="en-US" sz="1350" b="1" dirty="0">
                <a:solidFill>
                  <a:srgbClr val="1F2733"/>
                </a:solidFill>
                <a:latin typeface="Arial" pitchFamily="34" charset="0"/>
                <a:ea typeface="Arial" pitchFamily="34" charset="-122"/>
                <a:cs typeface="Arial" pitchFamily="34" charset="-120"/>
              </a:rPr>
              <a:t>Teach the concept; set the expectation. Don't sell it as a magic phrase.</a:t>
            </a:r>
            <a:endParaRPr lang="en-US" sz="1350" dirty="0"/>
          </a:p>
        </p:txBody>
      </p:sp>
      <p:sp>
        <p:nvSpPr>
          <p:cNvPr id="10" name="Text 8"/>
          <p:cNvSpPr/>
          <p:nvPr/>
        </p:nvSpPr>
        <p:spPr>
          <a:xfrm>
            <a:off x="566928" y="5760720"/>
            <a:ext cx="11055096" cy="365760"/>
          </a:xfrm>
          <a:prstGeom prst="rect">
            <a:avLst/>
          </a:prstGeom>
          <a:noFill/>
          <a:ln/>
        </p:spPr>
        <p:txBody>
          <a:bodyPr wrap="square" rtlCol="0" anchor="ctr"/>
          <a:lstStyle/>
          <a:p>
            <a:pPr indent="0" marL="0">
              <a:buNone/>
            </a:pPr>
            <a:r>
              <a:rPr lang="en-US" sz="1050" i="1" dirty="0">
                <a:solidFill>
                  <a:srgbClr val="5E6A78"/>
                </a:solidFill>
                <a:latin typeface="Arial" pitchFamily="34" charset="0"/>
                <a:ea typeface="Arial" pitchFamily="34" charset="-122"/>
                <a:cs typeface="Arial" pitchFamily="34" charset="-120"/>
              </a:rPr>
              <a:t>Source: 'Prompting Science Report 2: The Decreasing Value of Chain of Thought' (2026) + Anthropic guidance.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MAKE REASONING VISIBLE</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Structured thinking tags</a:t>
            </a:r>
            <a:endParaRPr lang="en-US" sz="2700" dirty="0"/>
          </a:p>
        </p:txBody>
      </p:sp>
      <p:sp>
        <p:nvSpPr>
          <p:cNvPr id="4" name="Shape 2"/>
          <p:cNvSpPr/>
          <p:nvPr/>
        </p:nvSpPr>
        <p:spPr>
          <a:xfrm>
            <a:off x="566928" y="1600200"/>
            <a:ext cx="5486400" cy="4023360"/>
          </a:xfrm>
          <a:prstGeom prst="roundRect">
            <a:avLst>
              <a:gd name="adj" fmla="val 2045"/>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4937760" cy="640080"/>
          </a:xfrm>
          <a:prstGeom prst="rect">
            <a:avLst/>
          </a:prstGeom>
          <a:noFill/>
          <a:ln/>
        </p:spPr>
        <p:txBody>
          <a:bodyPr wrap="square" rtlCol="0" anchor="ctr"/>
          <a:lstStyle/>
          <a:p>
            <a:pPr indent="0" marL="0">
              <a:lnSpc>
                <a:spcPts val="1800"/>
              </a:lnSpc>
              <a:buNone/>
            </a:pPr>
            <a:r>
              <a:rPr lang="en-US" sz="1550" b="1" dirty="0">
                <a:solidFill>
                  <a:srgbClr val="1F2733"/>
                </a:solidFill>
                <a:latin typeface="Arial" pitchFamily="34" charset="0"/>
                <a:ea typeface="Arial" pitchFamily="34" charset="-122"/>
                <a:cs typeface="Arial" pitchFamily="34" charset="-120"/>
              </a:rPr>
              <a:t>Separate the thinking from the answer</a:t>
            </a:r>
            <a:endParaRPr lang="en-US" sz="1550" dirty="0"/>
          </a:p>
        </p:txBody>
      </p:sp>
      <p:sp>
        <p:nvSpPr>
          <p:cNvPr id="6" name="Text 4"/>
          <p:cNvSpPr/>
          <p:nvPr/>
        </p:nvSpPr>
        <p:spPr>
          <a:xfrm>
            <a:off x="841248" y="2514600"/>
            <a:ext cx="4983480" cy="2926080"/>
          </a:xfrm>
          <a:prstGeom prst="rect">
            <a:avLst/>
          </a:prstGeom>
          <a:noFill/>
          <a:ln/>
        </p:spPr>
        <p:txBody>
          <a:bodyPr wrap="square" rtlCol="0" anchor="t"/>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Ask Claude to reason in one place and answer in another, so you can review the logic — and the final answer stays clean.</a:t>
            </a:r>
            <a:endParaRPr lang="en-US" sz="1350" dirty="0"/>
          </a:p>
          <a:p>
            <a:pPr indent="0" marL="0">
              <a:lnSpc>
                <a:spcPts val="1900"/>
              </a:lnSpc>
              <a:buNone/>
            </a:pPr>
            <a:endParaRPr lang="en-US" sz="1350" dirty="0"/>
          </a:p>
          <a:p>
            <a:pPr indent="0" marL="0">
              <a:lnSpc>
                <a:spcPts val="1900"/>
              </a:lnSpc>
              <a:buNone/>
            </a:pPr>
            <a:r>
              <a:rPr lang="en-US" sz="1350" dirty="0">
                <a:solidFill>
                  <a:srgbClr val="3A4452"/>
                </a:solidFill>
                <a:latin typeface="Arial" pitchFamily="34" charset="0"/>
                <a:ea typeface="Arial" pitchFamily="34" charset="-122"/>
                <a:cs typeface="Arial" pitchFamily="34" charset="-120"/>
              </a:rPr>
              <a:t>Also the fallback when adaptive thinking is off.</a:t>
            </a:r>
            <a:endParaRPr lang="en-US" sz="1350" dirty="0"/>
          </a:p>
        </p:txBody>
      </p:sp>
      <p:sp>
        <p:nvSpPr>
          <p:cNvPr id="7" name="Shape 5"/>
          <p:cNvSpPr/>
          <p:nvPr/>
        </p:nvSpPr>
        <p:spPr>
          <a:xfrm>
            <a:off x="6355080" y="1600200"/>
            <a:ext cx="5486400" cy="4023360"/>
          </a:xfrm>
          <a:prstGeom prst="roundRect">
            <a:avLst>
              <a:gd name="adj" fmla="val 2045"/>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556248" y="1709928"/>
            <a:ext cx="512064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EXAMPLE</a:t>
            </a:r>
            <a:endParaRPr lang="en-US" sz="900" dirty="0"/>
          </a:p>
        </p:txBody>
      </p:sp>
      <p:sp>
        <p:nvSpPr>
          <p:cNvPr id="9" name="Text 7"/>
          <p:cNvSpPr/>
          <p:nvPr/>
        </p:nvSpPr>
        <p:spPr>
          <a:xfrm>
            <a:off x="6583680" y="1984248"/>
            <a:ext cx="5029200" cy="3511296"/>
          </a:xfrm>
          <a:prstGeom prst="rect">
            <a:avLst/>
          </a:prstGeom>
          <a:noFill/>
          <a:ln/>
        </p:spPr>
        <p:txBody>
          <a:bodyPr wrap="square" rtlCol="0" anchor="t"/>
          <a:lstStyle/>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Reason through the staffing math in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&lt;thinking&gt;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tags, then give the</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final coverage plan in </a:t>
            </a:r>
            <a:endParaRPr lang="en-US" sz="1100" dirty="0"/>
          </a:p>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&lt;answer&gt;</a:t>
            </a:r>
            <a:pPr algn="l" indent="0" marL="0">
              <a:lnSpc>
                <a:spcPts val="1500"/>
              </a:lnSpc>
              <a:buNone/>
            </a:pP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tags.</a:t>
            </a:r>
            <a:endParaRPr lang="en-US" sz="1100" dirty="0"/>
          </a:p>
        </p:txBody>
      </p:sp>
      <p:sp>
        <p:nvSpPr>
          <p:cNvPr id="10" name="Text 8"/>
          <p:cNvSpPr/>
          <p:nvPr/>
        </p:nvSpPr>
        <p:spPr>
          <a:xfrm>
            <a:off x="566928" y="5760720"/>
            <a:ext cx="11055096" cy="365760"/>
          </a:xfrm>
          <a:prstGeom prst="rect">
            <a:avLst/>
          </a:prstGeom>
          <a:noFill/>
          <a:ln/>
        </p:spPr>
        <p:txBody>
          <a:bodyPr wrap="square" rtlCol="0" anchor="ctr"/>
          <a:lstStyle/>
          <a:p>
            <a:pPr indent="0" marL="0">
              <a:buNone/>
            </a:pPr>
            <a:r>
              <a:rPr lang="en-US" sz="1050" i="1" dirty="0">
                <a:solidFill>
                  <a:srgbClr val="5E6A78"/>
                </a:solidFill>
                <a:latin typeface="Arial" pitchFamily="34" charset="0"/>
                <a:ea typeface="Arial" pitchFamily="34" charset="-122"/>
                <a:cs typeface="Arial" pitchFamily="34" charset="-120"/>
              </a:rPr>
              <a:t>Tip: if thinking is off, 'reason through / evaluate' works better than the literal word 'think' on some current models.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7E0A27"/>
        </a:solidFill>
      </p:bgPr>
    </p:bg>
    <p:spTree>
      <p:nvGrpSpPr>
        <p:cNvPr id="1" name=""/>
        <p:cNvGrpSpPr/>
        <p:nvPr/>
      </p:nvGrpSpPr>
      <p:grpSpPr>
        <a:xfrm>
          <a:off x="0" y="0"/>
          <a:ext cx="0" cy="0"/>
          <a:chOff x="0" y="0"/>
          <a:chExt cx="0" cy="0"/>
        </a:xfrm>
      </p:grpSpPr>
      <p:sp>
        <p:nvSpPr>
          <p:cNvPr id="2" name="Shape 0"/>
          <p:cNvSpPr/>
          <p:nvPr/>
        </p:nvSpPr>
        <p:spPr>
          <a:xfrm>
            <a:off x="9692640" y="-1645920"/>
            <a:ext cx="4937760" cy="4937760"/>
          </a:xfrm>
          <a:prstGeom prst="ellipse">
            <a:avLst/>
          </a:prstGeom>
          <a:solidFill>
            <a:srgbClr val="A60E34"/>
          </a:solidFill>
          <a:ln/>
        </p:spPr>
      </p:sp>
      <p:sp>
        <p:nvSpPr>
          <p:cNvPr id="3" name="Text 1"/>
          <p:cNvSpPr/>
          <p:nvPr/>
        </p:nvSpPr>
        <p:spPr>
          <a:xfrm>
            <a:off x="566928" y="914400"/>
            <a:ext cx="10058400" cy="365760"/>
          </a:xfrm>
          <a:prstGeom prst="rect">
            <a:avLst/>
          </a:prstGeom>
          <a:noFill/>
          <a:ln/>
        </p:spPr>
        <p:txBody>
          <a:bodyPr wrap="square" rtlCol="0" anchor="ctr"/>
          <a:lstStyle/>
          <a:p>
            <a:pPr indent="0" marL="0">
              <a:buNone/>
            </a:pPr>
            <a:r>
              <a:rPr lang="en-US" sz="1400" b="1" spc="300" kern="0" dirty="0">
                <a:solidFill>
                  <a:srgbClr val="F7B9C6"/>
                </a:solidFill>
                <a:latin typeface="Arial" pitchFamily="34" charset="0"/>
                <a:ea typeface="Arial" pitchFamily="34" charset="-122"/>
                <a:cs typeface="Arial" pitchFamily="34" charset="-120"/>
              </a:rPr>
              <a:t>SECTION 1</a:t>
            </a:r>
            <a:endParaRPr lang="en-US" sz="1400" dirty="0"/>
          </a:p>
        </p:txBody>
      </p:sp>
      <p:sp>
        <p:nvSpPr>
          <p:cNvPr id="4" name="Text 2"/>
          <p:cNvSpPr/>
          <p:nvPr/>
        </p:nvSpPr>
        <p:spPr>
          <a:xfrm>
            <a:off x="566928" y="1325880"/>
            <a:ext cx="10515600" cy="7315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Reasoning Toolkit</a:t>
            </a:r>
            <a:endParaRPr lang="en-US" sz="3200" dirty="0"/>
          </a:p>
        </p:txBody>
      </p:sp>
      <p:sp>
        <p:nvSpPr>
          <p:cNvPr id="5" name="Text 3"/>
          <p:cNvSpPr/>
          <p:nvPr/>
        </p:nvSpPr>
        <p:spPr>
          <a:xfrm>
            <a:off x="566928" y="2103120"/>
            <a:ext cx="10241280" cy="457200"/>
          </a:xfrm>
          <a:prstGeom prst="rect">
            <a:avLst/>
          </a:prstGeom>
          <a:noFill/>
          <a:ln/>
        </p:spPr>
        <p:txBody>
          <a:bodyPr wrap="square" rtlCol="0" anchor="ctr"/>
          <a:lstStyle/>
          <a:p>
            <a:pPr indent="0" marL="0">
              <a:lnSpc>
                <a:spcPts val="2000"/>
              </a:lnSpc>
              <a:buNone/>
            </a:pPr>
            <a:r>
              <a:rPr lang="en-US" sz="1400" dirty="0">
                <a:solidFill>
                  <a:srgbClr val="F2D9DF"/>
                </a:solidFill>
                <a:latin typeface="Arial" pitchFamily="34" charset="0"/>
                <a:ea typeface="Arial" pitchFamily="34" charset="-122"/>
                <a:cs typeface="Arial" pitchFamily="34" charset="-120"/>
              </a:rPr>
              <a:t>When you DO want to steer how Claude reasons — these are the moves.</a:t>
            </a:r>
            <a:endParaRPr lang="en-US" sz="1400" dirty="0"/>
          </a:p>
        </p:txBody>
      </p:sp>
      <p:sp>
        <p:nvSpPr>
          <p:cNvPr id="6" name="Text 4"/>
          <p:cNvSpPr/>
          <p:nvPr/>
        </p:nvSpPr>
        <p:spPr>
          <a:xfrm>
            <a:off x="566928" y="2880360"/>
            <a:ext cx="10058400" cy="274320"/>
          </a:xfrm>
          <a:prstGeom prst="rect">
            <a:avLst/>
          </a:prstGeom>
          <a:noFill/>
          <a:ln/>
        </p:spPr>
        <p:txBody>
          <a:bodyPr wrap="square" rtlCol="0" anchor="ctr"/>
          <a:lstStyle/>
          <a:p>
            <a:pPr indent="0" marL="0">
              <a:buNone/>
            </a:pPr>
            <a:r>
              <a:rPr lang="en-US" sz="1050" b="1" spc="200" kern="0" dirty="0">
                <a:solidFill>
                  <a:srgbClr val="F7B9C6"/>
                </a:solidFill>
                <a:latin typeface="Arial" pitchFamily="34" charset="0"/>
                <a:ea typeface="Arial" pitchFamily="34" charset="-122"/>
                <a:cs typeface="Arial" pitchFamily="34" charset="-120"/>
              </a:rPr>
              <a:t>PATTERNS IN THIS SECTION</a:t>
            </a:r>
            <a:endParaRPr lang="en-US" sz="1050" dirty="0"/>
          </a:p>
        </p:txBody>
      </p:sp>
      <p:sp>
        <p:nvSpPr>
          <p:cNvPr id="7" name="Shape 5"/>
          <p:cNvSpPr/>
          <p:nvPr/>
        </p:nvSpPr>
        <p:spPr>
          <a:xfrm>
            <a:off x="566928"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749808" y="3392424"/>
            <a:ext cx="2192274" cy="411480"/>
          </a:xfrm>
          <a:prstGeom prst="rect">
            <a:avLst/>
          </a:prstGeom>
          <a:noFill/>
          <a:ln/>
        </p:spPr>
        <p:txBody>
          <a:bodyPr wrap="square" rtlCol="0" anchor="t"/>
          <a:lstStyle/>
          <a:p>
            <a:pPr indent="0" marL="0">
              <a:buNone/>
            </a:pPr>
            <a:r>
              <a:rPr lang="en-US" sz="1250" b="1" dirty="0">
                <a:solidFill>
                  <a:srgbClr val="D31242"/>
                </a:solidFill>
                <a:latin typeface="Arial" pitchFamily="34" charset="0"/>
                <a:ea typeface="Arial" pitchFamily="34" charset="-122"/>
                <a:cs typeface="Arial" pitchFamily="34" charset="-120"/>
              </a:rPr>
              <a:t>Decompose</a:t>
            </a:r>
            <a:endParaRPr lang="en-US" sz="1250" dirty="0"/>
          </a:p>
        </p:txBody>
      </p:sp>
      <p:sp>
        <p:nvSpPr>
          <p:cNvPr id="9" name="Text 7"/>
          <p:cNvSpPr/>
          <p:nvPr/>
        </p:nvSpPr>
        <p:spPr>
          <a:xfrm>
            <a:off x="749808"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Break into ordered steps</a:t>
            </a:r>
            <a:endParaRPr lang="en-US" sz="1050" dirty="0"/>
          </a:p>
        </p:txBody>
      </p:sp>
      <p:sp>
        <p:nvSpPr>
          <p:cNvPr id="10" name="Shape 8"/>
          <p:cNvSpPr/>
          <p:nvPr/>
        </p:nvSpPr>
        <p:spPr>
          <a:xfrm>
            <a:off x="3399282"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Text 9"/>
          <p:cNvSpPr/>
          <p:nvPr/>
        </p:nvSpPr>
        <p:spPr>
          <a:xfrm>
            <a:off x="3582162" y="3392424"/>
            <a:ext cx="2192274" cy="411480"/>
          </a:xfrm>
          <a:prstGeom prst="rect">
            <a:avLst/>
          </a:prstGeom>
          <a:noFill/>
          <a:ln/>
        </p:spPr>
        <p:txBody>
          <a:bodyPr wrap="square" rtlCol="0" anchor="t"/>
          <a:lstStyle/>
          <a:p>
            <a:pPr indent="0" marL="0">
              <a:buNone/>
            </a:pPr>
            <a:r>
              <a:rPr lang="en-US" sz="1250" b="1" dirty="0">
                <a:solidFill>
                  <a:srgbClr val="D31242"/>
                </a:solidFill>
                <a:latin typeface="Arial" pitchFamily="34" charset="0"/>
                <a:ea typeface="Arial" pitchFamily="34" charset="-122"/>
                <a:cs typeface="Arial" pitchFamily="34" charset="-120"/>
              </a:rPr>
              <a:t>Plan-and-solve</a:t>
            </a:r>
            <a:endParaRPr lang="en-US" sz="1250" dirty="0"/>
          </a:p>
        </p:txBody>
      </p:sp>
      <p:sp>
        <p:nvSpPr>
          <p:cNvPr id="12" name="Text 10"/>
          <p:cNvSpPr/>
          <p:nvPr/>
        </p:nvSpPr>
        <p:spPr>
          <a:xfrm>
            <a:off x="3582162"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Plan first, then execute</a:t>
            </a:r>
            <a:endParaRPr lang="en-US" sz="1050" dirty="0"/>
          </a:p>
        </p:txBody>
      </p:sp>
      <p:sp>
        <p:nvSpPr>
          <p:cNvPr id="13" name="Shape 11"/>
          <p:cNvSpPr/>
          <p:nvPr/>
        </p:nvSpPr>
        <p:spPr>
          <a:xfrm>
            <a:off x="6231636"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4" name="Text 12"/>
          <p:cNvSpPr/>
          <p:nvPr/>
        </p:nvSpPr>
        <p:spPr>
          <a:xfrm>
            <a:off x="6414516" y="3392424"/>
            <a:ext cx="2192274" cy="411480"/>
          </a:xfrm>
          <a:prstGeom prst="rect">
            <a:avLst/>
          </a:prstGeom>
          <a:noFill/>
          <a:ln/>
        </p:spPr>
        <p:txBody>
          <a:bodyPr wrap="square" rtlCol="0" anchor="t"/>
          <a:lstStyle/>
          <a:p>
            <a:pPr indent="0" marL="0">
              <a:buNone/>
            </a:pPr>
            <a:r>
              <a:rPr lang="en-US" sz="1250" b="1" dirty="0">
                <a:solidFill>
                  <a:srgbClr val="D31242"/>
                </a:solidFill>
                <a:latin typeface="Arial" pitchFamily="34" charset="0"/>
                <a:ea typeface="Arial" pitchFamily="34" charset="-122"/>
                <a:cs typeface="Arial" pitchFamily="34" charset="-120"/>
              </a:rPr>
              <a:t>Step-back</a:t>
            </a:r>
            <a:endParaRPr lang="en-US" sz="1250" dirty="0"/>
          </a:p>
        </p:txBody>
      </p:sp>
      <p:sp>
        <p:nvSpPr>
          <p:cNvPr id="15" name="Text 13"/>
          <p:cNvSpPr/>
          <p:nvPr/>
        </p:nvSpPr>
        <p:spPr>
          <a:xfrm>
            <a:off x="6414516"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Find the principle first</a:t>
            </a:r>
            <a:endParaRPr lang="en-US" sz="1050" dirty="0"/>
          </a:p>
        </p:txBody>
      </p:sp>
      <p:sp>
        <p:nvSpPr>
          <p:cNvPr id="16" name="Shape 14"/>
          <p:cNvSpPr/>
          <p:nvPr/>
        </p:nvSpPr>
        <p:spPr>
          <a:xfrm>
            <a:off x="9063990"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Text 15"/>
          <p:cNvSpPr/>
          <p:nvPr/>
        </p:nvSpPr>
        <p:spPr>
          <a:xfrm>
            <a:off x="9246870" y="3392424"/>
            <a:ext cx="2192274" cy="411480"/>
          </a:xfrm>
          <a:prstGeom prst="rect">
            <a:avLst/>
          </a:prstGeom>
          <a:noFill/>
          <a:ln/>
        </p:spPr>
        <p:txBody>
          <a:bodyPr wrap="square" rtlCol="0" anchor="t"/>
          <a:lstStyle/>
          <a:p>
            <a:pPr indent="0" marL="0">
              <a:buNone/>
            </a:pPr>
            <a:r>
              <a:rPr lang="en-US" sz="1250" b="1" dirty="0">
                <a:solidFill>
                  <a:srgbClr val="D31242"/>
                </a:solidFill>
                <a:latin typeface="Arial" pitchFamily="34" charset="0"/>
                <a:ea typeface="Arial" pitchFamily="34" charset="-122"/>
                <a:cs typeface="Arial" pitchFamily="34" charset="-120"/>
              </a:rPr>
              <a:t>Think in code</a:t>
            </a:r>
            <a:endParaRPr lang="en-US" sz="1250" dirty="0"/>
          </a:p>
        </p:txBody>
      </p:sp>
      <p:sp>
        <p:nvSpPr>
          <p:cNvPr id="18" name="Text 16"/>
          <p:cNvSpPr/>
          <p:nvPr/>
        </p:nvSpPr>
        <p:spPr>
          <a:xfrm>
            <a:off x="9246870"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Exact math via code</a:t>
            </a:r>
            <a:endParaRPr lang="en-US" sz="1050" dirty="0"/>
          </a:p>
        </p:txBody>
      </p:sp>
      <p:sp>
        <p:nvSpPr>
          <p:cNvPr id="19" name="Text 17"/>
          <p:cNvSpPr/>
          <p:nvPr/>
        </p:nvSpPr>
        <p:spPr>
          <a:xfrm>
            <a:off x="566928" y="6583680"/>
            <a:ext cx="10515600" cy="219456"/>
          </a:xfrm>
          <a:prstGeom prst="rect">
            <a:avLst/>
          </a:prstGeom>
          <a:noFill/>
          <a:ln/>
        </p:spPr>
        <p:txBody>
          <a:bodyPr wrap="square" rtlCol="0" anchor="ctr"/>
          <a:lstStyle/>
          <a:p>
            <a:pPr indent="0" marL="0">
              <a:buNone/>
            </a:pPr>
            <a:r>
              <a:rPr lang="en-US" sz="800" i="1" dirty="0">
                <a:solidFill>
                  <a:srgbClr val="C98A98"/>
                </a:solidFill>
                <a:latin typeface="Arial" pitchFamily="34" charset="0"/>
                <a:ea typeface="Arial" pitchFamily="34" charset="-122"/>
                <a:cs typeface="Arial" pitchFamily="34" charset="-120"/>
              </a:rPr>
              <a:t>Illustrative training material — not an official BJ's Wholesale Club publication. Verify model/feature details before each session.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TOOLKIT · PATTERN</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Decompose — break it into ordered steps</a:t>
            </a:r>
            <a:endParaRPr lang="en-US" sz="2700" dirty="0"/>
          </a:p>
        </p:txBody>
      </p:sp>
      <p:sp>
        <p:nvSpPr>
          <p:cNvPr id="4" name="Shape 2"/>
          <p:cNvSpPr/>
          <p:nvPr/>
        </p:nvSpPr>
        <p:spPr>
          <a:xfrm>
            <a:off x="566928" y="1600200"/>
            <a:ext cx="5486400" cy="4023360"/>
          </a:xfrm>
          <a:prstGeom prst="roundRect">
            <a:avLst>
              <a:gd name="adj" fmla="val 2045"/>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4937760" cy="411480"/>
          </a:xfrm>
          <a:prstGeom prst="rect">
            <a:avLst/>
          </a:prstGeom>
          <a:noFill/>
          <a:ln/>
        </p:spPr>
        <p:txBody>
          <a:bodyPr wrap="square" rtlCol="0" anchor="ctr"/>
          <a:lstStyle/>
          <a:p>
            <a:pPr indent="0" marL="0">
              <a:buNone/>
            </a:pPr>
            <a:r>
              <a:rPr lang="en-US" sz="1550" b="1" dirty="0">
                <a:solidFill>
                  <a:srgbClr val="1F2733"/>
                </a:solidFill>
                <a:latin typeface="Arial" pitchFamily="34" charset="0"/>
                <a:ea typeface="Arial" pitchFamily="34" charset="-122"/>
                <a:cs typeface="Arial" pitchFamily="34" charset="-120"/>
              </a:rPr>
              <a:t>Least-to-most</a:t>
            </a:r>
            <a:endParaRPr lang="en-US" sz="1550" dirty="0"/>
          </a:p>
        </p:txBody>
      </p:sp>
      <p:sp>
        <p:nvSpPr>
          <p:cNvPr id="6" name="Text 4"/>
          <p:cNvSpPr/>
          <p:nvPr/>
        </p:nvSpPr>
        <p:spPr>
          <a:xfrm>
            <a:off x="841248" y="2286000"/>
            <a:ext cx="4983480" cy="3108960"/>
          </a:xfrm>
          <a:prstGeom prst="rect">
            <a:avLst/>
          </a:prstGeom>
          <a:noFill/>
          <a:ln/>
        </p:spPr>
        <p:txBody>
          <a:bodyPr wrap="square" rtlCol="0" anchor="t"/>
          <a:lstStyle/>
          <a:p>
            <a:pPr indent="0" marL="0">
              <a:lnSpc>
                <a:spcPts val="2000"/>
              </a:lnSpc>
              <a:buNone/>
            </a:pPr>
            <a:r>
              <a:rPr lang="en-US" sz="1350" dirty="0">
                <a:solidFill>
                  <a:srgbClr val="3A4452"/>
                </a:solidFill>
                <a:latin typeface="Arial" pitchFamily="34" charset="0"/>
                <a:ea typeface="Arial" pitchFamily="34" charset="-122"/>
                <a:cs typeface="Arial" pitchFamily="34" charset="-120"/>
              </a:rPr>
              <a:t>Split a hard problem into ordered subproblems and solve them in sequence, each building on the last.</a:t>
            </a:r>
            <a:endParaRPr lang="en-US" sz="1350" dirty="0"/>
          </a:p>
          <a:p>
            <a:pPr indent="0" marL="0">
              <a:lnSpc>
                <a:spcPts val="2000"/>
              </a:lnSpc>
              <a:buNone/>
            </a:pPr>
            <a:endParaRPr lang="en-US" sz="1350" dirty="0"/>
          </a:p>
          <a:p>
            <a:pPr indent="0" marL="0">
              <a:lnSpc>
                <a:spcPts val="2000"/>
              </a:lnSpc>
              <a:buNone/>
            </a:pPr>
            <a:r>
              <a:rPr lang="en-US" sz="1350" b="1" dirty="0">
                <a:solidFill>
                  <a:srgbClr val="D31242"/>
                </a:solidFill>
                <a:latin typeface="Arial" pitchFamily="34" charset="0"/>
                <a:ea typeface="Arial" pitchFamily="34" charset="-122"/>
                <a:cs typeface="Arial" pitchFamily="34" charset="-120"/>
              </a:rPr>
              <a:t>Use for: </a:t>
            </a:r>
            <a:pPr indent="0" marL="0">
              <a:lnSpc>
                <a:spcPts val="2000"/>
              </a:lnSpc>
              <a:buNone/>
            </a:pPr>
            <a:r>
              <a:rPr lang="en-US" sz="1350" dirty="0">
                <a:solidFill>
                  <a:srgbClr val="3A4452"/>
                </a:solidFill>
                <a:latin typeface="Arial" pitchFamily="34" charset="0"/>
                <a:ea typeface="Arial" pitchFamily="34" charset="-122"/>
                <a:cs typeface="Arial" pitchFamily="34" charset="-120"/>
              </a:rPr>
              <a:t>multi-part tasks where one instruction would skip steps.</a:t>
            </a:r>
            <a:endParaRPr lang="en-US" sz="1350" dirty="0"/>
          </a:p>
        </p:txBody>
      </p:sp>
      <p:sp>
        <p:nvSpPr>
          <p:cNvPr id="7" name="Shape 5"/>
          <p:cNvSpPr/>
          <p:nvPr/>
        </p:nvSpPr>
        <p:spPr>
          <a:xfrm>
            <a:off x="6355080" y="1600200"/>
            <a:ext cx="5486400" cy="4023360"/>
          </a:xfrm>
          <a:prstGeom prst="roundRect">
            <a:avLst>
              <a:gd name="adj" fmla="val 2045"/>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556248" y="1709928"/>
            <a:ext cx="512064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BJ'S EXAMPLE</a:t>
            </a:r>
            <a:endParaRPr lang="en-US" sz="900" dirty="0"/>
          </a:p>
        </p:txBody>
      </p:sp>
      <p:sp>
        <p:nvSpPr>
          <p:cNvPr id="9" name="Text 7"/>
          <p:cNvSpPr/>
          <p:nvPr/>
        </p:nvSpPr>
        <p:spPr>
          <a:xfrm>
            <a:off x="6583680" y="1984248"/>
            <a:ext cx="5029200" cy="3511296"/>
          </a:xfrm>
          <a:prstGeom prst="rect">
            <a:avLst/>
          </a:prstGeom>
          <a:noFill/>
          <a:ln/>
        </p:spPr>
        <p:txBody>
          <a:bodyPr wrap="square" rtlCol="0" anchor="t"/>
          <a:lstStyle/>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Solve this in order:</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1. Who is eligible for the shift?</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2. How many coverage hours are</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needed per zone?</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3. Then draft the schedule that</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fills the gaps.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TOOLKIT · PATTERNS</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Plan-and-solve + Step-back</a:t>
            </a:r>
            <a:endParaRPr lang="en-US" sz="2700" dirty="0"/>
          </a:p>
        </p:txBody>
      </p:sp>
      <p:sp>
        <p:nvSpPr>
          <p:cNvPr id="4" name="Shape 2"/>
          <p:cNvSpPr/>
          <p:nvPr/>
        </p:nvSpPr>
        <p:spPr>
          <a:xfrm>
            <a:off x="566928" y="1600200"/>
            <a:ext cx="5486400" cy="4023360"/>
          </a:xfrm>
          <a:prstGeom prst="roundRect">
            <a:avLst>
              <a:gd name="adj" fmla="val 2045"/>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4937760" cy="411480"/>
          </a:xfrm>
          <a:prstGeom prst="rect">
            <a:avLst/>
          </a:prstGeom>
          <a:noFill/>
          <a:ln/>
        </p:spPr>
        <p:txBody>
          <a:bodyPr wrap="square" rtlCol="0" anchor="ctr"/>
          <a:lstStyle/>
          <a:p>
            <a:pPr indent="0" marL="0">
              <a:buNone/>
            </a:pPr>
            <a:r>
              <a:rPr lang="en-US" sz="1550" b="1" dirty="0">
                <a:solidFill>
                  <a:srgbClr val="D31242"/>
                </a:solidFill>
                <a:latin typeface="Arial" pitchFamily="34" charset="0"/>
                <a:ea typeface="Arial" pitchFamily="34" charset="-122"/>
                <a:cs typeface="Arial" pitchFamily="34" charset="-120"/>
              </a:rPr>
              <a:t>Plan-and-solve</a:t>
            </a:r>
            <a:endParaRPr lang="en-US" sz="1550" dirty="0"/>
          </a:p>
        </p:txBody>
      </p:sp>
      <p:sp>
        <p:nvSpPr>
          <p:cNvPr id="6" name="Text 4"/>
          <p:cNvSpPr/>
          <p:nvPr/>
        </p:nvSpPr>
        <p:spPr>
          <a:xfrm>
            <a:off x="841248" y="2286000"/>
            <a:ext cx="4983480" cy="3108960"/>
          </a:xfrm>
          <a:prstGeom prst="rect">
            <a:avLst/>
          </a:prstGeom>
          <a:noFill/>
          <a:ln/>
        </p:spPr>
        <p:txBody>
          <a:bodyPr wrap="square" rtlCol="0" anchor="t"/>
          <a:lstStyle/>
          <a:p>
            <a:pPr indent="0" marL="0">
              <a:lnSpc>
                <a:spcPts val="1900"/>
              </a:lnSpc>
              <a:buNone/>
            </a:pPr>
            <a:r>
              <a:rPr lang="en-US" sz="1350" i="1" dirty="0">
                <a:solidFill>
                  <a:srgbClr val="1F2733"/>
                </a:solidFill>
                <a:latin typeface="Arial" pitchFamily="34" charset="0"/>
                <a:ea typeface="Arial" pitchFamily="34" charset="-122"/>
                <a:cs typeface="Arial" pitchFamily="34" charset="-120"/>
              </a:rPr>
              <a:t>"First make a plan, then carry it out step by step."</a:t>
            </a:r>
            <a:endParaRPr lang="en-US" sz="1350" dirty="0"/>
          </a:p>
          <a:p>
            <a:pPr indent="0" marL="0">
              <a:lnSpc>
                <a:spcPts val="1900"/>
              </a:lnSpc>
              <a:buNone/>
            </a:pPr>
            <a:endParaRPr lang="en-US" sz="1350" dirty="0"/>
          </a:p>
          <a:p>
            <a:pPr indent="0" marL="0">
              <a:lnSpc>
                <a:spcPts val="1900"/>
              </a:lnSpc>
              <a:buNone/>
            </a:pPr>
            <a:r>
              <a:rPr lang="en-US" sz="1350" b="1" dirty="0">
                <a:solidFill>
                  <a:srgbClr val="1F2733"/>
                </a:solidFill>
                <a:latin typeface="Arial" pitchFamily="34" charset="0"/>
                <a:ea typeface="Arial" pitchFamily="34" charset="-122"/>
                <a:cs typeface="Arial" pitchFamily="34" charset="-120"/>
              </a:rPr>
              <a:t>Use for: </a:t>
            </a:r>
            <a:pPr indent="0" marL="0">
              <a:lnSpc>
                <a:spcPts val="1900"/>
              </a:lnSpc>
              <a:buNone/>
            </a:pPr>
            <a:r>
              <a:rPr lang="en-US" sz="1350" dirty="0">
                <a:solidFill>
                  <a:srgbClr val="3A4452"/>
                </a:solidFill>
                <a:latin typeface="Arial" pitchFamily="34" charset="0"/>
                <a:ea typeface="Arial" pitchFamily="34" charset="-122"/>
                <a:cs typeface="Arial" pitchFamily="34" charset="-120"/>
              </a:rPr>
              <a:t>rollouts, comms plans, anything with phases.</a:t>
            </a:r>
            <a:endParaRPr lang="en-US" sz="1350" dirty="0"/>
          </a:p>
        </p:txBody>
      </p:sp>
      <p:sp>
        <p:nvSpPr>
          <p:cNvPr id="7" name="Shape 5"/>
          <p:cNvSpPr/>
          <p:nvPr/>
        </p:nvSpPr>
        <p:spPr>
          <a:xfrm>
            <a:off x="6355080" y="1600200"/>
            <a:ext cx="5486400" cy="4023360"/>
          </a:xfrm>
          <a:prstGeom prst="roundRect">
            <a:avLst>
              <a:gd name="adj" fmla="val 2045"/>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629400" y="1828800"/>
            <a:ext cx="4937760" cy="411480"/>
          </a:xfrm>
          <a:prstGeom prst="rect">
            <a:avLst/>
          </a:prstGeom>
          <a:noFill/>
          <a:ln/>
        </p:spPr>
        <p:txBody>
          <a:bodyPr wrap="square" rtlCol="0" anchor="ctr"/>
          <a:lstStyle/>
          <a:p>
            <a:pPr indent="0" marL="0">
              <a:buNone/>
            </a:pPr>
            <a:r>
              <a:rPr lang="en-US" sz="1550" b="1" dirty="0">
                <a:solidFill>
                  <a:srgbClr val="D31242"/>
                </a:solidFill>
                <a:latin typeface="Arial" pitchFamily="34" charset="0"/>
                <a:ea typeface="Arial" pitchFamily="34" charset="-122"/>
                <a:cs typeface="Arial" pitchFamily="34" charset="-120"/>
              </a:rPr>
              <a:t>Step-back</a:t>
            </a:r>
            <a:endParaRPr lang="en-US" sz="1550" dirty="0"/>
          </a:p>
        </p:txBody>
      </p:sp>
      <p:sp>
        <p:nvSpPr>
          <p:cNvPr id="9" name="Text 7"/>
          <p:cNvSpPr/>
          <p:nvPr/>
        </p:nvSpPr>
        <p:spPr>
          <a:xfrm>
            <a:off x="6629400" y="2286000"/>
            <a:ext cx="4983480" cy="3108960"/>
          </a:xfrm>
          <a:prstGeom prst="rect">
            <a:avLst/>
          </a:prstGeom>
          <a:noFill/>
          <a:ln/>
        </p:spPr>
        <p:txBody>
          <a:bodyPr wrap="square" rtlCol="0" anchor="t"/>
          <a:lstStyle/>
          <a:p>
            <a:pPr indent="0" marL="0">
              <a:lnSpc>
                <a:spcPts val="1900"/>
              </a:lnSpc>
              <a:buNone/>
            </a:pPr>
            <a:r>
              <a:rPr lang="en-US" sz="1350" i="1" dirty="0">
                <a:solidFill>
                  <a:srgbClr val="1F2733"/>
                </a:solidFill>
                <a:latin typeface="Arial" pitchFamily="34" charset="0"/>
                <a:ea typeface="Arial" pitchFamily="34" charset="-122"/>
                <a:cs typeface="Arial" pitchFamily="34" charset="-120"/>
              </a:rPr>
              <a:t>"What's the general principle here? Then apply it to my case."</a:t>
            </a:r>
            <a:endParaRPr lang="en-US" sz="1350" dirty="0"/>
          </a:p>
          <a:p>
            <a:pPr indent="0" marL="0">
              <a:lnSpc>
                <a:spcPts val="1900"/>
              </a:lnSpc>
              <a:buNone/>
            </a:pPr>
            <a:endParaRPr lang="en-US" sz="1350" dirty="0"/>
          </a:p>
          <a:p>
            <a:pPr indent="0" marL="0">
              <a:lnSpc>
                <a:spcPts val="1900"/>
              </a:lnSpc>
              <a:buNone/>
            </a:pPr>
            <a:r>
              <a:rPr lang="en-US" sz="1350" b="1" dirty="0">
                <a:solidFill>
                  <a:srgbClr val="1F2733"/>
                </a:solidFill>
                <a:latin typeface="Arial" pitchFamily="34" charset="0"/>
                <a:ea typeface="Arial" pitchFamily="34" charset="-122"/>
                <a:cs typeface="Arial" pitchFamily="34" charset="-120"/>
              </a:rPr>
              <a:t>Use for: </a:t>
            </a:r>
            <a:pPr indent="0" marL="0">
              <a:lnSpc>
                <a:spcPts val="1900"/>
              </a:lnSpc>
              <a:buNone/>
            </a:pPr>
            <a:r>
              <a:rPr lang="en-US" sz="1350" dirty="0">
                <a:solidFill>
                  <a:srgbClr val="3A4452"/>
                </a:solidFill>
                <a:latin typeface="Arial" pitchFamily="34" charset="0"/>
                <a:ea typeface="Arial" pitchFamily="34" charset="-122"/>
                <a:cs typeface="Arial" pitchFamily="34" charset="-120"/>
              </a:rPr>
              <a:t>policy edge cases — get the rule's intent, then the answer.</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TOOLKIT · MORE PATTERNS</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Five more, one line each</a:t>
            </a:r>
            <a:endParaRPr lang="en-US" sz="2700" dirty="0"/>
          </a:p>
        </p:txBody>
      </p:sp>
      <p:sp>
        <p:nvSpPr>
          <p:cNvPr id="4" name="Shape 2"/>
          <p:cNvSpPr/>
          <p:nvPr/>
        </p:nvSpPr>
        <p:spPr>
          <a:xfrm>
            <a:off x="566928" y="1554480"/>
            <a:ext cx="3471672" cy="1965960"/>
          </a:xfrm>
          <a:prstGeom prst="roundRect">
            <a:avLst>
              <a:gd name="adj" fmla="val 4186"/>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795528" y="1737360"/>
            <a:ext cx="3014472" cy="411480"/>
          </a:xfrm>
          <a:prstGeom prst="rect">
            <a:avLst/>
          </a:prstGeom>
          <a:noFill/>
          <a:ln/>
        </p:spPr>
        <p:txBody>
          <a:bodyPr wrap="square" rtlCol="0" anchor="ctr"/>
          <a:lstStyle/>
          <a:p>
            <a:pPr indent="0" marL="0">
              <a:buNone/>
            </a:pPr>
            <a:r>
              <a:rPr lang="en-US" sz="1400" b="1" dirty="0">
                <a:solidFill>
                  <a:srgbClr val="D31242"/>
                </a:solidFill>
                <a:latin typeface="Arial" pitchFamily="34" charset="0"/>
                <a:ea typeface="Arial" pitchFamily="34" charset="-122"/>
                <a:cs typeface="Arial" pitchFamily="34" charset="-120"/>
              </a:rPr>
              <a:t>Self-ask</a:t>
            </a:r>
            <a:endParaRPr lang="en-US" sz="1400" dirty="0"/>
          </a:p>
        </p:txBody>
      </p:sp>
      <p:sp>
        <p:nvSpPr>
          <p:cNvPr id="6" name="Text 4"/>
          <p:cNvSpPr/>
          <p:nvPr/>
        </p:nvSpPr>
        <p:spPr>
          <a:xfrm>
            <a:off x="795528" y="2212848"/>
            <a:ext cx="3014472" cy="1188720"/>
          </a:xfrm>
          <a:prstGeom prst="rect">
            <a:avLst/>
          </a:prstGeom>
          <a:noFill/>
          <a:ln/>
        </p:spPr>
        <p:txBody>
          <a:bodyPr wrap="square" rtlCol="0" anchor="ctr"/>
          <a:lstStyle/>
          <a:p>
            <a:pPr indent="0" marL="0">
              <a:lnSpc>
                <a:spcPts val="1500"/>
              </a:lnSpc>
              <a:buNone/>
            </a:pPr>
            <a:r>
              <a:rPr lang="en-US" sz="1150" dirty="0">
                <a:solidFill>
                  <a:srgbClr val="3A4452"/>
                </a:solidFill>
                <a:latin typeface="Arial" pitchFamily="34" charset="0"/>
                <a:ea typeface="Arial" pitchFamily="34" charset="-122"/>
                <a:cs typeface="Arial" pitchFamily="34" charset="-120"/>
              </a:rPr>
              <a:t>"Ask &amp; answer your own sub-questions first, then answer mine." — multi-hop research.</a:t>
            </a:r>
            <a:endParaRPr lang="en-US" sz="1150" dirty="0"/>
          </a:p>
        </p:txBody>
      </p:sp>
      <p:sp>
        <p:nvSpPr>
          <p:cNvPr id="7" name="Shape 5"/>
          <p:cNvSpPr/>
          <p:nvPr/>
        </p:nvSpPr>
        <p:spPr>
          <a:xfrm>
            <a:off x="4358640" y="1554480"/>
            <a:ext cx="3471672" cy="1965960"/>
          </a:xfrm>
          <a:prstGeom prst="roundRect">
            <a:avLst>
              <a:gd name="adj" fmla="val 4186"/>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4587240" y="1737360"/>
            <a:ext cx="3014472" cy="411480"/>
          </a:xfrm>
          <a:prstGeom prst="rect">
            <a:avLst/>
          </a:prstGeom>
          <a:noFill/>
          <a:ln/>
        </p:spPr>
        <p:txBody>
          <a:bodyPr wrap="square" rtlCol="0" anchor="ctr"/>
          <a:lstStyle/>
          <a:p>
            <a:pPr indent="0" marL="0">
              <a:buNone/>
            </a:pPr>
            <a:r>
              <a:rPr lang="en-US" sz="1400" b="1" dirty="0">
                <a:solidFill>
                  <a:srgbClr val="D31242"/>
                </a:solidFill>
                <a:latin typeface="Arial" pitchFamily="34" charset="0"/>
                <a:ea typeface="Arial" pitchFamily="34" charset="-122"/>
                <a:cs typeface="Arial" pitchFamily="34" charset="-120"/>
              </a:rPr>
              <a:t>Generated knowledge</a:t>
            </a:r>
            <a:endParaRPr lang="en-US" sz="1400" dirty="0"/>
          </a:p>
        </p:txBody>
      </p:sp>
      <p:sp>
        <p:nvSpPr>
          <p:cNvPr id="9" name="Text 7"/>
          <p:cNvSpPr/>
          <p:nvPr/>
        </p:nvSpPr>
        <p:spPr>
          <a:xfrm>
            <a:off x="4587240" y="2212848"/>
            <a:ext cx="3014472" cy="1188720"/>
          </a:xfrm>
          <a:prstGeom prst="rect">
            <a:avLst/>
          </a:prstGeom>
          <a:noFill/>
          <a:ln/>
        </p:spPr>
        <p:txBody>
          <a:bodyPr wrap="square" rtlCol="0" anchor="ctr"/>
          <a:lstStyle/>
          <a:p>
            <a:pPr indent="0" marL="0">
              <a:lnSpc>
                <a:spcPts val="1500"/>
              </a:lnSpc>
              <a:buNone/>
            </a:pPr>
            <a:r>
              <a:rPr lang="en-US" sz="1150" dirty="0">
                <a:solidFill>
                  <a:srgbClr val="3A4452"/>
                </a:solidFill>
                <a:latin typeface="Arial" pitchFamily="34" charset="0"/>
                <a:ea typeface="Arial" pitchFamily="34" charset="-122"/>
                <a:cs typeface="Arial" pitchFamily="34" charset="-120"/>
              </a:rPr>
              <a:t>"List what you know about X, then use it to answer." — grounding.</a:t>
            </a:r>
            <a:endParaRPr lang="en-US" sz="1150" dirty="0"/>
          </a:p>
        </p:txBody>
      </p:sp>
      <p:sp>
        <p:nvSpPr>
          <p:cNvPr id="10" name="Shape 8"/>
          <p:cNvSpPr/>
          <p:nvPr/>
        </p:nvSpPr>
        <p:spPr>
          <a:xfrm>
            <a:off x="8150352" y="1554480"/>
            <a:ext cx="3471672" cy="1965960"/>
          </a:xfrm>
          <a:prstGeom prst="roundRect">
            <a:avLst>
              <a:gd name="adj" fmla="val 4186"/>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Text 9"/>
          <p:cNvSpPr/>
          <p:nvPr/>
        </p:nvSpPr>
        <p:spPr>
          <a:xfrm>
            <a:off x="8378952" y="1737360"/>
            <a:ext cx="3014472" cy="411480"/>
          </a:xfrm>
          <a:prstGeom prst="rect">
            <a:avLst/>
          </a:prstGeom>
          <a:noFill/>
          <a:ln/>
        </p:spPr>
        <p:txBody>
          <a:bodyPr wrap="square" rtlCol="0" anchor="ctr"/>
          <a:lstStyle/>
          <a:p>
            <a:pPr indent="0" marL="0">
              <a:buNone/>
            </a:pPr>
            <a:r>
              <a:rPr lang="en-US" sz="1400" b="1" dirty="0">
                <a:solidFill>
                  <a:srgbClr val="D31242"/>
                </a:solidFill>
                <a:latin typeface="Arial" pitchFamily="34" charset="0"/>
                <a:ea typeface="Arial" pitchFamily="34" charset="-122"/>
                <a:cs typeface="Arial" pitchFamily="34" charset="-120"/>
              </a:rPr>
              <a:t>Analogical</a:t>
            </a:r>
            <a:endParaRPr lang="en-US" sz="1400" dirty="0"/>
          </a:p>
        </p:txBody>
      </p:sp>
      <p:sp>
        <p:nvSpPr>
          <p:cNvPr id="12" name="Text 10"/>
          <p:cNvSpPr/>
          <p:nvPr/>
        </p:nvSpPr>
        <p:spPr>
          <a:xfrm>
            <a:off x="8378952" y="2212848"/>
            <a:ext cx="3014472" cy="1188720"/>
          </a:xfrm>
          <a:prstGeom prst="rect">
            <a:avLst/>
          </a:prstGeom>
          <a:noFill/>
          <a:ln/>
        </p:spPr>
        <p:txBody>
          <a:bodyPr wrap="square" rtlCol="0" anchor="ctr"/>
          <a:lstStyle/>
          <a:p>
            <a:pPr indent="0" marL="0">
              <a:lnSpc>
                <a:spcPts val="1500"/>
              </a:lnSpc>
              <a:buNone/>
            </a:pPr>
            <a:r>
              <a:rPr lang="en-US" sz="1150" dirty="0">
                <a:solidFill>
                  <a:srgbClr val="3A4452"/>
                </a:solidFill>
                <a:latin typeface="Arial" pitchFamily="34" charset="0"/>
                <a:ea typeface="Arial" pitchFamily="34" charset="-122"/>
                <a:cs typeface="Arial" pitchFamily="34" charset="-120"/>
              </a:rPr>
              <a:t>"Recall a similar case you've solved, then apply it here." — novel problems.</a:t>
            </a:r>
            <a:endParaRPr lang="en-US" sz="1150" dirty="0"/>
          </a:p>
        </p:txBody>
      </p:sp>
      <p:sp>
        <p:nvSpPr>
          <p:cNvPr id="13" name="Shape 11"/>
          <p:cNvSpPr/>
          <p:nvPr/>
        </p:nvSpPr>
        <p:spPr>
          <a:xfrm>
            <a:off x="566928" y="3794760"/>
            <a:ext cx="3471672" cy="1965960"/>
          </a:xfrm>
          <a:prstGeom prst="roundRect">
            <a:avLst>
              <a:gd name="adj" fmla="val 4186"/>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4" name="Text 12"/>
          <p:cNvSpPr/>
          <p:nvPr/>
        </p:nvSpPr>
        <p:spPr>
          <a:xfrm>
            <a:off x="795528" y="3977640"/>
            <a:ext cx="3014472" cy="411480"/>
          </a:xfrm>
          <a:prstGeom prst="rect">
            <a:avLst/>
          </a:prstGeom>
          <a:noFill/>
          <a:ln/>
        </p:spPr>
        <p:txBody>
          <a:bodyPr wrap="square" rtlCol="0" anchor="ctr"/>
          <a:lstStyle/>
          <a:p>
            <a:pPr indent="0" marL="0">
              <a:buNone/>
            </a:pPr>
            <a:r>
              <a:rPr lang="en-US" sz="1400" b="1" dirty="0">
                <a:solidFill>
                  <a:srgbClr val="D31242"/>
                </a:solidFill>
                <a:latin typeface="Arial" pitchFamily="34" charset="0"/>
                <a:ea typeface="Arial" pitchFamily="34" charset="-122"/>
                <a:cs typeface="Arial" pitchFamily="34" charset="-120"/>
              </a:rPr>
              <a:t>Skeleton (outline-first)</a:t>
            </a:r>
            <a:endParaRPr lang="en-US" sz="1400" dirty="0"/>
          </a:p>
        </p:txBody>
      </p:sp>
      <p:sp>
        <p:nvSpPr>
          <p:cNvPr id="15" name="Text 13"/>
          <p:cNvSpPr/>
          <p:nvPr/>
        </p:nvSpPr>
        <p:spPr>
          <a:xfrm>
            <a:off x="795528" y="4453128"/>
            <a:ext cx="3014472" cy="1188720"/>
          </a:xfrm>
          <a:prstGeom prst="rect">
            <a:avLst/>
          </a:prstGeom>
          <a:noFill/>
          <a:ln/>
        </p:spPr>
        <p:txBody>
          <a:bodyPr wrap="square" rtlCol="0" anchor="ctr"/>
          <a:lstStyle/>
          <a:p>
            <a:pPr indent="0" marL="0">
              <a:lnSpc>
                <a:spcPts val="1500"/>
              </a:lnSpc>
              <a:buNone/>
            </a:pPr>
            <a:r>
              <a:rPr lang="en-US" sz="1150" dirty="0">
                <a:solidFill>
                  <a:srgbClr val="3A4452"/>
                </a:solidFill>
                <a:latin typeface="Arial" pitchFamily="34" charset="0"/>
                <a:ea typeface="Arial" pitchFamily="34" charset="-122"/>
                <a:cs typeface="Arial" pitchFamily="34" charset="-120"/>
              </a:rPr>
              <a:t>"Outline the answer, then expand each point." — longer drafts.</a:t>
            </a:r>
            <a:endParaRPr lang="en-US" sz="1150" dirty="0"/>
          </a:p>
        </p:txBody>
      </p:sp>
      <p:sp>
        <p:nvSpPr>
          <p:cNvPr id="16" name="Shape 14"/>
          <p:cNvSpPr/>
          <p:nvPr/>
        </p:nvSpPr>
        <p:spPr>
          <a:xfrm>
            <a:off x="4358640" y="3794760"/>
            <a:ext cx="3471672" cy="1965960"/>
          </a:xfrm>
          <a:prstGeom prst="roundRect">
            <a:avLst>
              <a:gd name="adj" fmla="val 4186"/>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Text 15"/>
          <p:cNvSpPr/>
          <p:nvPr/>
        </p:nvSpPr>
        <p:spPr>
          <a:xfrm>
            <a:off x="4587240" y="3977640"/>
            <a:ext cx="3014472" cy="411480"/>
          </a:xfrm>
          <a:prstGeom prst="rect">
            <a:avLst/>
          </a:prstGeom>
          <a:noFill/>
          <a:ln/>
        </p:spPr>
        <p:txBody>
          <a:bodyPr wrap="square" rtlCol="0" anchor="ctr"/>
          <a:lstStyle/>
          <a:p>
            <a:pPr indent="0" marL="0">
              <a:buNone/>
            </a:pPr>
            <a:r>
              <a:rPr lang="en-US" sz="1400" b="1" dirty="0">
                <a:solidFill>
                  <a:srgbClr val="D31242"/>
                </a:solidFill>
                <a:latin typeface="Arial" pitchFamily="34" charset="0"/>
                <a:ea typeface="Arial" pitchFamily="34" charset="-122"/>
                <a:cs typeface="Arial" pitchFamily="34" charset="-120"/>
              </a:rPr>
              <a:t>Rephrase-and-respond</a:t>
            </a:r>
            <a:endParaRPr lang="en-US" sz="1400" dirty="0"/>
          </a:p>
        </p:txBody>
      </p:sp>
      <p:sp>
        <p:nvSpPr>
          <p:cNvPr id="18" name="Text 16"/>
          <p:cNvSpPr/>
          <p:nvPr/>
        </p:nvSpPr>
        <p:spPr>
          <a:xfrm>
            <a:off x="4587240" y="4453128"/>
            <a:ext cx="3014472" cy="1188720"/>
          </a:xfrm>
          <a:prstGeom prst="rect">
            <a:avLst/>
          </a:prstGeom>
          <a:noFill/>
          <a:ln/>
        </p:spPr>
        <p:txBody>
          <a:bodyPr wrap="square" rtlCol="0" anchor="ctr"/>
          <a:lstStyle/>
          <a:p>
            <a:pPr indent="0" marL="0">
              <a:lnSpc>
                <a:spcPts val="1500"/>
              </a:lnSpc>
              <a:buNone/>
            </a:pPr>
            <a:r>
              <a:rPr lang="en-US" sz="1150" dirty="0">
                <a:solidFill>
                  <a:srgbClr val="3A4452"/>
                </a:solidFill>
                <a:latin typeface="Arial" pitchFamily="34" charset="0"/>
                <a:ea typeface="Arial" pitchFamily="34" charset="-122"/>
                <a:cs typeface="Arial" pitchFamily="34" charset="-120"/>
              </a:rPr>
              <a:t>"Restate my question in your words, then answer." — ambiguous asks.</a:t>
            </a:r>
            <a:endParaRPr lang="en-US" sz="1150" dirty="0"/>
          </a:p>
        </p:txBody>
      </p:sp>
      <p:sp>
        <p:nvSpPr>
          <p:cNvPr id="19" name="Shape 17"/>
          <p:cNvSpPr/>
          <p:nvPr/>
        </p:nvSpPr>
        <p:spPr>
          <a:xfrm>
            <a:off x="8150352" y="3794760"/>
            <a:ext cx="3471672" cy="1965960"/>
          </a:xfrm>
          <a:prstGeom prst="roundRect">
            <a:avLst>
              <a:gd name="adj" fmla="val 4186"/>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0" name="Text 18"/>
          <p:cNvSpPr/>
          <p:nvPr/>
        </p:nvSpPr>
        <p:spPr>
          <a:xfrm>
            <a:off x="8378952" y="3977640"/>
            <a:ext cx="3014472" cy="411480"/>
          </a:xfrm>
          <a:prstGeom prst="rect">
            <a:avLst/>
          </a:prstGeom>
          <a:noFill/>
          <a:ln/>
        </p:spPr>
        <p:txBody>
          <a:bodyPr wrap="square" rtlCol="0" anchor="ctr"/>
          <a:lstStyle/>
          <a:p>
            <a:pPr indent="0" marL="0">
              <a:buNone/>
            </a:pPr>
            <a:r>
              <a:rPr lang="en-US" sz="1400" b="1" dirty="0">
                <a:solidFill>
                  <a:srgbClr val="D31242"/>
                </a:solidFill>
                <a:latin typeface="Arial" pitchFamily="34" charset="0"/>
                <a:ea typeface="Arial" pitchFamily="34" charset="-122"/>
                <a:cs typeface="Arial" pitchFamily="34" charset="-120"/>
              </a:rPr>
              <a:t>Self-consistency</a:t>
            </a:r>
            <a:endParaRPr lang="en-US" sz="1400" dirty="0"/>
          </a:p>
        </p:txBody>
      </p:sp>
      <p:sp>
        <p:nvSpPr>
          <p:cNvPr id="21" name="Text 19"/>
          <p:cNvSpPr/>
          <p:nvPr/>
        </p:nvSpPr>
        <p:spPr>
          <a:xfrm>
            <a:off x="8378952" y="4453128"/>
            <a:ext cx="3014472" cy="1188720"/>
          </a:xfrm>
          <a:prstGeom prst="rect">
            <a:avLst/>
          </a:prstGeom>
          <a:noFill/>
          <a:ln/>
        </p:spPr>
        <p:txBody>
          <a:bodyPr wrap="square" rtlCol="0" anchor="ctr"/>
          <a:lstStyle/>
          <a:p>
            <a:pPr indent="0" marL="0">
              <a:lnSpc>
                <a:spcPts val="1500"/>
              </a:lnSpc>
              <a:buNone/>
            </a:pPr>
            <a:r>
              <a:rPr lang="en-US" sz="1150" dirty="0">
                <a:solidFill>
                  <a:srgbClr val="3A4452"/>
                </a:solidFill>
                <a:latin typeface="Arial" pitchFamily="34" charset="0"/>
                <a:ea typeface="Arial" pitchFamily="34" charset="-122"/>
                <a:cs typeface="Arial" pitchFamily="34" charset="-120"/>
              </a:rPr>
              <a:t>Ask a few ways / a few times, then compare and take the consensus — costs more.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TOOLKIT · HIGH-VALUE FOR DATA</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Think in code (program-aided)</a:t>
            </a:r>
            <a:endParaRPr lang="en-US" sz="2700" dirty="0"/>
          </a:p>
        </p:txBody>
      </p:sp>
      <p:sp>
        <p:nvSpPr>
          <p:cNvPr id="4" name="Shape 2"/>
          <p:cNvSpPr/>
          <p:nvPr/>
        </p:nvSpPr>
        <p:spPr>
          <a:xfrm>
            <a:off x="566928" y="1600200"/>
            <a:ext cx="5486400" cy="4023360"/>
          </a:xfrm>
          <a:prstGeom prst="roundRect">
            <a:avLst>
              <a:gd name="adj" fmla="val 2045"/>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4937760" cy="411480"/>
          </a:xfrm>
          <a:prstGeom prst="rect">
            <a:avLst/>
          </a:prstGeom>
          <a:noFill/>
          <a:ln/>
        </p:spPr>
        <p:txBody>
          <a:bodyPr wrap="square" rtlCol="0" anchor="ctr"/>
          <a:lstStyle/>
          <a:p>
            <a:pPr indent="0" marL="0">
              <a:buNone/>
            </a:pPr>
            <a:r>
              <a:rPr lang="en-US" sz="1550" b="1" dirty="0">
                <a:solidFill>
                  <a:srgbClr val="1F2733"/>
                </a:solidFill>
                <a:latin typeface="Arial" pitchFamily="34" charset="0"/>
                <a:ea typeface="Arial" pitchFamily="34" charset="-122"/>
                <a:cs typeface="Arial" pitchFamily="34" charset="-120"/>
              </a:rPr>
              <a:t>Let code do the math</a:t>
            </a:r>
            <a:endParaRPr lang="en-US" sz="1550" dirty="0"/>
          </a:p>
        </p:txBody>
      </p:sp>
      <p:sp>
        <p:nvSpPr>
          <p:cNvPr id="6" name="Text 4"/>
          <p:cNvSpPr/>
          <p:nvPr/>
        </p:nvSpPr>
        <p:spPr>
          <a:xfrm>
            <a:off x="841248" y="2286000"/>
            <a:ext cx="4983480" cy="3108960"/>
          </a:xfrm>
          <a:prstGeom prst="rect">
            <a:avLst/>
          </a:prstGeom>
          <a:noFill/>
          <a:ln/>
        </p:spPr>
        <p:txBody>
          <a:bodyPr wrap="square" rtlCol="0" anchor="t"/>
          <a:lstStyle/>
          <a:p>
            <a:pPr indent="0" marL="0">
              <a:lnSpc>
                <a:spcPts val="2000"/>
              </a:lnSpc>
              <a:buNone/>
            </a:pPr>
            <a:r>
              <a:rPr lang="en-US" sz="1350" dirty="0">
                <a:solidFill>
                  <a:srgbClr val="3A4452"/>
                </a:solidFill>
                <a:latin typeface="Arial" pitchFamily="34" charset="0"/>
                <a:ea typeface="Arial" pitchFamily="34" charset="-122"/>
                <a:cs typeface="Arial" pitchFamily="34" charset="-120"/>
              </a:rPr>
              <a:t>For anything numeric, have Claude express the steps as code and compute the result — so the arithmetic is exact, not estimated.</a:t>
            </a:r>
            <a:endParaRPr lang="en-US" sz="1350" dirty="0"/>
          </a:p>
          <a:p>
            <a:pPr indent="0" marL="0">
              <a:lnSpc>
                <a:spcPts val="2000"/>
              </a:lnSpc>
              <a:buNone/>
            </a:pPr>
            <a:endParaRPr lang="en-US" sz="1350" dirty="0"/>
          </a:p>
          <a:p>
            <a:pPr indent="0" marL="0">
              <a:lnSpc>
                <a:spcPts val="2000"/>
              </a:lnSpc>
              <a:buNone/>
            </a:pPr>
            <a:r>
              <a:rPr lang="en-US" sz="1350" dirty="0">
                <a:solidFill>
                  <a:srgbClr val="3A4452"/>
                </a:solidFill>
                <a:latin typeface="Arial" pitchFamily="34" charset="0"/>
                <a:ea typeface="Arial" pitchFamily="34" charset="-122"/>
                <a:cs typeface="Arial" pitchFamily="34" charset="-120"/>
              </a:rPr>
              <a:t>Pairs with the analysis tool (code execution).</a:t>
            </a:r>
            <a:endParaRPr lang="en-US" sz="1350" dirty="0"/>
          </a:p>
        </p:txBody>
      </p:sp>
      <p:sp>
        <p:nvSpPr>
          <p:cNvPr id="7" name="Shape 5"/>
          <p:cNvSpPr/>
          <p:nvPr/>
        </p:nvSpPr>
        <p:spPr>
          <a:xfrm>
            <a:off x="6355080" y="1600200"/>
            <a:ext cx="5486400" cy="4023360"/>
          </a:xfrm>
          <a:prstGeom prst="roundRect">
            <a:avLst>
              <a:gd name="adj" fmla="val 2045"/>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556248" y="1709928"/>
            <a:ext cx="512064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BJ'S EXAMPLE</a:t>
            </a:r>
            <a:endParaRPr lang="en-US" sz="900" dirty="0"/>
          </a:p>
        </p:txBody>
      </p:sp>
      <p:sp>
        <p:nvSpPr>
          <p:cNvPr id="9" name="Text 7"/>
          <p:cNvSpPr/>
          <p:nvPr/>
        </p:nvSpPr>
        <p:spPr>
          <a:xfrm>
            <a:off x="6583680" y="1984248"/>
            <a:ext cx="5029200" cy="3511296"/>
          </a:xfrm>
          <a:prstGeom prst="rect">
            <a:avLst/>
          </a:prstGeom>
          <a:noFill/>
          <a:ln/>
        </p:spPr>
        <p:txBody>
          <a:bodyPr wrap="square" rtlCol="0" anchor="t"/>
          <a:lstStyle/>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Use code to total the scheduled</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hours per zone and flag any zone</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under the minimum. Show the</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numbers, then summarize the gaps.</a:t>
            </a:r>
            <a:endParaRPr lang="en-US" sz="1100" dirty="0"/>
          </a:p>
        </p:txBody>
      </p:sp>
      <p:sp>
        <p:nvSpPr>
          <p:cNvPr id="10" name="Text 8"/>
          <p:cNvSpPr/>
          <p:nvPr/>
        </p:nvSpPr>
        <p:spPr>
          <a:xfrm>
            <a:off x="566928" y="5760720"/>
            <a:ext cx="11055096" cy="365760"/>
          </a:xfrm>
          <a:prstGeom prst="rect">
            <a:avLst/>
          </a:prstGeom>
          <a:noFill/>
          <a:ln/>
        </p:spPr>
        <p:txBody>
          <a:bodyPr wrap="square" rtlCol="0" anchor="ctr"/>
          <a:lstStyle/>
          <a:p>
            <a:pPr indent="0" marL="0">
              <a:buNone/>
            </a:pPr>
            <a:r>
              <a:rPr lang="en-US" sz="1100" i="1" dirty="0">
                <a:solidFill>
                  <a:srgbClr val="5E6A78"/>
                </a:solidFill>
                <a:latin typeface="Arial" pitchFamily="34" charset="0"/>
                <a:ea typeface="Arial" pitchFamily="34" charset="-122"/>
                <a:cs typeface="Arial" pitchFamily="34" charset="-120"/>
              </a:rPr>
              <a:t>Why it matters: language models can fumble mental arithmetic; code makes it reliable. High value for staffing, budgets, and spreadsheet tasks.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GOOD TO KNOW, RARELY NEEDED</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Advanced patterns — be honest about value</a:t>
            </a:r>
            <a:endParaRPr lang="en-US" sz="2700" dirty="0"/>
          </a:p>
        </p:txBody>
      </p:sp>
      <p:sp>
        <p:nvSpPr>
          <p:cNvPr id="4" name="Shape 2"/>
          <p:cNvSpPr/>
          <p:nvPr/>
        </p:nvSpPr>
        <p:spPr>
          <a:xfrm>
            <a:off x="566928" y="1600200"/>
            <a:ext cx="10469880" cy="1828800"/>
          </a:xfrm>
          <a:prstGeom prst="roundRect">
            <a:avLst>
              <a:gd name="adj" fmla="val 45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83080"/>
            <a:ext cx="10058400" cy="1463040"/>
          </a:xfrm>
          <a:prstGeom prst="rect">
            <a:avLst/>
          </a:prstGeom>
          <a:noFill/>
          <a:ln/>
        </p:spPr>
        <p:txBody>
          <a:bodyPr wrap="square" rtlCol="0" anchor="t"/>
          <a:lstStyle/>
          <a:p>
            <a:pPr indent="0" marL="0">
              <a:lnSpc>
                <a:spcPts val="1900"/>
              </a:lnSpc>
              <a:buNone/>
            </a:pPr>
            <a:r>
              <a:rPr lang="en-US" sz="1350" b="1" dirty="0">
                <a:solidFill>
                  <a:srgbClr val="1F2733"/>
                </a:solidFill>
                <a:latin typeface="Arial" pitchFamily="34" charset="0"/>
                <a:ea typeface="Arial" pitchFamily="34" charset="-122"/>
                <a:cs typeface="Arial" pitchFamily="34" charset="-120"/>
              </a:rPr>
              <a:t>Tree-of-Thoughts · Graph-of-Thoughts · Self-Discover · Maieutic · Directional Stimulus</a:t>
            </a:r>
            <a:pPr indent="0" marL="0">
              <a:lnSpc>
                <a:spcPts val="1900"/>
              </a:lnSpc>
              <a:buNone/>
            </a:pPr>
            <a:r>
              <a:rPr lang="en-US" sz="1350" dirty="0">
                <a:solidFill>
                  <a:srgbClr val="3A4452"/>
                </a:solidFill>
                <a:latin typeface="Arial" pitchFamily="34" charset="0"/>
                <a:ea typeface="Arial" pitchFamily="34" charset="-122"/>
                <a:cs typeface="Arial" pitchFamily="34" charset="-120"/>
              </a:rPr>
              <a:t>  — powerful in research papers, but mechanically heavy and low day-to-day value for business work. Know they exist; don't build training around them.</a:t>
            </a:r>
            <a:endParaRPr lang="en-US" sz="1350" dirty="0"/>
          </a:p>
        </p:txBody>
      </p:sp>
      <p:sp>
        <p:nvSpPr>
          <p:cNvPr id="6" name="Shape 4"/>
          <p:cNvSpPr/>
          <p:nvPr/>
        </p:nvSpPr>
        <p:spPr>
          <a:xfrm>
            <a:off x="566928" y="3611880"/>
            <a:ext cx="10469880" cy="1828800"/>
          </a:xfrm>
          <a:prstGeom prst="roundRect">
            <a:avLst>
              <a:gd name="adj" fmla="val 4500"/>
            </a:avLst>
          </a:prstGeom>
          <a:solidFill>
            <a:srgbClr val="FDECEE"/>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7" name="Text 5"/>
          <p:cNvSpPr/>
          <p:nvPr/>
        </p:nvSpPr>
        <p:spPr>
          <a:xfrm>
            <a:off x="841248" y="3840480"/>
            <a:ext cx="10058400" cy="1371600"/>
          </a:xfrm>
          <a:prstGeom prst="rect">
            <a:avLst/>
          </a:prstGeom>
          <a:noFill/>
          <a:ln/>
        </p:spPr>
        <p:txBody>
          <a:bodyPr wrap="square" rtlCol="0" anchor="t"/>
          <a:lstStyle/>
          <a:p>
            <a:pPr indent="0" marL="0">
              <a:lnSpc>
                <a:spcPts val="1900"/>
              </a:lnSpc>
              <a:buNone/>
            </a:pPr>
            <a:r>
              <a:rPr lang="en-US" sz="1350" b="1" dirty="0">
                <a:solidFill>
                  <a:srgbClr val="B91C1C"/>
                </a:solidFill>
                <a:latin typeface="Arial" pitchFamily="34" charset="0"/>
                <a:ea typeface="Arial" pitchFamily="34" charset="-122"/>
                <a:cs typeface="Arial" pitchFamily="34" charset="-120"/>
              </a:rPr>
              <a:t>Emotion prompting</a:t>
            </a:r>
            <a:pPr indent="0" marL="0">
              <a:lnSpc>
                <a:spcPts val="1900"/>
              </a:lnSpc>
              <a:buNone/>
            </a:pPr>
            <a:r>
              <a:rPr lang="en-US" sz="1350" dirty="0">
                <a:solidFill>
                  <a:srgbClr val="3A4452"/>
                </a:solidFill>
                <a:latin typeface="Arial" pitchFamily="34" charset="0"/>
                <a:ea typeface="Arial" pitchFamily="34" charset="-122"/>
                <a:cs typeface="Arial" pitchFamily="34" charset="-120"/>
              </a:rPr>
              <a:t> ("this is important to my career")  — popular online, but the evidence is weak and inconsistent, especially on modern models. </a:t>
            </a:r>
            <a:pPr indent="0" marL="0">
              <a:lnSpc>
                <a:spcPts val="1900"/>
              </a:lnSpc>
              <a:buNone/>
            </a:pPr>
            <a:r>
              <a:rPr lang="en-US" sz="1350" b="1" dirty="0">
                <a:solidFill>
                  <a:srgbClr val="1F2733"/>
                </a:solidFill>
                <a:latin typeface="Arial" pitchFamily="34" charset="0"/>
                <a:ea typeface="Arial" pitchFamily="34" charset="-122"/>
                <a:cs typeface="Arial" pitchFamily="34" charset="-120"/>
              </a:rPr>
              <a:t>Don't teach it as a reliable technique.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7E0A27"/>
        </a:solidFill>
      </p:bgPr>
    </p:bg>
    <p:spTree>
      <p:nvGrpSpPr>
        <p:cNvPr id="1" name=""/>
        <p:cNvGrpSpPr/>
        <p:nvPr/>
      </p:nvGrpSpPr>
      <p:grpSpPr>
        <a:xfrm>
          <a:off x="0" y="0"/>
          <a:ext cx="0" cy="0"/>
          <a:chOff x="0" y="0"/>
          <a:chExt cx="0" cy="0"/>
        </a:xfrm>
      </p:grpSpPr>
      <p:sp>
        <p:nvSpPr>
          <p:cNvPr id="2" name="Shape 0"/>
          <p:cNvSpPr/>
          <p:nvPr/>
        </p:nvSpPr>
        <p:spPr>
          <a:xfrm>
            <a:off x="9692640" y="-1645920"/>
            <a:ext cx="4937760" cy="4937760"/>
          </a:xfrm>
          <a:prstGeom prst="ellipse">
            <a:avLst/>
          </a:prstGeom>
          <a:solidFill>
            <a:srgbClr val="A60E34"/>
          </a:solidFill>
          <a:ln/>
        </p:spPr>
      </p:sp>
      <p:sp>
        <p:nvSpPr>
          <p:cNvPr id="3" name="Text 1"/>
          <p:cNvSpPr/>
          <p:nvPr/>
        </p:nvSpPr>
        <p:spPr>
          <a:xfrm>
            <a:off x="566928" y="914400"/>
            <a:ext cx="10058400" cy="365760"/>
          </a:xfrm>
          <a:prstGeom prst="rect">
            <a:avLst/>
          </a:prstGeom>
          <a:noFill/>
          <a:ln/>
        </p:spPr>
        <p:txBody>
          <a:bodyPr wrap="square" rtlCol="0" anchor="ctr"/>
          <a:lstStyle/>
          <a:p>
            <a:pPr indent="0" marL="0">
              <a:buNone/>
            </a:pPr>
            <a:r>
              <a:rPr lang="en-US" sz="1400" b="1" spc="300" kern="0" dirty="0">
                <a:solidFill>
                  <a:srgbClr val="F7B9C6"/>
                </a:solidFill>
                <a:latin typeface="Arial" pitchFamily="34" charset="0"/>
                <a:ea typeface="Arial" pitchFamily="34" charset="-122"/>
                <a:cs typeface="Arial" pitchFamily="34" charset="-120"/>
              </a:rPr>
              <a:t>SECTION 2</a:t>
            </a:r>
            <a:endParaRPr lang="en-US" sz="1400" dirty="0"/>
          </a:p>
        </p:txBody>
      </p:sp>
      <p:sp>
        <p:nvSpPr>
          <p:cNvPr id="4" name="Text 2"/>
          <p:cNvSpPr/>
          <p:nvPr/>
        </p:nvSpPr>
        <p:spPr>
          <a:xfrm>
            <a:off x="566928" y="1325880"/>
            <a:ext cx="10515600" cy="7315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Self-Improvement &amp; Verification</a:t>
            </a:r>
            <a:endParaRPr lang="en-US" sz="3200" dirty="0"/>
          </a:p>
        </p:txBody>
      </p:sp>
      <p:sp>
        <p:nvSpPr>
          <p:cNvPr id="5" name="Text 3"/>
          <p:cNvSpPr/>
          <p:nvPr/>
        </p:nvSpPr>
        <p:spPr>
          <a:xfrm>
            <a:off x="566928" y="2103120"/>
            <a:ext cx="10241280" cy="457200"/>
          </a:xfrm>
          <a:prstGeom prst="rect">
            <a:avLst/>
          </a:prstGeom>
          <a:noFill/>
          <a:ln/>
        </p:spPr>
        <p:txBody>
          <a:bodyPr wrap="square" rtlCol="0" anchor="ctr"/>
          <a:lstStyle/>
          <a:p>
            <a:pPr indent="0" marL="0">
              <a:lnSpc>
                <a:spcPts val="2000"/>
              </a:lnSpc>
              <a:buNone/>
            </a:pPr>
            <a:r>
              <a:rPr lang="en-US" sz="1400" dirty="0">
                <a:solidFill>
                  <a:srgbClr val="F2D9DF"/>
                </a:solidFill>
                <a:latin typeface="Arial" pitchFamily="34" charset="0"/>
                <a:ea typeface="Arial" pitchFamily="34" charset="-122"/>
                <a:cs typeface="Arial" pitchFamily="34" charset="-120"/>
              </a:rPr>
              <a:t>The highest day-to-day value: make Claude check and fix its own work.</a:t>
            </a:r>
            <a:endParaRPr lang="en-US" sz="1400" dirty="0"/>
          </a:p>
        </p:txBody>
      </p:sp>
      <p:sp>
        <p:nvSpPr>
          <p:cNvPr id="6" name="Text 4"/>
          <p:cNvSpPr/>
          <p:nvPr/>
        </p:nvSpPr>
        <p:spPr>
          <a:xfrm>
            <a:off x="566928" y="2880360"/>
            <a:ext cx="10058400" cy="274320"/>
          </a:xfrm>
          <a:prstGeom prst="rect">
            <a:avLst/>
          </a:prstGeom>
          <a:noFill/>
          <a:ln/>
        </p:spPr>
        <p:txBody>
          <a:bodyPr wrap="square" rtlCol="0" anchor="ctr"/>
          <a:lstStyle/>
          <a:p>
            <a:pPr indent="0" marL="0">
              <a:buNone/>
            </a:pPr>
            <a:r>
              <a:rPr lang="en-US" sz="1050" b="1" spc="200" kern="0" dirty="0">
                <a:solidFill>
                  <a:srgbClr val="F7B9C6"/>
                </a:solidFill>
                <a:latin typeface="Arial" pitchFamily="34" charset="0"/>
                <a:ea typeface="Arial" pitchFamily="34" charset="-122"/>
                <a:cs typeface="Arial" pitchFamily="34" charset="-120"/>
              </a:rPr>
              <a:t>PATTERNS IN THIS SECTION</a:t>
            </a:r>
            <a:endParaRPr lang="en-US" sz="1050" dirty="0"/>
          </a:p>
        </p:txBody>
      </p:sp>
      <p:sp>
        <p:nvSpPr>
          <p:cNvPr id="7" name="Shape 5"/>
          <p:cNvSpPr/>
          <p:nvPr/>
        </p:nvSpPr>
        <p:spPr>
          <a:xfrm>
            <a:off x="566928" y="3246120"/>
            <a:ext cx="3502152"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749808" y="3392424"/>
            <a:ext cx="3136392" cy="411480"/>
          </a:xfrm>
          <a:prstGeom prst="rect">
            <a:avLst/>
          </a:prstGeom>
          <a:noFill/>
          <a:ln/>
        </p:spPr>
        <p:txBody>
          <a:bodyPr wrap="square" rtlCol="0" anchor="t"/>
          <a:lstStyle/>
          <a:p>
            <a:pPr indent="0" marL="0">
              <a:buNone/>
            </a:pPr>
            <a:r>
              <a:rPr lang="en-US" sz="1250" b="1" dirty="0">
                <a:solidFill>
                  <a:srgbClr val="D31242"/>
                </a:solidFill>
                <a:latin typeface="Arial" pitchFamily="34" charset="0"/>
                <a:ea typeface="Arial" pitchFamily="34" charset="-122"/>
                <a:cs typeface="Arial" pitchFamily="34" charset="-120"/>
              </a:rPr>
              <a:t>Self-refine</a:t>
            </a:r>
            <a:endParaRPr lang="en-US" sz="1250" dirty="0"/>
          </a:p>
        </p:txBody>
      </p:sp>
      <p:sp>
        <p:nvSpPr>
          <p:cNvPr id="9" name="Text 7"/>
          <p:cNvSpPr/>
          <p:nvPr/>
        </p:nvSpPr>
        <p:spPr>
          <a:xfrm>
            <a:off x="749808" y="3749040"/>
            <a:ext cx="3136392"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Critique, then rewrite</a:t>
            </a:r>
            <a:endParaRPr lang="en-US" sz="1050" dirty="0"/>
          </a:p>
        </p:txBody>
      </p:sp>
      <p:sp>
        <p:nvSpPr>
          <p:cNvPr id="10" name="Shape 8"/>
          <p:cNvSpPr/>
          <p:nvPr/>
        </p:nvSpPr>
        <p:spPr>
          <a:xfrm>
            <a:off x="4343400" y="3246120"/>
            <a:ext cx="3502152"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Text 9"/>
          <p:cNvSpPr/>
          <p:nvPr/>
        </p:nvSpPr>
        <p:spPr>
          <a:xfrm>
            <a:off x="4526280" y="3392424"/>
            <a:ext cx="3136392" cy="411480"/>
          </a:xfrm>
          <a:prstGeom prst="rect">
            <a:avLst/>
          </a:prstGeom>
          <a:noFill/>
          <a:ln/>
        </p:spPr>
        <p:txBody>
          <a:bodyPr wrap="square" rtlCol="0" anchor="t"/>
          <a:lstStyle/>
          <a:p>
            <a:pPr indent="0" marL="0">
              <a:buNone/>
            </a:pPr>
            <a:r>
              <a:rPr lang="en-US" sz="1250" b="1" dirty="0">
                <a:solidFill>
                  <a:srgbClr val="D31242"/>
                </a:solidFill>
                <a:latin typeface="Arial" pitchFamily="34" charset="0"/>
                <a:ea typeface="Arial" pitchFamily="34" charset="-122"/>
                <a:cs typeface="Arial" pitchFamily="34" charset="-120"/>
              </a:rPr>
              <a:t>Chain-of-verification</a:t>
            </a:r>
            <a:endParaRPr lang="en-US" sz="1250" dirty="0"/>
          </a:p>
        </p:txBody>
      </p:sp>
      <p:sp>
        <p:nvSpPr>
          <p:cNvPr id="12" name="Text 10"/>
          <p:cNvSpPr/>
          <p:nvPr/>
        </p:nvSpPr>
        <p:spPr>
          <a:xfrm>
            <a:off x="4526280" y="3749040"/>
            <a:ext cx="3136392"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Draft, check-questions, fix</a:t>
            </a:r>
            <a:endParaRPr lang="en-US" sz="1050" dirty="0"/>
          </a:p>
        </p:txBody>
      </p:sp>
      <p:sp>
        <p:nvSpPr>
          <p:cNvPr id="13" name="Shape 11"/>
          <p:cNvSpPr/>
          <p:nvPr/>
        </p:nvSpPr>
        <p:spPr>
          <a:xfrm>
            <a:off x="8119872" y="3246120"/>
            <a:ext cx="3502152"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4" name="Text 12"/>
          <p:cNvSpPr/>
          <p:nvPr/>
        </p:nvSpPr>
        <p:spPr>
          <a:xfrm>
            <a:off x="8302752" y="3392424"/>
            <a:ext cx="3136392" cy="411480"/>
          </a:xfrm>
          <a:prstGeom prst="rect">
            <a:avLst/>
          </a:prstGeom>
          <a:noFill/>
          <a:ln/>
        </p:spPr>
        <p:txBody>
          <a:bodyPr wrap="square" rtlCol="0" anchor="t"/>
          <a:lstStyle/>
          <a:p>
            <a:pPr indent="0" marL="0">
              <a:buNone/>
            </a:pPr>
            <a:r>
              <a:rPr lang="en-US" sz="1250" b="1" dirty="0">
                <a:solidFill>
                  <a:srgbClr val="D31242"/>
                </a:solidFill>
                <a:latin typeface="Arial" pitchFamily="34" charset="0"/>
                <a:ea typeface="Arial" pitchFamily="34" charset="-122"/>
                <a:cs typeface="Arial" pitchFamily="34" charset="-120"/>
              </a:rPr>
              <a:t>Best-of-N</a:t>
            </a:r>
            <a:endParaRPr lang="en-US" sz="1250" dirty="0"/>
          </a:p>
        </p:txBody>
      </p:sp>
      <p:sp>
        <p:nvSpPr>
          <p:cNvPr id="15" name="Text 13"/>
          <p:cNvSpPr/>
          <p:nvPr/>
        </p:nvSpPr>
        <p:spPr>
          <a:xfrm>
            <a:off x="8302752" y="3749040"/>
            <a:ext cx="3136392"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Generate several, pick the best</a:t>
            </a:r>
            <a:endParaRPr lang="en-US" sz="1050" dirty="0"/>
          </a:p>
        </p:txBody>
      </p:sp>
      <p:sp>
        <p:nvSpPr>
          <p:cNvPr id="16" name="Text 14"/>
          <p:cNvSpPr/>
          <p:nvPr/>
        </p:nvSpPr>
        <p:spPr>
          <a:xfrm>
            <a:off x="566928" y="6583680"/>
            <a:ext cx="10515600" cy="219456"/>
          </a:xfrm>
          <a:prstGeom prst="rect">
            <a:avLst/>
          </a:prstGeom>
          <a:noFill/>
          <a:ln/>
        </p:spPr>
        <p:txBody>
          <a:bodyPr wrap="square" rtlCol="0" anchor="ctr"/>
          <a:lstStyle/>
          <a:p>
            <a:pPr indent="0" marL="0">
              <a:buNone/>
            </a:pPr>
            <a:r>
              <a:rPr lang="en-US" sz="800" i="1" dirty="0">
                <a:solidFill>
                  <a:srgbClr val="C98A98"/>
                </a:solidFill>
                <a:latin typeface="Arial" pitchFamily="34" charset="0"/>
                <a:ea typeface="Arial" pitchFamily="34" charset="-122"/>
                <a:cs typeface="Arial" pitchFamily="34" charset="-120"/>
              </a:rPr>
              <a:t>Illustrative training material — not an official BJ's Wholesale Club publication. Verify model/feature details before each session.</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SELF-IMPROVE · PATTERN</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Self-refine — critique, then rewrite</a:t>
            </a:r>
            <a:endParaRPr lang="en-US" sz="2700" dirty="0"/>
          </a:p>
        </p:txBody>
      </p:sp>
      <p:sp>
        <p:nvSpPr>
          <p:cNvPr id="4" name="Shape 2"/>
          <p:cNvSpPr/>
          <p:nvPr/>
        </p:nvSpPr>
        <p:spPr>
          <a:xfrm>
            <a:off x="566928" y="1600200"/>
            <a:ext cx="5486400" cy="4023360"/>
          </a:xfrm>
          <a:prstGeom prst="roundRect">
            <a:avLst>
              <a:gd name="adj" fmla="val 2045"/>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4937760" cy="411480"/>
          </a:xfrm>
          <a:prstGeom prst="rect">
            <a:avLst/>
          </a:prstGeom>
          <a:noFill/>
          <a:ln/>
        </p:spPr>
        <p:txBody>
          <a:bodyPr wrap="square" rtlCol="0" anchor="ctr"/>
          <a:lstStyle/>
          <a:p>
            <a:pPr indent="0" marL="0">
              <a:buNone/>
            </a:pPr>
            <a:r>
              <a:rPr lang="en-US" sz="1550" b="1" dirty="0">
                <a:solidFill>
                  <a:srgbClr val="1F2733"/>
                </a:solidFill>
                <a:latin typeface="Arial" pitchFamily="34" charset="0"/>
                <a:ea typeface="Arial" pitchFamily="34" charset="-122"/>
                <a:cs typeface="Arial" pitchFamily="34" charset="-120"/>
              </a:rPr>
              <a:t>Two passes in one prompt</a:t>
            </a:r>
            <a:endParaRPr lang="en-US" sz="1550" dirty="0"/>
          </a:p>
        </p:txBody>
      </p:sp>
      <p:sp>
        <p:nvSpPr>
          <p:cNvPr id="6" name="Text 4"/>
          <p:cNvSpPr/>
          <p:nvPr/>
        </p:nvSpPr>
        <p:spPr>
          <a:xfrm>
            <a:off x="841248" y="2286000"/>
            <a:ext cx="4983480" cy="3108960"/>
          </a:xfrm>
          <a:prstGeom prst="rect">
            <a:avLst/>
          </a:prstGeom>
          <a:noFill/>
          <a:ln/>
        </p:spPr>
        <p:txBody>
          <a:bodyPr wrap="square" rtlCol="0" anchor="t"/>
          <a:lstStyle/>
          <a:p>
            <a:pPr indent="0" marL="0">
              <a:lnSpc>
                <a:spcPts val="2000"/>
              </a:lnSpc>
              <a:buNone/>
            </a:pPr>
            <a:r>
              <a:rPr lang="en-US" sz="1350" dirty="0">
                <a:solidFill>
                  <a:srgbClr val="3A4452"/>
                </a:solidFill>
                <a:latin typeface="Arial" pitchFamily="34" charset="0"/>
                <a:ea typeface="Arial" pitchFamily="34" charset="-122"/>
                <a:cs typeface="Arial" pitchFamily="34" charset="-120"/>
              </a:rPr>
              <a:t>Have Claude critique its own draft against criteria, then produce an improved version.</a:t>
            </a:r>
            <a:endParaRPr lang="en-US" sz="1350" dirty="0"/>
          </a:p>
          <a:p>
            <a:pPr indent="0" marL="0">
              <a:lnSpc>
                <a:spcPts val="2000"/>
              </a:lnSpc>
              <a:buNone/>
            </a:pPr>
            <a:endParaRPr lang="en-US" sz="1350" dirty="0"/>
          </a:p>
          <a:p>
            <a:pPr indent="0" marL="0">
              <a:lnSpc>
                <a:spcPts val="2000"/>
              </a:lnSpc>
              <a:buNone/>
            </a:pPr>
            <a:r>
              <a:rPr lang="en-US" sz="1350" b="1" dirty="0">
                <a:solidFill>
                  <a:srgbClr val="1F2733"/>
                </a:solidFill>
                <a:latin typeface="Arial" pitchFamily="34" charset="0"/>
                <a:ea typeface="Arial" pitchFamily="34" charset="-122"/>
                <a:cs typeface="Arial" pitchFamily="34" charset="-120"/>
              </a:rPr>
              <a:t>The single highest-ROI everyday pattern for comms and editing.</a:t>
            </a:r>
            <a:endParaRPr lang="en-US" sz="1350" dirty="0"/>
          </a:p>
        </p:txBody>
      </p:sp>
      <p:sp>
        <p:nvSpPr>
          <p:cNvPr id="7" name="Shape 5"/>
          <p:cNvSpPr/>
          <p:nvPr/>
        </p:nvSpPr>
        <p:spPr>
          <a:xfrm>
            <a:off x="6355080" y="1600200"/>
            <a:ext cx="5486400" cy="4023360"/>
          </a:xfrm>
          <a:prstGeom prst="roundRect">
            <a:avLst>
              <a:gd name="adj" fmla="val 2045"/>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556248" y="1709928"/>
            <a:ext cx="512064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BJ'S EXAMPLE</a:t>
            </a:r>
            <a:endParaRPr lang="en-US" sz="900" dirty="0"/>
          </a:p>
        </p:txBody>
      </p:sp>
      <p:sp>
        <p:nvSpPr>
          <p:cNvPr id="9" name="Text 7"/>
          <p:cNvSpPr/>
          <p:nvPr/>
        </p:nvSpPr>
        <p:spPr>
          <a:xfrm>
            <a:off x="6583680" y="1984248"/>
            <a:ext cx="5029200" cy="3511296"/>
          </a:xfrm>
          <a:prstGeom prst="rect">
            <a:avLst/>
          </a:prstGeom>
          <a:noFill/>
          <a:ln/>
        </p:spPr>
        <p:txBody>
          <a:bodyPr wrap="square" rtlCol="0" anchor="t"/>
          <a:lstStyle/>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Draft the member reply.</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Then critique your draft for tone,</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clarity, and missing info.</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Then rewrite it, fixing what you</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found.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SELF-IMPROVE · PATTERN</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Chain-of-verification — fact-check itself</a:t>
            </a:r>
            <a:endParaRPr lang="en-US" sz="2700" dirty="0"/>
          </a:p>
        </p:txBody>
      </p:sp>
      <p:sp>
        <p:nvSpPr>
          <p:cNvPr id="4" name="Shape 2"/>
          <p:cNvSpPr/>
          <p:nvPr/>
        </p:nvSpPr>
        <p:spPr>
          <a:xfrm>
            <a:off x="566928" y="1645920"/>
            <a:ext cx="2558034" cy="2286000"/>
          </a:xfrm>
          <a:prstGeom prst="roundRect">
            <a:avLst>
              <a:gd name="adj" fmla="val 36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Shape 3"/>
          <p:cNvSpPr/>
          <p:nvPr/>
        </p:nvSpPr>
        <p:spPr>
          <a:xfrm>
            <a:off x="1594485" y="1920240"/>
            <a:ext cx="502920" cy="502920"/>
          </a:xfrm>
          <a:prstGeom prst="ellipse">
            <a:avLst/>
          </a:prstGeom>
          <a:solidFill>
            <a:srgbClr val="D31242"/>
          </a:solidFill>
          <a:ln/>
        </p:spPr>
      </p:sp>
      <p:sp>
        <p:nvSpPr>
          <p:cNvPr id="6" name="Text 4"/>
          <p:cNvSpPr/>
          <p:nvPr/>
        </p:nvSpPr>
        <p:spPr>
          <a:xfrm>
            <a:off x="1594485" y="1920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676656" y="2606040"/>
            <a:ext cx="2338578" cy="411480"/>
          </a:xfrm>
          <a:prstGeom prst="rect">
            <a:avLst/>
          </a:prstGeom>
          <a:noFill/>
          <a:ln/>
        </p:spPr>
        <p:txBody>
          <a:bodyPr wrap="square" rtlCol="0" anchor="ctr"/>
          <a:lstStyle/>
          <a:p>
            <a:pPr algn="ctr" indent="0" marL="0">
              <a:buNone/>
            </a:pPr>
            <a:r>
              <a:rPr lang="en-US" sz="1400" b="1" dirty="0">
                <a:solidFill>
                  <a:srgbClr val="D31242"/>
                </a:solidFill>
                <a:latin typeface="Arial" pitchFamily="34" charset="0"/>
                <a:ea typeface="Arial" pitchFamily="34" charset="-122"/>
                <a:cs typeface="Arial" pitchFamily="34" charset="-120"/>
              </a:rPr>
              <a:t>Draft</a:t>
            </a:r>
            <a:endParaRPr lang="en-US" sz="1400" dirty="0"/>
          </a:p>
        </p:txBody>
      </p:sp>
      <p:sp>
        <p:nvSpPr>
          <p:cNvPr id="8" name="Text 6"/>
          <p:cNvSpPr/>
          <p:nvPr/>
        </p:nvSpPr>
        <p:spPr>
          <a:xfrm>
            <a:off x="731520" y="3017520"/>
            <a:ext cx="2228850" cy="868680"/>
          </a:xfrm>
          <a:prstGeom prst="rect">
            <a:avLst/>
          </a:prstGeom>
          <a:noFill/>
          <a:ln/>
        </p:spPr>
        <p:txBody>
          <a:bodyPr wrap="square" rtlCol="0" anchor="ctr"/>
          <a:lstStyle/>
          <a:p>
            <a:pPr algn="ctr" indent="0" marL="0">
              <a:lnSpc>
                <a:spcPts val="1500"/>
              </a:lnSpc>
              <a:buNone/>
            </a:pPr>
            <a:r>
              <a:rPr lang="en-US" sz="1150" dirty="0">
                <a:solidFill>
                  <a:srgbClr val="3A4452"/>
                </a:solidFill>
                <a:latin typeface="Arial" pitchFamily="34" charset="0"/>
                <a:ea typeface="Arial" pitchFamily="34" charset="-122"/>
                <a:cs typeface="Arial" pitchFamily="34" charset="-120"/>
              </a:rPr>
              <a:t>Claude writes a first answer.</a:t>
            </a:r>
            <a:endParaRPr lang="en-US" sz="1150" dirty="0"/>
          </a:p>
        </p:txBody>
      </p:sp>
      <p:sp>
        <p:nvSpPr>
          <p:cNvPr id="9" name="Shape 7"/>
          <p:cNvSpPr/>
          <p:nvPr/>
        </p:nvSpPr>
        <p:spPr>
          <a:xfrm>
            <a:off x="3399282" y="1645920"/>
            <a:ext cx="2558034" cy="2286000"/>
          </a:xfrm>
          <a:prstGeom prst="roundRect">
            <a:avLst>
              <a:gd name="adj" fmla="val 36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0" name="Shape 8"/>
          <p:cNvSpPr/>
          <p:nvPr/>
        </p:nvSpPr>
        <p:spPr>
          <a:xfrm>
            <a:off x="4426839" y="1920240"/>
            <a:ext cx="502920" cy="502920"/>
          </a:xfrm>
          <a:prstGeom prst="ellipse">
            <a:avLst/>
          </a:prstGeom>
          <a:solidFill>
            <a:srgbClr val="D31242"/>
          </a:solidFill>
          <a:ln/>
        </p:spPr>
      </p:sp>
      <p:sp>
        <p:nvSpPr>
          <p:cNvPr id="11" name="Text 9"/>
          <p:cNvSpPr/>
          <p:nvPr/>
        </p:nvSpPr>
        <p:spPr>
          <a:xfrm>
            <a:off x="4426839" y="1920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3509010" y="2606040"/>
            <a:ext cx="2338578" cy="411480"/>
          </a:xfrm>
          <a:prstGeom prst="rect">
            <a:avLst/>
          </a:prstGeom>
          <a:noFill/>
          <a:ln/>
        </p:spPr>
        <p:txBody>
          <a:bodyPr wrap="square" rtlCol="0" anchor="ctr"/>
          <a:lstStyle/>
          <a:p>
            <a:pPr algn="ctr" indent="0" marL="0">
              <a:buNone/>
            </a:pPr>
            <a:r>
              <a:rPr lang="en-US" sz="1400" b="1" dirty="0">
                <a:solidFill>
                  <a:srgbClr val="D31242"/>
                </a:solidFill>
                <a:latin typeface="Arial" pitchFamily="34" charset="0"/>
                <a:ea typeface="Arial" pitchFamily="34" charset="-122"/>
                <a:cs typeface="Arial" pitchFamily="34" charset="-120"/>
              </a:rPr>
              <a:t>Question</a:t>
            </a:r>
            <a:endParaRPr lang="en-US" sz="1400" dirty="0"/>
          </a:p>
        </p:txBody>
      </p:sp>
      <p:sp>
        <p:nvSpPr>
          <p:cNvPr id="13" name="Text 11"/>
          <p:cNvSpPr/>
          <p:nvPr/>
        </p:nvSpPr>
        <p:spPr>
          <a:xfrm>
            <a:off x="3563874" y="3017520"/>
            <a:ext cx="2228850" cy="868680"/>
          </a:xfrm>
          <a:prstGeom prst="rect">
            <a:avLst/>
          </a:prstGeom>
          <a:noFill/>
          <a:ln/>
        </p:spPr>
        <p:txBody>
          <a:bodyPr wrap="square" rtlCol="0" anchor="ctr"/>
          <a:lstStyle/>
          <a:p>
            <a:pPr algn="ctr" indent="0" marL="0">
              <a:lnSpc>
                <a:spcPts val="1500"/>
              </a:lnSpc>
              <a:buNone/>
            </a:pPr>
            <a:r>
              <a:rPr lang="en-US" sz="1150" dirty="0">
                <a:solidFill>
                  <a:srgbClr val="3A4452"/>
                </a:solidFill>
                <a:latin typeface="Arial" pitchFamily="34" charset="0"/>
                <a:ea typeface="Arial" pitchFamily="34" charset="-122"/>
                <a:cs typeface="Arial" pitchFamily="34" charset="-120"/>
              </a:rPr>
              <a:t>It generates check-questions about its own claims.</a:t>
            </a:r>
            <a:endParaRPr lang="en-US" sz="1150" dirty="0"/>
          </a:p>
        </p:txBody>
      </p:sp>
      <p:sp>
        <p:nvSpPr>
          <p:cNvPr id="14" name="Shape 12"/>
          <p:cNvSpPr/>
          <p:nvPr/>
        </p:nvSpPr>
        <p:spPr>
          <a:xfrm>
            <a:off x="6231636" y="1645920"/>
            <a:ext cx="2558034" cy="2286000"/>
          </a:xfrm>
          <a:prstGeom prst="roundRect">
            <a:avLst>
              <a:gd name="adj" fmla="val 36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5" name="Shape 13"/>
          <p:cNvSpPr/>
          <p:nvPr/>
        </p:nvSpPr>
        <p:spPr>
          <a:xfrm>
            <a:off x="7259193" y="1920240"/>
            <a:ext cx="502920" cy="502920"/>
          </a:xfrm>
          <a:prstGeom prst="ellipse">
            <a:avLst/>
          </a:prstGeom>
          <a:solidFill>
            <a:srgbClr val="D31242"/>
          </a:solidFill>
          <a:ln/>
        </p:spPr>
      </p:sp>
      <p:sp>
        <p:nvSpPr>
          <p:cNvPr id="16" name="Text 14"/>
          <p:cNvSpPr/>
          <p:nvPr/>
        </p:nvSpPr>
        <p:spPr>
          <a:xfrm>
            <a:off x="7259193" y="1920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6341364" y="2606040"/>
            <a:ext cx="2338578" cy="411480"/>
          </a:xfrm>
          <a:prstGeom prst="rect">
            <a:avLst/>
          </a:prstGeom>
          <a:noFill/>
          <a:ln/>
        </p:spPr>
        <p:txBody>
          <a:bodyPr wrap="square" rtlCol="0" anchor="ctr"/>
          <a:lstStyle/>
          <a:p>
            <a:pPr algn="ctr" indent="0" marL="0">
              <a:buNone/>
            </a:pPr>
            <a:r>
              <a:rPr lang="en-US" sz="1400" b="1" dirty="0">
                <a:solidFill>
                  <a:srgbClr val="D31242"/>
                </a:solidFill>
                <a:latin typeface="Arial" pitchFamily="34" charset="0"/>
                <a:ea typeface="Arial" pitchFamily="34" charset="-122"/>
                <a:cs typeface="Arial" pitchFamily="34" charset="-120"/>
              </a:rPr>
              <a:t>Verify</a:t>
            </a:r>
            <a:endParaRPr lang="en-US" sz="1400" dirty="0"/>
          </a:p>
        </p:txBody>
      </p:sp>
      <p:sp>
        <p:nvSpPr>
          <p:cNvPr id="18" name="Text 16"/>
          <p:cNvSpPr/>
          <p:nvPr/>
        </p:nvSpPr>
        <p:spPr>
          <a:xfrm>
            <a:off x="6396228" y="3017520"/>
            <a:ext cx="2228850" cy="868680"/>
          </a:xfrm>
          <a:prstGeom prst="rect">
            <a:avLst/>
          </a:prstGeom>
          <a:noFill/>
          <a:ln/>
        </p:spPr>
        <p:txBody>
          <a:bodyPr wrap="square" rtlCol="0" anchor="ctr"/>
          <a:lstStyle/>
          <a:p>
            <a:pPr algn="ctr" indent="0" marL="0">
              <a:lnSpc>
                <a:spcPts val="1500"/>
              </a:lnSpc>
              <a:buNone/>
            </a:pPr>
            <a:r>
              <a:rPr lang="en-US" sz="1150" dirty="0">
                <a:solidFill>
                  <a:srgbClr val="3A4452"/>
                </a:solidFill>
                <a:latin typeface="Arial" pitchFamily="34" charset="0"/>
                <a:ea typeface="Arial" pitchFamily="34" charset="-122"/>
                <a:cs typeface="Arial" pitchFamily="34" charset="-120"/>
              </a:rPr>
              <a:t>It answers each check-question independently.</a:t>
            </a:r>
            <a:endParaRPr lang="en-US" sz="1150" dirty="0"/>
          </a:p>
        </p:txBody>
      </p:sp>
      <p:sp>
        <p:nvSpPr>
          <p:cNvPr id="19" name="Shape 17"/>
          <p:cNvSpPr/>
          <p:nvPr/>
        </p:nvSpPr>
        <p:spPr>
          <a:xfrm>
            <a:off x="9063990" y="1645920"/>
            <a:ext cx="2558034" cy="2286000"/>
          </a:xfrm>
          <a:prstGeom prst="roundRect">
            <a:avLst>
              <a:gd name="adj" fmla="val 36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0" name="Shape 18"/>
          <p:cNvSpPr/>
          <p:nvPr/>
        </p:nvSpPr>
        <p:spPr>
          <a:xfrm>
            <a:off x="10091547" y="1920240"/>
            <a:ext cx="502920" cy="502920"/>
          </a:xfrm>
          <a:prstGeom prst="ellipse">
            <a:avLst/>
          </a:prstGeom>
          <a:solidFill>
            <a:srgbClr val="D31242"/>
          </a:solidFill>
          <a:ln/>
        </p:spPr>
      </p:sp>
      <p:sp>
        <p:nvSpPr>
          <p:cNvPr id="21" name="Text 19"/>
          <p:cNvSpPr/>
          <p:nvPr/>
        </p:nvSpPr>
        <p:spPr>
          <a:xfrm>
            <a:off x="10091547" y="1920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9173718" y="2606040"/>
            <a:ext cx="2338578" cy="411480"/>
          </a:xfrm>
          <a:prstGeom prst="rect">
            <a:avLst/>
          </a:prstGeom>
          <a:noFill/>
          <a:ln/>
        </p:spPr>
        <p:txBody>
          <a:bodyPr wrap="square" rtlCol="0" anchor="ctr"/>
          <a:lstStyle/>
          <a:p>
            <a:pPr algn="ctr" indent="0" marL="0">
              <a:buNone/>
            </a:pPr>
            <a:r>
              <a:rPr lang="en-US" sz="1400" b="1" dirty="0">
                <a:solidFill>
                  <a:srgbClr val="D31242"/>
                </a:solidFill>
                <a:latin typeface="Arial" pitchFamily="34" charset="0"/>
                <a:ea typeface="Arial" pitchFamily="34" charset="-122"/>
                <a:cs typeface="Arial" pitchFamily="34" charset="-120"/>
              </a:rPr>
              <a:t>Revise</a:t>
            </a:r>
            <a:endParaRPr lang="en-US" sz="1400" dirty="0"/>
          </a:p>
        </p:txBody>
      </p:sp>
      <p:sp>
        <p:nvSpPr>
          <p:cNvPr id="23" name="Text 21"/>
          <p:cNvSpPr/>
          <p:nvPr/>
        </p:nvSpPr>
        <p:spPr>
          <a:xfrm>
            <a:off x="9228582" y="3017520"/>
            <a:ext cx="2228850" cy="868680"/>
          </a:xfrm>
          <a:prstGeom prst="rect">
            <a:avLst/>
          </a:prstGeom>
          <a:noFill/>
          <a:ln/>
        </p:spPr>
        <p:txBody>
          <a:bodyPr wrap="square" rtlCol="0" anchor="ctr"/>
          <a:lstStyle/>
          <a:p>
            <a:pPr algn="ctr" indent="0" marL="0">
              <a:lnSpc>
                <a:spcPts val="1500"/>
              </a:lnSpc>
              <a:buNone/>
            </a:pPr>
            <a:r>
              <a:rPr lang="en-US" sz="1150" dirty="0">
                <a:solidFill>
                  <a:srgbClr val="3A4452"/>
                </a:solidFill>
                <a:latin typeface="Arial" pitchFamily="34" charset="0"/>
                <a:ea typeface="Arial" pitchFamily="34" charset="-122"/>
                <a:cs typeface="Arial" pitchFamily="34" charset="-120"/>
              </a:rPr>
              <a:t>It corrects the answer using what it found.</a:t>
            </a:r>
            <a:endParaRPr lang="en-US" sz="1150" dirty="0"/>
          </a:p>
        </p:txBody>
      </p:sp>
      <p:sp>
        <p:nvSpPr>
          <p:cNvPr id="24" name="Shape 22"/>
          <p:cNvSpPr/>
          <p:nvPr/>
        </p:nvSpPr>
        <p:spPr>
          <a:xfrm>
            <a:off x="566928" y="4297680"/>
            <a:ext cx="10469880" cy="1371600"/>
          </a:xfrm>
          <a:prstGeom prst="roundRect">
            <a:avLst>
              <a:gd name="adj" fmla="val 6000"/>
            </a:avLst>
          </a:prstGeom>
          <a:solidFill>
            <a:srgbClr val="FCE4EA"/>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5" name="Text 23"/>
          <p:cNvSpPr/>
          <p:nvPr/>
        </p:nvSpPr>
        <p:spPr>
          <a:xfrm>
            <a:off x="841248" y="4434840"/>
            <a:ext cx="10058400" cy="1097280"/>
          </a:xfrm>
          <a:prstGeom prst="rect">
            <a:avLst/>
          </a:prstGeom>
          <a:noFill/>
          <a:ln/>
        </p:spPr>
        <p:txBody>
          <a:bodyPr wrap="square" rtlCol="0" anchor="ctr"/>
          <a:lstStyle/>
          <a:p>
            <a:pPr indent="0" marL="0">
              <a:lnSpc>
                <a:spcPts val="1800"/>
              </a:lnSpc>
              <a:buNone/>
            </a:pPr>
            <a:r>
              <a:rPr lang="en-US" sz="1300" b="1" dirty="0">
                <a:solidFill>
                  <a:srgbClr val="7E0A27"/>
                </a:solidFill>
                <a:latin typeface="Arial" pitchFamily="34" charset="0"/>
                <a:ea typeface="Arial" pitchFamily="34" charset="-122"/>
                <a:cs typeface="Arial" pitchFamily="34" charset="-120"/>
              </a:rPr>
              <a:t>Plain-English version: </a:t>
            </a:r>
            <a:pPr indent="0" marL="0">
              <a:lnSpc>
                <a:spcPts val="1800"/>
              </a:lnSpc>
              <a:buNone/>
            </a:pPr>
            <a:r>
              <a:rPr lang="en-US" sz="1300" dirty="0">
                <a:solidFill>
                  <a:srgbClr val="1F2733"/>
                </a:solidFill>
                <a:latin typeface="Arial" pitchFamily="34" charset="0"/>
                <a:ea typeface="Arial" pitchFamily="34" charset="-122"/>
                <a:cs typeface="Arial" pitchFamily="34" charset="-120"/>
              </a:rPr>
              <a:t>"Draft it. Then list what could be wrong and check each point against the source. Then give me the corrected final." — directly targets the #1 business fear: confident wrong facts.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SELF-IMPROVE · PATTERN</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Best-of-N — generate several, keep the best</a:t>
            </a:r>
            <a:endParaRPr lang="en-US" sz="2700" dirty="0"/>
          </a:p>
        </p:txBody>
      </p:sp>
      <p:sp>
        <p:nvSpPr>
          <p:cNvPr id="4" name="Shape 2"/>
          <p:cNvSpPr/>
          <p:nvPr/>
        </p:nvSpPr>
        <p:spPr>
          <a:xfrm>
            <a:off x="566928" y="1600200"/>
            <a:ext cx="10469880" cy="1828800"/>
          </a:xfrm>
          <a:prstGeom prst="roundRect">
            <a:avLst>
              <a:gd name="adj" fmla="val 45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83080"/>
            <a:ext cx="10058400" cy="1463040"/>
          </a:xfrm>
          <a:prstGeom prst="rect">
            <a:avLst/>
          </a:prstGeom>
          <a:noFill/>
          <a:ln/>
        </p:spPr>
        <p:txBody>
          <a:bodyPr wrap="square" rtlCol="0" anchor="t"/>
          <a:lstStyle/>
          <a:p>
            <a:pPr indent="0" marL="0">
              <a:lnSpc>
                <a:spcPts val="2000"/>
              </a:lnSpc>
              <a:buNone/>
            </a:pPr>
            <a:r>
              <a:rPr lang="en-US" sz="1400" dirty="0">
                <a:solidFill>
                  <a:srgbClr val="3A4452"/>
                </a:solidFill>
                <a:latin typeface="Arial" pitchFamily="34" charset="0"/>
                <a:ea typeface="Arial" pitchFamily="34" charset="-122"/>
                <a:cs typeface="Arial" pitchFamily="34" charset="-120"/>
              </a:rPr>
              <a:t>Ask for a few versions, then have Claude (or you) pick the one that's most accurate to the source and on-brief. </a:t>
            </a:r>
            <a:pPr indent="0" marL="0">
              <a:lnSpc>
                <a:spcPts val="2000"/>
              </a:lnSpc>
              <a:buNone/>
            </a:pPr>
            <a:r>
              <a:rPr lang="en-US" sz="1400" b="1" dirty="0">
                <a:solidFill>
                  <a:srgbClr val="1F2733"/>
                </a:solidFill>
                <a:latin typeface="Arial" pitchFamily="34" charset="0"/>
                <a:ea typeface="Arial" pitchFamily="34" charset="-122"/>
                <a:cs typeface="Arial" pitchFamily="34" charset="-120"/>
              </a:rPr>
              <a:t>Trades a little extra cost for higher reliability.</a:t>
            </a:r>
            <a:endParaRPr lang="en-US" sz="1400" dirty="0"/>
          </a:p>
        </p:txBody>
      </p:sp>
      <p:sp>
        <p:nvSpPr>
          <p:cNvPr id="6" name="Shape 4"/>
          <p:cNvSpPr/>
          <p:nvPr/>
        </p:nvSpPr>
        <p:spPr>
          <a:xfrm>
            <a:off x="566928" y="3611880"/>
            <a:ext cx="10469880" cy="2057400"/>
          </a:xfrm>
          <a:prstGeom prst="roundRect">
            <a:avLst>
              <a:gd name="adj" fmla="val 4000"/>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7" name="Text 5"/>
          <p:cNvSpPr/>
          <p:nvPr/>
        </p:nvSpPr>
        <p:spPr>
          <a:xfrm>
            <a:off x="768096" y="3721608"/>
            <a:ext cx="1010412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BJ'S EXAMPLE</a:t>
            </a:r>
            <a:endParaRPr lang="en-US" sz="900" dirty="0"/>
          </a:p>
        </p:txBody>
      </p:sp>
      <p:sp>
        <p:nvSpPr>
          <p:cNvPr id="8" name="Text 6"/>
          <p:cNvSpPr/>
          <p:nvPr/>
        </p:nvSpPr>
        <p:spPr>
          <a:xfrm>
            <a:off x="795528" y="3995928"/>
            <a:ext cx="10012680" cy="1545336"/>
          </a:xfrm>
          <a:prstGeom prst="rect">
            <a:avLst/>
          </a:prstGeom>
          <a:noFill/>
          <a:ln/>
        </p:spPr>
        <p:txBody>
          <a:bodyPr wrap="square" rtlCol="0" anchor="t"/>
          <a:lstStyle/>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Draft 3 versions of the leadership summary. Then pick the one that is most accurate to the</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&lt;bulletin&gt; and clearest, and explain in one line why it won.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RESTRAINT</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When NOT to over-think</a:t>
            </a:r>
            <a:endParaRPr lang="en-US" sz="2700" dirty="0"/>
          </a:p>
        </p:txBody>
      </p:sp>
      <p:sp>
        <p:nvSpPr>
          <p:cNvPr id="4" name="Shape 2"/>
          <p:cNvSpPr/>
          <p:nvPr/>
        </p:nvSpPr>
        <p:spPr>
          <a:xfrm>
            <a:off x="566928" y="1645920"/>
            <a:ext cx="5344668" cy="1874520"/>
          </a:xfrm>
          <a:prstGeom prst="roundRect">
            <a:avLst>
              <a:gd name="adj" fmla="val 439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920240"/>
            <a:ext cx="457200" cy="457200"/>
          </a:xfrm>
          <a:prstGeom prst="rect">
            <a:avLst/>
          </a:prstGeom>
          <a:noFill/>
          <a:ln/>
        </p:spPr>
        <p:txBody>
          <a:bodyPr wrap="square" lIns="0" tIns="0" rIns="0" bIns="0" rtlCol="0" anchor="ctr"/>
          <a:lstStyle/>
          <a:p>
            <a:pPr algn="ctr" indent="0" marL="0">
              <a:buNone/>
            </a:pPr>
            <a:r>
              <a:rPr lang="en-US" sz="2200" b="1" dirty="0">
                <a:solidFill>
                  <a:srgbClr val="D31242"/>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1435608" y="1938528"/>
            <a:ext cx="4247388" cy="457200"/>
          </a:xfrm>
          <a:prstGeom prst="rect">
            <a:avLst/>
          </a:prstGeom>
          <a:noFill/>
          <a:ln/>
        </p:spPr>
        <p:txBody>
          <a:bodyPr wrap="square" lIns="0" tIns="0" rIns="0" bIns="0" rtlCol="0" anchor="ctr"/>
          <a:lstStyle/>
          <a:p>
            <a:pPr indent="0" marL="0">
              <a:buNone/>
            </a:pPr>
            <a:r>
              <a:rPr lang="en-US" sz="1500" b="1" dirty="0">
                <a:solidFill>
                  <a:srgbClr val="1F2733"/>
                </a:solidFill>
                <a:latin typeface="Arial" pitchFamily="34" charset="0"/>
                <a:ea typeface="Arial" pitchFamily="34" charset="-122"/>
                <a:cs typeface="Arial" pitchFamily="34" charset="-120"/>
              </a:rPr>
              <a:t>Simple asks</a:t>
            </a:r>
            <a:endParaRPr lang="en-US" sz="1500" dirty="0"/>
          </a:p>
        </p:txBody>
      </p:sp>
      <p:sp>
        <p:nvSpPr>
          <p:cNvPr id="7" name="Text 5"/>
          <p:cNvSpPr/>
          <p:nvPr/>
        </p:nvSpPr>
        <p:spPr>
          <a:xfrm>
            <a:off x="841248" y="2514600"/>
            <a:ext cx="4796028" cy="868680"/>
          </a:xfrm>
          <a:prstGeom prst="rect">
            <a:avLst/>
          </a:prstGeom>
          <a:noFill/>
          <a:ln/>
        </p:spPr>
        <p:txBody>
          <a:bodyPr wrap="square" rtlCol="0" anchor="ctr"/>
          <a:lstStyle/>
          <a:p>
            <a:pPr indent="0" marL="0">
              <a:lnSpc>
                <a:spcPts val="1600"/>
              </a:lnSpc>
              <a:buNone/>
            </a:pPr>
            <a:r>
              <a:rPr lang="en-US" sz="1250" dirty="0">
                <a:solidFill>
                  <a:srgbClr val="3A4452"/>
                </a:solidFill>
                <a:latin typeface="Arial" pitchFamily="34" charset="0"/>
                <a:ea typeface="Arial" pitchFamily="34" charset="-122"/>
                <a:cs typeface="Arial" pitchFamily="34" charset="-120"/>
              </a:rPr>
              <a:t>A quick rewrite or lookup needs no reasoning scaffold — just ask.</a:t>
            </a:r>
            <a:endParaRPr lang="en-US" sz="1250" dirty="0"/>
          </a:p>
        </p:txBody>
      </p:sp>
      <p:sp>
        <p:nvSpPr>
          <p:cNvPr id="8" name="Shape 6"/>
          <p:cNvSpPr/>
          <p:nvPr/>
        </p:nvSpPr>
        <p:spPr>
          <a:xfrm>
            <a:off x="6277356" y="1645920"/>
            <a:ext cx="5344668" cy="1874520"/>
          </a:xfrm>
          <a:prstGeom prst="roundRect">
            <a:avLst>
              <a:gd name="adj" fmla="val 439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9" name="Text 7"/>
          <p:cNvSpPr/>
          <p:nvPr/>
        </p:nvSpPr>
        <p:spPr>
          <a:xfrm>
            <a:off x="6551676" y="1920240"/>
            <a:ext cx="457200" cy="457200"/>
          </a:xfrm>
          <a:prstGeom prst="rect">
            <a:avLst/>
          </a:prstGeom>
          <a:noFill/>
          <a:ln/>
        </p:spPr>
        <p:txBody>
          <a:bodyPr wrap="square" lIns="0" tIns="0" rIns="0" bIns="0" rtlCol="0" anchor="ctr"/>
          <a:lstStyle/>
          <a:p>
            <a:pPr algn="ctr" indent="0" marL="0">
              <a:buNone/>
            </a:pPr>
            <a:r>
              <a:rPr lang="en-US" sz="2200" b="1" dirty="0">
                <a:solidFill>
                  <a:srgbClr val="D31242"/>
                </a:solidFill>
                <a:latin typeface="Arial" pitchFamily="34" charset="0"/>
                <a:ea typeface="Arial" pitchFamily="34" charset="-122"/>
                <a:cs typeface="Arial" pitchFamily="34" charset="-120"/>
              </a:rPr>
              <a:t>!</a:t>
            </a:r>
            <a:endParaRPr lang="en-US" sz="2200" dirty="0"/>
          </a:p>
        </p:txBody>
      </p:sp>
      <p:sp>
        <p:nvSpPr>
          <p:cNvPr id="10" name="Text 8"/>
          <p:cNvSpPr/>
          <p:nvPr/>
        </p:nvSpPr>
        <p:spPr>
          <a:xfrm>
            <a:off x="7146036" y="1938528"/>
            <a:ext cx="4247388" cy="457200"/>
          </a:xfrm>
          <a:prstGeom prst="rect">
            <a:avLst/>
          </a:prstGeom>
          <a:noFill/>
          <a:ln/>
        </p:spPr>
        <p:txBody>
          <a:bodyPr wrap="square" lIns="0" tIns="0" rIns="0" bIns="0" rtlCol="0" anchor="ctr"/>
          <a:lstStyle/>
          <a:p>
            <a:pPr indent="0" marL="0">
              <a:buNone/>
            </a:pPr>
            <a:r>
              <a:rPr lang="en-US" sz="1500" b="1" dirty="0">
                <a:solidFill>
                  <a:srgbClr val="1F2733"/>
                </a:solidFill>
                <a:latin typeface="Arial" pitchFamily="34" charset="0"/>
                <a:ea typeface="Arial" pitchFamily="34" charset="-122"/>
                <a:cs typeface="Arial" pitchFamily="34" charset="-120"/>
              </a:rPr>
              <a:t>Cost &amp; latency</a:t>
            </a:r>
            <a:endParaRPr lang="en-US" sz="1500" dirty="0"/>
          </a:p>
        </p:txBody>
      </p:sp>
      <p:sp>
        <p:nvSpPr>
          <p:cNvPr id="11" name="Text 9"/>
          <p:cNvSpPr/>
          <p:nvPr/>
        </p:nvSpPr>
        <p:spPr>
          <a:xfrm>
            <a:off x="6551676" y="2514600"/>
            <a:ext cx="4796028" cy="868680"/>
          </a:xfrm>
          <a:prstGeom prst="rect">
            <a:avLst/>
          </a:prstGeom>
          <a:noFill/>
          <a:ln/>
        </p:spPr>
        <p:txBody>
          <a:bodyPr wrap="square" rtlCol="0" anchor="ctr"/>
          <a:lstStyle/>
          <a:p>
            <a:pPr indent="0" marL="0">
              <a:lnSpc>
                <a:spcPts val="1600"/>
              </a:lnSpc>
              <a:buNone/>
            </a:pPr>
            <a:r>
              <a:rPr lang="en-US" sz="1250" dirty="0">
                <a:solidFill>
                  <a:srgbClr val="3A4452"/>
                </a:solidFill>
                <a:latin typeface="Arial" pitchFamily="34" charset="0"/>
                <a:ea typeface="Arial" pitchFamily="34" charset="-122"/>
                <a:cs typeface="Arial" pitchFamily="34" charset="-120"/>
              </a:rPr>
              <a:t>High Effort and long reasoning cost time and money. Match to stakes.</a:t>
            </a:r>
            <a:endParaRPr lang="en-US" sz="1250" dirty="0"/>
          </a:p>
        </p:txBody>
      </p:sp>
      <p:sp>
        <p:nvSpPr>
          <p:cNvPr id="12" name="Shape 10"/>
          <p:cNvSpPr/>
          <p:nvPr/>
        </p:nvSpPr>
        <p:spPr>
          <a:xfrm>
            <a:off x="566928" y="3794760"/>
            <a:ext cx="5344668" cy="1874520"/>
          </a:xfrm>
          <a:prstGeom prst="roundRect">
            <a:avLst>
              <a:gd name="adj" fmla="val 439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3" name="Text 11"/>
          <p:cNvSpPr/>
          <p:nvPr/>
        </p:nvSpPr>
        <p:spPr>
          <a:xfrm>
            <a:off x="841248" y="4069080"/>
            <a:ext cx="457200" cy="457200"/>
          </a:xfrm>
          <a:prstGeom prst="rect">
            <a:avLst/>
          </a:prstGeom>
          <a:noFill/>
          <a:ln/>
        </p:spPr>
        <p:txBody>
          <a:bodyPr wrap="square" lIns="0" tIns="0" rIns="0" bIns="0" rtlCol="0" anchor="ctr"/>
          <a:lstStyle/>
          <a:p>
            <a:pPr algn="ctr" indent="0" marL="0">
              <a:buNone/>
            </a:pPr>
            <a:r>
              <a:rPr lang="en-US" sz="2200" b="1" dirty="0">
                <a:solidFill>
                  <a:srgbClr val="D31242"/>
                </a:solidFill>
                <a:latin typeface="Arial" pitchFamily="34" charset="0"/>
                <a:ea typeface="Arial" pitchFamily="34" charset="-122"/>
                <a:cs typeface="Arial" pitchFamily="34" charset="-120"/>
              </a:rPr>
              <a:t>!</a:t>
            </a:r>
            <a:endParaRPr lang="en-US" sz="2200" dirty="0"/>
          </a:p>
        </p:txBody>
      </p:sp>
      <p:sp>
        <p:nvSpPr>
          <p:cNvPr id="14" name="Text 12"/>
          <p:cNvSpPr/>
          <p:nvPr/>
        </p:nvSpPr>
        <p:spPr>
          <a:xfrm>
            <a:off x="1435608" y="4087368"/>
            <a:ext cx="4247388" cy="457200"/>
          </a:xfrm>
          <a:prstGeom prst="rect">
            <a:avLst/>
          </a:prstGeom>
          <a:noFill/>
          <a:ln/>
        </p:spPr>
        <p:txBody>
          <a:bodyPr wrap="square" lIns="0" tIns="0" rIns="0" bIns="0" rtlCol="0" anchor="ctr"/>
          <a:lstStyle/>
          <a:p>
            <a:pPr indent="0" marL="0">
              <a:buNone/>
            </a:pPr>
            <a:r>
              <a:rPr lang="en-US" sz="1500" b="1" dirty="0">
                <a:solidFill>
                  <a:srgbClr val="1F2733"/>
                </a:solidFill>
                <a:latin typeface="Arial" pitchFamily="34" charset="0"/>
                <a:ea typeface="Arial" pitchFamily="34" charset="-122"/>
                <a:cs typeface="Arial" pitchFamily="34" charset="-120"/>
              </a:rPr>
              <a:t>Over-reasoning hurts</a:t>
            </a:r>
            <a:endParaRPr lang="en-US" sz="1500" dirty="0"/>
          </a:p>
        </p:txBody>
      </p:sp>
      <p:sp>
        <p:nvSpPr>
          <p:cNvPr id="15" name="Text 13"/>
          <p:cNvSpPr/>
          <p:nvPr/>
        </p:nvSpPr>
        <p:spPr>
          <a:xfrm>
            <a:off x="841248" y="4663440"/>
            <a:ext cx="4796028" cy="868680"/>
          </a:xfrm>
          <a:prstGeom prst="rect">
            <a:avLst/>
          </a:prstGeom>
          <a:noFill/>
          <a:ln/>
        </p:spPr>
        <p:txBody>
          <a:bodyPr wrap="square" rtlCol="0" anchor="ctr"/>
          <a:lstStyle/>
          <a:p>
            <a:pPr indent="0" marL="0">
              <a:lnSpc>
                <a:spcPts val="1600"/>
              </a:lnSpc>
              <a:buNone/>
            </a:pPr>
            <a:r>
              <a:rPr lang="en-US" sz="1250" dirty="0">
                <a:solidFill>
                  <a:srgbClr val="3A4452"/>
                </a:solidFill>
                <a:latin typeface="Arial" pitchFamily="34" charset="0"/>
                <a:ea typeface="Arial" pitchFamily="34" charset="-122"/>
                <a:cs typeface="Arial" pitchFamily="34" charset="-120"/>
              </a:rPr>
              <a:t>Too much deliberation can wander or over-complicate a simple answer.</a:t>
            </a:r>
            <a:endParaRPr lang="en-US" sz="1250" dirty="0"/>
          </a:p>
        </p:txBody>
      </p:sp>
      <p:sp>
        <p:nvSpPr>
          <p:cNvPr id="16" name="Shape 14"/>
          <p:cNvSpPr/>
          <p:nvPr/>
        </p:nvSpPr>
        <p:spPr>
          <a:xfrm>
            <a:off x="6277356" y="3794760"/>
            <a:ext cx="5344668" cy="1874520"/>
          </a:xfrm>
          <a:prstGeom prst="roundRect">
            <a:avLst>
              <a:gd name="adj" fmla="val 439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Text 15"/>
          <p:cNvSpPr/>
          <p:nvPr/>
        </p:nvSpPr>
        <p:spPr>
          <a:xfrm>
            <a:off x="6551676" y="4069080"/>
            <a:ext cx="457200" cy="457200"/>
          </a:xfrm>
          <a:prstGeom prst="rect">
            <a:avLst/>
          </a:prstGeom>
          <a:noFill/>
          <a:ln/>
        </p:spPr>
        <p:txBody>
          <a:bodyPr wrap="square" lIns="0" tIns="0" rIns="0" bIns="0" rtlCol="0" anchor="ctr"/>
          <a:lstStyle/>
          <a:p>
            <a:pPr algn="ctr" indent="0" marL="0">
              <a:buNone/>
            </a:pPr>
            <a:r>
              <a:rPr lang="en-US" sz="2200" b="1" dirty="0">
                <a:solidFill>
                  <a:srgbClr val="D31242"/>
                </a:solidFill>
                <a:latin typeface="Arial" pitchFamily="34" charset="0"/>
                <a:ea typeface="Arial" pitchFamily="34" charset="-122"/>
                <a:cs typeface="Arial" pitchFamily="34" charset="-120"/>
              </a:rPr>
              <a:t>!</a:t>
            </a:r>
            <a:endParaRPr lang="en-US" sz="2200" dirty="0"/>
          </a:p>
        </p:txBody>
      </p:sp>
      <p:sp>
        <p:nvSpPr>
          <p:cNvPr id="18" name="Text 16"/>
          <p:cNvSpPr/>
          <p:nvPr/>
        </p:nvSpPr>
        <p:spPr>
          <a:xfrm>
            <a:off x="7146036" y="4087368"/>
            <a:ext cx="4247388" cy="457200"/>
          </a:xfrm>
          <a:prstGeom prst="rect">
            <a:avLst/>
          </a:prstGeom>
          <a:noFill/>
          <a:ln/>
        </p:spPr>
        <p:txBody>
          <a:bodyPr wrap="square" lIns="0" tIns="0" rIns="0" bIns="0" rtlCol="0" anchor="ctr"/>
          <a:lstStyle/>
          <a:p>
            <a:pPr indent="0" marL="0">
              <a:buNone/>
            </a:pPr>
            <a:r>
              <a:rPr lang="en-US" sz="1500" b="1" dirty="0">
                <a:solidFill>
                  <a:srgbClr val="1F2733"/>
                </a:solidFill>
                <a:latin typeface="Arial" pitchFamily="34" charset="0"/>
                <a:ea typeface="Arial" pitchFamily="34" charset="-122"/>
                <a:cs typeface="Arial" pitchFamily="34" charset="-120"/>
              </a:rPr>
              <a:t>The CoT caveat</a:t>
            </a:r>
            <a:endParaRPr lang="en-US" sz="1500" dirty="0"/>
          </a:p>
        </p:txBody>
      </p:sp>
      <p:sp>
        <p:nvSpPr>
          <p:cNvPr id="19" name="Text 17"/>
          <p:cNvSpPr/>
          <p:nvPr/>
        </p:nvSpPr>
        <p:spPr>
          <a:xfrm>
            <a:off x="6551676" y="4663440"/>
            <a:ext cx="4796028" cy="868680"/>
          </a:xfrm>
          <a:prstGeom prst="rect">
            <a:avLst/>
          </a:prstGeom>
          <a:noFill/>
          <a:ln/>
        </p:spPr>
        <p:txBody>
          <a:bodyPr wrap="square" rtlCol="0" anchor="ctr"/>
          <a:lstStyle/>
          <a:p>
            <a:pPr indent="0" marL="0">
              <a:lnSpc>
                <a:spcPts val="1600"/>
              </a:lnSpc>
              <a:buNone/>
            </a:pPr>
            <a:r>
              <a:rPr lang="en-US" sz="1250" dirty="0">
                <a:solidFill>
                  <a:srgbClr val="3A4452"/>
                </a:solidFill>
                <a:latin typeface="Arial" pitchFamily="34" charset="0"/>
                <a:ea typeface="Arial" pitchFamily="34" charset="-122"/>
                <a:cs typeface="Arial" pitchFamily="34" charset="-120"/>
              </a:rPr>
              <a:t>On reasoning models, 'think step by step' often adds little — don't cargo-cult it.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MAKE IT REAL</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Where reasoning patterns earn their keep at BJ's</a:t>
            </a:r>
            <a:endParaRPr lang="en-US" sz="2700" dirty="0"/>
          </a:p>
        </p:txBody>
      </p:sp>
      <p:sp>
        <p:nvSpPr>
          <p:cNvPr id="4" name="Shape 2"/>
          <p:cNvSpPr/>
          <p:nvPr/>
        </p:nvSpPr>
        <p:spPr>
          <a:xfrm>
            <a:off x="566928" y="1554480"/>
            <a:ext cx="3471672" cy="1920240"/>
          </a:xfrm>
          <a:prstGeom prst="roundRect">
            <a:avLst>
              <a:gd name="adj" fmla="val 4286"/>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795528" y="1755648"/>
            <a:ext cx="3014472" cy="457200"/>
          </a:xfrm>
          <a:prstGeom prst="rect">
            <a:avLst/>
          </a:prstGeom>
          <a:noFill/>
          <a:ln/>
        </p:spPr>
        <p:txBody>
          <a:bodyPr wrap="square" rtlCol="0" anchor="ctr"/>
          <a:lstStyle/>
          <a:p>
            <a:pPr indent="0" marL="0">
              <a:lnSpc>
                <a:spcPts val="1600"/>
              </a:lnSpc>
              <a:buNone/>
            </a:pPr>
            <a:r>
              <a:rPr lang="en-US" sz="1400" b="1" dirty="0">
                <a:solidFill>
                  <a:srgbClr val="D31242"/>
                </a:solidFill>
                <a:latin typeface="Arial" pitchFamily="34" charset="0"/>
                <a:ea typeface="Arial" pitchFamily="34" charset="-122"/>
                <a:cs typeface="Arial" pitchFamily="34" charset="-120"/>
              </a:rPr>
              <a:t>Staffing &amp; hours</a:t>
            </a:r>
            <a:endParaRPr lang="en-US" sz="1400" dirty="0"/>
          </a:p>
        </p:txBody>
      </p:sp>
      <p:sp>
        <p:nvSpPr>
          <p:cNvPr id="6" name="Text 4"/>
          <p:cNvSpPr/>
          <p:nvPr/>
        </p:nvSpPr>
        <p:spPr>
          <a:xfrm>
            <a:off x="795528" y="2304288"/>
            <a:ext cx="3014472" cy="100584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Think in code for exact totals; decompose coverage by zone.</a:t>
            </a:r>
            <a:endParaRPr lang="en-US" sz="1200" dirty="0"/>
          </a:p>
        </p:txBody>
      </p:sp>
      <p:sp>
        <p:nvSpPr>
          <p:cNvPr id="7" name="Shape 5"/>
          <p:cNvSpPr/>
          <p:nvPr/>
        </p:nvSpPr>
        <p:spPr>
          <a:xfrm>
            <a:off x="4358640" y="1554480"/>
            <a:ext cx="3471672" cy="1920240"/>
          </a:xfrm>
          <a:prstGeom prst="roundRect">
            <a:avLst>
              <a:gd name="adj" fmla="val 4286"/>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4587240" y="1755648"/>
            <a:ext cx="3014472" cy="457200"/>
          </a:xfrm>
          <a:prstGeom prst="rect">
            <a:avLst/>
          </a:prstGeom>
          <a:noFill/>
          <a:ln/>
        </p:spPr>
        <p:txBody>
          <a:bodyPr wrap="square" rtlCol="0" anchor="ctr"/>
          <a:lstStyle/>
          <a:p>
            <a:pPr indent="0" marL="0">
              <a:lnSpc>
                <a:spcPts val="1600"/>
              </a:lnSpc>
              <a:buNone/>
            </a:pPr>
            <a:r>
              <a:rPr lang="en-US" sz="1400" b="1" dirty="0">
                <a:solidFill>
                  <a:srgbClr val="D31242"/>
                </a:solidFill>
                <a:latin typeface="Arial" pitchFamily="34" charset="0"/>
                <a:ea typeface="Arial" pitchFamily="34" charset="-122"/>
                <a:cs typeface="Arial" pitchFamily="34" charset="-120"/>
              </a:rPr>
              <a:t>Policy edge cases</a:t>
            </a:r>
            <a:endParaRPr lang="en-US" sz="1400" dirty="0"/>
          </a:p>
        </p:txBody>
      </p:sp>
      <p:sp>
        <p:nvSpPr>
          <p:cNvPr id="9" name="Text 7"/>
          <p:cNvSpPr/>
          <p:nvPr/>
        </p:nvSpPr>
        <p:spPr>
          <a:xfrm>
            <a:off x="4587240" y="2304288"/>
            <a:ext cx="3014472" cy="100584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Step-back for the rule's intent; source-grounded + verify the answer.</a:t>
            </a:r>
            <a:endParaRPr lang="en-US" sz="1200" dirty="0"/>
          </a:p>
        </p:txBody>
      </p:sp>
      <p:sp>
        <p:nvSpPr>
          <p:cNvPr id="10" name="Shape 8"/>
          <p:cNvSpPr/>
          <p:nvPr/>
        </p:nvSpPr>
        <p:spPr>
          <a:xfrm>
            <a:off x="8150352" y="1554480"/>
            <a:ext cx="3471672" cy="1920240"/>
          </a:xfrm>
          <a:prstGeom prst="roundRect">
            <a:avLst>
              <a:gd name="adj" fmla="val 4286"/>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Text 9"/>
          <p:cNvSpPr/>
          <p:nvPr/>
        </p:nvSpPr>
        <p:spPr>
          <a:xfrm>
            <a:off x="8378952" y="1755648"/>
            <a:ext cx="3014472" cy="457200"/>
          </a:xfrm>
          <a:prstGeom prst="rect">
            <a:avLst/>
          </a:prstGeom>
          <a:noFill/>
          <a:ln/>
        </p:spPr>
        <p:txBody>
          <a:bodyPr wrap="square" rtlCol="0" anchor="ctr"/>
          <a:lstStyle/>
          <a:p>
            <a:pPr indent="0" marL="0">
              <a:lnSpc>
                <a:spcPts val="1600"/>
              </a:lnSpc>
              <a:buNone/>
            </a:pPr>
            <a:r>
              <a:rPr lang="en-US" sz="1400" b="1" dirty="0">
                <a:solidFill>
                  <a:srgbClr val="D31242"/>
                </a:solidFill>
                <a:latin typeface="Arial" pitchFamily="34" charset="0"/>
                <a:ea typeface="Arial" pitchFamily="34" charset="-122"/>
                <a:cs typeface="Arial" pitchFamily="34" charset="-120"/>
              </a:rPr>
              <a:t>Vendor decisions</a:t>
            </a:r>
            <a:endParaRPr lang="en-US" sz="1400" dirty="0"/>
          </a:p>
        </p:txBody>
      </p:sp>
      <p:sp>
        <p:nvSpPr>
          <p:cNvPr id="12" name="Text 10"/>
          <p:cNvSpPr/>
          <p:nvPr/>
        </p:nvSpPr>
        <p:spPr>
          <a:xfrm>
            <a:off x="8378952" y="2304288"/>
            <a:ext cx="3014472" cy="100584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Decompose the comparison; best-of-N the recommendation.</a:t>
            </a:r>
            <a:endParaRPr lang="en-US" sz="1200" dirty="0"/>
          </a:p>
        </p:txBody>
      </p:sp>
      <p:sp>
        <p:nvSpPr>
          <p:cNvPr id="13" name="Shape 11"/>
          <p:cNvSpPr/>
          <p:nvPr/>
        </p:nvSpPr>
        <p:spPr>
          <a:xfrm>
            <a:off x="566928" y="3749040"/>
            <a:ext cx="3471672" cy="1920240"/>
          </a:xfrm>
          <a:prstGeom prst="roundRect">
            <a:avLst>
              <a:gd name="adj" fmla="val 4286"/>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4" name="Text 12"/>
          <p:cNvSpPr/>
          <p:nvPr/>
        </p:nvSpPr>
        <p:spPr>
          <a:xfrm>
            <a:off x="795528" y="3950208"/>
            <a:ext cx="3014472" cy="457200"/>
          </a:xfrm>
          <a:prstGeom prst="rect">
            <a:avLst/>
          </a:prstGeom>
          <a:noFill/>
          <a:ln/>
        </p:spPr>
        <p:txBody>
          <a:bodyPr wrap="square" rtlCol="0" anchor="ctr"/>
          <a:lstStyle/>
          <a:p>
            <a:pPr indent="0" marL="0">
              <a:lnSpc>
                <a:spcPts val="1600"/>
              </a:lnSpc>
              <a:buNone/>
            </a:pPr>
            <a:r>
              <a:rPr lang="en-US" sz="1400" b="1" dirty="0">
                <a:solidFill>
                  <a:srgbClr val="D31242"/>
                </a:solidFill>
                <a:latin typeface="Arial" pitchFamily="34" charset="0"/>
                <a:ea typeface="Arial" pitchFamily="34" charset="-122"/>
                <a:cs typeface="Arial" pitchFamily="34" charset="-120"/>
              </a:rPr>
              <a:t>Member replies</a:t>
            </a:r>
            <a:endParaRPr lang="en-US" sz="1400" dirty="0"/>
          </a:p>
        </p:txBody>
      </p:sp>
      <p:sp>
        <p:nvSpPr>
          <p:cNvPr id="15" name="Text 13"/>
          <p:cNvSpPr/>
          <p:nvPr/>
        </p:nvSpPr>
        <p:spPr>
          <a:xfrm>
            <a:off x="795528" y="4498848"/>
            <a:ext cx="3014472" cy="100584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Self-refine the draft; verify any facts before it sends.</a:t>
            </a:r>
            <a:endParaRPr lang="en-US" sz="1200" dirty="0"/>
          </a:p>
        </p:txBody>
      </p:sp>
      <p:sp>
        <p:nvSpPr>
          <p:cNvPr id="16" name="Shape 14"/>
          <p:cNvSpPr/>
          <p:nvPr/>
        </p:nvSpPr>
        <p:spPr>
          <a:xfrm>
            <a:off x="4358640" y="3749040"/>
            <a:ext cx="3471672" cy="1920240"/>
          </a:xfrm>
          <a:prstGeom prst="roundRect">
            <a:avLst>
              <a:gd name="adj" fmla="val 4286"/>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Text 15"/>
          <p:cNvSpPr/>
          <p:nvPr/>
        </p:nvSpPr>
        <p:spPr>
          <a:xfrm>
            <a:off x="4587240" y="3950208"/>
            <a:ext cx="3014472" cy="457200"/>
          </a:xfrm>
          <a:prstGeom prst="rect">
            <a:avLst/>
          </a:prstGeom>
          <a:noFill/>
          <a:ln/>
        </p:spPr>
        <p:txBody>
          <a:bodyPr wrap="square" rtlCol="0" anchor="ctr"/>
          <a:lstStyle/>
          <a:p>
            <a:pPr indent="0" marL="0">
              <a:lnSpc>
                <a:spcPts val="1600"/>
              </a:lnSpc>
              <a:buNone/>
            </a:pPr>
            <a:r>
              <a:rPr lang="en-US" sz="1400" b="1" dirty="0">
                <a:solidFill>
                  <a:srgbClr val="D31242"/>
                </a:solidFill>
                <a:latin typeface="Arial" pitchFamily="34" charset="0"/>
                <a:ea typeface="Arial" pitchFamily="34" charset="-122"/>
                <a:cs typeface="Arial" pitchFamily="34" charset="-120"/>
              </a:rPr>
              <a:t>Leadership summaries</a:t>
            </a:r>
            <a:endParaRPr lang="en-US" sz="1400" dirty="0"/>
          </a:p>
        </p:txBody>
      </p:sp>
      <p:sp>
        <p:nvSpPr>
          <p:cNvPr id="18" name="Text 16"/>
          <p:cNvSpPr/>
          <p:nvPr/>
        </p:nvSpPr>
        <p:spPr>
          <a:xfrm>
            <a:off x="4587240" y="4498848"/>
            <a:ext cx="3014472" cy="100584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Chain-of-verification on the numbers and claims.</a:t>
            </a:r>
            <a:endParaRPr lang="en-US" sz="1200" dirty="0"/>
          </a:p>
        </p:txBody>
      </p:sp>
      <p:sp>
        <p:nvSpPr>
          <p:cNvPr id="19" name="Shape 17"/>
          <p:cNvSpPr/>
          <p:nvPr/>
        </p:nvSpPr>
        <p:spPr>
          <a:xfrm>
            <a:off x="8150352" y="3749040"/>
            <a:ext cx="3471672" cy="1920240"/>
          </a:xfrm>
          <a:prstGeom prst="roundRect">
            <a:avLst>
              <a:gd name="adj" fmla="val 4286"/>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0" name="Text 18"/>
          <p:cNvSpPr/>
          <p:nvPr/>
        </p:nvSpPr>
        <p:spPr>
          <a:xfrm>
            <a:off x="8378952" y="3950208"/>
            <a:ext cx="3014472" cy="457200"/>
          </a:xfrm>
          <a:prstGeom prst="rect">
            <a:avLst/>
          </a:prstGeom>
          <a:noFill/>
          <a:ln/>
        </p:spPr>
        <p:txBody>
          <a:bodyPr wrap="square" rtlCol="0" anchor="ctr"/>
          <a:lstStyle/>
          <a:p>
            <a:pPr indent="0" marL="0">
              <a:lnSpc>
                <a:spcPts val="1600"/>
              </a:lnSpc>
              <a:buNone/>
            </a:pPr>
            <a:r>
              <a:rPr lang="en-US" sz="1400" b="1" dirty="0">
                <a:solidFill>
                  <a:srgbClr val="D31242"/>
                </a:solidFill>
                <a:latin typeface="Arial" pitchFamily="34" charset="0"/>
                <a:ea typeface="Arial" pitchFamily="34" charset="-122"/>
                <a:cs typeface="Arial" pitchFamily="34" charset="-120"/>
              </a:rPr>
              <a:t>Meeting notes</a:t>
            </a:r>
            <a:endParaRPr lang="en-US" sz="1400" dirty="0"/>
          </a:p>
        </p:txBody>
      </p:sp>
      <p:sp>
        <p:nvSpPr>
          <p:cNvPr id="21" name="Text 19"/>
          <p:cNvSpPr/>
          <p:nvPr/>
        </p:nvSpPr>
        <p:spPr>
          <a:xfrm>
            <a:off x="8378952" y="4498848"/>
            <a:ext cx="3014472" cy="100584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Outline-first (skeleton), then expand into actions.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ASSEMBLE</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A reason-then-verify prompt — built up</a:t>
            </a:r>
            <a:endParaRPr lang="en-US" sz="2700" dirty="0"/>
          </a:p>
        </p:txBody>
      </p:sp>
      <p:sp>
        <p:nvSpPr>
          <p:cNvPr id="4" name="Shape 2"/>
          <p:cNvSpPr/>
          <p:nvPr/>
        </p:nvSpPr>
        <p:spPr>
          <a:xfrm>
            <a:off x="566928" y="1508760"/>
            <a:ext cx="7498080" cy="4297680"/>
          </a:xfrm>
          <a:prstGeom prst="roundRect">
            <a:avLst>
              <a:gd name="adj" fmla="val 1915"/>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768096" y="1618488"/>
            <a:ext cx="713232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LAYERED PROMPT</a:t>
            </a:r>
            <a:endParaRPr lang="en-US" sz="900" dirty="0"/>
          </a:p>
        </p:txBody>
      </p:sp>
      <p:sp>
        <p:nvSpPr>
          <p:cNvPr id="6" name="Text 4"/>
          <p:cNvSpPr/>
          <p:nvPr/>
        </p:nvSpPr>
        <p:spPr>
          <a:xfrm>
            <a:off x="795528" y="1892808"/>
            <a:ext cx="7040880" cy="3785616"/>
          </a:xfrm>
          <a:prstGeom prst="rect">
            <a:avLst/>
          </a:prstGeom>
          <a:noFill/>
          <a:ln/>
        </p:spPr>
        <p:txBody>
          <a:bodyPr wrap="square" rtlCol="0" anchor="t"/>
          <a:lstStyle/>
          <a:p>
            <a:pPr algn="l" indent="0" marL="0">
              <a:lnSpc>
                <a:spcPts val="1500"/>
              </a:lnSpc>
              <a:buNone/>
            </a:pPr>
            <a:r>
              <a:rPr lang="en-US" sz="1100" dirty="0">
                <a:solidFill>
                  <a:srgbClr val="5E6A78"/>
                </a:solidFill>
                <a:latin typeface="Courier New" pitchFamily="34" charset="0"/>
                <a:ea typeface="Courier New" pitchFamily="34" charset="-122"/>
                <a:cs typeface="Courier New" pitchFamily="34" charset="-120"/>
              </a:rPr>
              <a:t>[role + tagged &lt;policy&gt; + &lt;case&gt; from M2]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Step 1:</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reason through eligibility in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&lt;thinking&gt;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 decompose it.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Step 2:</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use code for any date/▸
math so it's exact.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Step 3:</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draft the member reply in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&lt;answer&gt;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Step 4:</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list what to verify against</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the </a:t>
            </a:r>
            <a:endParaRPr lang="en-US" sz="1100" dirty="0"/>
          </a:p>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&lt;policy&gt;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in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&lt;verify&gt;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tags.</a:t>
            </a:r>
            <a:endParaRPr lang="en-US" sz="1100" dirty="0"/>
          </a:p>
        </p:txBody>
      </p:sp>
      <p:sp>
        <p:nvSpPr>
          <p:cNvPr id="7" name="Shape 5"/>
          <p:cNvSpPr/>
          <p:nvPr/>
        </p:nvSpPr>
        <p:spPr>
          <a:xfrm>
            <a:off x="8229600" y="1508760"/>
            <a:ext cx="3383280" cy="4297680"/>
          </a:xfrm>
          <a:prstGeom prst="roundRect">
            <a:avLst>
              <a:gd name="adj" fmla="val 243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8458200" y="1737360"/>
            <a:ext cx="3017520" cy="365760"/>
          </a:xfrm>
          <a:prstGeom prst="rect">
            <a:avLst/>
          </a:prstGeom>
          <a:noFill/>
          <a:ln/>
        </p:spPr>
        <p:txBody>
          <a:bodyPr wrap="square" rtlCol="0" anchor="ctr"/>
          <a:lstStyle/>
          <a:p>
            <a:pPr indent="0" marL="0">
              <a:buNone/>
            </a:pPr>
            <a:r>
              <a:rPr lang="en-US" sz="1400" b="1" dirty="0">
                <a:solidFill>
                  <a:srgbClr val="D31242"/>
                </a:solidFill>
                <a:latin typeface="Arial" pitchFamily="34" charset="0"/>
                <a:ea typeface="Arial" pitchFamily="34" charset="-122"/>
                <a:cs typeface="Arial" pitchFamily="34" charset="-120"/>
              </a:rPr>
              <a:t>Patterns used</a:t>
            </a:r>
            <a:endParaRPr lang="en-US" sz="1400" dirty="0"/>
          </a:p>
        </p:txBody>
      </p:sp>
      <p:sp>
        <p:nvSpPr>
          <p:cNvPr id="9" name="Text 7"/>
          <p:cNvSpPr/>
          <p:nvPr/>
        </p:nvSpPr>
        <p:spPr>
          <a:xfrm>
            <a:off x="8458200" y="2148840"/>
            <a:ext cx="3017520" cy="3657600"/>
          </a:xfrm>
          <a:prstGeom prst="rect">
            <a:avLst/>
          </a:prstGeom>
          <a:noFill/>
          <a:ln/>
        </p:spPr>
        <p:txBody>
          <a:bodyPr wrap="square" rtlCol="0" anchor="t"/>
          <a:lstStyle/>
          <a:p>
            <a:pPr indent="0" marL="0">
              <a:lnSpc>
                <a:spcPts val="1800"/>
              </a:lnSpc>
              <a:buNone/>
            </a:pPr>
            <a:r>
              <a:rPr lang="en-US" sz="1150" b="1" dirty="0">
                <a:solidFill>
                  <a:srgbClr val="1F2733"/>
                </a:solidFill>
                <a:latin typeface="Arial" pitchFamily="34" charset="0"/>
                <a:ea typeface="Arial" pitchFamily="34" charset="-122"/>
                <a:cs typeface="Arial" pitchFamily="34" charset="-120"/>
              </a:rPr>
              <a:t>Decompose</a:t>
            </a:r>
            <a:pPr indent="0" marL="0">
              <a:lnSpc>
                <a:spcPts val="1800"/>
              </a:lnSpc>
              <a:buNone/>
            </a:pPr>
            <a:r>
              <a:rPr lang="en-US" sz="1150" dirty="0">
                <a:solidFill>
                  <a:srgbClr val="3A4452"/>
                </a:solidFill>
                <a:latin typeface="Arial" pitchFamily="34" charset="0"/>
                <a:ea typeface="Arial" pitchFamily="34" charset="-122"/>
                <a:cs typeface="Arial" pitchFamily="34" charset="-120"/>
              </a:rPr>
              <a:t> → eligibility steps</a:t>
            </a:r>
            <a:endParaRPr lang="en-US" sz="1150" dirty="0"/>
          </a:p>
          <a:p>
            <a:pPr indent="0" marL="0">
              <a:lnSpc>
                <a:spcPts val="1800"/>
              </a:lnSpc>
              <a:buNone/>
            </a:pPr>
            <a:r>
              <a:rPr lang="en-US" sz="1150" b="1" dirty="0">
                <a:solidFill>
                  <a:srgbClr val="1F2733"/>
                </a:solidFill>
                <a:latin typeface="Arial" pitchFamily="34" charset="0"/>
                <a:ea typeface="Arial" pitchFamily="34" charset="-122"/>
                <a:cs typeface="Arial" pitchFamily="34" charset="-120"/>
              </a:rPr>
              <a:t>Structured thinking</a:t>
            </a:r>
            <a:pPr indent="0" marL="0">
              <a:lnSpc>
                <a:spcPts val="1800"/>
              </a:lnSpc>
              <a:buNone/>
            </a:pPr>
            <a:r>
              <a:rPr lang="en-US" sz="1150" dirty="0">
                <a:solidFill>
                  <a:srgbClr val="3A4452"/>
                </a:solidFill>
                <a:latin typeface="Arial" pitchFamily="34" charset="0"/>
                <a:ea typeface="Arial" pitchFamily="34" charset="-122"/>
                <a:cs typeface="Arial" pitchFamily="34" charset="-120"/>
              </a:rPr>
              <a:t> → visible logic</a:t>
            </a:r>
            <a:endParaRPr lang="en-US" sz="1150" dirty="0"/>
          </a:p>
          <a:p>
            <a:pPr indent="0" marL="0">
              <a:lnSpc>
                <a:spcPts val="1800"/>
              </a:lnSpc>
              <a:buNone/>
            </a:pPr>
            <a:r>
              <a:rPr lang="en-US" sz="1150" b="1" dirty="0">
                <a:solidFill>
                  <a:srgbClr val="1F2733"/>
                </a:solidFill>
                <a:latin typeface="Arial" pitchFamily="34" charset="0"/>
                <a:ea typeface="Arial" pitchFamily="34" charset="-122"/>
                <a:cs typeface="Arial" pitchFamily="34" charset="-120"/>
              </a:rPr>
              <a:t>Think in code</a:t>
            </a:r>
            <a:pPr indent="0" marL="0">
              <a:lnSpc>
                <a:spcPts val="1800"/>
              </a:lnSpc>
              <a:buNone/>
            </a:pPr>
            <a:r>
              <a:rPr lang="en-US" sz="1150" dirty="0">
                <a:solidFill>
                  <a:srgbClr val="3A4452"/>
                </a:solidFill>
                <a:latin typeface="Arial" pitchFamily="34" charset="0"/>
                <a:ea typeface="Arial" pitchFamily="34" charset="-122"/>
                <a:cs typeface="Arial" pitchFamily="34" charset="-120"/>
              </a:rPr>
              <a:t> → exact math</a:t>
            </a:r>
            <a:endParaRPr lang="en-US" sz="1150" dirty="0"/>
          </a:p>
          <a:p>
            <a:pPr indent="0" marL="0">
              <a:lnSpc>
                <a:spcPts val="1800"/>
              </a:lnSpc>
              <a:buNone/>
            </a:pPr>
            <a:r>
              <a:rPr lang="en-US" sz="1150" b="1" dirty="0">
                <a:solidFill>
                  <a:srgbClr val="1F2733"/>
                </a:solidFill>
                <a:latin typeface="Arial" pitchFamily="34" charset="0"/>
                <a:ea typeface="Arial" pitchFamily="34" charset="-122"/>
                <a:cs typeface="Arial" pitchFamily="34" charset="-120"/>
              </a:rPr>
              <a:t>Self-refine</a:t>
            </a:r>
            <a:pPr indent="0" marL="0">
              <a:lnSpc>
                <a:spcPts val="1800"/>
              </a:lnSpc>
              <a:buNone/>
            </a:pPr>
            <a:r>
              <a:rPr lang="en-US" sz="1150" dirty="0">
                <a:solidFill>
                  <a:srgbClr val="3A4452"/>
                </a:solidFill>
                <a:latin typeface="Arial" pitchFamily="34" charset="0"/>
                <a:ea typeface="Arial" pitchFamily="34" charset="-122"/>
                <a:cs typeface="Arial" pitchFamily="34" charset="-120"/>
              </a:rPr>
              <a:t> → clean reply</a:t>
            </a:r>
            <a:endParaRPr lang="en-US" sz="1150" dirty="0"/>
          </a:p>
          <a:p>
            <a:pPr indent="0" marL="0">
              <a:lnSpc>
                <a:spcPts val="1800"/>
              </a:lnSpc>
              <a:buNone/>
            </a:pPr>
            <a:r>
              <a:rPr lang="en-US" sz="1150" b="1" dirty="0">
                <a:solidFill>
                  <a:srgbClr val="1F2733"/>
                </a:solidFill>
                <a:latin typeface="Arial" pitchFamily="34" charset="0"/>
                <a:ea typeface="Arial" pitchFamily="34" charset="-122"/>
                <a:cs typeface="Arial" pitchFamily="34" charset="-120"/>
              </a:rPr>
              <a:t>Verify / CoVe</a:t>
            </a:r>
            <a:pPr indent="0" marL="0">
              <a:lnSpc>
                <a:spcPts val="1800"/>
              </a:lnSpc>
              <a:buNone/>
            </a:pPr>
            <a:r>
              <a:rPr lang="en-US" sz="1150" dirty="0">
                <a:solidFill>
                  <a:srgbClr val="3A4452"/>
                </a:solidFill>
                <a:latin typeface="Arial" pitchFamily="34" charset="0"/>
                <a:ea typeface="Arial" pitchFamily="34" charset="-122"/>
                <a:cs typeface="Arial" pitchFamily="34" charset="-120"/>
              </a:rPr>
              <a:t> → fact-check</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7E0A27"/>
        </a:solidFill>
      </p:bgPr>
    </p:bg>
    <p:spTree>
      <p:nvGrpSpPr>
        <p:cNvPr id="1" name=""/>
        <p:cNvGrpSpPr/>
        <p:nvPr/>
      </p:nvGrpSpPr>
      <p:grpSpPr>
        <a:xfrm>
          <a:off x="0" y="0"/>
          <a:ext cx="0" cy="0"/>
          <a:chOff x="0" y="0"/>
          <a:chExt cx="0" cy="0"/>
        </a:xfrm>
      </p:grpSpPr>
      <p:sp>
        <p:nvSpPr>
          <p:cNvPr id="2" name="Shape 0"/>
          <p:cNvSpPr/>
          <p:nvPr/>
        </p:nvSpPr>
        <p:spPr>
          <a:xfrm>
            <a:off x="9875520" y="-1463040"/>
            <a:ext cx="4754880" cy="4754880"/>
          </a:xfrm>
          <a:prstGeom prst="ellipse">
            <a:avLst/>
          </a:prstGeom>
          <a:solidFill>
            <a:srgbClr val="A60E34"/>
          </a:solidFill>
          <a:ln/>
        </p:spPr>
      </p:sp>
      <p:sp>
        <p:nvSpPr>
          <p:cNvPr id="3" name="Text 1"/>
          <p:cNvSpPr/>
          <p:nvPr/>
        </p:nvSpPr>
        <p:spPr>
          <a:xfrm>
            <a:off x="566928" y="548640"/>
            <a:ext cx="10058400" cy="365760"/>
          </a:xfrm>
          <a:prstGeom prst="rect">
            <a:avLst/>
          </a:prstGeom>
          <a:noFill/>
          <a:ln/>
        </p:spPr>
        <p:txBody>
          <a:bodyPr wrap="square" rtlCol="0" anchor="ctr"/>
          <a:lstStyle/>
          <a:p>
            <a:pPr indent="0" marL="0">
              <a:buNone/>
            </a:pPr>
            <a:r>
              <a:rPr lang="en-US" sz="1300" b="1" spc="300" kern="0" dirty="0">
                <a:solidFill>
                  <a:srgbClr val="F7B9C6"/>
                </a:solidFill>
                <a:latin typeface="Arial" pitchFamily="34" charset="0"/>
                <a:ea typeface="Arial" pitchFamily="34" charset="-122"/>
                <a:cs typeface="Arial" pitchFamily="34" charset="-120"/>
              </a:rPr>
              <a:t>FACILITATOR LIVE DEMOS</a:t>
            </a:r>
            <a:endParaRPr lang="en-US" sz="1300" dirty="0"/>
          </a:p>
        </p:txBody>
      </p:sp>
      <p:sp>
        <p:nvSpPr>
          <p:cNvPr id="4" name="Text 2"/>
          <p:cNvSpPr/>
          <p:nvPr/>
        </p:nvSpPr>
        <p:spPr>
          <a:xfrm>
            <a:off x="566928" y="914400"/>
            <a:ext cx="10789920" cy="6400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Three quick demos</a:t>
            </a:r>
            <a:endParaRPr lang="en-US" sz="2600" dirty="0"/>
          </a:p>
        </p:txBody>
      </p:sp>
      <p:sp>
        <p:nvSpPr>
          <p:cNvPr id="5" name="Shape 3"/>
          <p:cNvSpPr/>
          <p:nvPr/>
        </p:nvSpPr>
        <p:spPr>
          <a:xfrm>
            <a:off x="566928" y="1783080"/>
            <a:ext cx="3502152" cy="3977640"/>
          </a:xfrm>
          <a:prstGeom prst="roundRect">
            <a:avLst>
              <a:gd name="adj" fmla="val 235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6" name="Text 4"/>
          <p:cNvSpPr/>
          <p:nvPr/>
        </p:nvSpPr>
        <p:spPr>
          <a:xfrm>
            <a:off x="795528" y="1965960"/>
            <a:ext cx="3044952" cy="411480"/>
          </a:xfrm>
          <a:prstGeom prst="rect">
            <a:avLst/>
          </a:prstGeom>
          <a:noFill/>
          <a:ln/>
        </p:spPr>
        <p:txBody>
          <a:bodyPr wrap="square" rtlCol="0" anchor="ctr"/>
          <a:lstStyle/>
          <a:p>
            <a:pPr indent="0" marL="0">
              <a:buNone/>
            </a:pPr>
            <a:r>
              <a:rPr lang="en-US" sz="1400" b="1" dirty="0">
                <a:solidFill>
                  <a:srgbClr val="D31242"/>
                </a:solidFill>
                <a:latin typeface="Arial" pitchFamily="34" charset="0"/>
                <a:ea typeface="Arial" pitchFamily="34" charset="-122"/>
                <a:cs typeface="Arial" pitchFamily="34" charset="-120"/>
              </a:rPr>
              <a:t>Demo 1 — Think in code</a:t>
            </a:r>
            <a:endParaRPr lang="en-US" sz="1400" dirty="0"/>
          </a:p>
        </p:txBody>
      </p:sp>
      <p:sp>
        <p:nvSpPr>
          <p:cNvPr id="7" name="Text 5"/>
          <p:cNvSpPr/>
          <p:nvPr/>
        </p:nvSpPr>
        <p:spPr>
          <a:xfrm>
            <a:off x="795528" y="2423160"/>
            <a:ext cx="3044952" cy="2286000"/>
          </a:xfrm>
          <a:prstGeom prst="rect">
            <a:avLst/>
          </a:prstGeom>
          <a:noFill/>
          <a:ln/>
        </p:spPr>
        <p:txBody>
          <a:bodyPr wrap="square" rtlCol="0" anchor="ctr"/>
          <a:lstStyle/>
          <a:p>
            <a:pPr indent="0" marL="0">
              <a:lnSpc>
                <a:spcPts val="1700"/>
              </a:lnSpc>
              <a:buNone/>
            </a:pPr>
            <a:r>
              <a:rPr lang="en-US" sz="1200" dirty="0">
                <a:solidFill>
                  <a:srgbClr val="3A4452"/>
                </a:solidFill>
                <a:latin typeface="Arial" pitchFamily="34" charset="0"/>
                <a:ea typeface="Arial" pitchFamily="34" charset="-122"/>
                <a:cs typeface="Arial" pitchFamily="34" charset="-120"/>
              </a:rPr>
              <a:t>Give a small staffing/hours calc; ask Claude to 'use code so the math is exact.'</a:t>
            </a:r>
            <a:endParaRPr lang="en-US" sz="1200" dirty="0"/>
          </a:p>
        </p:txBody>
      </p:sp>
      <p:sp>
        <p:nvSpPr>
          <p:cNvPr id="8" name="Text 6"/>
          <p:cNvSpPr/>
          <p:nvPr/>
        </p:nvSpPr>
        <p:spPr>
          <a:xfrm>
            <a:off x="795528" y="4892040"/>
            <a:ext cx="3044952" cy="822960"/>
          </a:xfrm>
          <a:prstGeom prst="rect">
            <a:avLst/>
          </a:prstGeom>
          <a:noFill/>
          <a:ln/>
        </p:spPr>
        <p:txBody>
          <a:bodyPr wrap="square" rtlCol="0" anchor="t"/>
          <a:lstStyle/>
          <a:p>
            <a:pPr indent="0" marL="0">
              <a:lnSpc>
                <a:spcPts val="1500"/>
              </a:lnSpc>
              <a:buNone/>
            </a:pPr>
            <a:r>
              <a:rPr lang="en-US" sz="1150" b="1" dirty="0">
                <a:solidFill>
                  <a:srgbClr val="15803D"/>
                </a:solidFill>
                <a:latin typeface="Arial" pitchFamily="34" charset="0"/>
                <a:ea typeface="Arial" pitchFamily="34" charset="-122"/>
                <a:cs typeface="Arial" pitchFamily="34" charset="-120"/>
              </a:rPr>
              <a:t>Learners: </a:t>
            </a:r>
            <a:pPr indent="0" marL="0">
              <a:lnSpc>
                <a:spcPts val="1500"/>
              </a:lnSpc>
              <a:buNone/>
            </a:pPr>
            <a:r>
              <a:rPr lang="en-US" sz="1150" dirty="0">
                <a:solidFill>
                  <a:srgbClr val="3A4452"/>
                </a:solidFill>
                <a:latin typeface="Arial" pitchFamily="34" charset="0"/>
                <a:ea typeface="Arial" pitchFamily="34" charset="-122"/>
                <a:cs typeface="Arial" pitchFamily="34" charset="-120"/>
              </a:rPr>
              <a:t>Notice: exact numbers, shown work.</a:t>
            </a:r>
            <a:endParaRPr lang="en-US" sz="1150" dirty="0"/>
          </a:p>
        </p:txBody>
      </p:sp>
      <p:sp>
        <p:nvSpPr>
          <p:cNvPr id="9" name="Shape 7"/>
          <p:cNvSpPr/>
          <p:nvPr/>
        </p:nvSpPr>
        <p:spPr>
          <a:xfrm>
            <a:off x="4343400" y="1783080"/>
            <a:ext cx="3502152" cy="3977640"/>
          </a:xfrm>
          <a:prstGeom prst="roundRect">
            <a:avLst>
              <a:gd name="adj" fmla="val 235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0" name="Text 8"/>
          <p:cNvSpPr/>
          <p:nvPr/>
        </p:nvSpPr>
        <p:spPr>
          <a:xfrm>
            <a:off x="4572000" y="1965960"/>
            <a:ext cx="3044952" cy="411480"/>
          </a:xfrm>
          <a:prstGeom prst="rect">
            <a:avLst/>
          </a:prstGeom>
          <a:noFill/>
          <a:ln/>
        </p:spPr>
        <p:txBody>
          <a:bodyPr wrap="square" rtlCol="0" anchor="ctr"/>
          <a:lstStyle/>
          <a:p>
            <a:pPr indent="0" marL="0">
              <a:buNone/>
            </a:pPr>
            <a:r>
              <a:rPr lang="en-US" sz="1400" b="1" dirty="0">
                <a:solidFill>
                  <a:srgbClr val="D31242"/>
                </a:solidFill>
                <a:latin typeface="Arial" pitchFamily="34" charset="0"/>
                <a:ea typeface="Arial" pitchFamily="34" charset="-122"/>
                <a:cs typeface="Arial" pitchFamily="34" charset="-120"/>
              </a:rPr>
              <a:t>Demo 2 — Self-refine</a:t>
            </a:r>
            <a:endParaRPr lang="en-US" sz="1400" dirty="0"/>
          </a:p>
        </p:txBody>
      </p:sp>
      <p:sp>
        <p:nvSpPr>
          <p:cNvPr id="11" name="Text 9"/>
          <p:cNvSpPr/>
          <p:nvPr/>
        </p:nvSpPr>
        <p:spPr>
          <a:xfrm>
            <a:off x="4572000" y="2423160"/>
            <a:ext cx="3044952" cy="2286000"/>
          </a:xfrm>
          <a:prstGeom prst="rect">
            <a:avLst/>
          </a:prstGeom>
          <a:noFill/>
          <a:ln/>
        </p:spPr>
        <p:txBody>
          <a:bodyPr wrap="square" rtlCol="0" anchor="ctr"/>
          <a:lstStyle/>
          <a:p>
            <a:pPr indent="0" marL="0">
              <a:lnSpc>
                <a:spcPts val="1700"/>
              </a:lnSpc>
              <a:buNone/>
            </a:pPr>
            <a:r>
              <a:rPr lang="en-US" sz="1200" dirty="0">
                <a:solidFill>
                  <a:srgbClr val="3A4452"/>
                </a:solidFill>
                <a:latin typeface="Arial" pitchFamily="34" charset="0"/>
                <a:ea typeface="Arial" pitchFamily="34" charset="-122"/>
                <a:cs typeface="Arial" pitchFamily="34" charset="-120"/>
              </a:rPr>
              <a:t>Paste a rough member reply; 'critique it, then rewrite.'</a:t>
            </a:r>
            <a:endParaRPr lang="en-US" sz="1200" dirty="0"/>
          </a:p>
        </p:txBody>
      </p:sp>
      <p:sp>
        <p:nvSpPr>
          <p:cNvPr id="12" name="Text 10"/>
          <p:cNvSpPr/>
          <p:nvPr/>
        </p:nvSpPr>
        <p:spPr>
          <a:xfrm>
            <a:off x="4572000" y="4892040"/>
            <a:ext cx="3044952" cy="822960"/>
          </a:xfrm>
          <a:prstGeom prst="rect">
            <a:avLst/>
          </a:prstGeom>
          <a:noFill/>
          <a:ln/>
        </p:spPr>
        <p:txBody>
          <a:bodyPr wrap="square" rtlCol="0" anchor="t"/>
          <a:lstStyle/>
          <a:p>
            <a:pPr indent="0" marL="0">
              <a:lnSpc>
                <a:spcPts val="1500"/>
              </a:lnSpc>
              <a:buNone/>
            </a:pPr>
            <a:r>
              <a:rPr lang="en-US" sz="1150" b="1" dirty="0">
                <a:solidFill>
                  <a:srgbClr val="15803D"/>
                </a:solidFill>
                <a:latin typeface="Arial" pitchFamily="34" charset="0"/>
                <a:ea typeface="Arial" pitchFamily="34" charset="-122"/>
                <a:cs typeface="Arial" pitchFamily="34" charset="-120"/>
              </a:rPr>
              <a:t>Learners: </a:t>
            </a:r>
            <a:pPr indent="0" marL="0">
              <a:lnSpc>
                <a:spcPts val="1500"/>
              </a:lnSpc>
              <a:buNone/>
            </a:pPr>
            <a:r>
              <a:rPr lang="en-US" sz="1150" dirty="0">
                <a:solidFill>
                  <a:srgbClr val="3A4452"/>
                </a:solidFill>
                <a:latin typeface="Arial" pitchFamily="34" charset="0"/>
                <a:ea typeface="Arial" pitchFamily="34" charset="-122"/>
                <a:cs typeface="Arial" pitchFamily="34" charset="-120"/>
              </a:rPr>
              <a:t>Notice: the second draft is clearly better.</a:t>
            </a:r>
            <a:endParaRPr lang="en-US" sz="1150" dirty="0"/>
          </a:p>
        </p:txBody>
      </p:sp>
      <p:sp>
        <p:nvSpPr>
          <p:cNvPr id="13" name="Shape 11"/>
          <p:cNvSpPr/>
          <p:nvPr/>
        </p:nvSpPr>
        <p:spPr>
          <a:xfrm>
            <a:off x="8119872" y="1783080"/>
            <a:ext cx="3502152" cy="3977640"/>
          </a:xfrm>
          <a:prstGeom prst="roundRect">
            <a:avLst>
              <a:gd name="adj" fmla="val 235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4" name="Text 12"/>
          <p:cNvSpPr/>
          <p:nvPr/>
        </p:nvSpPr>
        <p:spPr>
          <a:xfrm>
            <a:off x="8348472" y="1965960"/>
            <a:ext cx="3044952" cy="411480"/>
          </a:xfrm>
          <a:prstGeom prst="rect">
            <a:avLst/>
          </a:prstGeom>
          <a:noFill/>
          <a:ln/>
        </p:spPr>
        <p:txBody>
          <a:bodyPr wrap="square" rtlCol="0" anchor="ctr"/>
          <a:lstStyle/>
          <a:p>
            <a:pPr indent="0" marL="0">
              <a:buNone/>
            </a:pPr>
            <a:r>
              <a:rPr lang="en-US" sz="1400" b="1" dirty="0">
                <a:solidFill>
                  <a:srgbClr val="D31242"/>
                </a:solidFill>
                <a:latin typeface="Arial" pitchFamily="34" charset="0"/>
                <a:ea typeface="Arial" pitchFamily="34" charset="-122"/>
                <a:cs typeface="Arial" pitchFamily="34" charset="-120"/>
              </a:rPr>
              <a:t>Demo 3 — Verify</a:t>
            </a:r>
            <a:endParaRPr lang="en-US" sz="1400" dirty="0"/>
          </a:p>
        </p:txBody>
      </p:sp>
      <p:sp>
        <p:nvSpPr>
          <p:cNvPr id="15" name="Text 13"/>
          <p:cNvSpPr/>
          <p:nvPr/>
        </p:nvSpPr>
        <p:spPr>
          <a:xfrm>
            <a:off x="8348472" y="2423160"/>
            <a:ext cx="3044952" cy="2286000"/>
          </a:xfrm>
          <a:prstGeom prst="rect">
            <a:avLst/>
          </a:prstGeom>
          <a:noFill/>
          <a:ln/>
        </p:spPr>
        <p:txBody>
          <a:bodyPr wrap="square" rtlCol="0" anchor="ctr"/>
          <a:lstStyle/>
          <a:p>
            <a:pPr indent="0" marL="0">
              <a:lnSpc>
                <a:spcPts val="1700"/>
              </a:lnSpc>
              <a:buNone/>
            </a:pPr>
            <a:r>
              <a:rPr lang="en-US" sz="1200" dirty="0">
                <a:solidFill>
                  <a:srgbClr val="3A4452"/>
                </a:solidFill>
                <a:latin typeface="Arial" pitchFamily="34" charset="0"/>
                <a:ea typeface="Arial" pitchFamily="34" charset="-122"/>
                <a:cs typeface="Arial" pitchFamily="34" charset="-120"/>
              </a:rPr>
              <a:t>On a fact-heavy summary: 'list what could be wrong, check each, then correct.'</a:t>
            </a:r>
            <a:endParaRPr lang="en-US" sz="1200" dirty="0"/>
          </a:p>
        </p:txBody>
      </p:sp>
      <p:sp>
        <p:nvSpPr>
          <p:cNvPr id="16" name="Text 14"/>
          <p:cNvSpPr/>
          <p:nvPr/>
        </p:nvSpPr>
        <p:spPr>
          <a:xfrm>
            <a:off x="8348472" y="4892040"/>
            <a:ext cx="3044952" cy="822960"/>
          </a:xfrm>
          <a:prstGeom prst="rect">
            <a:avLst/>
          </a:prstGeom>
          <a:noFill/>
          <a:ln/>
        </p:spPr>
        <p:txBody>
          <a:bodyPr wrap="square" rtlCol="0" anchor="t"/>
          <a:lstStyle/>
          <a:p>
            <a:pPr indent="0" marL="0">
              <a:lnSpc>
                <a:spcPts val="1500"/>
              </a:lnSpc>
              <a:buNone/>
            </a:pPr>
            <a:r>
              <a:rPr lang="en-US" sz="1150" b="1" dirty="0">
                <a:solidFill>
                  <a:srgbClr val="15803D"/>
                </a:solidFill>
                <a:latin typeface="Arial" pitchFamily="34" charset="0"/>
                <a:ea typeface="Arial" pitchFamily="34" charset="-122"/>
                <a:cs typeface="Arial" pitchFamily="34" charset="-120"/>
              </a:rPr>
              <a:t>Learners: </a:t>
            </a:r>
            <a:pPr indent="0" marL="0">
              <a:lnSpc>
                <a:spcPts val="1500"/>
              </a:lnSpc>
              <a:buNone/>
            </a:pPr>
            <a:r>
              <a:rPr lang="en-US" sz="1150" dirty="0">
                <a:solidFill>
                  <a:srgbClr val="3A4452"/>
                </a:solidFill>
                <a:latin typeface="Arial" pitchFamily="34" charset="0"/>
                <a:ea typeface="Arial" pitchFamily="34" charset="-122"/>
                <a:cs typeface="Arial" pitchFamily="34" charset="-120"/>
              </a:rPr>
              <a:t>Notice: it catches its own slips.</a:t>
            </a:r>
            <a:endParaRPr lang="en-US" sz="1150" dirty="0"/>
          </a:p>
        </p:txBody>
      </p:sp>
      <p:sp>
        <p:nvSpPr>
          <p:cNvPr id="17" name="Text 15"/>
          <p:cNvSpPr/>
          <p:nvPr/>
        </p:nvSpPr>
        <p:spPr>
          <a:xfrm>
            <a:off x="566928" y="6583680"/>
            <a:ext cx="10515600" cy="219456"/>
          </a:xfrm>
          <a:prstGeom prst="rect">
            <a:avLst/>
          </a:prstGeom>
          <a:noFill/>
          <a:ln/>
        </p:spPr>
        <p:txBody>
          <a:bodyPr wrap="square" rtlCol="0" anchor="ctr"/>
          <a:lstStyle/>
          <a:p>
            <a:pPr indent="0" marL="0">
              <a:buNone/>
            </a:pPr>
            <a:r>
              <a:rPr lang="en-US" sz="800" i="1" dirty="0">
                <a:solidFill>
                  <a:srgbClr val="C98A98"/>
                </a:solidFill>
                <a:latin typeface="Arial" pitchFamily="34" charset="0"/>
                <a:ea typeface="Arial" pitchFamily="34" charset="-122"/>
                <a:cs typeface="Arial" pitchFamily="34" charset="-120"/>
              </a:rPr>
              <a:t>Illustrative training material — not an official BJ's Wholesale Club publication. Verify model/feature details before each session.</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HANDS-ON EXERCISE</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Resolve a policy edge case — reason, then verify</a:t>
            </a:r>
            <a:endParaRPr lang="en-US" sz="2700" dirty="0"/>
          </a:p>
        </p:txBody>
      </p:sp>
      <p:sp>
        <p:nvSpPr>
          <p:cNvPr id="4" name="Shape 2"/>
          <p:cNvSpPr/>
          <p:nvPr/>
        </p:nvSpPr>
        <p:spPr>
          <a:xfrm>
            <a:off x="566928" y="1508760"/>
            <a:ext cx="10469880" cy="1143000"/>
          </a:xfrm>
          <a:prstGeom prst="roundRect">
            <a:avLst>
              <a:gd name="adj" fmla="val 7200"/>
            </a:avLst>
          </a:prstGeom>
          <a:solidFill>
            <a:srgbClr val="FCE4EA"/>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627632"/>
            <a:ext cx="10058400" cy="868680"/>
          </a:xfrm>
          <a:prstGeom prst="rect">
            <a:avLst/>
          </a:prstGeom>
          <a:noFill/>
          <a:ln/>
        </p:spPr>
        <p:txBody>
          <a:bodyPr wrap="square" rtlCol="0" anchor="ctr"/>
          <a:lstStyle/>
          <a:p>
            <a:pPr indent="0" marL="0">
              <a:lnSpc>
                <a:spcPts val="1900"/>
              </a:lnSpc>
              <a:buNone/>
            </a:pPr>
            <a:r>
              <a:rPr lang="en-US" sz="1400" b="1" dirty="0">
                <a:solidFill>
                  <a:srgbClr val="7E0A27"/>
                </a:solidFill>
                <a:latin typeface="Arial" pitchFamily="34" charset="0"/>
                <a:ea typeface="Arial" pitchFamily="34" charset="-122"/>
                <a:cs typeface="Arial" pitchFamily="34" charset="-120"/>
              </a:rPr>
              <a:t>Scenario: </a:t>
            </a:r>
            <a:pPr indent="0" marL="0">
              <a:lnSpc>
                <a:spcPts val="1900"/>
              </a:lnSpc>
              <a:buNone/>
            </a:pPr>
            <a:r>
              <a:rPr lang="en-US" sz="1400" dirty="0">
                <a:solidFill>
                  <a:srgbClr val="1F2733"/>
                </a:solidFill>
                <a:latin typeface="Arial" pitchFamily="34" charset="0"/>
                <a:ea typeface="Arial" pitchFamily="34" charset="-122"/>
                <a:cs typeface="Arial" pitchFamily="34" charset="-120"/>
              </a:rPr>
              <a:t>a member requests a return just outside the standard window, with an unusual circumstance. You have the policy text and the case details.</a:t>
            </a:r>
            <a:endParaRPr lang="en-US" sz="1400" dirty="0"/>
          </a:p>
        </p:txBody>
      </p:sp>
      <p:sp>
        <p:nvSpPr>
          <p:cNvPr id="6" name="Shape 4"/>
          <p:cNvSpPr/>
          <p:nvPr/>
        </p:nvSpPr>
        <p:spPr>
          <a:xfrm>
            <a:off x="566928" y="2834640"/>
            <a:ext cx="10469880" cy="2834640"/>
          </a:xfrm>
          <a:prstGeom prst="roundRect">
            <a:avLst>
              <a:gd name="adj" fmla="val 2903"/>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7" name="Text 5"/>
          <p:cNvSpPr/>
          <p:nvPr/>
        </p:nvSpPr>
        <p:spPr>
          <a:xfrm>
            <a:off x="841248" y="3017520"/>
            <a:ext cx="9875520" cy="365760"/>
          </a:xfrm>
          <a:prstGeom prst="rect">
            <a:avLst/>
          </a:prstGeom>
          <a:noFill/>
          <a:ln/>
        </p:spPr>
        <p:txBody>
          <a:bodyPr wrap="square" rtlCol="0" anchor="ctr"/>
          <a:lstStyle/>
          <a:p>
            <a:pPr indent="0" marL="0">
              <a:buNone/>
            </a:pPr>
            <a:r>
              <a:rPr lang="en-US" sz="1400" b="1" dirty="0">
                <a:solidFill>
                  <a:srgbClr val="1F2733"/>
                </a:solidFill>
                <a:latin typeface="Arial" pitchFamily="34" charset="0"/>
                <a:ea typeface="Arial" pitchFamily="34" charset="-122"/>
                <a:cs typeface="Arial" pitchFamily="34" charset="-120"/>
              </a:rPr>
              <a:t>Engineer ONE prompt that:</a:t>
            </a:r>
            <a:endParaRPr lang="en-US" sz="1400" dirty="0"/>
          </a:p>
        </p:txBody>
      </p:sp>
      <p:sp>
        <p:nvSpPr>
          <p:cNvPr id="8" name="Text 6"/>
          <p:cNvSpPr/>
          <p:nvPr/>
        </p:nvSpPr>
        <p:spPr>
          <a:xfrm>
            <a:off x="841248" y="3429000"/>
            <a:ext cx="9875520" cy="2194560"/>
          </a:xfrm>
          <a:prstGeom prst="rect">
            <a:avLst/>
          </a:prstGeom>
          <a:noFill/>
          <a:ln/>
        </p:spPr>
        <p:txBody>
          <a:bodyPr wrap="square" rtlCol="0" anchor="t"/>
          <a:lstStyle/>
          <a:p>
            <a:pPr indent="0" marL="0">
              <a:lnSpc>
                <a:spcPts val="1900"/>
              </a:lnSpc>
              <a:buNone/>
            </a:pPr>
            <a:r>
              <a:rPr lang="en-US" sz="1300" b="1" dirty="0">
                <a:solidFill>
                  <a:srgbClr val="D31242"/>
                </a:solidFill>
                <a:latin typeface="Arial" pitchFamily="34" charset="0"/>
                <a:ea typeface="Arial" pitchFamily="34" charset="-122"/>
                <a:cs typeface="Arial" pitchFamily="34" charset="-120"/>
              </a:rPr>
              <a:t>1. </a:t>
            </a:r>
            <a:pPr indent="0" marL="0">
              <a:lnSpc>
                <a:spcPts val="1900"/>
              </a:lnSpc>
              <a:buNone/>
            </a:pPr>
            <a:r>
              <a:rPr lang="en-US" sz="1300" dirty="0">
                <a:solidFill>
                  <a:srgbClr val="3A4452"/>
                </a:solidFill>
                <a:latin typeface="Arial" pitchFamily="34" charset="0"/>
                <a:ea typeface="Arial" pitchFamily="34" charset="-122"/>
                <a:cs typeface="Arial" pitchFamily="34" charset="-120"/>
              </a:rPr>
              <a:t>Steps back to the policy's intent, then reasons through eligibility (decompose, in &lt;thinking&gt;).</a:t>
            </a:r>
            <a:endParaRPr lang="en-US" sz="1300" dirty="0"/>
          </a:p>
          <a:p>
            <a:pPr indent="0" marL="0">
              <a:lnSpc>
                <a:spcPts val="1900"/>
              </a:lnSpc>
              <a:buNone/>
            </a:pPr>
            <a:r>
              <a:rPr lang="en-US" sz="1300" b="1" dirty="0">
                <a:solidFill>
                  <a:srgbClr val="D31242"/>
                </a:solidFill>
                <a:latin typeface="Arial" pitchFamily="34" charset="0"/>
                <a:ea typeface="Arial" pitchFamily="34" charset="-122"/>
                <a:cs typeface="Arial" pitchFamily="34" charset="-120"/>
              </a:rPr>
              <a:t>2. </a:t>
            </a:r>
            <a:pPr indent="0" marL="0">
              <a:lnSpc>
                <a:spcPts val="1900"/>
              </a:lnSpc>
              <a:buNone/>
            </a:pPr>
            <a:r>
              <a:rPr lang="en-US" sz="1300" dirty="0">
                <a:solidFill>
                  <a:srgbClr val="3A4452"/>
                </a:solidFill>
                <a:latin typeface="Arial" pitchFamily="34" charset="0"/>
                <a:ea typeface="Arial" pitchFamily="34" charset="-122"/>
                <a:cs typeface="Arial" pitchFamily="34" charset="-120"/>
              </a:rPr>
              <a:t>Uses the source only — 'Not stated' for anything missing (source-grounded + give-an-out, from M2).</a:t>
            </a:r>
            <a:endParaRPr lang="en-US" sz="1300" dirty="0"/>
          </a:p>
          <a:p>
            <a:pPr indent="0" marL="0">
              <a:lnSpc>
                <a:spcPts val="1900"/>
              </a:lnSpc>
              <a:buNone/>
            </a:pPr>
            <a:r>
              <a:rPr lang="en-US" sz="1300" b="1" dirty="0">
                <a:solidFill>
                  <a:srgbClr val="D31242"/>
                </a:solidFill>
                <a:latin typeface="Arial" pitchFamily="34" charset="0"/>
                <a:ea typeface="Arial" pitchFamily="34" charset="-122"/>
                <a:cs typeface="Arial" pitchFamily="34" charset="-120"/>
              </a:rPr>
              <a:t>3. </a:t>
            </a:r>
            <a:pPr indent="0" marL="0">
              <a:lnSpc>
                <a:spcPts val="1900"/>
              </a:lnSpc>
              <a:buNone/>
            </a:pPr>
            <a:r>
              <a:rPr lang="en-US" sz="1300" dirty="0">
                <a:solidFill>
                  <a:srgbClr val="3A4452"/>
                </a:solidFill>
                <a:latin typeface="Arial" pitchFamily="34" charset="0"/>
                <a:ea typeface="Arial" pitchFamily="34" charset="-122"/>
                <a:cs typeface="Arial" pitchFamily="34" charset="-120"/>
              </a:rPr>
              <a:t>Drafts the member reply, then self-refines it for tone.</a:t>
            </a:r>
            <a:endParaRPr lang="en-US" sz="1300" dirty="0"/>
          </a:p>
          <a:p>
            <a:pPr indent="0" marL="0">
              <a:lnSpc>
                <a:spcPts val="1900"/>
              </a:lnSpc>
              <a:buNone/>
            </a:pPr>
            <a:r>
              <a:rPr lang="en-US" sz="1300" b="1" dirty="0">
                <a:solidFill>
                  <a:srgbClr val="D31242"/>
                </a:solidFill>
                <a:latin typeface="Arial" pitchFamily="34" charset="0"/>
                <a:ea typeface="Arial" pitchFamily="34" charset="-122"/>
                <a:cs typeface="Arial" pitchFamily="34" charset="-120"/>
              </a:rPr>
              <a:t>4. </a:t>
            </a:r>
            <a:pPr indent="0" marL="0">
              <a:lnSpc>
                <a:spcPts val="1900"/>
              </a:lnSpc>
              <a:buNone/>
            </a:pPr>
            <a:r>
              <a:rPr lang="en-US" sz="1300" dirty="0">
                <a:solidFill>
                  <a:srgbClr val="3A4452"/>
                </a:solidFill>
                <a:latin typeface="Arial" pitchFamily="34" charset="0"/>
                <a:ea typeface="Arial" pitchFamily="34" charset="-122"/>
                <a:cs typeface="Arial" pitchFamily="34" charset="-120"/>
              </a:rPr>
              <a:t>Lists what you should verify before sending (&lt;verify&gt;).</a:t>
            </a:r>
            <a:endParaRPr lang="en-US" sz="1300" dirty="0"/>
          </a:p>
          <a:p>
            <a:pPr indent="0" marL="0">
              <a:lnSpc>
                <a:spcPts val="1900"/>
              </a:lnSpc>
              <a:buNone/>
            </a:pPr>
            <a:endParaRPr lang="en-US" sz="1300" dirty="0"/>
          </a:p>
          <a:p>
            <a:pPr indent="0" marL="0">
              <a:lnSpc>
                <a:spcPts val="1900"/>
              </a:lnSpc>
              <a:buNone/>
            </a:pPr>
            <a:r>
              <a:rPr lang="en-US" sz="1300" b="1" dirty="0">
                <a:solidFill>
                  <a:srgbClr val="1F2733"/>
                </a:solidFill>
                <a:latin typeface="Arial" pitchFamily="34" charset="0"/>
                <a:ea typeface="Arial" pitchFamily="34" charset="-122"/>
                <a:cs typeface="Arial" pitchFamily="34" charset="-120"/>
              </a:rPr>
              <a:t>Then score a partner's prompt with the rubric.</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ANSWER KEY</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A strong reason-then-verify prompt — labeled</a:t>
            </a:r>
            <a:endParaRPr lang="en-US" sz="2700" dirty="0"/>
          </a:p>
        </p:txBody>
      </p:sp>
      <p:sp>
        <p:nvSpPr>
          <p:cNvPr id="4" name="Shape 2"/>
          <p:cNvSpPr/>
          <p:nvPr/>
        </p:nvSpPr>
        <p:spPr>
          <a:xfrm>
            <a:off x="566928" y="1508760"/>
            <a:ext cx="10469880" cy="4023360"/>
          </a:xfrm>
          <a:prstGeom prst="roundRect">
            <a:avLst>
              <a:gd name="adj" fmla="val 2045"/>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768096" y="1618488"/>
            <a:ext cx="1010412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SAMPLE ANSWER</a:t>
            </a:r>
            <a:endParaRPr lang="en-US" sz="900" dirty="0"/>
          </a:p>
        </p:txBody>
      </p:sp>
      <p:sp>
        <p:nvSpPr>
          <p:cNvPr id="6" name="Text 4"/>
          <p:cNvSpPr/>
          <p:nvPr/>
        </p:nvSpPr>
        <p:spPr>
          <a:xfrm>
            <a:off x="795528" y="1892808"/>
            <a:ext cx="10012680" cy="3511296"/>
          </a:xfrm>
          <a:prstGeom prst="rect">
            <a:avLst/>
          </a:prstGeom>
          <a:noFill/>
          <a:ln/>
        </p:spPr>
        <p:txBody>
          <a:bodyPr wrap="square" rtlCol="0" anchor="t"/>
          <a:lstStyle/>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You are a BJ's Member Services lead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(role)</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&lt;policy&gt;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[return policy]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&lt;/policy&gt;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&lt;case&gt;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[member's situation]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&lt;/case&gt;</a:t>
            </a:r>
            <a:pPr algn="l" indent="0" marL="0">
              <a:lnSpc>
                <a:spcPts val="1500"/>
              </a:lnSpc>
              <a:buNone/>
            </a:pPr>
            <a:endParaRPr lang="en-US" sz="1100" dirty="0"/>
          </a:p>
          <a:p>
            <a:pPr algn="l" indent="0" marL="0">
              <a:lnSpc>
                <a:spcPts val="1500"/>
              </a:lnSpc>
              <a:buNone/>
            </a:pP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In </a:t>
            </a:r>
            <a:endParaRPr lang="en-US" sz="1100" dirty="0"/>
          </a:p>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&lt;thinking&gt;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first state the policy's intent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(step-back)</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then work through eligibility one</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condition at a time </a:t>
            </a:r>
            <a:endParaRPr lang="en-US" sz="1100" dirty="0"/>
          </a:p>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(decompose)</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using only the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&lt;policy&gt;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(source-grounded)</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If a fact is</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missing, write 'Not stated' </a:t>
            </a:r>
            <a:endParaRPr lang="en-US" sz="1100" dirty="0"/>
          </a:p>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(give-an-out)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In </a:t>
            </a:r>
            <a:endParaRPr lang="en-US" sz="1100" dirty="0"/>
          </a:p>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&lt;answer&gt;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draft the member reply, then critique and rewrite it for warmth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(self-refine)</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In </a:t>
            </a:r>
            <a:endParaRPr lang="en-US" sz="1100" dirty="0"/>
          </a:p>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&lt;verify&gt;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list every claim I should confirm against the policy before sending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(CoVe)</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a:t>
            </a:r>
            <a:endParaRPr lang="en-US" sz="1100" dirty="0"/>
          </a:p>
        </p:txBody>
      </p:sp>
      <p:sp>
        <p:nvSpPr>
          <p:cNvPr id="7" name="Text 5"/>
          <p:cNvSpPr/>
          <p:nvPr/>
        </p:nvSpPr>
        <p:spPr>
          <a:xfrm>
            <a:off x="566928" y="5669280"/>
            <a:ext cx="11055096" cy="365760"/>
          </a:xfrm>
          <a:prstGeom prst="rect">
            <a:avLst/>
          </a:prstGeom>
          <a:noFill/>
          <a:ln/>
        </p:spPr>
        <p:txBody>
          <a:bodyPr wrap="square" rtlCol="0" anchor="ctr"/>
          <a:lstStyle/>
          <a:p>
            <a:pPr algn="ctr" indent="0" marL="0">
              <a:buNone/>
            </a:pPr>
            <a:r>
              <a:rPr lang="en-US" sz="1150" b="1" dirty="0">
                <a:solidFill>
                  <a:srgbClr val="1F2733"/>
                </a:solidFill>
                <a:latin typeface="Arial" pitchFamily="34" charset="0"/>
                <a:ea typeface="Arial" pitchFamily="34" charset="-122"/>
                <a:cs typeface="Arial" pitchFamily="34" charset="-120"/>
              </a:rPr>
              <a:t>Patterns: role · tagged source · step-back · decompose · source-grounded · give-an-out · self-refine · verify — reasoning + safety together.</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SCORE A PROMPT</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Champion scoring rubric (10 points)</a:t>
            </a:r>
            <a:endParaRPr lang="en-US" sz="2700" dirty="0"/>
          </a:p>
        </p:txBody>
      </p:sp>
      <p:sp>
        <p:nvSpPr>
          <p:cNvPr id="4" name="Shape 2"/>
          <p:cNvSpPr/>
          <p:nvPr/>
        </p:nvSpPr>
        <p:spPr>
          <a:xfrm>
            <a:off x="566928" y="1645920"/>
            <a:ext cx="10469880" cy="658368"/>
          </a:xfrm>
          <a:prstGeom prst="roundRect">
            <a:avLst>
              <a:gd name="adj" fmla="val 125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645920"/>
            <a:ext cx="3108960" cy="658368"/>
          </a:xfrm>
          <a:prstGeom prst="rect">
            <a:avLst/>
          </a:prstGeom>
          <a:noFill/>
          <a:ln/>
        </p:spPr>
        <p:txBody>
          <a:bodyPr wrap="square" lIns="0" tIns="0" rIns="0" bIns="0" rtlCol="0" anchor="ctr"/>
          <a:lstStyle/>
          <a:p>
            <a:pPr indent="0" marL="0">
              <a:buNone/>
            </a:pPr>
            <a:r>
              <a:rPr lang="en-US" sz="1400" b="1" dirty="0">
                <a:solidFill>
                  <a:srgbClr val="D31242"/>
                </a:solidFill>
                <a:latin typeface="Arial" pitchFamily="34" charset="0"/>
                <a:ea typeface="Arial" pitchFamily="34" charset="-122"/>
                <a:cs typeface="Arial" pitchFamily="34" charset="-120"/>
              </a:rPr>
              <a:t>Right method</a:t>
            </a:r>
            <a:endParaRPr lang="en-US" sz="1400" dirty="0"/>
          </a:p>
        </p:txBody>
      </p:sp>
      <p:sp>
        <p:nvSpPr>
          <p:cNvPr id="6" name="Text 4"/>
          <p:cNvSpPr/>
          <p:nvPr/>
        </p:nvSpPr>
        <p:spPr>
          <a:xfrm>
            <a:off x="4041648" y="1645920"/>
            <a:ext cx="5303520" cy="658368"/>
          </a:xfrm>
          <a:prstGeom prst="rect">
            <a:avLst/>
          </a:prstGeom>
          <a:noFill/>
          <a:ln/>
        </p:spPr>
        <p:txBody>
          <a:bodyPr wrap="square" lIns="0" tIns="0" rIns="0" bIns="0" rtlCol="0" anchor="ctr"/>
          <a:lstStyle/>
          <a:p>
            <a:pPr indent="0" marL="0">
              <a:buNone/>
            </a:pPr>
            <a:r>
              <a:rPr lang="en-US" sz="1250" dirty="0">
                <a:solidFill>
                  <a:srgbClr val="3A4452"/>
                </a:solidFill>
                <a:latin typeface="Arial" pitchFamily="34" charset="0"/>
                <a:ea typeface="Arial" pitchFamily="34" charset="-122"/>
                <a:cs typeface="Arial" pitchFamily="34" charset="-120"/>
              </a:rPr>
              <a:t>Reasoning approach fits the task (decompose/step-back/code)?</a:t>
            </a:r>
            <a:endParaRPr lang="en-US" sz="1250" dirty="0"/>
          </a:p>
        </p:txBody>
      </p:sp>
      <p:sp>
        <p:nvSpPr>
          <p:cNvPr id="7" name="Text 5"/>
          <p:cNvSpPr/>
          <p:nvPr/>
        </p:nvSpPr>
        <p:spPr>
          <a:xfrm>
            <a:off x="9619488" y="1645920"/>
            <a:ext cx="1188720" cy="658368"/>
          </a:xfrm>
          <a:prstGeom prst="rect">
            <a:avLst/>
          </a:prstGeom>
          <a:noFill/>
          <a:ln/>
        </p:spPr>
        <p:txBody>
          <a:bodyPr wrap="square" lIns="0" tIns="0" rIns="0" bIns="0" rtlCol="0" anchor="ctr"/>
          <a:lstStyle/>
          <a:p>
            <a:pPr algn="ctr" indent="0" marL="0">
              <a:buNone/>
            </a:pPr>
            <a:r>
              <a:rPr lang="en-US" sz="1500" b="1" dirty="0">
                <a:solidFill>
                  <a:srgbClr val="1F2733"/>
                </a:solidFill>
                <a:latin typeface="Arial" pitchFamily="34" charset="0"/>
                <a:ea typeface="Arial" pitchFamily="34" charset="-122"/>
                <a:cs typeface="Arial" pitchFamily="34" charset="-120"/>
              </a:rPr>
              <a:t>0 – 2</a:t>
            </a:r>
            <a:endParaRPr lang="en-US" sz="1500" dirty="0"/>
          </a:p>
        </p:txBody>
      </p:sp>
      <p:sp>
        <p:nvSpPr>
          <p:cNvPr id="8" name="Shape 6"/>
          <p:cNvSpPr/>
          <p:nvPr/>
        </p:nvSpPr>
        <p:spPr>
          <a:xfrm>
            <a:off x="566928" y="2395728"/>
            <a:ext cx="10469880" cy="658368"/>
          </a:xfrm>
          <a:prstGeom prst="roundRect">
            <a:avLst>
              <a:gd name="adj" fmla="val 125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9" name="Text 7"/>
          <p:cNvSpPr/>
          <p:nvPr/>
        </p:nvSpPr>
        <p:spPr>
          <a:xfrm>
            <a:off x="841248" y="2395728"/>
            <a:ext cx="3108960" cy="658368"/>
          </a:xfrm>
          <a:prstGeom prst="rect">
            <a:avLst/>
          </a:prstGeom>
          <a:noFill/>
          <a:ln/>
        </p:spPr>
        <p:txBody>
          <a:bodyPr wrap="square" lIns="0" tIns="0" rIns="0" bIns="0" rtlCol="0" anchor="ctr"/>
          <a:lstStyle/>
          <a:p>
            <a:pPr indent="0" marL="0">
              <a:buNone/>
            </a:pPr>
            <a:r>
              <a:rPr lang="en-US" sz="1400" b="1" dirty="0">
                <a:solidFill>
                  <a:srgbClr val="D31242"/>
                </a:solidFill>
                <a:latin typeface="Arial" pitchFamily="34" charset="0"/>
                <a:ea typeface="Arial" pitchFamily="34" charset="-122"/>
                <a:cs typeface="Arial" pitchFamily="34" charset="-120"/>
              </a:rPr>
              <a:t>Clear steps</a:t>
            </a:r>
            <a:endParaRPr lang="en-US" sz="1400" dirty="0"/>
          </a:p>
        </p:txBody>
      </p:sp>
      <p:sp>
        <p:nvSpPr>
          <p:cNvPr id="10" name="Text 8"/>
          <p:cNvSpPr/>
          <p:nvPr/>
        </p:nvSpPr>
        <p:spPr>
          <a:xfrm>
            <a:off x="4041648" y="2395728"/>
            <a:ext cx="5303520" cy="658368"/>
          </a:xfrm>
          <a:prstGeom prst="rect">
            <a:avLst/>
          </a:prstGeom>
          <a:noFill/>
          <a:ln/>
        </p:spPr>
        <p:txBody>
          <a:bodyPr wrap="square" lIns="0" tIns="0" rIns="0" bIns="0" rtlCol="0" anchor="ctr"/>
          <a:lstStyle/>
          <a:p>
            <a:pPr indent="0" marL="0">
              <a:buNone/>
            </a:pPr>
            <a:r>
              <a:rPr lang="en-US" sz="1250" dirty="0">
                <a:solidFill>
                  <a:srgbClr val="3A4452"/>
                </a:solidFill>
                <a:latin typeface="Arial" pitchFamily="34" charset="0"/>
                <a:ea typeface="Arial" pitchFamily="34" charset="-122"/>
                <a:cs typeface="Arial" pitchFamily="34" charset="-120"/>
              </a:rPr>
              <a:t>Is the reasoning sequenced, not a jumble?</a:t>
            </a:r>
            <a:endParaRPr lang="en-US" sz="1250" dirty="0"/>
          </a:p>
        </p:txBody>
      </p:sp>
      <p:sp>
        <p:nvSpPr>
          <p:cNvPr id="11" name="Text 9"/>
          <p:cNvSpPr/>
          <p:nvPr/>
        </p:nvSpPr>
        <p:spPr>
          <a:xfrm>
            <a:off x="9619488" y="2395728"/>
            <a:ext cx="1188720" cy="658368"/>
          </a:xfrm>
          <a:prstGeom prst="rect">
            <a:avLst/>
          </a:prstGeom>
          <a:noFill/>
          <a:ln/>
        </p:spPr>
        <p:txBody>
          <a:bodyPr wrap="square" lIns="0" tIns="0" rIns="0" bIns="0" rtlCol="0" anchor="ctr"/>
          <a:lstStyle/>
          <a:p>
            <a:pPr algn="ctr" indent="0" marL="0">
              <a:buNone/>
            </a:pPr>
            <a:r>
              <a:rPr lang="en-US" sz="1500" b="1" dirty="0">
                <a:solidFill>
                  <a:srgbClr val="1F2733"/>
                </a:solidFill>
                <a:latin typeface="Arial" pitchFamily="34" charset="0"/>
                <a:ea typeface="Arial" pitchFamily="34" charset="-122"/>
                <a:cs typeface="Arial" pitchFamily="34" charset="-120"/>
              </a:rPr>
              <a:t>0 – 2</a:t>
            </a:r>
            <a:endParaRPr lang="en-US" sz="1500" dirty="0"/>
          </a:p>
        </p:txBody>
      </p:sp>
      <p:sp>
        <p:nvSpPr>
          <p:cNvPr id="12" name="Shape 10"/>
          <p:cNvSpPr/>
          <p:nvPr/>
        </p:nvSpPr>
        <p:spPr>
          <a:xfrm>
            <a:off x="566928" y="3145536"/>
            <a:ext cx="10469880" cy="658368"/>
          </a:xfrm>
          <a:prstGeom prst="roundRect">
            <a:avLst>
              <a:gd name="adj" fmla="val 125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3" name="Text 11"/>
          <p:cNvSpPr/>
          <p:nvPr/>
        </p:nvSpPr>
        <p:spPr>
          <a:xfrm>
            <a:off x="841248" y="3145536"/>
            <a:ext cx="3108960" cy="658368"/>
          </a:xfrm>
          <a:prstGeom prst="rect">
            <a:avLst/>
          </a:prstGeom>
          <a:noFill/>
          <a:ln/>
        </p:spPr>
        <p:txBody>
          <a:bodyPr wrap="square" lIns="0" tIns="0" rIns="0" bIns="0" rtlCol="0" anchor="ctr"/>
          <a:lstStyle/>
          <a:p>
            <a:pPr indent="0" marL="0">
              <a:buNone/>
            </a:pPr>
            <a:r>
              <a:rPr lang="en-US" sz="1400" b="1" dirty="0">
                <a:solidFill>
                  <a:srgbClr val="D31242"/>
                </a:solidFill>
                <a:latin typeface="Arial" pitchFamily="34" charset="0"/>
                <a:ea typeface="Arial" pitchFamily="34" charset="-122"/>
                <a:cs typeface="Arial" pitchFamily="34" charset="-120"/>
              </a:rPr>
              <a:t>Grounding</a:t>
            </a:r>
            <a:endParaRPr lang="en-US" sz="1400" dirty="0"/>
          </a:p>
        </p:txBody>
      </p:sp>
      <p:sp>
        <p:nvSpPr>
          <p:cNvPr id="14" name="Text 12"/>
          <p:cNvSpPr/>
          <p:nvPr/>
        </p:nvSpPr>
        <p:spPr>
          <a:xfrm>
            <a:off x="4041648" y="3145536"/>
            <a:ext cx="5303520" cy="658368"/>
          </a:xfrm>
          <a:prstGeom prst="rect">
            <a:avLst/>
          </a:prstGeom>
          <a:noFill/>
          <a:ln/>
        </p:spPr>
        <p:txBody>
          <a:bodyPr wrap="square" lIns="0" tIns="0" rIns="0" bIns="0" rtlCol="0" anchor="ctr"/>
          <a:lstStyle/>
          <a:p>
            <a:pPr indent="0" marL="0">
              <a:buNone/>
            </a:pPr>
            <a:r>
              <a:rPr lang="en-US" sz="1250" dirty="0">
                <a:solidFill>
                  <a:srgbClr val="3A4452"/>
                </a:solidFill>
                <a:latin typeface="Arial" pitchFamily="34" charset="0"/>
                <a:ea typeface="Arial" pitchFamily="34" charset="-122"/>
                <a:cs typeface="Arial" pitchFamily="34" charset="-120"/>
              </a:rPr>
              <a:t>Source-grounded with a give-an-out?</a:t>
            </a:r>
            <a:endParaRPr lang="en-US" sz="1250" dirty="0"/>
          </a:p>
        </p:txBody>
      </p:sp>
      <p:sp>
        <p:nvSpPr>
          <p:cNvPr id="15" name="Text 13"/>
          <p:cNvSpPr/>
          <p:nvPr/>
        </p:nvSpPr>
        <p:spPr>
          <a:xfrm>
            <a:off x="9619488" y="3145536"/>
            <a:ext cx="1188720" cy="658368"/>
          </a:xfrm>
          <a:prstGeom prst="rect">
            <a:avLst/>
          </a:prstGeom>
          <a:noFill/>
          <a:ln/>
        </p:spPr>
        <p:txBody>
          <a:bodyPr wrap="square" lIns="0" tIns="0" rIns="0" bIns="0" rtlCol="0" anchor="ctr"/>
          <a:lstStyle/>
          <a:p>
            <a:pPr algn="ctr" indent="0" marL="0">
              <a:buNone/>
            </a:pPr>
            <a:r>
              <a:rPr lang="en-US" sz="1500" b="1" dirty="0">
                <a:solidFill>
                  <a:srgbClr val="1F2733"/>
                </a:solidFill>
                <a:latin typeface="Arial" pitchFamily="34" charset="0"/>
                <a:ea typeface="Arial" pitchFamily="34" charset="-122"/>
                <a:cs typeface="Arial" pitchFamily="34" charset="-120"/>
              </a:rPr>
              <a:t>0 – 2</a:t>
            </a:r>
            <a:endParaRPr lang="en-US" sz="1500" dirty="0"/>
          </a:p>
        </p:txBody>
      </p:sp>
      <p:sp>
        <p:nvSpPr>
          <p:cNvPr id="16" name="Shape 14"/>
          <p:cNvSpPr/>
          <p:nvPr/>
        </p:nvSpPr>
        <p:spPr>
          <a:xfrm>
            <a:off x="566928" y="3895344"/>
            <a:ext cx="10469880" cy="658368"/>
          </a:xfrm>
          <a:prstGeom prst="roundRect">
            <a:avLst>
              <a:gd name="adj" fmla="val 125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Text 15"/>
          <p:cNvSpPr/>
          <p:nvPr/>
        </p:nvSpPr>
        <p:spPr>
          <a:xfrm>
            <a:off x="841248" y="3895344"/>
            <a:ext cx="3108960" cy="658368"/>
          </a:xfrm>
          <a:prstGeom prst="rect">
            <a:avLst/>
          </a:prstGeom>
          <a:noFill/>
          <a:ln/>
        </p:spPr>
        <p:txBody>
          <a:bodyPr wrap="square" lIns="0" tIns="0" rIns="0" bIns="0" rtlCol="0" anchor="ctr"/>
          <a:lstStyle/>
          <a:p>
            <a:pPr indent="0" marL="0">
              <a:buNone/>
            </a:pPr>
            <a:r>
              <a:rPr lang="en-US" sz="1400" b="1" dirty="0">
                <a:solidFill>
                  <a:srgbClr val="D31242"/>
                </a:solidFill>
                <a:latin typeface="Arial" pitchFamily="34" charset="0"/>
                <a:ea typeface="Arial" pitchFamily="34" charset="-122"/>
                <a:cs typeface="Arial" pitchFamily="34" charset="-120"/>
              </a:rPr>
              <a:t>Verification</a:t>
            </a:r>
            <a:endParaRPr lang="en-US" sz="1400" dirty="0"/>
          </a:p>
        </p:txBody>
      </p:sp>
      <p:sp>
        <p:nvSpPr>
          <p:cNvPr id="18" name="Text 16"/>
          <p:cNvSpPr/>
          <p:nvPr/>
        </p:nvSpPr>
        <p:spPr>
          <a:xfrm>
            <a:off x="4041648" y="3895344"/>
            <a:ext cx="5303520" cy="658368"/>
          </a:xfrm>
          <a:prstGeom prst="rect">
            <a:avLst/>
          </a:prstGeom>
          <a:noFill/>
          <a:ln/>
        </p:spPr>
        <p:txBody>
          <a:bodyPr wrap="square" lIns="0" tIns="0" rIns="0" bIns="0" rtlCol="0" anchor="ctr"/>
          <a:lstStyle/>
          <a:p>
            <a:pPr indent="0" marL="0">
              <a:buNone/>
            </a:pPr>
            <a:r>
              <a:rPr lang="en-US" sz="1250" dirty="0">
                <a:solidFill>
                  <a:srgbClr val="3A4452"/>
                </a:solidFill>
                <a:latin typeface="Arial" pitchFamily="34" charset="0"/>
                <a:ea typeface="Arial" pitchFamily="34" charset="-122"/>
                <a:cs typeface="Arial" pitchFamily="34" charset="-120"/>
              </a:rPr>
              <a:t>A self-refine and/or verify step included?</a:t>
            </a:r>
            <a:endParaRPr lang="en-US" sz="1250" dirty="0"/>
          </a:p>
        </p:txBody>
      </p:sp>
      <p:sp>
        <p:nvSpPr>
          <p:cNvPr id="19" name="Text 17"/>
          <p:cNvSpPr/>
          <p:nvPr/>
        </p:nvSpPr>
        <p:spPr>
          <a:xfrm>
            <a:off x="9619488" y="3895344"/>
            <a:ext cx="1188720" cy="658368"/>
          </a:xfrm>
          <a:prstGeom prst="rect">
            <a:avLst/>
          </a:prstGeom>
          <a:noFill/>
          <a:ln/>
        </p:spPr>
        <p:txBody>
          <a:bodyPr wrap="square" lIns="0" tIns="0" rIns="0" bIns="0" rtlCol="0" anchor="ctr"/>
          <a:lstStyle/>
          <a:p>
            <a:pPr algn="ctr" indent="0" marL="0">
              <a:buNone/>
            </a:pPr>
            <a:r>
              <a:rPr lang="en-US" sz="1500" b="1" dirty="0">
                <a:solidFill>
                  <a:srgbClr val="1F2733"/>
                </a:solidFill>
                <a:latin typeface="Arial" pitchFamily="34" charset="0"/>
                <a:ea typeface="Arial" pitchFamily="34" charset="-122"/>
                <a:cs typeface="Arial" pitchFamily="34" charset="-120"/>
              </a:rPr>
              <a:t>0 – 2</a:t>
            </a:r>
            <a:endParaRPr lang="en-US" sz="1500" dirty="0"/>
          </a:p>
        </p:txBody>
      </p:sp>
      <p:sp>
        <p:nvSpPr>
          <p:cNvPr id="20" name="Shape 18"/>
          <p:cNvSpPr/>
          <p:nvPr/>
        </p:nvSpPr>
        <p:spPr>
          <a:xfrm>
            <a:off x="566928" y="4645152"/>
            <a:ext cx="10469880" cy="658368"/>
          </a:xfrm>
          <a:prstGeom prst="roundRect">
            <a:avLst>
              <a:gd name="adj" fmla="val 125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1" name="Text 19"/>
          <p:cNvSpPr/>
          <p:nvPr/>
        </p:nvSpPr>
        <p:spPr>
          <a:xfrm>
            <a:off x="841248" y="4645152"/>
            <a:ext cx="3108960" cy="658368"/>
          </a:xfrm>
          <a:prstGeom prst="rect">
            <a:avLst/>
          </a:prstGeom>
          <a:noFill/>
          <a:ln/>
        </p:spPr>
        <p:txBody>
          <a:bodyPr wrap="square" lIns="0" tIns="0" rIns="0" bIns="0" rtlCol="0" anchor="ctr"/>
          <a:lstStyle/>
          <a:p>
            <a:pPr indent="0" marL="0">
              <a:buNone/>
            </a:pPr>
            <a:r>
              <a:rPr lang="en-US" sz="1400" b="1" dirty="0">
                <a:solidFill>
                  <a:srgbClr val="D31242"/>
                </a:solidFill>
                <a:latin typeface="Arial" pitchFamily="34" charset="0"/>
                <a:ea typeface="Arial" pitchFamily="34" charset="-122"/>
                <a:cs typeface="Arial" pitchFamily="34" charset="-120"/>
              </a:rPr>
              <a:t>Restraint</a:t>
            </a:r>
            <a:endParaRPr lang="en-US" sz="1400" dirty="0"/>
          </a:p>
        </p:txBody>
      </p:sp>
      <p:sp>
        <p:nvSpPr>
          <p:cNvPr id="22" name="Text 20"/>
          <p:cNvSpPr/>
          <p:nvPr/>
        </p:nvSpPr>
        <p:spPr>
          <a:xfrm>
            <a:off x="4041648" y="4645152"/>
            <a:ext cx="5303520" cy="658368"/>
          </a:xfrm>
          <a:prstGeom prst="rect">
            <a:avLst/>
          </a:prstGeom>
          <a:noFill/>
          <a:ln/>
        </p:spPr>
        <p:txBody>
          <a:bodyPr wrap="square" lIns="0" tIns="0" rIns="0" bIns="0" rtlCol="0" anchor="ctr"/>
          <a:lstStyle/>
          <a:p>
            <a:pPr indent="0" marL="0">
              <a:buNone/>
            </a:pPr>
            <a:r>
              <a:rPr lang="en-US" sz="1250" dirty="0">
                <a:solidFill>
                  <a:srgbClr val="3A4452"/>
                </a:solidFill>
                <a:latin typeface="Arial" pitchFamily="34" charset="0"/>
                <a:ea typeface="Arial" pitchFamily="34" charset="-122"/>
                <a:cs typeface="Arial" pitchFamily="34" charset="-120"/>
              </a:rPr>
              <a:t>Effort/method matched to stakes — not over-thought?</a:t>
            </a:r>
            <a:endParaRPr lang="en-US" sz="1250" dirty="0"/>
          </a:p>
        </p:txBody>
      </p:sp>
      <p:sp>
        <p:nvSpPr>
          <p:cNvPr id="23" name="Text 21"/>
          <p:cNvSpPr/>
          <p:nvPr/>
        </p:nvSpPr>
        <p:spPr>
          <a:xfrm>
            <a:off x="9619488" y="4645152"/>
            <a:ext cx="1188720" cy="658368"/>
          </a:xfrm>
          <a:prstGeom prst="rect">
            <a:avLst/>
          </a:prstGeom>
          <a:noFill/>
          <a:ln/>
        </p:spPr>
        <p:txBody>
          <a:bodyPr wrap="square" lIns="0" tIns="0" rIns="0" bIns="0" rtlCol="0" anchor="ctr"/>
          <a:lstStyle/>
          <a:p>
            <a:pPr algn="ctr" indent="0" marL="0">
              <a:buNone/>
            </a:pPr>
            <a:r>
              <a:rPr lang="en-US" sz="1500" b="1" dirty="0">
                <a:solidFill>
                  <a:srgbClr val="1F2733"/>
                </a:solidFill>
                <a:latin typeface="Arial" pitchFamily="34" charset="0"/>
                <a:ea typeface="Arial" pitchFamily="34" charset="-122"/>
                <a:cs typeface="Arial" pitchFamily="34" charset="-120"/>
              </a:rPr>
              <a:t>0 – 2</a:t>
            </a:r>
            <a:endParaRPr lang="en-US" sz="1500" dirty="0"/>
          </a:p>
        </p:txBody>
      </p:sp>
      <p:sp>
        <p:nvSpPr>
          <p:cNvPr id="24" name="Text 22"/>
          <p:cNvSpPr/>
          <p:nvPr/>
        </p:nvSpPr>
        <p:spPr>
          <a:xfrm>
            <a:off x="566928" y="5532120"/>
            <a:ext cx="11055096" cy="411480"/>
          </a:xfrm>
          <a:prstGeom prst="rect">
            <a:avLst/>
          </a:prstGeom>
          <a:noFill/>
          <a:ln/>
        </p:spPr>
        <p:txBody>
          <a:bodyPr wrap="square" rtlCol="0" anchor="ctr"/>
          <a:lstStyle/>
          <a:p>
            <a:pPr algn="ctr" indent="0" marL="0">
              <a:buNone/>
            </a:pPr>
            <a:r>
              <a:rPr lang="en-US" sz="1400" b="1" dirty="0">
                <a:solidFill>
                  <a:srgbClr val="7E0A27"/>
                </a:solidFill>
                <a:latin typeface="Arial" pitchFamily="34" charset="0"/>
                <a:ea typeface="Arial" pitchFamily="34" charset="-122"/>
                <a:cs typeface="Arial" pitchFamily="34" charset="-120"/>
              </a:rPr>
              <a:t>Total: ___ / 10      ·      8–10 strong  ·  5–7 workable, iterate  ·  under 5 rebuild</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CHECK YOUR UNDERSTANDING</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Quick knowledge check</a:t>
            </a:r>
            <a:endParaRPr lang="en-US" sz="2700" dirty="0"/>
          </a:p>
        </p:txBody>
      </p:sp>
      <p:sp>
        <p:nvSpPr>
          <p:cNvPr id="4" name="Shape 2"/>
          <p:cNvSpPr/>
          <p:nvPr/>
        </p:nvSpPr>
        <p:spPr>
          <a:xfrm>
            <a:off x="566928" y="1554480"/>
            <a:ext cx="5344668" cy="2057400"/>
          </a:xfrm>
          <a:prstGeom prst="roundRect">
            <a:avLst>
              <a:gd name="adj" fmla="val 4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55648"/>
            <a:ext cx="4796028" cy="868680"/>
          </a:xfrm>
          <a:prstGeom prst="rect">
            <a:avLst/>
          </a:prstGeom>
          <a:noFill/>
          <a:ln/>
        </p:spPr>
        <p:txBody>
          <a:bodyPr wrap="square" rtlCol="0" anchor="t"/>
          <a:lstStyle/>
          <a:p>
            <a:pPr indent="0" marL="0">
              <a:lnSpc>
                <a:spcPts val="1700"/>
              </a:lnSpc>
              <a:buNone/>
            </a:pPr>
            <a:r>
              <a:rPr lang="en-US" sz="1500" b="1" dirty="0">
                <a:solidFill>
                  <a:srgbClr val="D31242"/>
                </a:solidFill>
                <a:latin typeface="Arial" pitchFamily="34" charset="0"/>
                <a:ea typeface="Arial" pitchFamily="34" charset="-122"/>
                <a:cs typeface="Arial" pitchFamily="34" charset="-120"/>
              </a:rPr>
              <a:t>Q1  </a:t>
            </a:r>
            <a:pPr indent="0" marL="0">
              <a:lnSpc>
                <a:spcPts val="1700"/>
              </a:lnSpc>
              <a:buNone/>
            </a:pPr>
            <a:r>
              <a:rPr lang="en-US" sz="1300" b="1" dirty="0">
                <a:solidFill>
                  <a:srgbClr val="1F2733"/>
                </a:solidFill>
                <a:latin typeface="Arial" pitchFamily="34" charset="0"/>
                <a:ea typeface="Arial" pitchFamily="34" charset="-122"/>
                <a:cs typeface="Arial" pitchFamily="34" charset="-120"/>
              </a:rPr>
              <a:t>Why does 'think step by step' add less than it used to?</a:t>
            </a:r>
            <a:endParaRPr lang="en-US" sz="1500" dirty="0"/>
          </a:p>
        </p:txBody>
      </p:sp>
      <p:sp>
        <p:nvSpPr>
          <p:cNvPr id="6" name="Text 4"/>
          <p:cNvSpPr/>
          <p:nvPr/>
        </p:nvSpPr>
        <p:spPr>
          <a:xfrm>
            <a:off x="841248" y="2688336"/>
            <a:ext cx="4796028" cy="868680"/>
          </a:xfrm>
          <a:prstGeom prst="rect">
            <a:avLst/>
          </a:prstGeom>
          <a:noFill/>
          <a:ln/>
        </p:spPr>
        <p:txBody>
          <a:bodyPr wrap="square" rtlCol="0" anchor="t"/>
          <a:lstStyle/>
          <a:p>
            <a:pPr indent="0" marL="0">
              <a:lnSpc>
                <a:spcPts val="1400"/>
              </a:lnSpc>
              <a:buNone/>
            </a:pPr>
            <a:r>
              <a:rPr lang="en-US" sz="1100" b="1" dirty="0">
                <a:solidFill>
                  <a:srgbClr val="15803D"/>
                </a:solidFill>
                <a:latin typeface="Arial" pitchFamily="34" charset="0"/>
                <a:ea typeface="Arial" pitchFamily="34" charset="-122"/>
                <a:cs typeface="Arial" pitchFamily="34" charset="-120"/>
              </a:rPr>
              <a:t>Answer: </a:t>
            </a:r>
            <a:pPr indent="0" marL="0">
              <a:lnSpc>
                <a:spcPts val="1400"/>
              </a:lnSpc>
              <a:buNone/>
            </a:pPr>
            <a:r>
              <a:rPr lang="en-US" sz="1100" dirty="0">
                <a:solidFill>
                  <a:srgbClr val="3A4452"/>
                </a:solidFill>
                <a:latin typeface="Arial" pitchFamily="34" charset="0"/>
                <a:ea typeface="Arial" pitchFamily="34" charset="-122"/>
                <a:cs typeface="Arial" pitchFamily="34" charset="-120"/>
              </a:rPr>
              <a:t>Modern models reason by default — they often already do it.</a:t>
            </a:r>
            <a:endParaRPr lang="en-US" sz="1100" dirty="0"/>
          </a:p>
        </p:txBody>
      </p:sp>
      <p:sp>
        <p:nvSpPr>
          <p:cNvPr id="7" name="Shape 5"/>
          <p:cNvSpPr/>
          <p:nvPr/>
        </p:nvSpPr>
        <p:spPr>
          <a:xfrm>
            <a:off x="6277356" y="1554480"/>
            <a:ext cx="5344668" cy="2057400"/>
          </a:xfrm>
          <a:prstGeom prst="roundRect">
            <a:avLst>
              <a:gd name="adj" fmla="val 4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551676" y="1755648"/>
            <a:ext cx="4796028" cy="868680"/>
          </a:xfrm>
          <a:prstGeom prst="rect">
            <a:avLst/>
          </a:prstGeom>
          <a:noFill/>
          <a:ln/>
        </p:spPr>
        <p:txBody>
          <a:bodyPr wrap="square" rtlCol="0" anchor="t"/>
          <a:lstStyle/>
          <a:p>
            <a:pPr indent="0" marL="0">
              <a:lnSpc>
                <a:spcPts val="1700"/>
              </a:lnSpc>
              <a:buNone/>
            </a:pPr>
            <a:r>
              <a:rPr lang="en-US" sz="1500" b="1" dirty="0">
                <a:solidFill>
                  <a:srgbClr val="D31242"/>
                </a:solidFill>
                <a:latin typeface="Arial" pitchFamily="34" charset="0"/>
                <a:ea typeface="Arial" pitchFamily="34" charset="-122"/>
                <a:cs typeface="Arial" pitchFamily="34" charset="-120"/>
              </a:rPr>
              <a:t>Q2  </a:t>
            </a:r>
            <a:pPr indent="0" marL="0">
              <a:lnSpc>
                <a:spcPts val="1700"/>
              </a:lnSpc>
              <a:buNone/>
            </a:pPr>
            <a:r>
              <a:rPr lang="en-US" sz="1300" b="1" dirty="0">
                <a:solidFill>
                  <a:srgbClr val="1F2733"/>
                </a:solidFill>
                <a:latin typeface="Arial" pitchFamily="34" charset="0"/>
                <a:ea typeface="Arial" pitchFamily="34" charset="-122"/>
                <a:cs typeface="Arial" pitchFamily="34" charset="-120"/>
              </a:rPr>
              <a:t>Best pattern for exact math?</a:t>
            </a:r>
            <a:endParaRPr lang="en-US" sz="1500" dirty="0"/>
          </a:p>
        </p:txBody>
      </p:sp>
      <p:sp>
        <p:nvSpPr>
          <p:cNvPr id="9" name="Text 7"/>
          <p:cNvSpPr/>
          <p:nvPr/>
        </p:nvSpPr>
        <p:spPr>
          <a:xfrm>
            <a:off x="6551676" y="2688336"/>
            <a:ext cx="4796028" cy="868680"/>
          </a:xfrm>
          <a:prstGeom prst="rect">
            <a:avLst/>
          </a:prstGeom>
          <a:noFill/>
          <a:ln/>
        </p:spPr>
        <p:txBody>
          <a:bodyPr wrap="square" rtlCol="0" anchor="t"/>
          <a:lstStyle/>
          <a:p>
            <a:pPr indent="0" marL="0">
              <a:lnSpc>
                <a:spcPts val="1400"/>
              </a:lnSpc>
              <a:buNone/>
            </a:pPr>
            <a:r>
              <a:rPr lang="en-US" sz="1100" b="1" dirty="0">
                <a:solidFill>
                  <a:srgbClr val="15803D"/>
                </a:solidFill>
                <a:latin typeface="Arial" pitchFamily="34" charset="0"/>
                <a:ea typeface="Arial" pitchFamily="34" charset="-122"/>
                <a:cs typeface="Arial" pitchFamily="34" charset="-120"/>
              </a:rPr>
              <a:t>Answer: </a:t>
            </a:r>
            <a:pPr indent="0" marL="0">
              <a:lnSpc>
                <a:spcPts val="1400"/>
              </a:lnSpc>
              <a:buNone/>
            </a:pPr>
            <a:r>
              <a:rPr lang="en-US" sz="1100" dirty="0">
                <a:solidFill>
                  <a:srgbClr val="3A4452"/>
                </a:solidFill>
                <a:latin typeface="Arial" pitchFamily="34" charset="0"/>
                <a:ea typeface="Arial" pitchFamily="34" charset="-122"/>
                <a:cs typeface="Arial" pitchFamily="34" charset="-120"/>
              </a:rPr>
              <a:t>Think in code (program-aided) — let code compute it.</a:t>
            </a:r>
            <a:endParaRPr lang="en-US" sz="1100" dirty="0"/>
          </a:p>
        </p:txBody>
      </p:sp>
      <p:sp>
        <p:nvSpPr>
          <p:cNvPr id="10" name="Shape 8"/>
          <p:cNvSpPr/>
          <p:nvPr/>
        </p:nvSpPr>
        <p:spPr>
          <a:xfrm>
            <a:off x="566928" y="3886200"/>
            <a:ext cx="5344668" cy="2057400"/>
          </a:xfrm>
          <a:prstGeom prst="roundRect">
            <a:avLst>
              <a:gd name="adj" fmla="val 4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Text 9"/>
          <p:cNvSpPr/>
          <p:nvPr/>
        </p:nvSpPr>
        <p:spPr>
          <a:xfrm>
            <a:off x="841248" y="4087368"/>
            <a:ext cx="4796028" cy="868680"/>
          </a:xfrm>
          <a:prstGeom prst="rect">
            <a:avLst/>
          </a:prstGeom>
          <a:noFill/>
          <a:ln/>
        </p:spPr>
        <p:txBody>
          <a:bodyPr wrap="square" rtlCol="0" anchor="t"/>
          <a:lstStyle/>
          <a:p>
            <a:pPr indent="0" marL="0">
              <a:lnSpc>
                <a:spcPts val="1700"/>
              </a:lnSpc>
              <a:buNone/>
            </a:pPr>
            <a:r>
              <a:rPr lang="en-US" sz="1500" b="1" dirty="0">
                <a:solidFill>
                  <a:srgbClr val="D31242"/>
                </a:solidFill>
                <a:latin typeface="Arial" pitchFamily="34" charset="0"/>
                <a:ea typeface="Arial" pitchFamily="34" charset="-122"/>
                <a:cs typeface="Arial" pitchFamily="34" charset="-120"/>
              </a:rPr>
              <a:t>Q3  </a:t>
            </a:r>
            <a:pPr indent="0" marL="0">
              <a:lnSpc>
                <a:spcPts val="1700"/>
              </a:lnSpc>
              <a:buNone/>
            </a:pPr>
            <a:r>
              <a:rPr lang="en-US" sz="1300" b="1" dirty="0">
                <a:solidFill>
                  <a:srgbClr val="1F2733"/>
                </a:solidFill>
                <a:latin typeface="Arial" pitchFamily="34" charset="0"/>
                <a:ea typeface="Arial" pitchFamily="34" charset="-122"/>
                <a:cs typeface="Arial" pitchFamily="34" charset="-120"/>
              </a:rPr>
              <a:t>Difference: self-refine vs. chain-of-verification?</a:t>
            </a:r>
            <a:endParaRPr lang="en-US" sz="1500" dirty="0"/>
          </a:p>
        </p:txBody>
      </p:sp>
      <p:sp>
        <p:nvSpPr>
          <p:cNvPr id="12" name="Text 10"/>
          <p:cNvSpPr/>
          <p:nvPr/>
        </p:nvSpPr>
        <p:spPr>
          <a:xfrm>
            <a:off x="841248" y="5020056"/>
            <a:ext cx="4796028" cy="868680"/>
          </a:xfrm>
          <a:prstGeom prst="rect">
            <a:avLst/>
          </a:prstGeom>
          <a:noFill/>
          <a:ln/>
        </p:spPr>
        <p:txBody>
          <a:bodyPr wrap="square" rtlCol="0" anchor="t"/>
          <a:lstStyle/>
          <a:p>
            <a:pPr indent="0" marL="0">
              <a:lnSpc>
                <a:spcPts val="1400"/>
              </a:lnSpc>
              <a:buNone/>
            </a:pPr>
            <a:r>
              <a:rPr lang="en-US" sz="1100" b="1" dirty="0">
                <a:solidFill>
                  <a:srgbClr val="15803D"/>
                </a:solidFill>
                <a:latin typeface="Arial" pitchFamily="34" charset="0"/>
                <a:ea typeface="Arial" pitchFamily="34" charset="-122"/>
                <a:cs typeface="Arial" pitchFamily="34" charset="-120"/>
              </a:rPr>
              <a:t>Answer: </a:t>
            </a:r>
            <a:pPr indent="0" marL="0">
              <a:lnSpc>
                <a:spcPts val="1400"/>
              </a:lnSpc>
              <a:buNone/>
            </a:pPr>
            <a:r>
              <a:rPr lang="en-US" sz="1100" dirty="0">
                <a:solidFill>
                  <a:srgbClr val="3A4452"/>
                </a:solidFill>
                <a:latin typeface="Arial" pitchFamily="34" charset="0"/>
                <a:ea typeface="Arial" pitchFamily="34" charset="-122"/>
                <a:cs typeface="Arial" pitchFamily="34" charset="-120"/>
              </a:rPr>
              <a:t>Self-refine = critique &amp; rewrite for quality; CoVe = generate check-questions to catch wrong facts.</a:t>
            </a:r>
            <a:endParaRPr lang="en-US" sz="1100" dirty="0"/>
          </a:p>
        </p:txBody>
      </p:sp>
      <p:sp>
        <p:nvSpPr>
          <p:cNvPr id="13" name="Shape 11"/>
          <p:cNvSpPr/>
          <p:nvPr/>
        </p:nvSpPr>
        <p:spPr>
          <a:xfrm>
            <a:off x="6277356" y="3886200"/>
            <a:ext cx="5344668" cy="2057400"/>
          </a:xfrm>
          <a:prstGeom prst="roundRect">
            <a:avLst>
              <a:gd name="adj" fmla="val 4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4" name="Text 12"/>
          <p:cNvSpPr/>
          <p:nvPr/>
        </p:nvSpPr>
        <p:spPr>
          <a:xfrm>
            <a:off x="6551676" y="4087368"/>
            <a:ext cx="4796028" cy="868680"/>
          </a:xfrm>
          <a:prstGeom prst="rect">
            <a:avLst/>
          </a:prstGeom>
          <a:noFill/>
          <a:ln/>
        </p:spPr>
        <p:txBody>
          <a:bodyPr wrap="square" rtlCol="0" anchor="t"/>
          <a:lstStyle/>
          <a:p>
            <a:pPr indent="0" marL="0">
              <a:lnSpc>
                <a:spcPts val="1700"/>
              </a:lnSpc>
              <a:buNone/>
            </a:pPr>
            <a:r>
              <a:rPr lang="en-US" sz="1500" b="1" dirty="0">
                <a:solidFill>
                  <a:srgbClr val="D31242"/>
                </a:solidFill>
                <a:latin typeface="Arial" pitchFamily="34" charset="0"/>
                <a:ea typeface="Arial" pitchFamily="34" charset="-122"/>
                <a:cs typeface="Arial" pitchFamily="34" charset="-120"/>
              </a:rPr>
              <a:t>Q4  </a:t>
            </a:r>
            <a:pPr indent="0" marL="0">
              <a:lnSpc>
                <a:spcPts val="1700"/>
              </a:lnSpc>
              <a:buNone/>
            </a:pPr>
            <a:r>
              <a:rPr lang="en-US" sz="1300" b="1" dirty="0">
                <a:solidFill>
                  <a:srgbClr val="1F2733"/>
                </a:solidFill>
                <a:latin typeface="Arial" pitchFamily="34" charset="0"/>
                <a:ea typeface="Arial" pitchFamily="34" charset="-122"/>
                <a:cs typeface="Arial" pitchFamily="34" charset="-120"/>
              </a:rPr>
              <a:t>Name one pattern NOT worth teaching, and why.</a:t>
            </a:r>
            <a:endParaRPr lang="en-US" sz="1500" dirty="0"/>
          </a:p>
        </p:txBody>
      </p:sp>
      <p:sp>
        <p:nvSpPr>
          <p:cNvPr id="15" name="Text 13"/>
          <p:cNvSpPr/>
          <p:nvPr/>
        </p:nvSpPr>
        <p:spPr>
          <a:xfrm>
            <a:off x="6551676" y="5020056"/>
            <a:ext cx="4796028" cy="868680"/>
          </a:xfrm>
          <a:prstGeom prst="rect">
            <a:avLst/>
          </a:prstGeom>
          <a:noFill/>
          <a:ln/>
        </p:spPr>
        <p:txBody>
          <a:bodyPr wrap="square" rtlCol="0" anchor="t"/>
          <a:lstStyle/>
          <a:p>
            <a:pPr indent="0" marL="0">
              <a:lnSpc>
                <a:spcPts val="1400"/>
              </a:lnSpc>
              <a:buNone/>
            </a:pPr>
            <a:r>
              <a:rPr lang="en-US" sz="1100" b="1" dirty="0">
                <a:solidFill>
                  <a:srgbClr val="15803D"/>
                </a:solidFill>
                <a:latin typeface="Arial" pitchFamily="34" charset="0"/>
                <a:ea typeface="Arial" pitchFamily="34" charset="-122"/>
                <a:cs typeface="Arial" pitchFamily="34" charset="-120"/>
              </a:rPr>
              <a:t>Answer: </a:t>
            </a:r>
            <a:pPr indent="0" marL="0">
              <a:lnSpc>
                <a:spcPts val="1400"/>
              </a:lnSpc>
              <a:buNone/>
            </a:pPr>
            <a:r>
              <a:rPr lang="en-US" sz="1100" dirty="0">
                <a:solidFill>
                  <a:srgbClr val="3A4452"/>
                </a:solidFill>
                <a:latin typeface="Arial" pitchFamily="34" charset="0"/>
                <a:ea typeface="Arial" pitchFamily="34" charset="-122"/>
                <a:cs typeface="Arial" pitchFamily="34" charset="-120"/>
              </a:rPr>
              <a:t>Emotion prompting — weak, inconsistent evidence.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KEEP THIS AT YOUR DESK</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Reasoning &amp; self-improvement cheat sheet</a:t>
            </a:r>
            <a:endParaRPr lang="en-US" sz="2700" dirty="0"/>
          </a:p>
        </p:txBody>
      </p:sp>
      <p:sp>
        <p:nvSpPr>
          <p:cNvPr id="4" name="Shape 2"/>
          <p:cNvSpPr/>
          <p:nvPr/>
        </p:nvSpPr>
        <p:spPr>
          <a:xfrm>
            <a:off x="566928" y="1554480"/>
            <a:ext cx="5486400" cy="4297680"/>
          </a:xfrm>
          <a:prstGeom prst="roundRect">
            <a:avLst>
              <a:gd name="adj" fmla="val 1915"/>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83080"/>
            <a:ext cx="4937760" cy="365760"/>
          </a:xfrm>
          <a:prstGeom prst="rect">
            <a:avLst/>
          </a:prstGeom>
          <a:noFill/>
          <a:ln/>
        </p:spPr>
        <p:txBody>
          <a:bodyPr wrap="square" rtlCol="0" anchor="ctr"/>
          <a:lstStyle/>
          <a:p>
            <a:pPr indent="0" marL="0">
              <a:buNone/>
            </a:pPr>
            <a:r>
              <a:rPr lang="en-US" sz="1500" b="1" dirty="0">
                <a:solidFill>
                  <a:srgbClr val="D31242"/>
                </a:solidFill>
                <a:latin typeface="Arial" pitchFamily="34" charset="0"/>
                <a:ea typeface="Arial" pitchFamily="34" charset="-122"/>
                <a:cs typeface="Arial" pitchFamily="34" charset="-120"/>
              </a:rPr>
              <a:t>Reasoning toolkit</a:t>
            </a:r>
            <a:endParaRPr lang="en-US" sz="1500" dirty="0"/>
          </a:p>
        </p:txBody>
      </p:sp>
      <p:sp>
        <p:nvSpPr>
          <p:cNvPr id="6" name="Text 4"/>
          <p:cNvSpPr/>
          <p:nvPr/>
        </p:nvSpPr>
        <p:spPr>
          <a:xfrm>
            <a:off x="841248" y="2148840"/>
            <a:ext cx="4983480" cy="3657600"/>
          </a:xfrm>
          <a:prstGeom prst="rect">
            <a:avLst/>
          </a:prstGeom>
          <a:noFill/>
          <a:ln/>
        </p:spPr>
        <p:txBody>
          <a:bodyPr wrap="square" rtlCol="0" anchor="t"/>
          <a:lstStyle/>
          <a:p>
            <a:pPr indent="0" marL="0">
              <a:lnSpc>
                <a:spcPts val="1900"/>
              </a:lnSpc>
              <a:buNone/>
            </a:pPr>
            <a:r>
              <a:rPr lang="en-US" sz="1250" b="1" dirty="0">
                <a:solidFill>
                  <a:srgbClr val="1F2733"/>
                </a:solidFill>
                <a:latin typeface="Arial" pitchFamily="34" charset="0"/>
                <a:ea typeface="Arial" pitchFamily="34" charset="-122"/>
                <a:cs typeface="Arial" pitchFamily="34" charset="-120"/>
              </a:rPr>
              <a:t>Dial depth: </a:t>
            </a:r>
            <a:pPr indent="0" marL="0">
              <a:lnSpc>
                <a:spcPts val="1900"/>
              </a:lnSpc>
              <a:buNone/>
            </a:pPr>
            <a:r>
              <a:rPr lang="en-US" sz="1250" dirty="0">
                <a:solidFill>
                  <a:srgbClr val="3A4452"/>
                </a:solidFill>
                <a:latin typeface="Arial" pitchFamily="34" charset="0"/>
                <a:ea typeface="Arial" pitchFamily="34" charset="-122"/>
                <a:cs typeface="Arial" pitchFamily="34" charset="-120"/>
              </a:rPr>
              <a:t>Effort to match stakes</a:t>
            </a:r>
            <a:endParaRPr lang="en-US" sz="1250" dirty="0"/>
          </a:p>
          <a:p>
            <a:pPr indent="0" marL="0">
              <a:lnSpc>
                <a:spcPts val="1900"/>
              </a:lnSpc>
              <a:buNone/>
            </a:pPr>
            <a:r>
              <a:rPr lang="en-US" sz="1250" b="1" dirty="0">
                <a:solidFill>
                  <a:srgbClr val="1F2733"/>
                </a:solidFill>
                <a:latin typeface="Arial" pitchFamily="34" charset="0"/>
                <a:ea typeface="Arial" pitchFamily="34" charset="-122"/>
                <a:cs typeface="Arial" pitchFamily="34" charset="-120"/>
              </a:rPr>
              <a:t>Decompose: </a:t>
            </a:r>
            <a:pPr indent="0" marL="0">
              <a:lnSpc>
                <a:spcPts val="1900"/>
              </a:lnSpc>
              <a:buNone/>
            </a:pPr>
            <a:r>
              <a:rPr lang="en-US" sz="1250" dirty="0">
                <a:solidFill>
                  <a:srgbClr val="3A4452"/>
                </a:solidFill>
                <a:latin typeface="Arial" pitchFamily="34" charset="0"/>
                <a:ea typeface="Arial" pitchFamily="34" charset="-122"/>
                <a:cs typeface="Arial" pitchFamily="34" charset="-120"/>
              </a:rPr>
              <a:t>do it in ordered steps</a:t>
            </a:r>
            <a:endParaRPr lang="en-US" sz="1250" dirty="0"/>
          </a:p>
          <a:p>
            <a:pPr indent="0" marL="0">
              <a:lnSpc>
                <a:spcPts val="1900"/>
              </a:lnSpc>
              <a:buNone/>
            </a:pPr>
            <a:r>
              <a:rPr lang="en-US" sz="1250" b="1" dirty="0">
                <a:solidFill>
                  <a:srgbClr val="1F2733"/>
                </a:solidFill>
                <a:latin typeface="Arial" pitchFamily="34" charset="0"/>
                <a:ea typeface="Arial" pitchFamily="34" charset="-122"/>
                <a:cs typeface="Arial" pitchFamily="34" charset="-120"/>
              </a:rPr>
              <a:t>Plan-and-solve: </a:t>
            </a:r>
            <a:pPr indent="0" marL="0">
              <a:lnSpc>
                <a:spcPts val="1900"/>
              </a:lnSpc>
              <a:buNone/>
            </a:pPr>
            <a:r>
              <a:rPr lang="en-US" sz="1250" dirty="0">
                <a:solidFill>
                  <a:srgbClr val="3A4452"/>
                </a:solidFill>
                <a:latin typeface="Arial" pitchFamily="34" charset="0"/>
                <a:ea typeface="Arial" pitchFamily="34" charset="-122"/>
                <a:cs typeface="Arial" pitchFamily="34" charset="-120"/>
              </a:rPr>
              <a:t>plan, then execute</a:t>
            </a:r>
            <a:endParaRPr lang="en-US" sz="1250" dirty="0"/>
          </a:p>
          <a:p>
            <a:pPr indent="0" marL="0">
              <a:lnSpc>
                <a:spcPts val="1900"/>
              </a:lnSpc>
              <a:buNone/>
            </a:pPr>
            <a:r>
              <a:rPr lang="en-US" sz="1250" b="1" dirty="0">
                <a:solidFill>
                  <a:srgbClr val="1F2733"/>
                </a:solidFill>
                <a:latin typeface="Arial" pitchFamily="34" charset="0"/>
                <a:ea typeface="Arial" pitchFamily="34" charset="-122"/>
                <a:cs typeface="Arial" pitchFamily="34" charset="-120"/>
              </a:rPr>
              <a:t>Step-back: </a:t>
            </a:r>
            <a:pPr indent="0" marL="0">
              <a:lnSpc>
                <a:spcPts val="1900"/>
              </a:lnSpc>
              <a:buNone/>
            </a:pPr>
            <a:r>
              <a:rPr lang="en-US" sz="1250" dirty="0">
                <a:solidFill>
                  <a:srgbClr val="3A4452"/>
                </a:solidFill>
                <a:latin typeface="Arial" pitchFamily="34" charset="0"/>
                <a:ea typeface="Arial" pitchFamily="34" charset="-122"/>
                <a:cs typeface="Arial" pitchFamily="34" charset="-120"/>
              </a:rPr>
              <a:t>get the principle first</a:t>
            </a:r>
            <a:endParaRPr lang="en-US" sz="1250" dirty="0"/>
          </a:p>
          <a:p>
            <a:pPr indent="0" marL="0">
              <a:lnSpc>
                <a:spcPts val="1900"/>
              </a:lnSpc>
              <a:buNone/>
            </a:pPr>
            <a:r>
              <a:rPr lang="en-US" sz="1250" b="1" dirty="0">
                <a:solidFill>
                  <a:srgbClr val="1F2733"/>
                </a:solidFill>
                <a:latin typeface="Arial" pitchFamily="34" charset="0"/>
                <a:ea typeface="Arial" pitchFamily="34" charset="-122"/>
                <a:cs typeface="Arial" pitchFamily="34" charset="-120"/>
              </a:rPr>
              <a:t>Think in code: </a:t>
            </a:r>
            <a:pPr indent="0" marL="0">
              <a:lnSpc>
                <a:spcPts val="1900"/>
              </a:lnSpc>
              <a:buNone/>
            </a:pPr>
            <a:r>
              <a:rPr lang="en-US" sz="1250" dirty="0">
                <a:solidFill>
                  <a:srgbClr val="3A4452"/>
                </a:solidFill>
                <a:latin typeface="Arial" pitchFamily="34" charset="0"/>
                <a:ea typeface="Arial" pitchFamily="34" charset="-122"/>
                <a:cs typeface="Arial" pitchFamily="34" charset="-120"/>
              </a:rPr>
              <a:t>for exact math</a:t>
            </a:r>
            <a:endParaRPr lang="en-US" sz="1250" dirty="0"/>
          </a:p>
          <a:p>
            <a:pPr indent="0" marL="0">
              <a:lnSpc>
                <a:spcPts val="1900"/>
              </a:lnSpc>
              <a:buNone/>
            </a:pPr>
            <a:r>
              <a:rPr lang="en-US" sz="1250" b="1" dirty="0">
                <a:solidFill>
                  <a:srgbClr val="1F2733"/>
                </a:solidFill>
                <a:latin typeface="Arial" pitchFamily="34" charset="0"/>
                <a:ea typeface="Arial" pitchFamily="34" charset="-122"/>
                <a:cs typeface="Arial" pitchFamily="34" charset="-120"/>
              </a:rPr>
              <a:t>Outline-first / self-ask / analogical: </a:t>
            </a:r>
            <a:pPr indent="0" marL="0">
              <a:lnSpc>
                <a:spcPts val="1900"/>
              </a:lnSpc>
              <a:buNone/>
            </a:pPr>
            <a:r>
              <a:rPr lang="en-US" sz="1250" dirty="0">
                <a:solidFill>
                  <a:srgbClr val="3A4452"/>
                </a:solidFill>
                <a:latin typeface="Arial" pitchFamily="34" charset="0"/>
                <a:ea typeface="Arial" pitchFamily="34" charset="-122"/>
                <a:cs typeface="Arial" pitchFamily="34" charset="-120"/>
              </a:rPr>
              <a:t>situational</a:t>
            </a:r>
            <a:endParaRPr lang="en-US" sz="1250" dirty="0"/>
          </a:p>
        </p:txBody>
      </p:sp>
      <p:sp>
        <p:nvSpPr>
          <p:cNvPr id="7" name="Shape 5"/>
          <p:cNvSpPr/>
          <p:nvPr/>
        </p:nvSpPr>
        <p:spPr>
          <a:xfrm>
            <a:off x="6355080" y="1554480"/>
            <a:ext cx="5486400" cy="4297680"/>
          </a:xfrm>
          <a:prstGeom prst="roundRect">
            <a:avLst>
              <a:gd name="adj" fmla="val 1915"/>
            </a:avLst>
          </a:prstGeom>
          <a:solidFill>
            <a:srgbClr val="FCE4EA"/>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629400" y="1783080"/>
            <a:ext cx="4937760" cy="365760"/>
          </a:xfrm>
          <a:prstGeom prst="rect">
            <a:avLst/>
          </a:prstGeom>
          <a:noFill/>
          <a:ln/>
        </p:spPr>
        <p:txBody>
          <a:bodyPr wrap="square" rtlCol="0" anchor="ctr"/>
          <a:lstStyle/>
          <a:p>
            <a:pPr indent="0" marL="0">
              <a:buNone/>
            </a:pPr>
            <a:r>
              <a:rPr lang="en-US" sz="1500" b="1" dirty="0">
                <a:solidFill>
                  <a:srgbClr val="7E0A27"/>
                </a:solidFill>
                <a:latin typeface="Arial" pitchFamily="34" charset="0"/>
                <a:ea typeface="Arial" pitchFamily="34" charset="-122"/>
                <a:cs typeface="Arial" pitchFamily="34" charset="-120"/>
              </a:rPr>
              <a:t>Self-improve &amp; restraint</a:t>
            </a:r>
            <a:endParaRPr lang="en-US" sz="1500" dirty="0"/>
          </a:p>
        </p:txBody>
      </p:sp>
      <p:sp>
        <p:nvSpPr>
          <p:cNvPr id="9" name="Text 7"/>
          <p:cNvSpPr/>
          <p:nvPr/>
        </p:nvSpPr>
        <p:spPr>
          <a:xfrm>
            <a:off x="6629400" y="2148840"/>
            <a:ext cx="4983480" cy="3657600"/>
          </a:xfrm>
          <a:prstGeom prst="rect">
            <a:avLst/>
          </a:prstGeom>
          <a:noFill/>
          <a:ln/>
        </p:spPr>
        <p:txBody>
          <a:bodyPr wrap="square" rtlCol="0" anchor="t"/>
          <a:lstStyle/>
          <a:p>
            <a:pPr indent="0" marL="0">
              <a:lnSpc>
                <a:spcPts val="1900"/>
              </a:lnSpc>
              <a:buNone/>
            </a:pPr>
            <a:r>
              <a:rPr lang="en-US" sz="1250" b="1" dirty="0">
                <a:solidFill>
                  <a:srgbClr val="1F2733"/>
                </a:solidFill>
                <a:latin typeface="Arial" pitchFamily="34" charset="0"/>
                <a:ea typeface="Arial" pitchFamily="34" charset="-122"/>
                <a:cs typeface="Arial" pitchFamily="34" charset="-120"/>
              </a:rPr>
              <a:t>Self-refine: </a:t>
            </a:r>
            <a:pPr indent="0" marL="0">
              <a:lnSpc>
                <a:spcPts val="1900"/>
              </a:lnSpc>
              <a:buNone/>
            </a:pPr>
            <a:r>
              <a:rPr lang="en-US" sz="1250" dirty="0">
                <a:solidFill>
                  <a:srgbClr val="3A4452"/>
                </a:solidFill>
                <a:latin typeface="Arial" pitchFamily="34" charset="0"/>
                <a:ea typeface="Arial" pitchFamily="34" charset="-122"/>
                <a:cs typeface="Arial" pitchFamily="34" charset="-120"/>
              </a:rPr>
              <a:t>critique, then rewrite</a:t>
            </a:r>
            <a:endParaRPr lang="en-US" sz="1250" dirty="0"/>
          </a:p>
          <a:p>
            <a:pPr indent="0" marL="0">
              <a:lnSpc>
                <a:spcPts val="1900"/>
              </a:lnSpc>
              <a:buNone/>
            </a:pPr>
            <a:r>
              <a:rPr lang="en-US" sz="1250" b="1" dirty="0">
                <a:solidFill>
                  <a:srgbClr val="1F2733"/>
                </a:solidFill>
                <a:latin typeface="Arial" pitchFamily="34" charset="0"/>
                <a:ea typeface="Arial" pitchFamily="34" charset="-122"/>
                <a:cs typeface="Arial" pitchFamily="34" charset="-120"/>
              </a:rPr>
              <a:t>Verify (CoVe): </a:t>
            </a:r>
            <a:pPr indent="0" marL="0">
              <a:lnSpc>
                <a:spcPts val="1900"/>
              </a:lnSpc>
              <a:buNone/>
            </a:pPr>
            <a:r>
              <a:rPr lang="en-US" sz="1250" dirty="0">
                <a:solidFill>
                  <a:srgbClr val="3A4452"/>
                </a:solidFill>
                <a:latin typeface="Arial" pitchFamily="34" charset="0"/>
                <a:ea typeface="Arial" pitchFamily="34" charset="-122"/>
                <a:cs typeface="Arial" pitchFamily="34" charset="-120"/>
              </a:rPr>
              <a:t>list what's wrong, check, fix</a:t>
            </a:r>
            <a:endParaRPr lang="en-US" sz="1250" dirty="0"/>
          </a:p>
          <a:p>
            <a:pPr indent="0" marL="0">
              <a:lnSpc>
                <a:spcPts val="1900"/>
              </a:lnSpc>
              <a:buNone/>
            </a:pPr>
            <a:r>
              <a:rPr lang="en-US" sz="1250" b="1" dirty="0">
                <a:solidFill>
                  <a:srgbClr val="1F2733"/>
                </a:solidFill>
                <a:latin typeface="Arial" pitchFamily="34" charset="0"/>
                <a:ea typeface="Arial" pitchFamily="34" charset="-122"/>
                <a:cs typeface="Arial" pitchFamily="34" charset="-120"/>
              </a:rPr>
              <a:t>Best-of-N: </a:t>
            </a:r>
            <a:pPr indent="0" marL="0">
              <a:lnSpc>
                <a:spcPts val="1900"/>
              </a:lnSpc>
              <a:buNone/>
            </a:pPr>
            <a:r>
              <a:rPr lang="en-US" sz="1250" dirty="0">
                <a:solidFill>
                  <a:srgbClr val="3A4452"/>
                </a:solidFill>
                <a:latin typeface="Arial" pitchFamily="34" charset="0"/>
                <a:ea typeface="Arial" pitchFamily="34" charset="-122"/>
                <a:cs typeface="Arial" pitchFamily="34" charset="-120"/>
              </a:rPr>
              <a:t>draft several, keep the best</a:t>
            </a:r>
            <a:endParaRPr lang="en-US" sz="1250" dirty="0"/>
          </a:p>
          <a:p>
            <a:pPr indent="0" marL="0">
              <a:lnSpc>
                <a:spcPts val="1900"/>
              </a:lnSpc>
              <a:buNone/>
            </a:pPr>
            <a:endParaRPr lang="en-US" sz="1250" dirty="0"/>
          </a:p>
          <a:p>
            <a:pPr indent="0" marL="0">
              <a:lnSpc>
                <a:spcPts val="1900"/>
              </a:lnSpc>
              <a:buNone/>
            </a:pPr>
            <a:r>
              <a:rPr lang="en-US" sz="1250" b="1" dirty="0">
                <a:solidFill>
                  <a:srgbClr val="1F2733"/>
                </a:solidFill>
                <a:latin typeface="Arial" pitchFamily="34" charset="0"/>
                <a:ea typeface="Arial" pitchFamily="34" charset="-122"/>
                <a:cs typeface="Arial" pitchFamily="34" charset="-120"/>
              </a:rPr>
              <a:t>Don't over-think simple asks.</a:t>
            </a:r>
            <a:endParaRPr lang="en-US" sz="1250" dirty="0"/>
          </a:p>
          <a:p>
            <a:pPr indent="0" marL="0">
              <a:lnSpc>
                <a:spcPts val="1900"/>
              </a:lnSpc>
              <a:buNone/>
            </a:pPr>
            <a:r>
              <a:rPr lang="en-US" sz="1250" dirty="0">
                <a:solidFill>
                  <a:srgbClr val="3A4452"/>
                </a:solidFill>
                <a:latin typeface="Arial" pitchFamily="34" charset="0"/>
                <a:ea typeface="Arial" pitchFamily="34" charset="-122"/>
                <a:cs typeface="Arial" pitchFamily="34" charset="-120"/>
              </a:rPr>
              <a:t>'Think step by step' ≠ magic anymore.</a:t>
            </a:r>
            <a:endParaRPr lang="en-US" sz="1250" dirty="0"/>
          </a:p>
          <a:p>
            <a:pPr indent="0" marL="0">
              <a:lnSpc>
                <a:spcPts val="1900"/>
              </a:lnSpc>
              <a:buNone/>
            </a:pPr>
            <a:r>
              <a:rPr lang="en-US" sz="1250" b="1" dirty="0">
                <a:solidFill>
                  <a:srgbClr val="D31242"/>
                </a:solidFill>
                <a:latin typeface="Arial" pitchFamily="34" charset="0"/>
                <a:ea typeface="Arial" pitchFamily="34" charset="-122"/>
                <a:cs typeface="Arial" pitchFamily="34" charset="-120"/>
              </a:rPr>
              <a:t>Reasoning to get it right + verify to keep it safe.</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MAKE IT STICK</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Practice this week</a:t>
            </a:r>
            <a:endParaRPr lang="en-US" sz="2700" dirty="0"/>
          </a:p>
        </p:txBody>
      </p:sp>
      <p:sp>
        <p:nvSpPr>
          <p:cNvPr id="4" name="Shape 2"/>
          <p:cNvSpPr/>
          <p:nvPr/>
        </p:nvSpPr>
        <p:spPr>
          <a:xfrm>
            <a:off x="566928" y="1600200"/>
            <a:ext cx="5760720" cy="4114800"/>
          </a:xfrm>
          <a:prstGeom prst="roundRect">
            <a:avLst>
              <a:gd name="adj" fmla="val 2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5212080" cy="41148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3 reps</a:t>
            </a:r>
            <a:endParaRPr lang="en-US" sz="1600" dirty="0"/>
          </a:p>
        </p:txBody>
      </p:sp>
      <p:sp>
        <p:nvSpPr>
          <p:cNvPr id="6" name="Text 4"/>
          <p:cNvSpPr/>
          <p:nvPr/>
        </p:nvSpPr>
        <p:spPr>
          <a:xfrm>
            <a:off x="886968" y="2286000"/>
            <a:ext cx="5212080" cy="3200400"/>
          </a:xfrm>
          <a:prstGeom prst="rect">
            <a:avLst/>
          </a:prstGeom>
          <a:noFill/>
          <a:ln/>
        </p:spPr>
        <p:txBody>
          <a:bodyPr wrap="square" rtlCol="0" anchor="t"/>
          <a:lstStyle/>
          <a:p>
            <a:pPr marL="342900" indent="-342900">
              <a:lnSpc>
                <a:spcPts val="2400"/>
              </a:lnSpc>
              <a:buSzPct val="100000"/>
              <a:buChar char="•"/>
            </a:pPr>
            <a:r>
              <a:rPr lang="en-US" sz="1350" dirty="0">
                <a:solidFill>
                  <a:srgbClr val="3A4452"/>
                </a:solidFill>
                <a:latin typeface="Arial" pitchFamily="34" charset="0"/>
                <a:ea typeface="Arial" pitchFamily="34" charset="-122"/>
                <a:cs typeface="Arial" pitchFamily="34" charset="-120"/>
              </a:rPr>
              <a:t>Use 'think in code' on a real numbers task.</a:t>
            </a:r>
            <a:endParaRPr lang="en-US" sz="1350" dirty="0"/>
          </a:p>
          <a:p>
            <a:pPr marL="342900" indent="-342900">
              <a:lnSpc>
                <a:spcPts val="2400"/>
              </a:lnSpc>
              <a:buSzPct val="100000"/>
              <a:buChar char="•"/>
            </a:pPr>
            <a:r>
              <a:rPr lang="en-US" sz="1350" dirty="0">
                <a:solidFill>
                  <a:srgbClr val="3A4452"/>
                </a:solidFill>
                <a:latin typeface="Arial" pitchFamily="34" charset="0"/>
                <a:ea typeface="Arial" pitchFamily="34" charset="-122"/>
                <a:cs typeface="Arial" pitchFamily="34" charset="-120"/>
              </a:rPr>
              <a:t>Self-refine a draft: critique, then rewrite.</a:t>
            </a:r>
            <a:endParaRPr lang="en-US" sz="1350" dirty="0"/>
          </a:p>
          <a:p>
            <a:pPr marL="342900" indent="-342900">
              <a:lnSpc>
                <a:spcPts val="2400"/>
              </a:lnSpc>
              <a:buSzPct val="100000"/>
              <a:buChar char="•"/>
            </a:pPr>
            <a:r>
              <a:rPr lang="en-US" sz="1350" dirty="0">
                <a:solidFill>
                  <a:srgbClr val="3A4452"/>
                </a:solidFill>
                <a:latin typeface="Arial" pitchFamily="34" charset="0"/>
                <a:ea typeface="Arial" pitchFamily="34" charset="-122"/>
                <a:cs typeface="Arial" pitchFamily="34" charset="-120"/>
              </a:rPr>
              <a:t>Run chain-of-verification on a fact-heavy summary.</a:t>
            </a:r>
            <a:endParaRPr lang="en-US" sz="1350" dirty="0"/>
          </a:p>
        </p:txBody>
      </p:sp>
      <p:sp>
        <p:nvSpPr>
          <p:cNvPr id="7" name="Shape 5"/>
          <p:cNvSpPr/>
          <p:nvPr/>
        </p:nvSpPr>
        <p:spPr>
          <a:xfrm>
            <a:off x="6629400" y="1600200"/>
            <a:ext cx="4983480" cy="4114800"/>
          </a:xfrm>
          <a:prstGeom prst="roundRect">
            <a:avLst>
              <a:gd name="adj" fmla="val 2000"/>
            </a:avLst>
          </a:prstGeom>
          <a:solidFill>
            <a:srgbClr val="FCE4EA"/>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903720" y="1828800"/>
            <a:ext cx="4480560" cy="411480"/>
          </a:xfrm>
          <a:prstGeom prst="rect">
            <a:avLst/>
          </a:prstGeom>
          <a:noFill/>
          <a:ln/>
        </p:spPr>
        <p:txBody>
          <a:bodyPr wrap="square" rtlCol="0" anchor="ctr"/>
          <a:lstStyle/>
          <a:p>
            <a:pPr indent="0" marL="0">
              <a:buNone/>
            </a:pPr>
            <a:r>
              <a:rPr lang="en-US" sz="1600" b="1" dirty="0">
                <a:solidFill>
                  <a:srgbClr val="7E0A27"/>
                </a:solidFill>
                <a:latin typeface="Arial" pitchFamily="34" charset="0"/>
                <a:ea typeface="Arial" pitchFamily="34" charset="-122"/>
                <a:cs typeface="Arial" pitchFamily="34" charset="-120"/>
              </a:rPr>
              <a:t>Champion assignment</a:t>
            </a:r>
            <a:endParaRPr lang="en-US" sz="1600" dirty="0"/>
          </a:p>
        </p:txBody>
      </p:sp>
      <p:sp>
        <p:nvSpPr>
          <p:cNvPr id="9" name="Text 7"/>
          <p:cNvSpPr/>
          <p:nvPr/>
        </p:nvSpPr>
        <p:spPr>
          <a:xfrm>
            <a:off x="6903720" y="2286000"/>
            <a:ext cx="4480560" cy="3291840"/>
          </a:xfrm>
          <a:prstGeom prst="rect">
            <a:avLst/>
          </a:prstGeom>
          <a:noFill/>
          <a:ln/>
        </p:spPr>
        <p:txBody>
          <a:bodyPr wrap="square" rtlCol="0" anchor="t"/>
          <a:lstStyle/>
          <a:p>
            <a:pPr indent="0" marL="0">
              <a:lnSpc>
                <a:spcPts val="2000"/>
              </a:lnSpc>
              <a:buNone/>
            </a:pPr>
            <a:r>
              <a:rPr lang="en-US" sz="1350" b="1" dirty="0">
                <a:solidFill>
                  <a:srgbClr val="1F2733"/>
                </a:solidFill>
                <a:latin typeface="Arial" pitchFamily="34" charset="0"/>
                <a:ea typeface="Arial" pitchFamily="34" charset="-122"/>
                <a:cs typeface="Arial" pitchFamily="34" charset="-120"/>
              </a:rPr>
              <a:t>Take one judgment-call task your team handles and build a reason-then-verify prompt for it. </a:t>
            </a:r>
            <a:pPr indent="0" marL="0">
              <a:lnSpc>
                <a:spcPts val="2000"/>
              </a:lnSpc>
              <a:buNone/>
            </a:pPr>
            <a:r>
              <a:rPr lang="en-US" sz="1350" dirty="0">
                <a:solidFill>
                  <a:srgbClr val="3A4452"/>
                </a:solidFill>
                <a:latin typeface="Arial" pitchFamily="34" charset="0"/>
                <a:ea typeface="Arial" pitchFamily="34" charset="-122"/>
                <a:cs typeface="Arial" pitchFamily="34" charset="-120"/>
              </a:rPr>
              <a:t>Bring it to the next session.</a:t>
            </a:r>
            <a:endParaRPr lang="en-US" sz="1350" dirty="0"/>
          </a:p>
          <a:p>
            <a:pPr indent="0" marL="0">
              <a:lnSpc>
                <a:spcPts val="2000"/>
              </a:lnSpc>
              <a:buNone/>
            </a:pPr>
            <a:endParaRPr lang="en-US" sz="1350" dirty="0"/>
          </a:p>
          <a:p>
            <a:pPr indent="0" marL="0">
              <a:lnSpc>
                <a:spcPts val="2000"/>
              </a:lnSpc>
              <a:buNone/>
            </a:pPr>
            <a:r>
              <a:rPr lang="en-US" sz="1350" b="1" dirty="0">
                <a:solidFill>
                  <a:srgbClr val="7E0A27"/>
                </a:solidFill>
                <a:latin typeface="Arial" pitchFamily="34" charset="0"/>
                <a:ea typeface="Arial" pitchFamily="34" charset="-122"/>
                <a:cs typeface="Arial" pitchFamily="34" charset="-120"/>
              </a:rPr>
              <a:t>Teach-back: </a:t>
            </a:r>
            <a:pPr indent="0" marL="0">
              <a:lnSpc>
                <a:spcPts val="2000"/>
              </a:lnSpc>
              <a:buNone/>
            </a:pPr>
            <a:r>
              <a:rPr lang="en-US" sz="1350" dirty="0">
                <a:solidFill>
                  <a:srgbClr val="3A4452"/>
                </a:solidFill>
                <a:latin typeface="Arial" pitchFamily="34" charset="0"/>
                <a:ea typeface="Arial" pitchFamily="34" charset="-122"/>
                <a:cs typeface="Arial" pitchFamily="34" charset="-120"/>
              </a:rPr>
              <a:t>explain self-refine vs. verify in 2 minutes.</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7E0A27"/>
        </a:solidFill>
      </p:bgPr>
    </p:bg>
    <p:spTree>
      <p:nvGrpSpPr>
        <p:cNvPr id="1" name=""/>
        <p:cNvGrpSpPr/>
        <p:nvPr/>
      </p:nvGrpSpPr>
      <p:grpSpPr>
        <a:xfrm>
          <a:off x="0" y="0"/>
          <a:ext cx="0" cy="0"/>
          <a:chOff x="0" y="0"/>
          <a:chExt cx="0" cy="0"/>
        </a:xfrm>
      </p:grpSpPr>
      <p:sp>
        <p:nvSpPr>
          <p:cNvPr id="2" name="Shape 0"/>
          <p:cNvSpPr/>
          <p:nvPr/>
        </p:nvSpPr>
        <p:spPr>
          <a:xfrm>
            <a:off x="-1828800" y="3291840"/>
            <a:ext cx="5120640" cy="5120640"/>
          </a:xfrm>
          <a:prstGeom prst="ellipse">
            <a:avLst/>
          </a:prstGeom>
          <a:solidFill>
            <a:srgbClr val="A60E34"/>
          </a:solidFill>
          <a:ln/>
        </p:spPr>
      </p:sp>
      <p:sp>
        <p:nvSpPr>
          <p:cNvPr id="3" name="Shape 1"/>
          <p:cNvSpPr/>
          <p:nvPr/>
        </p:nvSpPr>
        <p:spPr>
          <a:xfrm>
            <a:off x="9692640" y="-1828800"/>
            <a:ext cx="4754880" cy="4754880"/>
          </a:xfrm>
          <a:prstGeom prst="ellipse">
            <a:avLst/>
          </a:prstGeom>
          <a:solidFill>
            <a:srgbClr val="D31242"/>
          </a:solidFill>
          <a:ln/>
        </p:spPr>
      </p:sp>
      <p:sp>
        <p:nvSpPr>
          <p:cNvPr id="4" name="Text 2"/>
          <p:cNvSpPr/>
          <p:nvPr/>
        </p:nvSpPr>
        <p:spPr>
          <a:xfrm>
            <a:off x="566928" y="1005840"/>
            <a:ext cx="10058400" cy="365760"/>
          </a:xfrm>
          <a:prstGeom prst="rect">
            <a:avLst/>
          </a:prstGeom>
          <a:noFill/>
          <a:ln/>
        </p:spPr>
        <p:txBody>
          <a:bodyPr wrap="square" rtlCol="0" anchor="ctr"/>
          <a:lstStyle/>
          <a:p>
            <a:pPr indent="0" marL="0">
              <a:buNone/>
            </a:pPr>
            <a:r>
              <a:rPr lang="en-US" sz="1400" b="1" spc="300" kern="0" dirty="0">
                <a:solidFill>
                  <a:srgbClr val="F7B9C6"/>
                </a:solidFill>
                <a:latin typeface="Arial" pitchFamily="34" charset="0"/>
                <a:ea typeface="Arial" pitchFamily="34" charset="-122"/>
                <a:cs typeface="Arial" pitchFamily="34" charset="-120"/>
              </a:rPr>
              <a:t>REASONING &amp; VERIFICATION — DONE</a:t>
            </a:r>
            <a:endParaRPr lang="en-US" sz="1400" dirty="0"/>
          </a:p>
        </p:txBody>
      </p:sp>
      <p:sp>
        <p:nvSpPr>
          <p:cNvPr id="5" name="Text 3"/>
          <p:cNvSpPr/>
          <p:nvPr/>
        </p:nvSpPr>
        <p:spPr>
          <a:xfrm>
            <a:off x="566928" y="1417320"/>
            <a:ext cx="10789920" cy="914400"/>
          </a:xfrm>
          <a:prstGeom prst="rect">
            <a:avLst/>
          </a:prstGeom>
          <a:noFill/>
          <a:ln/>
        </p:spPr>
        <p:txBody>
          <a:bodyPr wrap="square" rtlCol="0" anchor="ctr"/>
          <a:lstStyle/>
          <a:p>
            <a:pPr indent="0" marL="0">
              <a:lnSpc>
                <a:spcPts val="3400"/>
              </a:lnSpc>
              <a:buNone/>
            </a:pPr>
            <a:r>
              <a:rPr lang="en-US" sz="3000" b="1" dirty="0">
                <a:solidFill>
                  <a:srgbClr val="FFFFFF"/>
                </a:solidFill>
                <a:latin typeface="Arial" pitchFamily="34" charset="0"/>
                <a:ea typeface="Arial" pitchFamily="34" charset="-122"/>
                <a:cs typeface="Arial" pitchFamily="34" charset="-120"/>
              </a:rPr>
              <a:t>Claude can reason well — and check its own work</a:t>
            </a:r>
            <a:endParaRPr lang="en-US" sz="3000" dirty="0"/>
          </a:p>
        </p:txBody>
      </p:sp>
      <p:sp>
        <p:nvSpPr>
          <p:cNvPr id="6" name="Shape 4"/>
          <p:cNvSpPr/>
          <p:nvPr/>
        </p:nvSpPr>
        <p:spPr>
          <a:xfrm>
            <a:off x="566928" y="2926080"/>
            <a:ext cx="10469880" cy="2331720"/>
          </a:xfrm>
          <a:prstGeom prst="roundRect">
            <a:avLst>
              <a:gd name="adj" fmla="val 3529"/>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7" name="Text 5"/>
          <p:cNvSpPr/>
          <p:nvPr/>
        </p:nvSpPr>
        <p:spPr>
          <a:xfrm>
            <a:off x="841248" y="3108960"/>
            <a:ext cx="9875520" cy="411480"/>
          </a:xfrm>
          <a:prstGeom prst="rect">
            <a:avLst/>
          </a:prstGeom>
          <a:noFill/>
          <a:ln/>
        </p:spPr>
        <p:txBody>
          <a:bodyPr wrap="square" rtlCol="0" anchor="ctr"/>
          <a:lstStyle/>
          <a:p>
            <a:pPr indent="0" marL="0">
              <a:buNone/>
            </a:pPr>
            <a:r>
              <a:rPr lang="en-US" sz="1500" b="1" dirty="0">
                <a:solidFill>
                  <a:srgbClr val="D31242"/>
                </a:solidFill>
                <a:latin typeface="Arial" pitchFamily="34" charset="0"/>
                <a:ea typeface="Arial" pitchFamily="34" charset="-122"/>
                <a:cs typeface="Arial" pitchFamily="34" charset="-120"/>
              </a:rPr>
              <a:t>Coming next — M3b: Control, Reuse &amp; Tools</a:t>
            </a:r>
            <a:endParaRPr lang="en-US" sz="1500" dirty="0"/>
          </a:p>
        </p:txBody>
      </p:sp>
      <p:sp>
        <p:nvSpPr>
          <p:cNvPr id="8" name="Text 6"/>
          <p:cNvSpPr/>
          <p:nvPr/>
        </p:nvSpPr>
        <p:spPr>
          <a:xfrm>
            <a:off x="841248" y="3611880"/>
            <a:ext cx="9875520" cy="1463040"/>
          </a:xfrm>
          <a:prstGeom prst="rect">
            <a:avLst/>
          </a:prstGeom>
          <a:noFill/>
          <a:ln/>
        </p:spPr>
        <p:txBody>
          <a:bodyPr wrap="square" rtlCol="0" anchor="t"/>
          <a:lstStyle/>
          <a:p>
            <a:pPr indent="0" marL="0">
              <a:lnSpc>
                <a:spcPts val="2400"/>
              </a:lnSpc>
              <a:buNone/>
            </a:pPr>
            <a:r>
              <a:rPr lang="en-US" sz="1450" b="1" dirty="0">
                <a:solidFill>
                  <a:srgbClr val="1F2733"/>
                </a:solidFill>
                <a:latin typeface="Arial" pitchFamily="34" charset="0"/>
                <a:ea typeface="Arial" pitchFamily="34" charset="-122"/>
                <a:cs typeface="Arial" pitchFamily="34" charset="-120"/>
              </a:rPr>
              <a:t>Prompt chaining · reusable templates &amp; variables · meta-prompting </a:t>
            </a:r>
            <a:pPr indent="0" marL="0">
              <a:lnSpc>
                <a:spcPts val="2400"/>
              </a:lnSpc>
              <a:buNone/>
            </a:pPr>
            <a:r>
              <a:rPr lang="en-US" sz="1450" dirty="0">
                <a:solidFill>
                  <a:srgbClr val="3A4452"/>
                </a:solidFill>
                <a:latin typeface="Arial" pitchFamily="34" charset="0"/>
                <a:ea typeface="Arial" pitchFamily="34" charset="-122"/>
                <a:cs typeface="Arial" pitchFamily="34" charset="-120"/>
              </a:rPr>
              <a:t>· the Console prompt generator &amp; improver · model-specific prompting &amp; Structured Outputs.</a:t>
            </a:r>
            <a:endParaRPr lang="en-US" sz="1450" dirty="0"/>
          </a:p>
        </p:txBody>
      </p:sp>
      <p:sp>
        <p:nvSpPr>
          <p:cNvPr id="9" name="Text 7"/>
          <p:cNvSpPr/>
          <p:nvPr/>
        </p:nvSpPr>
        <p:spPr>
          <a:xfrm>
            <a:off x="566928" y="6583680"/>
            <a:ext cx="10515600" cy="219456"/>
          </a:xfrm>
          <a:prstGeom prst="rect">
            <a:avLst/>
          </a:prstGeom>
          <a:noFill/>
          <a:ln/>
        </p:spPr>
        <p:txBody>
          <a:bodyPr wrap="square" rtlCol="0" anchor="ctr"/>
          <a:lstStyle/>
          <a:p>
            <a:pPr indent="0" marL="0">
              <a:buNone/>
            </a:pPr>
            <a:r>
              <a:rPr lang="en-US" sz="800" i="1" dirty="0">
                <a:solidFill>
                  <a:srgbClr val="C98A98"/>
                </a:solidFill>
                <a:latin typeface="Arial" pitchFamily="34" charset="0"/>
                <a:ea typeface="Arial" pitchFamily="34" charset="-122"/>
                <a:cs typeface="Arial" pitchFamily="34" charset="-120"/>
              </a:rPr>
              <a:t>Illustrative training material — not an official BJ's Wholesale Club publication. Verify model/feature details before each session.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II — Reasoning &amp; Self-Improvement</dc:title>
  <dc:subject>PptxGenJS Presentation</dc:subject>
  <dc:creator>BJ's AI Enablement</dc:creator>
  <cp:lastModifiedBy>BJ's AI Enablement</cp:lastModifiedBy>
  <cp:revision>1</cp:revision>
  <dcterms:created xsi:type="dcterms:W3CDTF">2026-06-26T20:56:53Z</dcterms:created>
  <dcterms:modified xsi:type="dcterms:W3CDTF">2026-06-26T20:56:53Z</dcterms:modified>
</cp:coreProperties>
</file>