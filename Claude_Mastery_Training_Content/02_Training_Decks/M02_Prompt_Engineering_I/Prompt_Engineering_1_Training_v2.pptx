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rebuilt M2. The five techniques from before are still the spine — but each now carries the concrete PATTERNS advanced users actually apply. Scope stays structure &amp; clarity; reasoning, prefilling, chaining, Console tools, and model-specific prompting live in M3/M3b. Promise demos, a multi-output exercise, and a labeled answer key. ~90 min — protect time for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Promises for the hour. The last one — one source → many outputs — is the capstone exercise. Note: this module makes you fluent with ~25 named patterns, not just five headings.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The arc: a master anatomy, then five techniques each with their patterns, a reliability pass, then assemble and practice. Demos and the exercise are where it sticks.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explicitly: the value isn't the five words, it's the patterns under them. Point to the Pattern Library as the master reference. Reliability/standardization is the enablement angle — patterns are how you scale good prompting to hundreds of associates.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whole module. Teach it as a checklist, not a script. Each of the five techniques sharpens specific blocks: clarity→instructions/goal, role→role, XML→source separation, examples→instructions, long inputs→source/fallback. Refer back to this anatomy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1 sharpens the goal, instructions, and output blocks. These four patterns are the highest-frequency, highest-ROI moves in the whole module — most weak prompts fail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straight from Anthropic's guidance ('define success criteria'). For business users: 'what would make this answer done and good?' Putting the criteria in the prompt both steers Claude and sets up the rubric-as-instruction pattern later. Source: Anthropic Define-success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Must/should/avoid is clearer than prose. Honesty flag (the footnote): the formal 'instruction hierarchy' in OpenAI's Model Spec is a training/safety construct about authority levels — not the same as a user writing priority tiers. Don't conflate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contract removes 'wall of text' surprises. Currency flag: for guaranteed JSON, the modern route is Structured Outputs (M3b), NOT the old prefill trick — prefill returns errors on Opus 4.6+/4.8, Sonnet 4.6, Fable/Mythos 5. Mention but don't teach prefill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Constraints are how you make output usable without rework. Teach 'objective over vague' (Google's guidance): a number or a rule, never an adjective. These also double as compliance guardrails — 'no policy interpretation beyond source' is a real BJ's safety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2 sharpens the role block and the voice. Big practical clarifier coming up: where business users actually set persistent role/rules now that Styles are moving to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corrects the earlier deck: consumer chat has no per-message 'system box,' and Styles are being retired into Skills. So persistent role/rules live in Profile (global), Project instructions, or a Skill. Demo live if possible. Source: support.claude.com 'Styles are moving to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 of the capstone exercise. Google's guidance treats audience as a core context lever. The power: write the source once, transform many times — a huge time-saver for club comms.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concrete tone anchors, or better, an example (ties to multishot). 'Professional' is unfalsifiable; 'plain English, no jargon, action-oriented' is checkable. Build a small set of BJ's tone anchors associates can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3 protects the source block. Tags are the single biggest error-reducer on document tasks and trivial to teach — made-up labels in angle brackets.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build (the lesson from the earlier deck): never drop a finished complex prompt cold. Build it across three panels — role, then tagged source, then task. Do this live too. The point: instructions vs. data must be unmistakable.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patterns: each input gets its own tag (multi-doc), and the answer gets a tag too (output tagging) so you can pull just the decision into an email. Tags work the same in the app and the API — you just type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Reusable blocks plants the template idea without teaching full templates (that's M3b). Spotlighting (Microsoft's term) is a light intro to prompt-injection defense — relevant the moment associates paste member-submitted text. Deep treatment is the guardrails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4: examples beat adjectives. The strategy for enablement — build a small library of 'gold standard' BJ's outputs associates paste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good example controls voice better than any description. Run live: show the output, then swap the example for a formal one and watch the voice change — proof the example is doing the steering.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Contrastive examples sharpen a subtle boundary (warm vs. stiff, plain vs. corporate-speak). The non-negotiable: label the bad one, or it becomes a template to imitate. Source: DAIR.AI few-shot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examples and in what order both matter. Practical tip: put the example most similar to the current task last (recency). Keep label balance so Claude doesn't infer a bias. Source: Anthropic multishot + DAIR.AI.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5 is the workhorse for ops bulletins, policies, vendor docs, and meeting notes. These patterns keep long-document answers accurate and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Anthropic-documented moves: long data at the top (query-at-end helps), and 'quote the relevant lines first, then answer' — which grounds the response in the real text and cuts hallucination on 20k+ token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highest-value reliability patterns for a retail/compliance setting, and all are Anthropic-documented hallucination reducers. 'Give-an-out' (permit 'I don't know') is named by Anthropic as one of the most effective. Pair with the verify habit from M1.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ETP is the single-prompt cousin of chaining (chaining itself is M3b). It forces Claude to ground (extract) before it writes (produce), which improves accuracy. Perfect for bulletins, policy updates, meeting notes, and vendor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Map-reduce is the practitioner standard for long-doc summarization (OpenAI Cookbook). For business users: 'summarize each part, then summarize the summaries.' Modern long-context helps, but map-reduce still gives more uniform coverage on very long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Edge-case rules ('if X then Y') are what make a reused prompt safe against messy real inputs. This is also where the M1 clarifying-questions habit reappears as a fallback instruction. Source: OpenAI GPT-4.1 guide on conditional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Rubric-as-instruction is single-pass self-evaluation (the full reflexion loop is M3). Tip: frame the rubric as checkable criteria, not 'is this good?', to reduce self-flattery. Confidence calibration pairs with the M1 verify habit — it tells you exactly which lines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systematic fixing over random re-rolling. When a prompt underperforms, map the symptom to the failing block and fix THAT — don't rewrite the whole thing. This is the diagnostic mindset that separates power users from button-mashers.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review checklist. 'Wall of text' and 'buried instruction' tie to the real 'lost in the middle' attention effect — models attend least to the middle of long prompts. Have learners keep this as a desk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build, part 1. Do this live: type the role, then goal, then context, narrating why each matters. This directly fixes the earlier mistake of dropping a finished complex prompt cold. Keep the arrows/labels so the eye maps each line to an anatomy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add the remaining blocks, each labeled on the right. Now the learner has seen the whole prompt assemble, block by block, with every piece explained — no cold drop. This is the model for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live in a fresh chat, non-sensitive content only, ~8 min. Demo 3 (example swap) is the most persuasive. If short on time, Demos 1 and 2 carry the structural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minutes, in pairs. Give everyone the same non-sensitive sample bulletin. The skill is composing patterns into one prompt that yields all four outputs (audience transformation is the backbone). Have pairs read a before/after and score with the rubric, then reveal the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red label and map it to the technique it came from. Stress there's no single right answer — this is A strong one. Note it hits 8 patterns, exceeding the bar. Next slide shows what good OUTPUT looks like for two of the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SAME source produced four correctly-shaped outputs. Point out the announcement is grounded (no invented details) and the table follows the contract. This is the 'aha' — one engineered prompt, four ready-to-use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0 (missing), 1 (partial), 2 (clear). The last row bakes in grounding and safety so structure never comes at the cost of reliability. Keep feedback encouraging — shared language for 'what good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not a test. Q3 is the one people miss — reinforce Profile/Project/Skill and the Styles→Skills move. Reveal answers after the room responds.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slide — screenshot or print. The full 75-pattern catalog lives in the Prompt Pattern Library workbook. Offer the one-pager as a PDF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action. 'Save a reusable prompt' is the on-ramp to M3b templates. Run a 2-minute teach-back now if time allows. Offer office hours and the cheat-sheet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forward: M2 was structure &amp; patterns; M3 adds reasoning and self-improvement, M3b adds control and reuse. Reaffirm the assignment and teach-back. The Prompt Pattern Library is their reference for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8778240" y="-1920240"/>
            <a:ext cx="5669280" cy="5669280"/>
          </a:xfrm>
          <a:prstGeom prst="ellipse">
            <a:avLst/>
          </a:prstGeom>
          <a:solidFill>
            <a:srgbClr val="A60E34"/>
          </a:solidFill>
          <a:ln/>
        </p:spPr>
      </p:sp>
      <p:sp>
        <p:nvSpPr>
          <p:cNvPr id="3" name="Shape 1"/>
          <p:cNvSpPr/>
          <p:nvPr/>
        </p:nvSpPr>
        <p:spPr>
          <a:xfrm>
            <a:off x="10424160" y="3566160"/>
            <a:ext cx="3840480" cy="3840480"/>
          </a:xfrm>
          <a:prstGeom prst="ellipse">
            <a:avLst/>
          </a:prstGeom>
          <a:solidFill>
            <a:srgbClr val="D31242"/>
          </a:solidFill>
          <a:ln/>
        </p:spPr>
      </p:sp>
      <p:sp>
        <p:nvSpPr>
          <p:cNvPr id="4" name="Shape 2"/>
          <p:cNvSpPr/>
          <p:nvPr/>
        </p:nvSpPr>
        <p:spPr>
          <a:xfrm>
            <a:off x="566928" y="502920"/>
            <a:ext cx="1417320" cy="713232"/>
          </a:xfrm>
          <a:prstGeom prst="roundRect">
            <a:avLst>
              <a:gd name="adj" fmla="val 15385"/>
            </a:avLst>
          </a:prstGeom>
          <a:solidFill>
            <a:srgbClr val="FFFFFF"/>
          </a:solidFill>
          <a:ln/>
          <a:effectLst>
            <a:outerShdw sx="100000" sy="100000" kx="0" ky="0" algn="bl" rotWithShape="0" blurRad="114300" dist="38100" dir="5400000">
              <a:srgbClr val="1F2733">
                <a:alpha val="10000"/>
              </a:srgbClr>
            </a:outerShdw>
          </a:effectLst>
        </p:spPr>
      </p:sp>
      <p:sp>
        <p:nvSpPr>
          <p:cNvPr id="5" name="Text 3"/>
          <p:cNvSpPr/>
          <p:nvPr/>
        </p:nvSpPr>
        <p:spPr>
          <a:xfrm>
            <a:off x="566928" y="576072"/>
            <a:ext cx="1417320" cy="384048"/>
          </a:xfrm>
          <a:prstGeom prst="rect">
            <a:avLst/>
          </a:prstGeom>
          <a:noFill/>
          <a:ln/>
        </p:spPr>
        <p:txBody>
          <a:bodyPr wrap="square" lIns="0" tIns="0" rIns="0" bIns="0" rtlCol="0" anchor="ctr"/>
          <a:lstStyle/>
          <a:p>
            <a:pPr algn="ctr" indent="0" marL="0">
              <a:buNone/>
            </a:pPr>
            <a:r>
              <a:rPr lang="en-US" sz="2500" b="1" dirty="0">
                <a:solidFill>
                  <a:srgbClr val="D31242"/>
                </a:solidFill>
                <a:latin typeface="Arial" pitchFamily="34" charset="0"/>
                <a:ea typeface="Arial" pitchFamily="34" charset="-122"/>
                <a:cs typeface="Arial" pitchFamily="34" charset="-120"/>
              </a:rPr>
              <a:t>BJ's</a:t>
            </a:r>
            <a:endParaRPr lang="en-US" sz="2500" dirty="0"/>
          </a:p>
        </p:txBody>
      </p:sp>
      <p:sp>
        <p:nvSpPr>
          <p:cNvPr id="6" name="Text 4"/>
          <p:cNvSpPr/>
          <p:nvPr/>
        </p:nvSpPr>
        <p:spPr>
          <a:xfrm>
            <a:off x="566928" y="960120"/>
            <a:ext cx="1417320" cy="182880"/>
          </a:xfrm>
          <a:prstGeom prst="rect">
            <a:avLst/>
          </a:prstGeom>
          <a:noFill/>
          <a:ln/>
        </p:spPr>
        <p:txBody>
          <a:bodyPr wrap="square" lIns="0" tIns="0" rIns="0" bIns="0" rtlCol="0" anchor="ctr"/>
          <a:lstStyle/>
          <a:p>
            <a:pPr algn="ctr" indent="0" marL="0">
              <a:buNone/>
            </a:pPr>
            <a:r>
              <a:rPr lang="en-US" sz="700" b="1" spc="200" kern="0" dirty="0">
                <a:solidFill>
                  <a:srgbClr val="D31242"/>
                </a:solidFill>
                <a:latin typeface="Arial" pitchFamily="34" charset="0"/>
                <a:ea typeface="Arial" pitchFamily="34" charset="-122"/>
                <a:cs typeface="Arial" pitchFamily="34" charset="-120"/>
              </a:rPr>
              <a:t>WHOLESALE CLUB</a:t>
            </a:r>
            <a:endParaRPr lang="en-US" sz="700" dirty="0"/>
          </a:p>
        </p:txBody>
      </p:sp>
      <p:sp>
        <p:nvSpPr>
          <p:cNvPr id="7" name="Text 5"/>
          <p:cNvSpPr/>
          <p:nvPr/>
        </p:nvSpPr>
        <p:spPr>
          <a:xfrm>
            <a:off x="566928" y="2057400"/>
            <a:ext cx="10058400" cy="320040"/>
          </a:xfrm>
          <a:prstGeom prst="rect">
            <a:avLst/>
          </a:prstGeom>
          <a:noFill/>
          <a:ln/>
        </p:spPr>
        <p:txBody>
          <a:bodyPr wrap="square" rtlCol="0" anchor="ctr"/>
          <a:lstStyle/>
          <a:p>
            <a:pPr indent="0" marL="0">
              <a:buNone/>
            </a:pPr>
            <a:r>
              <a:rPr lang="en-US" sz="1300" b="1" spc="250" kern="0" dirty="0">
                <a:solidFill>
                  <a:srgbClr val="F7B9C6"/>
                </a:solidFill>
                <a:latin typeface="Arial" pitchFamily="34" charset="0"/>
                <a:ea typeface="Arial" pitchFamily="34" charset="-122"/>
                <a:cs typeface="Arial" pitchFamily="34" charset="-120"/>
              </a:rPr>
              <a:t>AI ENABLEMENT • CHAMPION TRAINING • MODULE 2</a:t>
            </a:r>
            <a:endParaRPr lang="en-US" sz="1300" dirty="0"/>
          </a:p>
        </p:txBody>
      </p:sp>
      <p:sp>
        <p:nvSpPr>
          <p:cNvPr id="8" name="Text 6"/>
          <p:cNvSpPr/>
          <p:nvPr/>
        </p:nvSpPr>
        <p:spPr>
          <a:xfrm>
            <a:off x="566928" y="2468880"/>
            <a:ext cx="9875520" cy="86868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Prompt Engineering I</a:t>
            </a:r>
            <a:endParaRPr lang="en-US" sz="4400" dirty="0"/>
          </a:p>
        </p:txBody>
      </p:sp>
      <p:sp>
        <p:nvSpPr>
          <p:cNvPr id="9" name="Text 7"/>
          <p:cNvSpPr/>
          <p:nvPr/>
        </p:nvSpPr>
        <p:spPr>
          <a:xfrm>
            <a:off x="566928" y="3520440"/>
            <a:ext cx="9692640" cy="640080"/>
          </a:xfrm>
          <a:prstGeom prst="rect">
            <a:avLst/>
          </a:prstGeom>
          <a:noFill/>
          <a:ln/>
        </p:spPr>
        <p:txBody>
          <a:bodyPr wrap="square" rtlCol="0" anchor="ctr"/>
          <a:lstStyle/>
          <a:p>
            <a:pPr indent="0" marL="0">
              <a:lnSpc>
                <a:spcPts val="2300"/>
              </a:lnSpc>
              <a:buNone/>
            </a:pPr>
            <a:r>
              <a:rPr lang="en-US" sz="1550" dirty="0">
                <a:solidFill>
                  <a:srgbClr val="F2D9DF"/>
                </a:solidFill>
                <a:latin typeface="Arial" pitchFamily="34" charset="0"/>
                <a:ea typeface="Arial" pitchFamily="34" charset="-122"/>
                <a:cs typeface="Arial" pitchFamily="34" charset="-120"/>
              </a:rPr>
              <a:t>Structure &amp; Pattern Library — the practical patterns advanced users layer under each technique.</a:t>
            </a:r>
            <a:endParaRPr lang="en-US" sz="1550" dirty="0"/>
          </a:p>
        </p:txBody>
      </p:sp>
      <p:sp>
        <p:nvSpPr>
          <p:cNvPr id="10" name="Text 8"/>
          <p:cNvSpPr/>
          <p:nvPr/>
        </p:nvSpPr>
        <p:spPr>
          <a:xfrm>
            <a:off x="566928" y="4892040"/>
            <a:ext cx="10789920" cy="365760"/>
          </a:xfrm>
          <a:prstGeom prst="rect">
            <a:avLst/>
          </a:prstGeom>
          <a:noFill/>
          <a:ln/>
        </p:spPr>
        <p:txBody>
          <a:bodyPr wrap="square" rtlCol="0" anchor="ctr"/>
          <a:lstStyle/>
          <a:p>
            <a:pPr indent="0" marL="0">
              <a:buNone/>
            </a:pPr>
            <a:r>
              <a:rPr lang="en-US" sz="1200" dirty="0">
                <a:solidFill>
                  <a:srgbClr val="F2D9DF"/>
                </a:solidFill>
                <a:latin typeface="Arial" pitchFamily="34" charset="0"/>
                <a:ea typeface="Arial" pitchFamily="34" charset="-122"/>
                <a:cs typeface="Arial" pitchFamily="34" charset="-120"/>
              </a:rPr>
              <a:t>Builds on M1 (Core Chat)  </a:t>
            </a:r>
            <a:pPr indent="0" marL="0">
              <a:buNone/>
            </a:pPr>
            <a:r>
              <a:rPr lang="en-US" sz="1200" dirty="0">
                <a:solidFill>
                  <a:srgbClr val="C98A98"/>
                </a:solidFill>
                <a:latin typeface="Arial" pitchFamily="34" charset="0"/>
                <a:ea typeface="Arial" pitchFamily="34" charset="-122"/>
                <a:cs typeface="Arial" pitchFamily="34" charset="-120"/>
              </a:rPr>
              <a:t>|  </a:t>
            </a:r>
            <a:pPr indent="0" marL="0">
              <a:buNone/>
            </a:pPr>
            <a:r>
              <a:rPr lang="en-US" sz="1200" dirty="0">
                <a:solidFill>
                  <a:srgbClr val="F2D9DF"/>
                </a:solidFill>
                <a:latin typeface="Arial" pitchFamily="34" charset="0"/>
                <a:ea typeface="Arial" pitchFamily="34" charset="-122"/>
                <a:cs typeface="Arial" pitchFamily="34" charset="-120"/>
              </a:rPr>
              <a:t>5 techniques · ~25 patterns  </a:t>
            </a:r>
            <a:pPr indent="0" marL="0">
              <a:buNone/>
            </a:pPr>
            <a:r>
              <a:rPr lang="en-US" sz="1200" dirty="0">
                <a:solidFill>
                  <a:srgbClr val="C98A98"/>
                </a:solidFill>
                <a:latin typeface="Arial" pitchFamily="34" charset="0"/>
                <a:ea typeface="Arial" pitchFamily="34" charset="-122"/>
                <a:cs typeface="Arial" pitchFamily="34" charset="-120"/>
              </a:rPr>
              <a:t>|  </a:t>
            </a:r>
            <a:pPr indent="0" marL="0">
              <a:buNone/>
            </a:pPr>
            <a:r>
              <a:rPr lang="en-US" sz="1200" dirty="0">
                <a:solidFill>
                  <a:srgbClr val="F2D9DF"/>
                </a:solidFill>
                <a:latin typeface="Arial" pitchFamily="34" charset="0"/>
                <a:ea typeface="Arial" pitchFamily="34" charset="-122"/>
                <a:cs typeface="Arial" pitchFamily="34" charset="-120"/>
              </a:rPr>
              <a:t>Champions &amp; business users · ~90 min</a:t>
            </a:r>
            <a:endParaRPr lang="en-US" sz="1200" dirty="0"/>
          </a:p>
        </p:txBody>
      </p:sp>
      <p:sp>
        <p:nvSpPr>
          <p:cNvPr id="11" name="Text 9"/>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WHAT YOU'LL BE ABLE TO DO</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Learning objectives</a:t>
            </a:r>
            <a:endParaRPr lang="en-US" sz="2700" dirty="0"/>
          </a:p>
        </p:txBody>
      </p:sp>
      <p:sp>
        <p:nvSpPr>
          <p:cNvPr id="4" name="Shape 2"/>
          <p:cNvSpPr/>
          <p:nvPr/>
        </p:nvSpPr>
        <p:spPr>
          <a:xfrm>
            <a:off x="566928" y="150876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841248" y="1783080"/>
            <a:ext cx="475488" cy="475488"/>
          </a:xfrm>
          <a:prstGeom prst="ellipse">
            <a:avLst/>
          </a:prstGeom>
          <a:solidFill>
            <a:srgbClr val="D31242"/>
          </a:solidFill>
          <a:ln/>
        </p:spPr>
      </p:sp>
      <p:sp>
        <p:nvSpPr>
          <p:cNvPr id="6" name="Text 4"/>
          <p:cNvSpPr/>
          <p:nvPr/>
        </p:nvSpPr>
        <p:spPr>
          <a:xfrm>
            <a:off x="841248" y="17830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841248" y="240487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Use the anatomy</a:t>
            </a:r>
            <a:endParaRPr lang="en-US" sz="1600" dirty="0"/>
          </a:p>
        </p:txBody>
      </p:sp>
      <p:sp>
        <p:nvSpPr>
          <p:cNvPr id="8" name="Text 6"/>
          <p:cNvSpPr/>
          <p:nvPr/>
        </p:nvSpPr>
        <p:spPr>
          <a:xfrm>
            <a:off x="841248" y="284378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Build prompts from named blocks every time</a:t>
            </a:r>
            <a:endParaRPr lang="en-US" sz="1250" dirty="0"/>
          </a:p>
        </p:txBody>
      </p:sp>
      <p:sp>
        <p:nvSpPr>
          <p:cNvPr id="9" name="Shape 7"/>
          <p:cNvSpPr/>
          <p:nvPr/>
        </p:nvSpPr>
        <p:spPr>
          <a:xfrm>
            <a:off x="4373880" y="150876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4648200" y="1783080"/>
            <a:ext cx="475488" cy="475488"/>
          </a:xfrm>
          <a:prstGeom prst="ellipse">
            <a:avLst/>
          </a:prstGeom>
          <a:solidFill>
            <a:srgbClr val="D31242"/>
          </a:solidFill>
          <a:ln/>
        </p:spPr>
      </p:sp>
      <p:sp>
        <p:nvSpPr>
          <p:cNvPr id="11" name="Text 9"/>
          <p:cNvSpPr/>
          <p:nvPr/>
        </p:nvSpPr>
        <p:spPr>
          <a:xfrm>
            <a:off x="4648200" y="17830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4648200" y="240487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Define 'good' first</a:t>
            </a:r>
            <a:endParaRPr lang="en-US" sz="1600" dirty="0"/>
          </a:p>
        </p:txBody>
      </p:sp>
      <p:sp>
        <p:nvSpPr>
          <p:cNvPr id="13" name="Text 11"/>
          <p:cNvSpPr/>
          <p:nvPr/>
        </p:nvSpPr>
        <p:spPr>
          <a:xfrm>
            <a:off x="4648200" y="284378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Set success criteria before you ask</a:t>
            </a:r>
            <a:endParaRPr lang="en-US" sz="1250" dirty="0"/>
          </a:p>
        </p:txBody>
      </p:sp>
      <p:sp>
        <p:nvSpPr>
          <p:cNvPr id="14" name="Shape 12"/>
          <p:cNvSpPr/>
          <p:nvPr/>
        </p:nvSpPr>
        <p:spPr>
          <a:xfrm>
            <a:off x="8180832" y="150876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8455152" y="1783080"/>
            <a:ext cx="475488" cy="475488"/>
          </a:xfrm>
          <a:prstGeom prst="ellipse">
            <a:avLst/>
          </a:prstGeom>
          <a:solidFill>
            <a:srgbClr val="D31242"/>
          </a:solidFill>
          <a:ln/>
        </p:spPr>
      </p:sp>
      <p:sp>
        <p:nvSpPr>
          <p:cNvPr id="16" name="Text 14"/>
          <p:cNvSpPr/>
          <p:nvPr/>
        </p:nvSpPr>
        <p:spPr>
          <a:xfrm>
            <a:off x="8455152" y="17830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8455152" y="240487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Contract the output</a:t>
            </a:r>
            <a:endParaRPr lang="en-US" sz="1600" dirty="0"/>
          </a:p>
        </p:txBody>
      </p:sp>
      <p:sp>
        <p:nvSpPr>
          <p:cNvPr id="18" name="Text 16"/>
          <p:cNvSpPr/>
          <p:nvPr/>
        </p:nvSpPr>
        <p:spPr>
          <a:xfrm>
            <a:off x="8455152" y="284378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Specify exact shape, tone, and limits</a:t>
            </a:r>
            <a:endParaRPr lang="en-US" sz="1250" dirty="0"/>
          </a:p>
        </p:txBody>
      </p:sp>
      <p:sp>
        <p:nvSpPr>
          <p:cNvPr id="19" name="Shape 17"/>
          <p:cNvSpPr/>
          <p:nvPr/>
        </p:nvSpPr>
        <p:spPr>
          <a:xfrm>
            <a:off x="566928" y="388620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841248" y="4160520"/>
            <a:ext cx="475488" cy="475488"/>
          </a:xfrm>
          <a:prstGeom prst="ellipse">
            <a:avLst/>
          </a:prstGeom>
          <a:solidFill>
            <a:srgbClr val="D31242"/>
          </a:solidFill>
          <a:ln/>
        </p:spPr>
      </p:sp>
      <p:sp>
        <p:nvSpPr>
          <p:cNvPr id="21" name="Text 19"/>
          <p:cNvSpPr/>
          <p:nvPr/>
        </p:nvSpPr>
        <p:spPr>
          <a:xfrm>
            <a:off x="841248" y="4160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841248" y="478231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Structure with XML</a:t>
            </a:r>
            <a:endParaRPr lang="en-US" sz="1600" dirty="0"/>
          </a:p>
        </p:txBody>
      </p:sp>
      <p:sp>
        <p:nvSpPr>
          <p:cNvPr id="23" name="Text 21"/>
          <p:cNvSpPr/>
          <p:nvPr/>
        </p:nvSpPr>
        <p:spPr>
          <a:xfrm>
            <a:off x="841248" y="522122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Separate source from instructions cleanly</a:t>
            </a:r>
            <a:endParaRPr lang="en-US" sz="1250" dirty="0"/>
          </a:p>
        </p:txBody>
      </p:sp>
      <p:sp>
        <p:nvSpPr>
          <p:cNvPr id="24" name="Shape 22"/>
          <p:cNvSpPr/>
          <p:nvPr/>
        </p:nvSpPr>
        <p:spPr>
          <a:xfrm>
            <a:off x="4373880" y="388620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5" name="Shape 23"/>
          <p:cNvSpPr/>
          <p:nvPr/>
        </p:nvSpPr>
        <p:spPr>
          <a:xfrm>
            <a:off x="4648200" y="4160520"/>
            <a:ext cx="475488" cy="475488"/>
          </a:xfrm>
          <a:prstGeom prst="ellipse">
            <a:avLst/>
          </a:prstGeom>
          <a:solidFill>
            <a:srgbClr val="D31242"/>
          </a:solidFill>
          <a:ln/>
        </p:spPr>
      </p:sp>
      <p:sp>
        <p:nvSpPr>
          <p:cNvPr id="26" name="Text 24"/>
          <p:cNvSpPr/>
          <p:nvPr/>
        </p:nvSpPr>
        <p:spPr>
          <a:xfrm>
            <a:off x="4648200" y="4160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4648200" y="478231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Teach by example</a:t>
            </a:r>
            <a:endParaRPr lang="en-US" sz="1600" dirty="0"/>
          </a:p>
        </p:txBody>
      </p:sp>
      <p:sp>
        <p:nvSpPr>
          <p:cNvPr id="28" name="Text 26"/>
          <p:cNvSpPr/>
          <p:nvPr/>
        </p:nvSpPr>
        <p:spPr>
          <a:xfrm>
            <a:off x="4648200" y="522122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Use good + contrastive examples well</a:t>
            </a:r>
            <a:endParaRPr lang="en-US" sz="1250" dirty="0"/>
          </a:p>
        </p:txBody>
      </p:sp>
      <p:sp>
        <p:nvSpPr>
          <p:cNvPr id="29" name="Shape 27"/>
          <p:cNvSpPr/>
          <p:nvPr/>
        </p:nvSpPr>
        <p:spPr>
          <a:xfrm>
            <a:off x="8180832" y="3886200"/>
            <a:ext cx="3441192" cy="2057400"/>
          </a:xfrm>
          <a:prstGeom prst="roundRect">
            <a:avLst>
              <a:gd name="adj" fmla="val 4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30" name="Shape 28"/>
          <p:cNvSpPr/>
          <p:nvPr/>
        </p:nvSpPr>
        <p:spPr>
          <a:xfrm>
            <a:off x="8455152" y="4160520"/>
            <a:ext cx="475488" cy="475488"/>
          </a:xfrm>
          <a:prstGeom prst="ellipse">
            <a:avLst/>
          </a:prstGeom>
          <a:solidFill>
            <a:srgbClr val="D31242"/>
          </a:solidFill>
          <a:ln/>
        </p:spPr>
      </p:sp>
      <p:sp>
        <p:nvSpPr>
          <p:cNvPr id="31" name="Text 29"/>
          <p:cNvSpPr/>
          <p:nvPr/>
        </p:nvSpPr>
        <p:spPr>
          <a:xfrm>
            <a:off x="8455152" y="4160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8455152" y="4782312"/>
            <a:ext cx="2892552" cy="45720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Ground &amp; transform</a:t>
            </a:r>
            <a:endParaRPr lang="en-US" sz="1600" dirty="0"/>
          </a:p>
        </p:txBody>
      </p:sp>
      <p:sp>
        <p:nvSpPr>
          <p:cNvPr id="33" name="Text 31"/>
          <p:cNvSpPr/>
          <p:nvPr/>
        </p:nvSpPr>
        <p:spPr>
          <a:xfrm>
            <a:off x="8455152" y="5221224"/>
            <a:ext cx="2892552" cy="658368"/>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Turn one long source into many audience-ready outputs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HOW WE'LL SPEND THE TIME</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Agenda</a:t>
            </a:r>
            <a:endParaRPr lang="en-US" sz="2700" dirty="0"/>
          </a:p>
        </p:txBody>
      </p:sp>
      <p:sp>
        <p:nvSpPr>
          <p:cNvPr id="4" name="Shape 2"/>
          <p:cNvSpPr/>
          <p:nvPr/>
        </p:nvSpPr>
        <p:spPr>
          <a:xfrm>
            <a:off x="566928" y="1508760"/>
            <a:ext cx="2558034"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795528" y="1746504"/>
            <a:ext cx="438912" cy="438912"/>
          </a:xfrm>
          <a:prstGeom prst="ellipse">
            <a:avLst/>
          </a:prstGeom>
          <a:solidFill>
            <a:srgbClr val="D31242"/>
          </a:solidFill>
          <a:ln/>
        </p:spPr>
      </p:sp>
      <p:sp>
        <p:nvSpPr>
          <p:cNvPr id="6" name="Text 4"/>
          <p:cNvSpPr/>
          <p:nvPr/>
        </p:nvSpPr>
        <p:spPr>
          <a:xfrm>
            <a:off x="795528" y="17465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768096" y="2258568"/>
            <a:ext cx="2192274" cy="457200"/>
          </a:xfrm>
          <a:prstGeom prst="rect">
            <a:avLst/>
          </a:prstGeom>
          <a:noFill/>
          <a:ln/>
        </p:spPr>
        <p:txBody>
          <a:bodyPr wrap="square" rtlCol="0" anchor="ctr"/>
          <a:lstStyle/>
          <a:p>
            <a:pPr indent="0" marL="0">
              <a:lnSpc>
                <a:spcPts val="1500"/>
              </a:lnSpc>
              <a:buNone/>
            </a:pPr>
            <a:r>
              <a:rPr lang="en-US" sz="1350" b="1" dirty="0">
                <a:solidFill>
                  <a:srgbClr val="1F2733"/>
                </a:solidFill>
                <a:latin typeface="Arial" pitchFamily="34" charset="0"/>
                <a:ea typeface="Arial" pitchFamily="34" charset="-122"/>
                <a:cs typeface="Arial" pitchFamily="34" charset="-120"/>
              </a:rPr>
              <a:t>The anatomy</a:t>
            </a:r>
            <a:endParaRPr lang="en-US" sz="1350" dirty="0"/>
          </a:p>
        </p:txBody>
      </p:sp>
      <p:sp>
        <p:nvSpPr>
          <p:cNvPr id="8" name="Text 6"/>
          <p:cNvSpPr/>
          <p:nvPr/>
        </p:nvSpPr>
        <p:spPr>
          <a:xfrm>
            <a:off x="768096" y="2697480"/>
            <a:ext cx="2192274" cy="594360"/>
          </a:xfrm>
          <a:prstGeom prst="rect">
            <a:avLst/>
          </a:prstGeom>
          <a:noFill/>
          <a:ln/>
        </p:spPr>
        <p:txBody>
          <a:bodyPr wrap="square" rtlCol="0" anchor="ctr"/>
          <a:lstStyle/>
          <a:p>
            <a:pPr indent="0" marL="0">
              <a:lnSpc>
                <a:spcPts val="1400"/>
              </a:lnSpc>
              <a:buNone/>
            </a:pPr>
            <a:r>
              <a:rPr lang="en-US" sz="1100" dirty="0">
                <a:solidFill>
                  <a:srgbClr val="5E6A78"/>
                </a:solidFill>
                <a:latin typeface="Arial" pitchFamily="34" charset="0"/>
                <a:ea typeface="Arial" pitchFamily="34" charset="-122"/>
                <a:cs typeface="Arial" pitchFamily="34" charset="-120"/>
              </a:rPr>
              <a:t>One reusable prompt skeleton</a:t>
            </a:r>
            <a:endParaRPr lang="en-US" sz="1100" dirty="0"/>
          </a:p>
        </p:txBody>
      </p:sp>
      <p:sp>
        <p:nvSpPr>
          <p:cNvPr id="9" name="Shape 7"/>
          <p:cNvSpPr/>
          <p:nvPr/>
        </p:nvSpPr>
        <p:spPr>
          <a:xfrm>
            <a:off x="3399282" y="1508760"/>
            <a:ext cx="2558034"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3627882" y="1746504"/>
            <a:ext cx="438912" cy="438912"/>
          </a:xfrm>
          <a:prstGeom prst="ellipse">
            <a:avLst/>
          </a:prstGeom>
          <a:solidFill>
            <a:srgbClr val="D31242"/>
          </a:solidFill>
          <a:ln/>
        </p:spPr>
      </p:sp>
      <p:sp>
        <p:nvSpPr>
          <p:cNvPr id="11" name="Text 9"/>
          <p:cNvSpPr/>
          <p:nvPr/>
        </p:nvSpPr>
        <p:spPr>
          <a:xfrm>
            <a:off x="3627882" y="17465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3600450" y="2258568"/>
            <a:ext cx="2192274" cy="457200"/>
          </a:xfrm>
          <a:prstGeom prst="rect">
            <a:avLst/>
          </a:prstGeom>
          <a:noFill/>
          <a:ln/>
        </p:spPr>
        <p:txBody>
          <a:bodyPr wrap="square" rtlCol="0" anchor="ctr"/>
          <a:lstStyle/>
          <a:p>
            <a:pPr indent="0" marL="0">
              <a:lnSpc>
                <a:spcPts val="1500"/>
              </a:lnSpc>
              <a:buNone/>
            </a:pPr>
            <a:r>
              <a:rPr lang="en-US" sz="1350" b="1" dirty="0">
                <a:solidFill>
                  <a:srgbClr val="1F2733"/>
                </a:solidFill>
                <a:latin typeface="Arial" pitchFamily="34" charset="0"/>
                <a:ea typeface="Arial" pitchFamily="34" charset="-122"/>
                <a:cs typeface="Arial" pitchFamily="34" charset="-120"/>
              </a:rPr>
              <a:t>T1 Clear &amp; direct</a:t>
            </a:r>
            <a:endParaRPr lang="en-US" sz="1350" dirty="0"/>
          </a:p>
        </p:txBody>
      </p:sp>
      <p:sp>
        <p:nvSpPr>
          <p:cNvPr id="13" name="Text 11"/>
          <p:cNvSpPr/>
          <p:nvPr/>
        </p:nvSpPr>
        <p:spPr>
          <a:xfrm>
            <a:off x="3600450" y="2697480"/>
            <a:ext cx="2192274" cy="594360"/>
          </a:xfrm>
          <a:prstGeom prst="rect">
            <a:avLst/>
          </a:prstGeom>
          <a:noFill/>
          <a:ln/>
        </p:spPr>
        <p:txBody>
          <a:bodyPr wrap="square" rtlCol="0" anchor="ctr"/>
          <a:lstStyle/>
          <a:p>
            <a:pPr indent="0" marL="0">
              <a:lnSpc>
                <a:spcPts val="1400"/>
              </a:lnSpc>
              <a:buNone/>
            </a:pPr>
            <a:r>
              <a:rPr lang="en-US" sz="1100" dirty="0">
                <a:solidFill>
                  <a:srgbClr val="5E6A78"/>
                </a:solidFill>
                <a:latin typeface="Arial" pitchFamily="34" charset="0"/>
                <a:ea typeface="Arial" pitchFamily="34" charset="-122"/>
                <a:cs typeface="Arial" pitchFamily="34" charset="-120"/>
              </a:rPr>
              <a:t>Success criteria, hierarchy, contracts, constraints</a:t>
            </a:r>
            <a:endParaRPr lang="en-US" sz="1100" dirty="0"/>
          </a:p>
        </p:txBody>
      </p:sp>
      <p:sp>
        <p:nvSpPr>
          <p:cNvPr id="14" name="Shape 12"/>
          <p:cNvSpPr/>
          <p:nvPr/>
        </p:nvSpPr>
        <p:spPr>
          <a:xfrm>
            <a:off x="6231636" y="1508760"/>
            <a:ext cx="2558034"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6460236" y="1746504"/>
            <a:ext cx="438912" cy="438912"/>
          </a:xfrm>
          <a:prstGeom prst="ellipse">
            <a:avLst/>
          </a:prstGeom>
          <a:solidFill>
            <a:srgbClr val="D31242"/>
          </a:solidFill>
          <a:ln/>
        </p:spPr>
      </p:sp>
      <p:sp>
        <p:nvSpPr>
          <p:cNvPr id="16" name="Text 14"/>
          <p:cNvSpPr/>
          <p:nvPr/>
        </p:nvSpPr>
        <p:spPr>
          <a:xfrm>
            <a:off x="6460236" y="17465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6432804" y="2258568"/>
            <a:ext cx="2192274" cy="457200"/>
          </a:xfrm>
          <a:prstGeom prst="rect">
            <a:avLst/>
          </a:prstGeom>
          <a:noFill/>
          <a:ln/>
        </p:spPr>
        <p:txBody>
          <a:bodyPr wrap="square" rtlCol="0" anchor="ctr"/>
          <a:lstStyle/>
          <a:p>
            <a:pPr indent="0" marL="0">
              <a:lnSpc>
                <a:spcPts val="1500"/>
              </a:lnSpc>
              <a:buNone/>
            </a:pPr>
            <a:r>
              <a:rPr lang="en-US" sz="1350" b="1" dirty="0">
                <a:solidFill>
                  <a:srgbClr val="1F2733"/>
                </a:solidFill>
                <a:latin typeface="Arial" pitchFamily="34" charset="0"/>
                <a:ea typeface="Arial" pitchFamily="34" charset="-122"/>
                <a:cs typeface="Arial" pitchFamily="34" charset="-120"/>
              </a:rPr>
              <a:t>T2 Role/system</a:t>
            </a:r>
            <a:endParaRPr lang="en-US" sz="1350" dirty="0"/>
          </a:p>
        </p:txBody>
      </p:sp>
      <p:sp>
        <p:nvSpPr>
          <p:cNvPr id="18" name="Text 16"/>
          <p:cNvSpPr/>
          <p:nvPr/>
        </p:nvSpPr>
        <p:spPr>
          <a:xfrm>
            <a:off x="6432804" y="2697480"/>
            <a:ext cx="2192274" cy="594360"/>
          </a:xfrm>
          <a:prstGeom prst="rect">
            <a:avLst/>
          </a:prstGeom>
          <a:noFill/>
          <a:ln/>
        </p:spPr>
        <p:txBody>
          <a:bodyPr wrap="square" rtlCol="0" anchor="ctr"/>
          <a:lstStyle/>
          <a:p>
            <a:pPr indent="0" marL="0">
              <a:lnSpc>
                <a:spcPts val="1400"/>
              </a:lnSpc>
              <a:buNone/>
            </a:pPr>
            <a:r>
              <a:rPr lang="en-US" sz="1100" dirty="0">
                <a:solidFill>
                  <a:srgbClr val="5E6A78"/>
                </a:solidFill>
                <a:latin typeface="Arial" pitchFamily="34" charset="0"/>
                <a:ea typeface="Arial" pitchFamily="34" charset="-122"/>
                <a:cs typeface="Arial" pitchFamily="34" charset="-120"/>
              </a:rPr>
              <a:t>Standing instructions, audience, tone</a:t>
            </a:r>
            <a:endParaRPr lang="en-US" sz="1100" dirty="0"/>
          </a:p>
        </p:txBody>
      </p:sp>
      <p:sp>
        <p:nvSpPr>
          <p:cNvPr id="19" name="Shape 17"/>
          <p:cNvSpPr/>
          <p:nvPr/>
        </p:nvSpPr>
        <p:spPr>
          <a:xfrm>
            <a:off x="9063990" y="1508760"/>
            <a:ext cx="2558034"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9292590" y="1746504"/>
            <a:ext cx="438912" cy="438912"/>
          </a:xfrm>
          <a:prstGeom prst="ellipse">
            <a:avLst/>
          </a:prstGeom>
          <a:solidFill>
            <a:srgbClr val="D31242"/>
          </a:solidFill>
          <a:ln/>
        </p:spPr>
      </p:sp>
      <p:sp>
        <p:nvSpPr>
          <p:cNvPr id="21" name="Text 19"/>
          <p:cNvSpPr/>
          <p:nvPr/>
        </p:nvSpPr>
        <p:spPr>
          <a:xfrm>
            <a:off x="9292590" y="17465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9265158" y="2258568"/>
            <a:ext cx="2192274" cy="457200"/>
          </a:xfrm>
          <a:prstGeom prst="rect">
            <a:avLst/>
          </a:prstGeom>
          <a:noFill/>
          <a:ln/>
        </p:spPr>
        <p:txBody>
          <a:bodyPr wrap="square" rtlCol="0" anchor="ctr"/>
          <a:lstStyle/>
          <a:p>
            <a:pPr indent="0" marL="0">
              <a:lnSpc>
                <a:spcPts val="1500"/>
              </a:lnSpc>
              <a:buNone/>
            </a:pPr>
            <a:r>
              <a:rPr lang="en-US" sz="1350" b="1" dirty="0">
                <a:solidFill>
                  <a:srgbClr val="1F2733"/>
                </a:solidFill>
                <a:latin typeface="Arial" pitchFamily="34" charset="0"/>
                <a:ea typeface="Arial" pitchFamily="34" charset="-122"/>
                <a:cs typeface="Arial" pitchFamily="34" charset="-120"/>
              </a:rPr>
              <a:t>T3 XML</a:t>
            </a:r>
            <a:endParaRPr lang="en-US" sz="1350" dirty="0"/>
          </a:p>
        </p:txBody>
      </p:sp>
      <p:sp>
        <p:nvSpPr>
          <p:cNvPr id="23" name="Text 21"/>
          <p:cNvSpPr/>
          <p:nvPr/>
        </p:nvSpPr>
        <p:spPr>
          <a:xfrm>
            <a:off x="9265158" y="2697480"/>
            <a:ext cx="2192274" cy="594360"/>
          </a:xfrm>
          <a:prstGeom prst="rect">
            <a:avLst/>
          </a:prstGeom>
          <a:noFill/>
          <a:ln/>
        </p:spPr>
        <p:txBody>
          <a:bodyPr wrap="square" rtlCol="0" anchor="ctr"/>
          <a:lstStyle/>
          <a:p>
            <a:pPr indent="0" marL="0">
              <a:lnSpc>
                <a:spcPts val="1400"/>
              </a:lnSpc>
              <a:buNone/>
            </a:pPr>
            <a:r>
              <a:rPr lang="en-US" sz="1100" dirty="0">
                <a:solidFill>
                  <a:srgbClr val="5E6A78"/>
                </a:solidFill>
                <a:latin typeface="Arial" pitchFamily="34" charset="0"/>
                <a:ea typeface="Arial" pitchFamily="34" charset="-122"/>
                <a:cs typeface="Arial" pitchFamily="34" charset="-120"/>
              </a:rPr>
              <a:t>Separation, tagging, blocks, spotlighting</a:t>
            </a:r>
            <a:endParaRPr lang="en-US" sz="1100" dirty="0"/>
          </a:p>
        </p:txBody>
      </p:sp>
      <p:sp>
        <p:nvSpPr>
          <p:cNvPr id="24" name="Shape 22"/>
          <p:cNvSpPr/>
          <p:nvPr/>
        </p:nvSpPr>
        <p:spPr>
          <a:xfrm>
            <a:off x="566928" y="3657600"/>
            <a:ext cx="2558034"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5" name="Shape 23"/>
          <p:cNvSpPr/>
          <p:nvPr/>
        </p:nvSpPr>
        <p:spPr>
          <a:xfrm>
            <a:off x="795528" y="3895344"/>
            <a:ext cx="438912" cy="438912"/>
          </a:xfrm>
          <a:prstGeom prst="ellipse">
            <a:avLst/>
          </a:prstGeom>
          <a:solidFill>
            <a:srgbClr val="D31242"/>
          </a:solidFill>
          <a:ln/>
        </p:spPr>
      </p:sp>
      <p:sp>
        <p:nvSpPr>
          <p:cNvPr id="26" name="Text 24"/>
          <p:cNvSpPr/>
          <p:nvPr/>
        </p:nvSpPr>
        <p:spPr>
          <a:xfrm>
            <a:off x="795528" y="389534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68096" y="4407408"/>
            <a:ext cx="2192274" cy="457200"/>
          </a:xfrm>
          <a:prstGeom prst="rect">
            <a:avLst/>
          </a:prstGeom>
          <a:noFill/>
          <a:ln/>
        </p:spPr>
        <p:txBody>
          <a:bodyPr wrap="square" rtlCol="0" anchor="ctr"/>
          <a:lstStyle/>
          <a:p>
            <a:pPr indent="0" marL="0">
              <a:lnSpc>
                <a:spcPts val="1500"/>
              </a:lnSpc>
              <a:buNone/>
            </a:pPr>
            <a:r>
              <a:rPr lang="en-US" sz="1350" b="1" dirty="0">
                <a:solidFill>
                  <a:srgbClr val="1F2733"/>
                </a:solidFill>
                <a:latin typeface="Arial" pitchFamily="34" charset="0"/>
                <a:ea typeface="Arial" pitchFamily="34" charset="-122"/>
                <a:cs typeface="Arial" pitchFamily="34" charset="-120"/>
              </a:rPr>
              <a:t>T4 Multishot</a:t>
            </a:r>
            <a:endParaRPr lang="en-US" sz="1350" dirty="0"/>
          </a:p>
        </p:txBody>
      </p:sp>
      <p:sp>
        <p:nvSpPr>
          <p:cNvPr id="28" name="Text 26"/>
          <p:cNvSpPr/>
          <p:nvPr/>
        </p:nvSpPr>
        <p:spPr>
          <a:xfrm>
            <a:off x="768096" y="4846320"/>
            <a:ext cx="2192274" cy="594360"/>
          </a:xfrm>
          <a:prstGeom prst="rect">
            <a:avLst/>
          </a:prstGeom>
          <a:noFill/>
          <a:ln/>
        </p:spPr>
        <p:txBody>
          <a:bodyPr wrap="square" rtlCol="0" anchor="ctr"/>
          <a:lstStyle/>
          <a:p>
            <a:pPr indent="0" marL="0">
              <a:lnSpc>
                <a:spcPts val="1400"/>
              </a:lnSpc>
              <a:buNone/>
            </a:pPr>
            <a:r>
              <a:rPr lang="en-US" sz="1100" dirty="0">
                <a:solidFill>
                  <a:srgbClr val="5E6A78"/>
                </a:solidFill>
                <a:latin typeface="Arial" pitchFamily="34" charset="0"/>
                <a:ea typeface="Arial" pitchFamily="34" charset="-122"/>
                <a:cs typeface="Arial" pitchFamily="34" charset="-120"/>
              </a:rPr>
              <a:t>Good, contrastive, and well-chosen examples</a:t>
            </a:r>
            <a:endParaRPr lang="en-US" sz="1100" dirty="0"/>
          </a:p>
        </p:txBody>
      </p:sp>
      <p:sp>
        <p:nvSpPr>
          <p:cNvPr id="29" name="Shape 27"/>
          <p:cNvSpPr/>
          <p:nvPr/>
        </p:nvSpPr>
        <p:spPr>
          <a:xfrm>
            <a:off x="3399282" y="3657600"/>
            <a:ext cx="2558034"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30" name="Shape 28"/>
          <p:cNvSpPr/>
          <p:nvPr/>
        </p:nvSpPr>
        <p:spPr>
          <a:xfrm>
            <a:off x="3627882" y="3895344"/>
            <a:ext cx="438912" cy="438912"/>
          </a:xfrm>
          <a:prstGeom prst="ellipse">
            <a:avLst/>
          </a:prstGeom>
          <a:solidFill>
            <a:srgbClr val="D31242"/>
          </a:solidFill>
          <a:ln/>
        </p:spPr>
      </p:sp>
      <p:sp>
        <p:nvSpPr>
          <p:cNvPr id="31" name="Text 29"/>
          <p:cNvSpPr/>
          <p:nvPr/>
        </p:nvSpPr>
        <p:spPr>
          <a:xfrm>
            <a:off x="3627882" y="389534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3600450" y="4407408"/>
            <a:ext cx="2192274" cy="457200"/>
          </a:xfrm>
          <a:prstGeom prst="rect">
            <a:avLst/>
          </a:prstGeom>
          <a:noFill/>
          <a:ln/>
        </p:spPr>
        <p:txBody>
          <a:bodyPr wrap="square" rtlCol="0" anchor="ctr"/>
          <a:lstStyle/>
          <a:p>
            <a:pPr indent="0" marL="0">
              <a:lnSpc>
                <a:spcPts val="1500"/>
              </a:lnSpc>
              <a:buNone/>
            </a:pPr>
            <a:r>
              <a:rPr lang="en-US" sz="1350" b="1" dirty="0">
                <a:solidFill>
                  <a:srgbClr val="1F2733"/>
                </a:solidFill>
                <a:latin typeface="Arial" pitchFamily="34" charset="0"/>
                <a:ea typeface="Arial" pitchFamily="34" charset="-122"/>
                <a:cs typeface="Arial" pitchFamily="34" charset="-120"/>
              </a:rPr>
              <a:t>T5 Long inputs</a:t>
            </a:r>
            <a:endParaRPr lang="en-US" sz="1350" dirty="0"/>
          </a:p>
        </p:txBody>
      </p:sp>
      <p:sp>
        <p:nvSpPr>
          <p:cNvPr id="33" name="Text 31"/>
          <p:cNvSpPr/>
          <p:nvPr/>
        </p:nvSpPr>
        <p:spPr>
          <a:xfrm>
            <a:off x="3600450" y="4846320"/>
            <a:ext cx="2192274" cy="594360"/>
          </a:xfrm>
          <a:prstGeom prst="rect">
            <a:avLst/>
          </a:prstGeom>
          <a:noFill/>
          <a:ln/>
        </p:spPr>
        <p:txBody>
          <a:bodyPr wrap="square" rtlCol="0" anchor="ctr"/>
          <a:lstStyle/>
          <a:p>
            <a:pPr indent="0" marL="0">
              <a:lnSpc>
                <a:spcPts val="1400"/>
              </a:lnSpc>
              <a:buNone/>
            </a:pPr>
            <a:r>
              <a:rPr lang="en-US" sz="1100" dirty="0">
                <a:solidFill>
                  <a:srgbClr val="5E6A78"/>
                </a:solidFill>
                <a:latin typeface="Arial" pitchFamily="34" charset="0"/>
                <a:ea typeface="Arial" pitchFamily="34" charset="-122"/>
                <a:cs typeface="Arial" pitchFamily="34" charset="-120"/>
              </a:rPr>
              <a:t>Ground, extract→transform→produce, map-reduce</a:t>
            </a:r>
            <a:endParaRPr lang="en-US" sz="1100" dirty="0"/>
          </a:p>
        </p:txBody>
      </p:sp>
      <p:sp>
        <p:nvSpPr>
          <p:cNvPr id="34" name="Shape 32"/>
          <p:cNvSpPr/>
          <p:nvPr/>
        </p:nvSpPr>
        <p:spPr>
          <a:xfrm>
            <a:off x="6231636" y="3657600"/>
            <a:ext cx="2558034"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35" name="Shape 33"/>
          <p:cNvSpPr/>
          <p:nvPr/>
        </p:nvSpPr>
        <p:spPr>
          <a:xfrm>
            <a:off x="6460236" y="3895344"/>
            <a:ext cx="438912" cy="438912"/>
          </a:xfrm>
          <a:prstGeom prst="ellipse">
            <a:avLst/>
          </a:prstGeom>
          <a:solidFill>
            <a:srgbClr val="D31242"/>
          </a:solidFill>
          <a:ln/>
        </p:spPr>
      </p:sp>
      <p:sp>
        <p:nvSpPr>
          <p:cNvPr id="36" name="Text 34"/>
          <p:cNvSpPr/>
          <p:nvPr/>
        </p:nvSpPr>
        <p:spPr>
          <a:xfrm>
            <a:off x="6460236" y="389534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37" name="Text 35"/>
          <p:cNvSpPr/>
          <p:nvPr/>
        </p:nvSpPr>
        <p:spPr>
          <a:xfrm>
            <a:off x="6432804" y="4407408"/>
            <a:ext cx="2192274" cy="457200"/>
          </a:xfrm>
          <a:prstGeom prst="rect">
            <a:avLst/>
          </a:prstGeom>
          <a:noFill/>
          <a:ln/>
        </p:spPr>
        <p:txBody>
          <a:bodyPr wrap="square" rtlCol="0" anchor="ctr"/>
          <a:lstStyle/>
          <a:p>
            <a:pPr indent="0" marL="0">
              <a:lnSpc>
                <a:spcPts val="1500"/>
              </a:lnSpc>
              <a:buNone/>
            </a:pPr>
            <a:r>
              <a:rPr lang="en-US" sz="1350" b="1" dirty="0">
                <a:solidFill>
                  <a:srgbClr val="1F2733"/>
                </a:solidFill>
                <a:latin typeface="Arial" pitchFamily="34" charset="0"/>
                <a:ea typeface="Arial" pitchFamily="34" charset="-122"/>
                <a:cs typeface="Arial" pitchFamily="34" charset="-120"/>
              </a:rPr>
              <a:t>Reliability</a:t>
            </a:r>
            <a:endParaRPr lang="en-US" sz="1350" dirty="0"/>
          </a:p>
        </p:txBody>
      </p:sp>
      <p:sp>
        <p:nvSpPr>
          <p:cNvPr id="38" name="Text 36"/>
          <p:cNvSpPr/>
          <p:nvPr/>
        </p:nvSpPr>
        <p:spPr>
          <a:xfrm>
            <a:off x="6432804" y="4846320"/>
            <a:ext cx="2192274" cy="594360"/>
          </a:xfrm>
          <a:prstGeom prst="rect">
            <a:avLst/>
          </a:prstGeom>
          <a:noFill/>
          <a:ln/>
        </p:spPr>
        <p:txBody>
          <a:bodyPr wrap="square" rtlCol="0" anchor="ctr"/>
          <a:lstStyle/>
          <a:p>
            <a:pPr indent="0" marL="0">
              <a:lnSpc>
                <a:spcPts val="1400"/>
              </a:lnSpc>
              <a:buNone/>
            </a:pPr>
            <a:r>
              <a:rPr lang="en-US" sz="1100" dirty="0">
                <a:solidFill>
                  <a:srgbClr val="5E6A78"/>
                </a:solidFill>
                <a:latin typeface="Arial" pitchFamily="34" charset="0"/>
                <a:ea typeface="Arial" pitchFamily="34" charset="-122"/>
                <a:cs typeface="Arial" pitchFamily="34" charset="-120"/>
              </a:rPr>
              <a:t>Self-check, confidence, debugging, anti-patterns</a:t>
            </a:r>
            <a:endParaRPr lang="en-US" sz="1100" dirty="0"/>
          </a:p>
        </p:txBody>
      </p:sp>
      <p:sp>
        <p:nvSpPr>
          <p:cNvPr id="39" name="Shape 37"/>
          <p:cNvSpPr/>
          <p:nvPr/>
        </p:nvSpPr>
        <p:spPr>
          <a:xfrm>
            <a:off x="9063990" y="3657600"/>
            <a:ext cx="2558034"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40" name="Shape 38"/>
          <p:cNvSpPr/>
          <p:nvPr/>
        </p:nvSpPr>
        <p:spPr>
          <a:xfrm>
            <a:off x="9292590" y="3895344"/>
            <a:ext cx="438912" cy="438912"/>
          </a:xfrm>
          <a:prstGeom prst="ellipse">
            <a:avLst/>
          </a:prstGeom>
          <a:solidFill>
            <a:srgbClr val="D31242"/>
          </a:solidFill>
          <a:ln/>
        </p:spPr>
      </p:sp>
      <p:sp>
        <p:nvSpPr>
          <p:cNvPr id="41" name="Text 39"/>
          <p:cNvSpPr/>
          <p:nvPr/>
        </p:nvSpPr>
        <p:spPr>
          <a:xfrm>
            <a:off x="9292590" y="389534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42" name="Text 40"/>
          <p:cNvSpPr/>
          <p:nvPr/>
        </p:nvSpPr>
        <p:spPr>
          <a:xfrm>
            <a:off x="9265158" y="4407408"/>
            <a:ext cx="2192274" cy="457200"/>
          </a:xfrm>
          <a:prstGeom prst="rect">
            <a:avLst/>
          </a:prstGeom>
          <a:noFill/>
          <a:ln/>
        </p:spPr>
        <p:txBody>
          <a:bodyPr wrap="square" rtlCol="0" anchor="ctr"/>
          <a:lstStyle/>
          <a:p>
            <a:pPr indent="0" marL="0">
              <a:lnSpc>
                <a:spcPts val="1500"/>
              </a:lnSpc>
              <a:buNone/>
            </a:pPr>
            <a:r>
              <a:rPr lang="en-US" sz="1350" b="1" dirty="0">
                <a:solidFill>
                  <a:srgbClr val="1F2733"/>
                </a:solidFill>
                <a:latin typeface="Arial" pitchFamily="34" charset="0"/>
                <a:ea typeface="Arial" pitchFamily="34" charset="-122"/>
                <a:cs typeface="Arial" pitchFamily="34" charset="-120"/>
              </a:rPr>
              <a:t>Assemble &amp; practice</a:t>
            </a:r>
            <a:endParaRPr lang="en-US" sz="1350" dirty="0"/>
          </a:p>
        </p:txBody>
      </p:sp>
      <p:sp>
        <p:nvSpPr>
          <p:cNvPr id="43" name="Text 41"/>
          <p:cNvSpPr/>
          <p:nvPr/>
        </p:nvSpPr>
        <p:spPr>
          <a:xfrm>
            <a:off x="9265158" y="4846320"/>
            <a:ext cx="2192274" cy="594360"/>
          </a:xfrm>
          <a:prstGeom prst="rect">
            <a:avLst/>
          </a:prstGeom>
          <a:noFill/>
          <a:ln/>
        </p:spPr>
        <p:txBody>
          <a:bodyPr wrap="square" rtlCol="0" anchor="ctr"/>
          <a:lstStyle/>
          <a:p>
            <a:pPr indent="0" marL="0">
              <a:lnSpc>
                <a:spcPts val="1400"/>
              </a:lnSpc>
              <a:buNone/>
            </a:pPr>
            <a:r>
              <a:rPr lang="en-US" sz="1100" dirty="0">
                <a:solidFill>
                  <a:srgbClr val="5E6A78"/>
                </a:solidFill>
                <a:latin typeface="Arial" pitchFamily="34" charset="0"/>
                <a:ea typeface="Arial" pitchFamily="34" charset="-122"/>
                <a:cs typeface="Arial" pitchFamily="34" charset="-120"/>
              </a:rPr>
              <a:t>Build-up, demos, multi-output exercise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FROM M1, AND A REFRAME</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Techniques are chapter headings — patterns are the craft</a:t>
            </a:r>
            <a:endParaRPr lang="en-US" sz="2700" dirty="0"/>
          </a:p>
        </p:txBody>
      </p:sp>
      <p:sp>
        <p:nvSpPr>
          <p:cNvPr id="4" name="Shape 2"/>
          <p:cNvSpPr/>
          <p:nvPr/>
        </p:nvSpPr>
        <p:spPr>
          <a:xfrm>
            <a:off x="566928" y="1554480"/>
            <a:ext cx="5486400" cy="4114800"/>
          </a:xfrm>
          <a:prstGeom prst="roundRect">
            <a:avLst>
              <a:gd name="adj" fmla="val 2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411480"/>
          </a:xfrm>
          <a:prstGeom prst="rect">
            <a:avLst/>
          </a:prstGeom>
          <a:noFill/>
          <a:ln/>
        </p:spPr>
        <p:txBody>
          <a:bodyPr wrap="square" rtlCol="0" anchor="ctr"/>
          <a:lstStyle/>
          <a:p>
            <a:pPr indent="0" marL="0">
              <a:buNone/>
            </a:pPr>
            <a:r>
              <a:rPr lang="en-US" sz="1600" b="1" dirty="0">
                <a:solidFill>
                  <a:srgbClr val="1F2733"/>
                </a:solidFill>
                <a:latin typeface="Arial" pitchFamily="34" charset="0"/>
                <a:ea typeface="Arial" pitchFamily="34" charset="-122"/>
                <a:cs typeface="Arial" pitchFamily="34" charset="-120"/>
              </a:rPr>
              <a:t>Don't stop at five words</a:t>
            </a:r>
            <a:endParaRPr lang="en-US" sz="1600" dirty="0"/>
          </a:p>
        </p:txBody>
      </p:sp>
      <p:sp>
        <p:nvSpPr>
          <p:cNvPr id="6" name="Text 4"/>
          <p:cNvSpPr/>
          <p:nvPr/>
        </p:nvSpPr>
        <p:spPr>
          <a:xfrm>
            <a:off x="841248" y="2240280"/>
            <a:ext cx="4983480" cy="320040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"Clarity, role, XML, examples, long inputs" are categories. </a:t>
            </a:r>
            <a:pPr indent="0" marL="0">
              <a:lnSpc>
                <a:spcPts val="2000"/>
              </a:lnSpc>
              <a:buNone/>
            </a:pPr>
            <a:r>
              <a:rPr lang="en-US" sz="1350" b="1" dirty="0">
                <a:solidFill>
                  <a:srgbClr val="1F2733"/>
                </a:solidFill>
                <a:latin typeface="Arial" pitchFamily="34" charset="0"/>
                <a:ea typeface="Arial" pitchFamily="34" charset="-122"/>
                <a:cs typeface="Arial" pitchFamily="34" charset="-120"/>
              </a:rPr>
              <a:t>Under each sits a set of concrete, reusable patterns</a:t>
            </a:r>
            <a:pPr indent="0" marL="0">
              <a:lnSpc>
                <a:spcPts val="2000"/>
              </a:lnSpc>
              <a:buNone/>
            </a:pPr>
            <a:r>
              <a:rPr lang="en-US" sz="1350" dirty="0">
                <a:solidFill>
                  <a:srgbClr val="3A4452"/>
                </a:solidFill>
                <a:latin typeface="Arial" pitchFamily="34" charset="0"/>
                <a:ea typeface="Arial" pitchFamily="34" charset="-122"/>
                <a:cs typeface="Arial" pitchFamily="34" charset="-120"/>
              </a:rPr>
              <a:t> — the moves advanced users actually make.</a:t>
            </a:r>
            <a:endParaRPr lang="en-US" sz="1350" dirty="0"/>
          </a:p>
          <a:p>
            <a:pPr indent="0" marL="0">
              <a:lnSpc>
                <a:spcPts val="2000"/>
              </a:lnSpc>
              <a:buNone/>
            </a:pPr>
            <a:endParaRPr lang="en-US" sz="1350" dirty="0"/>
          </a:p>
          <a:p>
            <a:pPr indent="0" marL="0">
              <a:lnSpc>
                <a:spcPts val="2000"/>
              </a:lnSpc>
              <a:buNone/>
            </a:pPr>
            <a:r>
              <a:rPr lang="en-US" sz="1350" dirty="0">
                <a:solidFill>
                  <a:srgbClr val="3A4452"/>
                </a:solidFill>
                <a:latin typeface="Arial" pitchFamily="34" charset="0"/>
                <a:ea typeface="Arial" pitchFamily="34" charset="-122"/>
                <a:cs typeface="Arial" pitchFamily="34" charset="-120"/>
              </a:rPr>
              <a:t>This module teaches the patterns, with a BJ's example for each.</a:t>
            </a:r>
            <a:endParaRPr lang="en-US" sz="1350" dirty="0"/>
          </a:p>
        </p:txBody>
      </p:sp>
      <p:sp>
        <p:nvSpPr>
          <p:cNvPr id="7" name="Shape 5"/>
          <p:cNvSpPr/>
          <p:nvPr/>
        </p:nvSpPr>
        <p:spPr>
          <a:xfrm>
            <a:off x="6355080" y="1554480"/>
            <a:ext cx="5486400" cy="4114800"/>
          </a:xfrm>
          <a:prstGeom prst="roundRect">
            <a:avLst>
              <a:gd name="adj" fmla="val 2000"/>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783080"/>
            <a:ext cx="4937760" cy="411480"/>
          </a:xfrm>
          <a:prstGeom prst="rect">
            <a:avLst/>
          </a:prstGeom>
          <a:noFill/>
          <a:ln/>
        </p:spPr>
        <p:txBody>
          <a:bodyPr wrap="square" rtlCol="0" anchor="ctr"/>
          <a:lstStyle/>
          <a:p>
            <a:pPr indent="0" marL="0">
              <a:buNone/>
            </a:pPr>
            <a:r>
              <a:rPr lang="en-US" sz="1600" b="1" dirty="0">
                <a:solidFill>
                  <a:srgbClr val="7E0A27"/>
                </a:solidFill>
                <a:latin typeface="Arial" pitchFamily="34" charset="0"/>
                <a:ea typeface="Arial" pitchFamily="34" charset="-122"/>
                <a:cs typeface="Arial" pitchFamily="34" charset="-120"/>
              </a:rPr>
              <a:t>The payoff</a:t>
            </a:r>
            <a:endParaRPr lang="en-US" sz="1600" dirty="0"/>
          </a:p>
        </p:txBody>
      </p:sp>
      <p:sp>
        <p:nvSpPr>
          <p:cNvPr id="9" name="Text 7"/>
          <p:cNvSpPr/>
          <p:nvPr/>
        </p:nvSpPr>
        <p:spPr>
          <a:xfrm>
            <a:off x="6629400" y="2240280"/>
            <a:ext cx="4983480" cy="3200400"/>
          </a:xfrm>
          <a:prstGeom prst="rect">
            <a:avLst/>
          </a:prstGeom>
          <a:noFill/>
          <a:ln/>
        </p:spPr>
        <p:txBody>
          <a:bodyPr wrap="square" rtlCol="0" anchor="t"/>
          <a:lstStyle/>
          <a:p>
            <a:pPr indent="0" marL="0">
              <a:lnSpc>
                <a:spcPts val="2000"/>
              </a:lnSpc>
              <a:buNone/>
            </a:pPr>
            <a:r>
              <a:rPr lang="en-US" sz="1350" dirty="0">
                <a:solidFill>
                  <a:srgbClr val="3A4452"/>
                </a:solidFill>
                <a:latin typeface="Arial" pitchFamily="34" charset="0"/>
                <a:ea typeface="Arial" pitchFamily="34" charset="-122"/>
                <a:cs typeface="Arial" pitchFamily="34" charset="-120"/>
              </a:rPr>
              <a:t>Patterns make prompts reliable enough to </a:t>
            </a:r>
            <a:pPr indent="0" marL="0">
              <a:lnSpc>
                <a:spcPts val="2000"/>
              </a:lnSpc>
              <a:buNone/>
            </a:pPr>
            <a:r>
              <a:rPr lang="en-US" sz="1350" b="1" dirty="0">
                <a:solidFill>
                  <a:srgbClr val="1F2733"/>
                </a:solidFill>
                <a:latin typeface="Arial" pitchFamily="34" charset="0"/>
                <a:ea typeface="Arial" pitchFamily="34" charset="-122"/>
                <a:cs typeface="Arial" pitchFamily="34" charset="-120"/>
              </a:rPr>
              <a:t>standardize, save, and share across the club</a:t>
            </a:r>
            <a:pPr indent="0" marL="0">
              <a:lnSpc>
                <a:spcPts val="2000"/>
              </a:lnSpc>
              <a:buNone/>
            </a:pPr>
            <a:r>
              <a:rPr lang="en-US" sz="1350" dirty="0">
                <a:solidFill>
                  <a:srgbClr val="3A4452"/>
                </a:solidFill>
                <a:latin typeface="Arial" pitchFamily="34" charset="0"/>
                <a:ea typeface="Arial" pitchFamily="34" charset="-122"/>
                <a:cs typeface="Arial" pitchFamily="34" charset="-120"/>
              </a:rPr>
              <a:t> — turning a personal knack into an enablement accelerator.</a:t>
            </a:r>
            <a:endParaRPr lang="en-US" sz="1350" dirty="0"/>
          </a:p>
          <a:p>
            <a:pPr indent="0" marL="0">
              <a:lnSpc>
                <a:spcPts val="2000"/>
              </a:lnSpc>
              <a:buNone/>
            </a:pPr>
            <a:endParaRPr lang="en-US" sz="1350" dirty="0"/>
          </a:p>
          <a:p>
            <a:pPr indent="0" marL="0">
              <a:lnSpc>
                <a:spcPts val="2000"/>
              </a:lnSpc>
              <a:buNone/>
            </a:pPr>
            <a:r>
              <a:rPr lang="en-US" sz="1350" dirty="0">
                <a:solidFill>
                  <a:srgbClr val="3A4452"/>
                </a:solidFill>
                <a:latin typeface="Arial" pitchFamily="34" charset="0"/>
                <a:ea typeface="Arial" pitchFamily="34" charset="-122"/>
                <a:cs typeface="Arial" pitchFamily="34" charset="-120"/>
              </a:rPr>
              <a:t>Companion: the </a:t>
            </a:r>
            <a:pPr indent="0" marL="0">
              <a:lnSpc>
                <a:spcPts val="2000"/>
              </a:lnSpc>
              <a:buNone/>
            </a:pPr>
            <a:r>
              <a:rPr lang="en-US" sz="1350" b="1" dirty="0">
                <a:solidFill>
                  <a:srgbClr val="1F2733"/>
                </a:solidFill>
                <a:latin typeface="Arial" pitchFamily="34" charset="0"/>
                <a:ea typeface="Arial" pitchFamily="34" charset="-122"/>
                <a:cs typeface="Arial" pitchFamily="34" charset="-120"/>
              </a:rPr>
              <a:t>Prompt Pattern Library</a:t>
            </a:r>
            <a:pPr indent="0" marL="0">
              <a:lnSpc>
                <a:spcPts val="2000"/>
              </a:lnSpc>
              <a:buNone/>
            </a:pPr>
            <a:r>
              <a:rPr lang="en-US" sz="1350" dirty="0">
                <a:solidFill>
                  <a:srgbClr val="3A4452"/>
                </a:solidFill>
                <a:latin typeface="Arial" pitchFamily="34" charset="0"/>
                <a:ea typeface="Arial" pitchFamily="34" charset="-122"/>
                <a:cs typeface="Arial" pitchFamily="34" charset="-120"/>
              </a:rPr>
              <a:t> lists all 75 patterns, tiered and sourced.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THE MASTER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Prompt anatomy — build from named blocks</a:t>
            </a:r>
            <a:endParaRPr lang="en-US" sz="2700" dirty="0"/>
          </a:p>
        </p:txBody>
      </p:sp>
      <p:sp>
        <p:nvSpPr>
          <p:cNvPr id="4" name="Shape 2"/>
          <p:cNvSpPr/>
          <p:nvPr/>
        </p:nvSpPr>
        <p:spPr>
          <a:xfrm>
            <a:off x="566928" y="1508760"/>
            <a:ext cx="3471672"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795528" y="1728216"/>
            <a:ext cx="384048" cy="384048"/>
          </a:xfrm>
          <a:prstGeom prst="ellipse">
            <a:avLst/>
          </a:prstGeom>
          <a:solidFill>
            <a:srgbClr val="D31242"/>
          </a:solidFill>
          <a:ln/>
        </p:spPr>
      </p:sp>
      <p:sp>
        <p:nvSpPr>
          <p:cNvPr id="6" name="Text 4"/>
          <p:cNvSpPr/>
          <p:nvPr/>
        </p:nvSpPr>
        <p:spPr>
          <a:xfrm>
            <a:off x="795528" y="17282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1316736" y="1709928"/>
            <a:ext cx="2557272" cy="41148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Role</a:t>
            </a:r>
            <a:endParaRPr lang="en-US" sz="1450" dirty="0"/>
          </a:p>
        </p:txBody>
      </p:sp>
      <p:sp>
        <p:nvSpPr>
          <p:cNvPr id="8" name="Text 6"/>
          <p:cNvSpPr/>
          <p:nvPr/>
        </p:nvSpPr>
        <p:spPr>
          <a:xfrm>
            <a:off x="795528" y="2221992"/>
            <a:ext cx="3060192" cy="457200"/>
          </a:xfrm>
          <a:prstGeom prst="rect">
            <a:avLst/>
          </a:prstGeom>
          <a:noFill/>
          <a:ln/>
        </p:spPr>
        <p:txBody>
          <a:bodyPr wrap="square" rtlCol="0" anchor="ctr"/>
          <a:lstStyle/>
          <a:p>
            <a:pPr indent="0" marL="0">
              <a:lnSpc>
                <a:spcPts val="1400"/>
              </a:lnSpc>
              <a:buNone/>
            </a:pPr>
            <a:r>
              <a:rPr lang="en-US" sz="1150" dirty="0">
                <a:solidFill>
                  <a:srgbClr val="3A4452"/>
                </a:solidFill>
                <a:latin typeface="Arial" pitchFamily="34" charset="0"/>
                <a:ea typeface="Arial" pitchFamily="34" charset="-122"/>
                <a:cs typeface="Arial" pitchFamily="34" charset="-120"/>
              </a:rPr>
              <a:t>who Claude is</a:t>
            </a:r>
            <a:endParaRPr lang="en-US" sz="1150" dirty="0"/>
          </a:p>
        </p:txBody>
      </p:sp>
      <p:sp>
        <p:nvSpPr>
          <p:cNvPr id="9" name="Shape 7"/>
          <p:cNvSpPr/>
          <p:nvPr/>
        </p:nvSpPr>
        <p:spPr>
          <a:xfrm>
            <a:off x="4358640" y="1508760"/>
            <a:ext cx="3471672"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4587240" y="1728216"/>
            <a:ext cx="384048" cy="384048"/>
          </a:xfrm>
          <a:prstGeom prst="ellipse">
            <a:avLst/>
          </a:prstGeom>
          <a:solidFill>
            <a:srgbClr val="D31242"/>
          </a:solidFill>
          <a:ln/>
        </p:spPr>
      </p:sp>
      <p:sp>
        <p:nvSpPr>
          <p:cNvPr id="11" name="Text 9"/>
          <p:cNvSpPr/>
          <p:nvPr/>
        </p:nvSpPr>
        <p:spPr>
          <a:xfrm>
            <a:off x="4587240" y="17282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5108448" y="1709928"/>
            <a:ext cx="2557272" cy="41148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Goal</a:t>
            </a:r>
            <a:endParaRPr lang="en-US" sz="1450" dirty="0"/>
          </a:p>
        </p:txBody>
      </p:sp>
      <p:sp>
        <p:nvSpPr>
          <p:cNvPr id="13" name="Text 11"/>
          <p:cNvSpPr/>
          <p:nvPr/>
        </p:nvSpPr>
        <p:spPr>
          <a:xfrm>
            <a:off x="4587240" y="2221992"/>
            <a:ext cx="3060192" cy="457200"/>
          </a:xfrm>
          <a:prstGeom prst="rect">
            <a:avLst/>
          </a:prstGeom>
          <a:noFill/>
          <a:ln/>
        </p:spPr>
        <p:txBody>
          <a:bodyPr wrap="square" rtlCol="0" anchor="ctr"/>
          <a:lstStyle/>
          <a:p>
            <a:pPr indent="0" marL="0">
              <a:lnSpc>
                <a:spcPts val="1400"/>
              </a:lnSpc>
              <a:buNone/>
            </a:pPr>
            <a:r>
              <a:rPr lang="en-US" sz="1150" dirty="0">
                <a:solidFill>
                  <a:srgbClr val="3A4452"/>
                </a:solidFill>
                <a:latin typeface="Arial" pitchFamily="34" charset="0"/>
                <a:ea typeface="Arial" pitchFamily="34" charset="-122"/>
                <a:cs typeface="Arial" pitchFamily="34" charset="-120"/>
              </a:rPr>
              <a:t>the outcome you want</a:t>
            </a:r>
            <a:endParaRPr lang="en-US" sz="1150" dirty="0"/>
          </a:p>
        </p:txBody>
      </p:sp>
      <p:sp>
        <p:nvSpPr>
          <p:cNvPr id="14" name="Shape 12"/>
          <p:cNvSpPr/>
          <p:nvPr/>
        </p:nvSpPr>
        <p:spPr>
          <a:xfrm>
            <a:off x="8150352" y="1508760"/>
            <a:ext cx="3471672"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8378952" y="1728216"/>
            <a:ext cx="384048" cy="384048"/>
          </a:xfrm>
          <a:prstGeom prst="ellipse">
            <a:avLst/>
          </a:prstGeom>
          <a:solidFill>
            <a:srgbClr val="D31242"/>
          </a:solidFill>
          <a:ln/>
        </p:spPr>
      </p:sp>
      <p:sp>
        <p:nvSpPr>
          <p:cNvPr id="16" name="Text 14"/>
          <p:cNvSpPr/>
          <p:nvPr/>
        </p:nvSpPr>
        <p:spPr>
          <a:xfrm>
            <a:off x="8378952" y="17282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8900160" y="1709928"/>
            <a:ext cx="2557272" cy="41148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Context</a:t>
            </a:r>
            <a:endParaRPr lang="en-US" sz="1450" dirty="0"/>
          </a:p>
        </p:txBody>
      </p:sp>
      <p:sp>
        <p:nvSpPr>
          <p:cNvPr id="18" name="Text 16"/>
          <p:cNvSpPr/>
          <p:nvPr/>
        </p:nvSpPr>
        <p:spPr>
          <a:xfrm>
            <a:off x="8378952" y="2221992"/>
            <a:ext cx="3060192" cy="457200"/>
          </a:xfrm>
          <a:prstGeom prst="rect">
            <a:avLst/>
          </a:prstGeom>
          <a:noFill/>
          <a:ln/>
        </p:spPr>
        <p:txBody>
          <a:bodyPr wrap="square" rtlCol="0" anchor="ctr"/>
          <a:lstStyle/>
          <a:p>
            <a:pPr indent="0" marL="0">
              <a:lnSpc>
                <a:spcPts val="1400"/>
              </a:lnSpc>
              <a:buNone/>
            </a:pPr>
            <a:r>
              <a:rPr lang="en-US" sz="1150" dirty="0">
                <a:solidFill>
                  <a:srgbClr val="3A4452"/>
                </a:solidFill>
                <a:latin typeface="Arial" pitchFamily="34" charset="0"/>
                <a:ea typeface="Arial" pitchFamily="34" charset="-122"/>
                <a:cs typeface="Arial" pitchFamily="34" charset="-120"/>
              </a:rPr>
              <a:t>background it needs</a:t>
            </a:r>
            <a:endParaRPr lang="en-US" sz="1150" dirty="0"/>
          </a:p>
        </p:txBody>
      </p:sp>
      <p:sp>
        <p:nvSpPr>
          <p:cNvPr id="19" name="Shape 17"/>
          <p:cNvSpPr/>
          <p:nvPr/>
        </p:nvSpPr>
        <p:spPr>
          <a:xfrm>
            <a:off x="566928" y="2971800"/>
            <a:ext cx="3471672"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795528" y="3191256"/>
            <a:ext cx="384048" cy="384048"/>
          </a:xfrm>
          <a:prstGeom prst="ellipse">
            <a:avLst/>
          </a:prstGeom>
          <a:solidFill>
            <a:srgbClr val="D31242"/>
          </a:solidFill>
          <a:ln/>
        </p:spPr>
      </p:sp>
      <p:sp>
        <p:nvSpPr>
          <p:cNvPr id="21" name="Text 19"/>
          <p:cNvSpPr/>
          <p:nvPr/>
        </p:nvSpPr>
        <p:spPr>
          <a:xfrm>
            <a:off x="795528" y="3191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Text 20"/>
          <p:cNvSpPr/>
          <p:nvPr/>
        </p:nvSpPr>
        <p:spPr>
          <a:xfrm>
            <a:off x="1316736" y="3172968"/>
            <a:ext cx="2557272" cy="41148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Source</a:t>
            </a:r>
            <a:endParaRPr lang="en-US" sz="1450" dirty="0"/>
          </a:p>
        </p:txBody>
      </p:sp>
      <p:sp>
        <p:nvSpPr>
          <p:cNvPr id="23" name="Text 21"/>
          <p:cNvSpPr/>
          <p:nvPr/>
        </p:nvSpPr>
        <p:spPr>
          <a:xfrm>
            <a:off x="795528" y="3685032"/>
            <a:ext cx="3060192" cy="457200"/>
          </a:xfrm>
          <a:prstGeom prst="rect">
            <a:avLst/>
          </a:prstGeom>
          <a:noFill/>
          <a:ln/>
        </p:spPr>
        <p:txBody>
          <a:bodyPr wrap="square" rtlCol="0" anchor="ctr"/>
          <a:lstStyle/>
          <a:p>
            <a:pPr indent="0" marL="0">
              <a:lnSpc>
                <a:spcPts val="1400"/>
              </a:lnSpc>
              <a:buNone/>
            </a:pPr>
            <a:r>
              <a:rPr lang="en-US" sz="1150" dirty="0">
                <a:solidFill>
                  <a:srgbClr val="3A4452"/>
                </a:solidFill>
                <a:latin typeface="Arial" pitchFamily="34" charset="0"/>
                <a:ea typeface="Arial" pitchFamily="34" charset="-122"/>
                <a:cs typeface="Arial" pitchFamily="34" charset="-120"/>
              </a:rPr>
              <a:t>the data/document</a:t>
            </a:r>
            <a:endParaRPr lang="en-US" sz="1150" dirty="0"/>
          </a:p>
        </p:txBody>
      </p:sp>
      <p:sp>
        <p:nvSpPr>
          <p:cNvPr id="24" name="Shape 22"/>
          <p:cNvSpPr/>
          <p:nvPr/>
        </p:nvSpPr>
        <p:spPr>
          <a:xfrm>
            <a:off x="4358640" y="2971800"/>
            <a:ext cx="3471672"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5" name="Shape 23"/>
          <p:cNvSpPr/>
          <p:nvPr/>
        </p:nvSpPr>
        <p:spPr>
          <a:xfrm>
            <a:off x="4587240" y="3191256"/>
            <a:ext cx="384048" cy="384048"/>
          </a:xfrm>
          <a:prstGeom prst="ellipse">
            <a:avLst/>
          </a:prstGeom>
          <a:solidFill>
            <a:srgbClr val="D31242"/>
          </a:solidFill>
          <a:ln/>
        </p:spPr>
      </p:sp>
      <p:sp>
        <p:nvSpPr>
          <p:cNvPr id="26" name="Text 24"/>
          <p:cNvSpPr/>
          <p:nvPr/>
        </p:nvSpPr>
        <p:spPr>
          <a:xfrm>
            <a:off x="4587240" y="3191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7" name="Text 25"/>
          <p:cNvSpPr/>
          <p:nvPr/>
        </p:nvSpPr>
        <p:spPr>
          <a:xfrm>
            <a:off x="5108448" y="3172968"/>
            <a:ext cx="2557272" cy="41148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Instructions</a:t>
            </a:r>
            <a:endParaRPr lang="en-US" sz="1450" dirty="0"/>
          </a:p>
        </p:txBody>
      </p:sp>
      <p:sp>
        <p:nvSpPr>
          <p:cNvPr id="28" name="Text 26"/>
          <p:cNvSpPr/>
          <p:nvPr/>
        </p:nvSpPr>
        <p:spPr>
          <a:xfrm>
            <a:off x="4587240" y="3685032"/>
            <a:ext cx="3060192" cy="457200"/>
          </a:xfrm>
          <a:prstGeom prst="rect">
            <a:avLst/>
          </a:prstGeom>
          <a:noFill/>
          <a:ln/>
        </p:spPr>
        <p:txBody>
          <a:bodyPr wrap="square" rtlCol="0" anchor="ctr"/>
          <a:lstStyle/>
          <a:p>
            <a:pPr indent="0" marL="0">
              <a:lnSpc>
                <a:spcPts val="1400"/>
              </a:lnSpc>
              <a:buNone/>
            </a:pPr>
            <a:r>
              <a:rPr lang="en-US" sz="1150" dirty="0">
                <a:solidFill>
                  <a:srgbClr val="3A4452"/>
                </a:solidFill>
                <a:latin typeface="Arial" pitchFamily="34" charset="0"/>
                <a:ea typeface="Arial" pitchFamily="34" charset="-122"/>
                <a:cs typeface="Arial" pitchFamily="34" charset="-120"/>
              </a:rPr>
              <a:t>the specific task</a:t>
            </a:r>
            <a:endParaRPr lang="en-US" sz="1150" dirty="0"/>
          </a:p>
        </p:txBody>
      </p:sp>
      <p:sp>
        <p:nvSpPr>
          <p:cNvPr id="29" name="Shape 27"/>
          <p:cNvSpPr/>
          <p:nvPr/>
        </p:nvSpPr>
        <p:spPr>
          <a:xfrm>
            <a:off x="8150352" y="2971800"/>
            <a:ext cx="3471672"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30" name="Shape 28"/>
          <p:cNvSpPr/>
          <p:nvPr/>
        </p:nvSpPr>
        <p:spPr>
          <a:xfrm>
            <a:off x="8378952" y="3191256"/>
            <a:ext cx="384048" cy="384048"/>
          </a:xfrm>
          <a:prstGeom prst="ellipse">
            <a:avLst/>
          </a:prstGeom>
          <a:solidFill>
            <a:srgbClr val="D31242"/>
          </a:solidFill>
          <a:ln/>
        </p:spPr>
      </p:sp>
      <p:sp>
        <p:nvSpPr>
          <p:cNvPr id="31" name="Text 29"/>
          <p:cNvSpPr/>
          <p:nvPr/>
        </p:nvSpPr>
        <p:spPr>
          <a:xfrm>
            <a:off x="8378952" y="3191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2" name="Text 30"/>
          <p:cNvSpPr/>
          <p:nvPr/>
        </p:nvSpPr>
        <p:spPr>
          <a:xfrm>
            <a:off x="8900160" y="3172968"/>
            <a:ext cx="2557272" cy="41148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Output format</a:t>
            </a:r>
            <a:endParaRPr lang="en-US" sz="1450" dirty="0"/>
          </a:p>
        </p:txBody>
      </p:sp>
      <p:sp>
        <p:nvSpPr>
          <p:cNvPr id="33" name="Text 31"/>
          <p:cNvSpPr/>
          <p:nvPr/>
        </p:nvSpPr>
        <p:spPr>
          <a:xfrm>
            <a:off x="8378952" y="3685032"/>
            <a:ext cx="3060192" cy="457200"/>
          </a:xfrm>
          <a:prstGeom prst="rect">
            <a:avLst/>
          </a:prstGeom>
          <a:noFill/>
          <a:ln/>
        </p:spPr>
        <p:txBody>
          <a:bodyPr wrap="square" rtlCol="0" anchor="ctr"/>
          <a:lstStyle/>
          <a:p>
            <a:pPr indent="0" marL="0">
              <a:lnSpc>
                <a:spcPts val="1400"/>
              </a:lnSpc>
              <a:buNone/>
            </a:pPr>
            <a:r>
              <a:rPr lang="en-US" sz="1150" dirty="0">
                <a:solidFill>
                  <a:srgbClr val="3A4452"/>
                </a:solidFill>
                <a:latin typeface="Arial" pitchFamily="34" charset="0"/>
                <a:ea typeface="Arial" pitchFamily="34" charset="-122"/>
                <a:cs typeface="Arial" pitchFamily="34" charset="-120"/>
              </a:rPr>
              <a:t>the shape of the answer</a:t>
            </a:r>
            <a:endParaRPr lang="en-US" sz="1150" dirty="0"/>
          </a:p>
        </p:txBody>
      </p:sp>
      <p:sp>
        <p:nvSpPr>
          <p:cNvPr id="34" name="Shape 32"/>
          <p:cNvSpPr/>
          <p:nvPr/>
        </p:nvSpPr>
        <p:spPr>
          <a:xfrm>
            <a:off x="566928" y="4434840"/>
            <a:ext cx="3471672"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35" name="Shape 33"/>
          <p:cNvSpPr/>
          <p:nvPr/>
        </p:nvSpPr>
        <p:spPr>
          <a:xfrm>
            <a:off x="795528" y="4654296"/>
            <a:ext cx="384048" cy="384048"/>
          </a:xfrm>
          <a:prstGeom prst="ellipse">
            <a:avLst/>
          </a:prstGeom>
          <a:solidFill>
            <a:srgbClr val="D31242"/>
          </a:solidFill>
          <a:ln/>
        </p:spPr>
      </p:sp>
      <p:sp>
        <p:nvSpPr>
          <p:cNvPr id="36" name="Text 34"/>
          <p:cNvSpPr/>
          <p:nvPr/>
        </p:nvSpPr>
        <p:spPr>
          <a:xfrm>
            <a:off x="795528" y="4654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37" name="Text 35"/>
          <p:cNvSpPr/>
          <p:nvPr/>
        </p:nvSpPr>
        <p:spPr>
          <a:xfrm>
            <a:off x="1316736" y="4636008"/>
            <a:ext cx="2557272" cy="41148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Constraints</a:t>
            </a:r>
            <a:endParaRPr lang="en-US" sz="1450" dirty="0"/>
          </a:p>
        </p:txBody>
      </p:sp>
      <p:sp>
        <p:nvSpPr>
          <p:cNvPr id="38" name="Text 36"/>
          <p:cNvSpPr/>
          <p:nvPr/>
        </p:nvSpPr>
        <p:spPr>
          <a:xfrm>
            <a:off x="795528" y="5148072"/>
            <a:ext cx="3060192" cy="457200"/>
          </a:xfrm>
          <a:prstGeom prst="rect">
            <a:avLst/>
          </a:prstGeom>
          <a:noFill/>
          <a:ln/>
        </p:spPr>
        <p:txBody>
          <a:bodyPr wrap="square" rtlCol="0" anchor="ctr"/>
          <a:lstStyle/>
          <a:p>
            <a:pPr indent="0" marL="0">
              <a:lnSpc>
                <a:spcPts val="1400"/>
              </a:lnSpc>
              <a:buNone/>
            </a:pPr>
            <a:r>
              <a:rPr lang="en-US" sz="1150" dirty="0">
                <a:solidFill>
                  <a:srgbClr val="3A4452"/>
                </a:solidFill>
                <a:latin typeface="Arial" pitchFamily="34" charset="0"/>
                <a:ea typeface="Arial" pitchFamily="34" charset="-122"/>
                <a:cs typeface="Arial" pitchFamily="34" charset="-120"/>
              </a:rPr>
              <a:t>limits &amp; must-haves</a:t>
            </a:r>
            <a:endParaRPr lang="en-US" sz="1150" dirty="0"/>
          </a:p>
        </p:txBody>
      </p:sp>
      <p:sp>
        <p:nvSpPr>
          <p:cNvPr id="39" name="Shape 37"/>
          <p:cNvSpPr/>
          <p:nvPr/>
        </p:nvSpPr>
        <p:spPr>
          <a:xfrm>
            <a:off x="4358640" y="4434840"/>
            <a:ext cx="3471672"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40" name="Shape 38"/>
          <p:cNvSpPr/>
          <p:nvPr/>
        </p:nvSpPr>
        <p:spPr>
          <a:xfrm>
            <a:off x="4587240" y="4654296"/>
            <a:ext cx="384048" cy="384048"/>
          </a:xfrm>
          <a:prstGeom prst="ellipse">
            <a:avLst/>
          </a:prstGeom>
          <a:solidFill>
            <a:srgbClr val="D31242"/>
          </a:solidFill>
          <a:ln/>
        </p:spPr>
      </p:sp>
      <p:sp>
        <p:nvSpPr>
          <p:cNvPr id="41" name="Text 39"/>
          <p:cNvSpPr/>
          <p:nvPr/>
        </p:nvSpPr>
        <p:spPr>
          <a:xfrm>
            <a:off x="4587240" y="4654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2" name="Text 40"/>
          <p:cNvSpPr/>
          <p:nvPr/>
        </p:nvSpPr>
        <p:spPr>
          <a:xfrm>
            <a:off x="5108448" y="4636008"/>
            <a:ext cx="2557272" cy="41148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Success criteria</a:t>
            </a:r>
            <a:endParaRPr lang="en-US" sz="1450" dirty="0"/>
          </a:p>
        </p:txBody>
      </p:sp>
      <p:sp>
        <p:nvSpPr>
          <p:cNvPr id="43" name="Text 41"/>
          <p:cNvSpPr/>
          <p:nvPr/>
        </p:nvSpPr>
        <p:spPr>
          <a:xfrm>
            <a:off x="4587240" y="5148072"/>
            <a:ext cx="3060192" cy="457200"/>
          </a:xfrm>
          <a:prstGeom prst="rect">
            <a:avLst/>
          </a:prstGeom>
          <a:noFill/>
          <a:ln/>
        </p:spPr>
        <p:txBody>
          <a:bodyPr wrap="square" rtlCol="0" anchor="ctr"/>
          <a:lstStyle/>
          <a:p>
            <a:pPr indent="0" marL="0">
              <a:lnSpc>
                <a:spcPts val="1400"/>
              </a:lnSpc>
              <a:buNone/>
            </a:pPr>
            <a:r>
              <a:rPr lang="en-US" sz="1150" dirty="0">
                <a:solidFill>
                  <a:srgbClr val="3A4452"/>
                </a:solidFill>
                <a:latin typeface="Arial" pitchFamily="34" charset="0"/>
                <a:ea typeface="Arial" pitchFamily="34" charset="-122"/>
                <a:cs typeface="Arial" pitchFamily="34" charset="-120"/>
              </a:rPr>
              <a:t>what 'good' looks like</a:t>
            </a:r>
            <a:endParaRPr lang="en-US" sz="1150" dirty="0"/>
          </a:p>
        </p:txBody>
      </p:sp>
      <p:sp>
        <p:nvSpPr>
          <p:cNvPr id="44" name="Shape 42"/>
          <p:cNvSpPr/>
          <p:nvPr/>
        </p:nvSpPr>
        <p:spPr>
          <a:xfrm>
            <a:off x="8150352" y="4434840"/>
            <a:ext cx="3471672" cy="1280160"/>
          </a:xfrm>
          <a:prstGeom prst="roundRect">
            <a:avLst>
              <a:gd name="adj" fmla="val 64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45" name="Shape 43"/>
          <p:cNvSpPr/>
          <p:nvPr/>
        </p:nvSpPr>
        <p:spPr>
          <a:xfrm>
            <a:off x="8378952" y="4654296"/>
            <a:ext cx="384048" cy="384048"/>
          </a:xfrm>
          <a:prstGeom prst="ellipse">
            <a:avLst/>
          </a:prstGeom>
          <a:solidFill>
            <a:srgbClr val="D31242"/>
          </a:solidFill>
          <a:ln/>
        </p:spPr>
      </p:sp>
      <p:sp>
        <p:nvSpPr>
          <p:cNvPr id="46" name="Text 44"/>
          <p:cNvSpPr/>
          <p:nvPr/>
        </p:nvSpPr>
        <p:spPr>
          <a:xfrm>
            <a:off x="8378952" y="46542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
        <p:nvSpPr>
          <p:cNvPr id="47" name="Text 45"/>
          <p:cNvSpPr/>
          <p:nvPr/>
        </p:nvSpPr>
        <p:spPr>
          <a:xfrm>
            <a:off x="8900160" y="4636008"/>
            <a:ext cx="2557272" cy="411480"/>
          </a:xfrm>
          <a:prstGeom prst="rect">
            <a:avLst/>
          </a:prstGeom>
          <a:noFill/>
          <a:ln/>
        </p:spPr>
        <p:txBody>
          <a:bodyPr wrap="square" lIns="0" tIns="0" rIns="0" bIns="0" rtlCol="0" anchor="ctr"/>
          <a:lstStyle/>
          <a:p>
            <a:pPr indent="0" marL="0">
              <a:buNone/>
            </a:pPr>
            <a:r>
              <a:rPr lang="en-US" sz="1450" b="1" dirty="0">
                <a:solidFill>
                  <a:srgbClr val="D31242"/>
                </a:solidFill>
                <a:latin typeface="Arial" pitchFamily="34" charset="0"/>
                <a:ea typeface="Arial" pitchFamily="34" charset="-122"/>
                <a:cs typeface="Arial" pitchFamily="34" charset="-120"/>
              </a:rPr>
              <a:t>Fallback</a:t>
            </a:r>
            <a:endParaRPr lang="en-US" sz="1450" dirty="0"/>
          </a:p>
        </p:txBody>
      </p:sp>
      <p:sp>
        <p:nvSpPr>
          <p:cNvPr id="48" name="Text 46"/>
          <p:cNvSpPr/>
          <p:nvPr/>
        </p:nvSpPr>
        <p:spPr>
          <a:xfrm>
            <a:off x="8378952" y="5148072"/>
            <a:ext cx="3060192" cy="457200"/>
          </a:xfrm>
          <a:prstGeom prst="rect">
            <a:avLst/>
          </a:prstGeom>
          <a:noFill/>
          <a:ln/>
        </p:spPr>
        <p:txBody>
          <a:bodyPr wrap="square" rtlCol="0" anchor="ctr"/>
          <a:lstStyle/>
          <a:p>
            <a:pPr indent="0" marL="0">
              <a:lnSpc>
                <a:spcPts val="1400"/>
              </a:lnSpc>
              <a:buNone/>
            </a:pPr>
            <a:r>
              <a:rPr lang="en-US" sz="1150" dirty="0">
                <a:solidFill>
                  <a:srgbClr val="3A4452"/>
                </a:solidFill>
                <a:latin typeface="Arial" pitchFamily="34" charset="0"/>
                <a:ea typeface="Arial" pitchFamily="34" charset="-122"/>
                <a:cs typeface="Arial" pitchFamily="34" charset="-120"/>
              </a:rPr>
              <a:t>what to do with gaps</a:t>
            </a:r>
            <a:endParaRPr lang="en-US" sz="1150" dirty="0"/>
          </a:p>
        </p:txBody>
      </p:sp>
      <p:sp>
        <p:nvSpPr>
          <p:cNvPr id="49" name="Text 47"/>
          <p:cNvSpPr/>
          <p:nvPr/>
        </p:nvSpPr>
        <p:spPr>
          <a:xfrm>
            <a:off x="566928" y="5806440"/>
            <a:ext cx="11055096" cy="365760"/>
          </a:xfrm>
          <a:prstGeom prst="rect">
            <a:avLst/>
          </a:prstGeom>
          <a:noFill/>
          <a:ln/>
        </p:spPr>
        <p:txBody>
          <a:bodyPr wrap="square" rtlCol="0" anchor="ctr"/>
          <a:lstStyle/>
          <a:p>
            <a:pPr algn="ctr" indent="0" marL="0">
              <a:buNone/>
            </a:pPr>
            <a:r>
              <a:rPr lang="en-US" sz="1200" b="1" dirty="0">
                <a:solidFill>
                  <a:srgbClr val="1F2733"/>
                </a:solidFill>
                <a:latin typeface="Arial" pitchFamily="34" charset="0"/>
                <a:ea typeface="Arial" pitchFamily="34" charset="-122"/>
                <a:cs typeface="Arial" pitchFamily="34" charset="-120"/>
              </a:rPr>
              <a:t>You won't use all nine every time — but this is the checklist a strong prompt is built from. Every pattern ahead refines one of these blocks.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9692640" y="-1645920"/>
            <a:ext cx="4937760" cy="4937760"/>
          </a:xfrm>
          <a:prstGeom prst="ellipse">
            <a:avLst/>
          </a:prstGeom>
          <a:solidFill>
            <a:srgbClr val="A60E34"/>
          </a:solidFill>
          <a:ln/>
        </p:spPr>
      </p:sp>
      <p:sp>
        <p:nvSpPr>
          <p:cNvPr id="3" name="Text 1"/>
          <p:cNvSpPr/>
          <p:nvPr/>
        </p:nvSpPr>
        <p:spPr>
          <a:xfrm>
            <a:off x="566928" y="914400"/>
            <a:ext cx="10058400" cy="365760"/>
          </a:xfrm>
          <a:prstGeom prst="rect">
            <a:avLst/>
          </a:prstGeom>
          <a:noFill/>
          <a:ln/>
        </p:spPr>
        <p:txBody>
          <a:bodyPr wrap="square" rtlCol="0" anchor="ctr"/>
          <a:lstStyle/>
          <a:p>
            <a:pPr indent="0" marL="0">
              <a:buNone/>
            </a:pPr>
            <a:r>
              <a:rPr lang="en-US" sz="1400" b="1" spc="300" kern="0" dirty="0">
                <a:solidFill>
                  <a:srgbClr val="F7B9C6"/>
                </a:solidFill>
                <a:latin typeface="Arial" pitchFamily="34" charset="0"/>
                <a:ea typeface="Arial" pitchFamily="34" charset="-122"/>
                <a:cs typeface="Arial" pitchFamily="34" charset="-120"/>
              </a:rPr>
              <a:t>TECHNIQUE 1</a:t>
            </a:r>
            <a:endParaRPr lang="en-US" sz="1400" dirty="0"/>
          </a:p>
        </p:txBody>
      </p:sp>
      <p:sp>
        <p:nvSpPr>
          <p:cNvPr id="4" name="Text 2"/>
          <p:cNvSpPr/>
          <p:nvPr/>
        </p:nvSpPr>
        <p:spPr>
          <a:xfrm>
            <a:off x="566928" y="1325880"/>
            <a:ext cx="10515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Clear &amp; Direct</a:t>
            </a:r>
            <a:endParaRPr lang="en-US" sz="3200" dirty="0"/>
          </a:p>
        </p:txBody>
      </p:sp>
      <p:sp>
        <p:nvSpPr>
          <p:cNvPr id="5" name="Text 3"/>
          <p:cNvSpPr/>
          <p:nvPr/>
        </p:nvSpPr>
        <p:spPr>
          <a:xfrm>
            <a:off x="566928" y="2103120"/>
            <a:ext cx="10241280" cy="457200"/>
          </a:xfrm>
          <a:prstGeom prst="rect">
            <a:avLst/>
          </a:prstGeom>
          <a:noFill/>
          <a:ln/>
        </p:spPr>
        <p:txBody>
          <a:bodyPr wrap="square" rtlCol="0" anchor="ctr"/>
          <a:lstStyle/>
          <a:p>
            <a:pPr indent="0" marL="0">
              <a:lnSpc>
                <a:spcPts val="2000"/>
              </a:lnSpc>
              <a:buNone/>
            </a:pPr>
            <a:r>
              <a:rPr lang="en-US" sz="1400" dirty="0">
                <a:solidFill>
                  <a:srgbClr val="F2D9DF"/>
                </a:solidFill>
                <a:latin typeface="Arial" pitchFamily="34" charset="0"/>
                <a:ea typeface="Arial" pitchFamily="34" charset="-122"/>
                <a:cs typeface="Arial" pitchFamily="34" charset="-120"/>
              </a:rPr>
              <a:t>Precision in the instructions, goal, and output blocks.</a:t>
            </a:r>
            <a:endParaRPr lang="en-US" sz="1400" dirty="0"/>
          </a:p>
        </p:txBody>
      </p:sp>
      <p:sp>
        <p:nvSpPr>
          <p:cNvPr id="6" name="Text 4"/>
          <p:cNvSpPr/>
          <p:nvPr/>
        </p:nvSpPr>
        <p:spPr>
          <a:xfrm>
            <a:off x="566928" y="2880360"/>
            <a:ext cx="10058400" cy="274320"/>
          </a:xfrm>
          <a:prstGeom prst="rect">
            <a:avLst/>
          </a:prstGeom>
          <a:noFill/>
          <a:ln/>
        </p:spPr>
        <p:txBody>
          <a:bodyPr wrap="square" rtlCol="0" anchor="ctr"/>
          <a:lstStyle/>
          <a:p>
            <a:pPr indent="0" marL="0">
              <a:buNone/>
            </a:pPr>
            <a:r>
              <a:rPr lang="en-US" sz="1050" b="1" spc="200" kern="0" dirty="0">
                <a:solidFill>
                  <a:srgbClr val="F7B9C6"/>
                </a:solidFill>
                <a:latin typeface="Arial" pitchFamily="34" charset="0"/>
                <a:ea typeface="Arial" pitchFamily="34" charset="-122"/>
                <a:cs typeface="Arial" pitchFamily="34" charset="-120"/>
              </a:rPr>
              <a:t>PATTERNS IN THIS SECTION</a:t>
            </a:r>
            <a:endParaRPr lang="en-US" sz="1050" dirty="0"/>
          </a:p>
        </p:txBody>
      </p:sp>
      <p:sp>
        <p:nvSpPr>
          <p:cNvPr id="7" name="Shape 5"/>
          <p:cNvSpPr/>
          <p:nvPr/>
        </p:nvSpPr>
        <p:spPr>
          <a:xfrm>
            <a:off x="566928"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49808"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Success criteria</a:t>
            </a:r>
            <a:endParaRPr lang="en-US" sz="1300" dirty="0"/>
          </a:p>
        </p:txBody>
      </p:sp>
      <p:sp>
        <p:nvSpPr>
          <p:cNvPr id="9" name="Text 7"/>
          <p:cNvSpPr/>
          <p:nvPr/>
        </p:nvSpPr>
        <p:spPr>
          <a:xfrm>
            <a:off x="749808"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Define 'good' before you ask</a:t>
            </a:r>
            <a:endParaRPr lang="en-US" sz="1050" dirty="0"/>
          </a:p>
        </p:txBody>
      </p:sp>
      <p:sp>
        <p:nvSpPr>
          <p:cNvPr id="10" name="Shape 8"/>
          <p:cNvSpPr/>
          <p:nvPr/>
        </p:nvSpPr>
        <p:spPr>
          <a:xfrm>
            <a:off x="3399282"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3582162"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Instruction hierarchy</a:t>
            </a:r>
            <a:endParaRPr lang="en-US" sz="1300" dirty="0"/>
          </a:p>
        </p:txBody>
      </p:sp>
      <p:sp>
        <p:nvSpPr>
          <p:cNvPr id="12" name="Text 10"/>
          <p:cNvSpPr/>
          <p:nvPr/>
        </p:nvSpPr>
        <p:spPr>
          <a:xfrm>
            <a:off x="3582162"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Must / should / avoid</a:t>
            </a:r>
            <a:endParaRPr lang="en-US" sz="1050" dirty="0"/>
          </a:p>
        </p:txBody>
      </p:sp>
      <p:sp>
        <p:nvSpPr>
          <p:cNvPr id="13" name="Shape 11"/>
          <p:cNvSpPr/>
          <p:nvPr/>
        </p:nvSpPr>
        <p:spPr>
          <a:xfrm>
            <a:off x="6231636"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6414516"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Output contract</a:t>
            </a:r>
            <a:endParaRPr lang="en-US" sz="1300" dirty="0"/>
          </a:p>
        </p:txBody>
      </p:sp>
      <p:sp>
        <p:nvSpPr>
          <p:cNvPr id="15" name="Text 13"/>
          <p:cNvSpPr/>
          <p:nvPr/>
        </p:nvSpPr>
        <p:spPr>
          <a:xfrm>
            <a:off x="6414516"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Exact shape of the answer</a:t>
            </a:r>
            <a:endParaRPr lang="en-US" sz="1050" dirty="0"/>
          </a:p>
        </p:txBody>
      </p:sp>
      <p:sp>
        <p:nvSpPr>
          <p:cNvPr id="16" name="Shape 14"/>
          <p:cNvSpPr/>
          <p:nvPr/>
        </p:nvSpPr>
        <p:spPr>
          <a:xfrm>
            <a:off x="9063990"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9246870"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Constraints</a:t>
            </a:r>
            <a:endParaRPr lang="en-US" sz="1300" dirty="0"/>
          </a:p>
        </p:txBody>
      </p:sp>
      <p:sp>
        <p:nvSpPr>
          <p:cNvPr id="18" name="Text 16"/>
          <p:cNvSpPr/>
          <p:nvPr/>
        </p:nvSpPr>
        <p:spPr>
          <a:xfrm>
            <a:off x="9246870"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Limits as design tools</a:t>
            </a:r>
            <a:endParaRPr lang="en-US" sz="1050" dirty="0"/>
          </a:p>
        </p:txBody>
      </p:sp>
      <p:sp>
        <p:nvSpPr>
          <p:cNvPr id="19" name="Text 17"/>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T1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Define success criteria first</a:t>
            </a:r>
            <a:endParaRPr lang="en-US" sz="2700" dirty="0"/>
          </a:p>
        </p:txBody>
      </p:sp>
      <p:sp>
        <p:nvSpPr>
          <p:cNvPr id="4" name="Shape 2"/>
          <p:cNvSpPr/>
          <p:nvPr/>
        </p:nvSpPr>
        <p:spPr>
          <a:xfrm>
            <a:off x="566928" y="1554480"/>
            <a:ext cx="5486400" cy="4114800"/>
          </a:xfrm>
          <a:prstGeom prst="roundRect">
            <a:avLst>
              <a:gd name="adj" fmla="val 2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640080"/>
          </a:xfrm>
          <a:prstGeom prst="rect">
            <a:avLst/>
          </a:prstGeom>
          <a:noFill/>
          <a:ln/>
        </p:spPr>
        <p:txBody>
          <a:bodyPr wrap="square" rtlCol="0" anchor="ctr"/>
          <a:lstStyle/>
          <a:p>
            <a:pPr indent="0" marL="0">
              <a:lnSpc>
                <a:spcPts val="1800"/>
              </a:lnSpc>
              <a:buNone/>
            </a:pPr>
            <a:r>
              <a:rPr lang="en-US" sz="1550" b="1" dirty="0">
                <a:solidFill>
                  <a:srgbClr val="1F2733"/>
                </a:solidFill>
                <a:latin typeface="Arial" pitchFamily="34" charset="0"/>
                <a:ea typeface="Arial" pitchFamily="34" charset="-122"/>
                <a:cs typeface="Arial" pitchFamily="34" charset="-120"/>
              </a:rPr>
              <a:t>Decide what 'good' looks like — before you write the prompt</a:t>
            </a:r>
            <a:endParaRPr lang="en-US" sz="1550" dirty="0"/>
          </a:p>
        </p:txBody>
      </p:sp>
      <p:sp>
        <p:nvSpPr>
          <p:cNvPr id="6" name="Text 4"/>
          <p:cNvSpPr/>
          <p:nvPr/>
        </p:nvSpPr>
        <p:spPr>
          <a:xfrm>
            <a:off x="841248" y="2514600"/>
            <a:ext cx="4983480" cy="292608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It tells Claude the target and gives you a yardstick to judge the output.</a:t>
            </a:r>
            <a:endParaRPr lang="en-US" sz="1350" dirty="0"/>
          </a:p>
          <a:p>
            <a:pPr indent="0" marL="0">
              <a:lnSpc>
                <a:spcPts val="1900"/>
              </a:lnSpc>
              <a:buNone/>
            </a:pPr>
            <a:endParaRPr lang="en-US" sz="1350" dirty="0"/>
          </a:p>
          <a:p>
            <a:pPr indent="0" marL="0">
              <a:lnSpc>
                <a:spcPts val="1900"/>
              </a:lnSpc>
              <a:buNone/>
            </a:pPr>
            <a:r>
              <a:rPr lang="en-US" sz="1350" b="1" dirty="0">
                <a:solidFill>
                  <a:srgbClr val="D31242"/>
                </a:solidFill>
                <a:latin typeface="Arial" pitchFamily="34" charset="0"/>
                <a:ea typeface="Arial" pitchFamily="34" charset="-122"/>
                <a:cs typeface="Arial" pitchFamily="34" charset="-120"/>
              </a:rPr>
              <a:t>When to use: </a:t>
            </a:r>
            <a:pPr indent="0" marL="0">
              <a:lnSpc>
                <a:spcPts val="1900"/>
              </a:lnSpc>
              <a:buNone/>
            </a:pPr>
            <a:r>
              <a:rPr lang="en-US" sz="1350" dirty="0">
                <a:solidFill>
                  <a:srgbClr val="3A4452"/>
                </a:solidFill>
                <a:latin typeface="Arial" pitchFamily="34" charset="0"/>
                <a:ea typeface="Arial" pitchFamily="34" charset="-122"/>
                <a:cs typeface="Arial" pitchFamily="34" charset="-120"/>
              </a:rPr>
              <a:t>any prompt you'll reuse, evaluate, or send onward.</a:t>
            </a:r>
            <a:endParaRPr lang="en-US" sz="1350" dirty="0"/>
          </a:p>
        </p:txBody>
      </p:sp>
      <p:sp>
        <p:nvSpPr>
          <p:cNvPr id="7" name="Shape 5"/>
          <p:cNvSpPr/>
          <p:nvPr/>
        </p:nvSpPr>
        <p:spPr>
          <a:xfrm>
            <a:off x="6355080" y="1554480"/>
            <a:ext cx="5486400" cy="4114800"/>
          </a:xfrm>
          <a:prstGeom prst="roundRect">
            <a:avLst>
              <a:gd name="adj" fmla="val 2000"/>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6248" y="1664208"/>
            <a:ext cx="512064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BJ'S EXAMPLE</a:t>
            </a:r>
            <a:endParaRPr lang="en-US" sz="900" dirty="0"/>
          </a:p>
        </p:txBody>
      </p:sp>
      <p:sp>
        <p:nvSpPr>
          <p:cNvPr id="9" name="Text 7"/>
          <p:cNvSpPr/>
          <p:nvPr/>
        </p:nvSpPr>
        <p:spPr>
          <a:xfrm>
            <a:off x="6583680" y="1938528"/>
            <a:ext cx="5029200" cy="360273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 strong answer is:
</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accurate to the source
- under 150 words
- associate-friendly, no jargon
- ends with clear action items
</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Write the associate note to meet</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all four.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T1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Instruction hierarchy — must / should / avoid</a:t>
            </a:r>
            <a:endParaRPr lang="en-US" sz="2700" dirty="0"/>
          </a:p>
        </p:txBody>
      </p:sp>
      <p:sp>
        <p:nvSpPr>
          <p:cNvPr id="4" name="Shape 2"/>
          <p:cNvSpPr/>
          <p:nvPr/>
        </p:nvSpPr>
        <p:spPr>
          <a:xfrm>
            <a:off x="566928" y="1554480"/>
            <a:ext cx="5486400" cy="4114800"/>
          </a:xfrm>
          <a:prstGeom prst="roundRect">
            <a:avLst>
              <a:gd name="adj" fmla="val 2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41148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Rank your instructions</a:t>
            </a:r>
            <a:endParaRPr lang="en-US" sz="1550" dirty="0"/>
          </a:p>
        </p:txBody>
      </p:sp>
      <p:sp>
        <p:nvSpPr>
          <p:cNvPr id="6" name="Text 4"/>
          <p:cNvSpPr/>
          <p:nvPr/>
        </p:nvSpPr>
        <p:spPr>
          <a:xfrm>
            <a:off x="841248" y="2194560"/>
            <a:ext cx="4983480" cy="320040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A paragraph of mixed instructions hides what matters. Tiering makes the non-negotiables unmistakable.</a:t>
            </a:r>
            <a:endParaRPr lang="en-US" sz="1350" dirty="0"/>
          </a:p>
          <a:p>
            <a:pPr indent="0" marL="0">
              <a:lnSpc>
                <a:spcPts val="1900"/>
              </a:lnSpc>
              <a:buNone/>
            </a:pPr>
            <a:endParaRPr lang="en-US" sz="1350" dirty="0"/>
          </a:p>
          <a:p>
            <a:pPr indent="0" marL="0">
              <a:lnSpc>
                <a:spcPts val="1900"/>
              </a:lnSpc>
              <a:buNone/>
            </a:pPr>
            <a:r>
              <a:rPr lang="en-US" sz="1350" b="1" dirty="0">
                <a:solidFill>
                  <a:srgbClr val="D31242"/>
                </a:solidFill>
                <a:latin typeface="Arial" pitchFamily="34" charset="0"/>
                <a:ea typeface="Arial" pitchFamily="34" charset="-122"/>
                <a:cs typeface="Arial" pitchFamily="34" charset="-120"/>
              </a:rPr>
              <a:t>When to use: </a:t>
            </a:r>
            <a:pPr indent="0" marL="0">
              <a:lnSpc>
                <a:spcPts val="1900"/>
              </a:lnSpc>
              <a:buNone/>
            </a:pPr>
            <a:r>
              <a:rPr lang="en-US" sz="1350" dirty="0">
                <a:solidFill>
                  <a:srgbClr val="3A4452"/>
                </a:solidFill>
                <a:latin typeface="Arial" pitchFamily="34" charset="0"/>
                <a:ea typeface="Arial" pitchFamily="34" charset="-122"/>
                <a:cs typeface="Arial" pitchFamily="34" charset="-120"/>
              </a:rPr>
              <a:t>prompts with several rules or hard limits.</a:t>
            </a:r>
            <a:endParaRPr lang="en-US" sz="1350" dirty="0"/>
          </a:p>
        </p:txBody>
      </p:sp>
      <p:sp>
        <p:nvSpPr>
          <p:cNvPr id="7" name="Shape 5"/>
          <p:cNvSpPr/>
          <p:nvPr/>
        </p:nvSpPr>
        <p:spPr>
          <a:xfrm>
            <a:off x="6355080" y="1554480"/>
            <a:ext cx="5486400" cy="4114800"/>
          </a:xfrm>
          <a:prstGeom prst="roundRect">
            <a:avLst>
              <a:gd name="adj" fmla="val 2000"/>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6248" y="1664208"/>
            <a:ext cx="512064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BJ'S EXAMPLE</a:t>
            </a:r>
            <a:endParaRPr lang="en-US" sz="900" dirty="0"/>
          </a:p>
        </p:txBody>
      </p:sp>
      <p:sp>
        <p:nvSpPr>
          <p:cNvPr id="9" name="Text 7"/>
          <p:cNvSpPr/>
          <p:nvPr/>
        </p:nvSpPr>
        <p:spPr>
          <a:xfrm>
            <a:off x="6583680" y="1938528"/>
            <a:ext cx="5029200" cy="3602736"/>
          </a:xfrm>
          <a:prstGeom prst="rect">
            <a:avLst/>
          </a:prstGeom>
          <a:noFill/>
          <a:ln/>
        </p:spPr>
        <p:txBody>
          <a:bodyPr wrap="square" rtlCol="0" anchor="t"/>
          <a:lstStyle/>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MUST: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stay within the policy text;
  include the start date.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SHOULD:</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be warm and encouraging.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AVOID:</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acronyms; interpreting</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policy beyond what's written.</a:t>
            </a:r>
            <a:endParaRPr lang="en-US" sz="1100" dirty="0"/>
          </a:p>
        </p:txBody>
      </p:sp>
      <p:sp>
        <p:nvSpPr>
          <p:cNvPr id="10" name="Text 8"/>
          <p:cNvSpPr/>
          <p:nvPr/>
        </p:nvSpPr>
        <p:spPr>
          <a:xfrm>
            <a:off x="566928" y="5806440"/>
            <a:ext cx="11055096" cy="320040"/>
          </a:xfrm>
          <a:prstGeom prst="rect">
            <a:avLst/>
          </a:prstGeom>
          <a:noFill/>
          <a:ln/>
        </p:spPr>
        <p:txBody>
          <a:bodyPr wrap="square" rtlCol="0" anchor="ctr"/>
          <a:lstStyle/>
          <a:p>
            <a:pPr indent="0" marL="0">
              <a:buNone/>
            </a:pPr>
            <a:r>
              <a:rPr lang="en-US" sz="1000" i="1" dirty="0">
                <a:solidFill>
                  <a:srgbClr val="5E6A78"/>
                </a:solidFill>
                <a:latin typeface="Arial" pitchFamily="34" charset="0"/>
                <a:ea typeface="Arial" pitchFamily="34" charset="-122"/>
                <a:cs typeface="Arial" pitchFamily="34" charset="-120"/>
              </a:rPr>
              <a:t>Note: this is the in-prompt habit — different from OpenAI's platform/developer/user 'chain of command,' which is a safety concept.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T1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Output contract — specify the exact shape</a:t>
            </a:r>
            <a:endParaRPr lang="en-US" sz="2700" dirty="0"/>
          </a:p>
        </p:txBody>
      </p:sp>
      <p:sp>
        <p:nvSpPr>
          <p:cNvPr id="4" name="Shape 2"/>
          <p:cNvSpPr/>
          <p:nvPr/>
        </p:nvSpPr>
        <p:spPr>
          <a:xfrm>
            <a:off x="566928" y="1554480"/>
            <a:ext cx="5486400" cy="4114800"/>
          </a:xfrm>
          <a:prstGeom prst="roundRect">
            <a:avLst>
              <a:gd name="adj" fmla="val 2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41148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Name the format precisely</a:t>
            </a:r>
            <a:endParaRPr lang="en-US" sz="1550" dirty="0"/>
          </a:p>
        </p:txBody>
      </p:sp>
      <p:sp>
        <p:nvSpPr>
          <p:cNvPr id="6" name="Text 4"/>
          <p:cNvSpPr/>
          <p:nvPr/>
        </p:nvSpPr>
        <p:spPr>
          <a:xfrm>
            <a:off x="886968" y="2194560"/>
            <a:ext cx="4983480" cy="3200400"/>
          </a:xfrm>
          <a:prstGeom prst="rect">
            <a:avLst/>
          </a:prstGeom>
          <a:noFill/>
          <a:ln/>
        </p:spPr>
        <p:txBody>
          <a:bodyPr wrap="square" rtlCol="0" anchor="t"/>
          <a:lstStyle/>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Table with named columns</a:t>
            </a:r>
            <a:endParaRPr lang="en-US" sz="1300" dirty="0"/>
          </a:p>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Exec summary + risks + next actions</a:t>
            </a:r>
            <a:endParaRPr lang="en-US" sz="1300" dirty="0"/>
          </a:p>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Numbered steps</a:t>
            </a:r>
            <a:endParaRPr lang="en-US" sz="1300" dirty="0"/>
          </a:p>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"Return only the final answer, no preamble"</a:t>
            </a:r>
            <a:endParaRPr lang="en-US" sz="1300" dirty="0"/>
          </a:p>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JSON-like structure when a system reads it</a:t>
            </a:r>
            <a:endParaRPr lang="en-US" sz="1300" dirty="0"/>
          </a:p>
        </p:txBody>
      </p:sp>
      <p:sp>
        <p:nvSpPr>
          <p:cNvPr id="7" name="Shape 5"/>
          <p:cNvSpPr/>
          <p:nvPr/>
        </p:nvSpPr>
        <p:spPr>
          <a:xfrm>
            <a:off x="6355080" y="1554480"/>
            <a:ext cx="5486400" cy="4114800"/>
          </a:xfrm>
          <a:prstGeom prst="roundRect">
            <a:avLst>
              <a:gd name="adj" fmla="val 2000"/>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6248" y="1664208"/>
            <a:ext cx="512064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BJ'S EXAMPLE</a:t>
            </a:r>
            <a:endParaRPr lang="en-US" sz="900" dirty="0"/>
          </a:p>
        </p:txBody>
      </p:sp>
      <p:sp>
        <p:nvSpPr>
          <p:cNvPr id="9" name="Text 7"/>
          <p:cNvSpPr/>
          <p:nvPr/>
        </p:nvSpPr>
        <p:spPr>
          <a:xfrm>
            <a:off x="6583680" y="1938528"/>
            <a:ext cx="5029200" cy="360273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Return a table with columns:</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Item | Owner | Due date.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No intro text — table only.</a:t>
            </a:r>
            <a:endParaRPr lang="en-US" sz="1100" dirty="0"/>
          </a:p>
        </p:txBody>
      </p:sp>
      <p:sp>
        <p:nvSpPr>
          <p:cNvPr id="10" name="Text 8"/>
          <p:cNvSpPr/>
          <p:nvPr/>
        </p:nvSpPr>
        <p:spPr>
          <a:xfrm>
            <a:off x="566928" y="5806440"/>
            <a:ext cx="11055096" cy="320040"/>
          </a:xfrm>
          <a:prstGeom prst="rect">
            <a:avLst/>
          </a:prstGeom>
          <a:noFill/>
          <a:ln/>
        </p:spPr>
        <p:txBody>
          <a:bodyPr wrap="square" rtlCol="0" anchor="ctr"/>
          <a:lstStyle/>
          <a:p>
            <a:pPr indent="0" marL="0">
              <a:buNone/>
            </a:pPr>
            <a:r>
              <a:rPr lang="en-US" sz="1000" i="1" dirty="0">
                <a:solidFill>
                  <a:srgbClr val="5E6A78"/>
                </a:solidFill>
                <a:latin typeface="Arial" pitchFamily="34" charset="0"/>
                <a:ea typeface="Arial" pitchFamily="34" charset="-122"/>
                <a:cs typeface="Arial" pitchFamily="34" charset="-120"/>
              </a:rPr>
              <a:t>For guaranteed machine-readable output, Structured Outputs is the robust route (covered in M3b). Prefilling is now legacy on current models.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T1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Constraints as design tools</a:t>
            </a:r>
            <a:endParaRPr lang="en-US" sz="2700" dirty="0"/>
          </a:p>
        </p:txBody>
      </p:sp>
      <p:sp>
        <p:nvSpPr>
          <p:cNvPr id="4" name="Shape 2"/>
          <p:cNvSpPr/>
          <p:nvPr/>
        </p:nvSpPr>
        <p:spPr>
          <a:xfrm>
            <a:off x="566928" y="1554480"/>
            <a:ext cx="10469880" cy="1188720"/>
          </a:xfrm>
          <a:prstGeom prst="roundRect">
            <a:avLst>
              <a:gd name="adj" fmla="val 6923"/>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691640"/>
            <a:ext cx="10058400" cy="914400"/>
          </a:xfrm>
          <a:prstGeom prst="rect">
            <a:avLst/>
          </a:prstGeom>
          <a:noFill/>
          <a:ln/>
        </p:spPr>
        <p:txBody>
          <a:bodyPr wrap="square" rtlCol="0" anchor="ctr"/>
          <a:lstStyle/>
          <a:p>
            <a:pPr indent="0" marL="0">
              <a:lnSpc>
                <a:spcPts val="2000"/>
              </a:lnSpc>
              <a:buNone/>
            </a:pPr>
            <a:r>
              <a:rPr lang="en-US" sz="1450" b="1" dirty="0">
                <a:solidFill>
                  <a:srgbClr val="7E0A27"/>
                </a:solidFill>
                <a:latin typeface="Arial" pitchFamily="34" charset="0"/>
                <a:ea typeface="Arial" pitchFamily="34" charset="-122"/>
                <a:cs typeface="Arial" pitchFamily="34" charset="-120"/>
              </a:rPr>
              <a:t>Objective constraints beat vague adjectives. </a:t>
            </a:r>
            <a:pPr indent="0" marL="0">
              <a:lnSpc>
                <a:spcPts val="2000"/>
              </a:lnSpc>
              <a:buNone/>
            </a:pPr>
            <a:r>
              <a:rPr lang="en-US" sz="1450" i="1" dirty="0">
                <a:solidFill>
                  <a:srgbClr val="1F2733"/>
                </a:solidFill>
                <a:latin typeface="Arial" pitchFamily="34" charset="0"/>
                <a:ea typeface="Arial" pitchFamily="34" charset="-122"/>
                <a:cs typeface="Arial" pitchFamily="34" charset="-120"/>
              </a:rPr>
              <a:t>"Under 120 words, 6th-grade reading level" — not "keep it brief."</a:t>
            </a:r>
            <a:endParaRPr lang="en-US" sz="1450" dirty="0"/>
          </a:p>
        </p:txBody>
      </p:sp>
      <p:sp>
        <p:nvSpPr>
          <p:cNvPr id="6" name="Shape 4"/>
          <p:cNvSpPr/>
          <p:nvPr/>
        </p:nvSpPr>
        <p:spPr>
          <a:xfrm>
            <a:off x="566928" y="3017520"/>
            <a:ext cx="3471672" cy="914400"/>
          </a:xfrm>
          <a:prstGeom prst="roundRect">
            <a:avLst>
              <a:gd name="adj" fmla="val 9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795528" y="3017520"/>
            <a:ext cx="3014472" cy="914400"/>
          </a:xfrm>
          <a:prstGeom prst="rect">
            <a:avLst/>
          </a:prstGeom>
          <a:noFill/>
          <a:ln/>
        </p:spPr>
        <p:txBody>
          <a:bodyPr wrap="square" lIns="0" tIns="0" rIns="0" bIns="0" rtlCol="0" anchor="ctr"/>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Word / length limit</a:t>
            </a:r>
            <a:endParaRPr lang="en-US" sz="1350" dirty="0"/>
          </a:p>
        </p:txBody>
      </p:sp>
      <p:sp>
        <p:nvSpPr>
          <p:cNvPr id="8" name="Shape 6"/>
          <p:cNvSpPr/>
          <p:nvPr/>
        </p:nvSpPr>
        <p:spPr>
          <a:xfrm>
            <a:off x="4358640" y="3017520"/>
            <a:ext cx="3471672" cy="914400"/>
          </a:xfrm>
          <a:prstGeom prst="roundRect">
            <a:avLst>
              <a:gd name="adj" fmla="val 9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4587240" y="3017520"/>
            <a:ext cx="3014472" cy="914400"/>
          </a:xfrm>
          <a:prstGeom prst="rect">
            <a:avLst/>
          </a:prstGeom>
          <a:noFill/>
          <a:ln/>
        </p:spPr>
        <p:txBody>
          <a:bodyPr wrap="square" lIns="0" tIns="0" rIns="0" bIns="0" rtlCol="0" anchor="ctr"/>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Reading level</a:t>
            </a:r>
            <a:endParaRPr lang="en-US" sz="1350" dirty="0"/>
          </a:p>
        </p:txBody>
      </p:sp>
      <p:sp>
        <p:nvSpPr>
          <p:cNvPr id="10" name="Shape 8"/>
          <p:cNvSpPr/>
          <p:nvPr/>
        </p:nvSpPr>
        <p:spPr>
          <a:xfrm>
            <a:off x="8150352" y="3017520"/>
            <a:ext cx="3471672" cy="914400"/>
          </a:xfrm>
          <a:prstGeom prst="roundRect">
            <a:avLst>
              <a:gd name="adj" fmla="val 9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8378952" y="3017520"/>
            <a:ext cx="3014472" cy="914400"/>
          </a:xfrm>
          <a:prstGeom prst="rect">
            <a:avLst/>
          </a:prstGeom>
          <a:noFill/>
          <a:ln/>
        </p:spPr>
        <p:txBody>
          <a:bodyPr wrap="square" lIns="0" tIns="0" rIns="0" bIns="0" rtlCol="0" anchor="ctr"/>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Bullets only</a:t>
            </a:r>
            <a:endParaRPr lang="en-US" sz="1350" dirty="0"/>
          </a:p>
        </p:txBody>
      </p:sp>
      <p:sp>
        <p:nvSpPr>
          <p:cNvPr id="12" name="Shape 10"/>
          <p:cNvSpPr/>
          <p:nvPr/>
        </p:nvSpPr>
        <p:spPr>
          <a:xfrm>
            <a:off x="566928" y="4069080"/>
            <a:ext cx="3471672" cy="914400"/>
          </a:xfrm>
          <a:prstGeom prst="roundRect">
            <a:avLst>
              <a:gd name="adj" fmla="val 9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Text 11"/>
          <p:cNvSpPr/>
          <p:nvPr/>
        </p:nvSpPr>
        <p:spPr>
          <a:xfrm>
            <a:off x="795528" y="4069080"/>
            <a:ext cx="3014472" cy="914400"/>
          </a:xfrm>
          <a:prstGeom prst="rect">
            <a:avLst/>
          </a:prstGeom>
          <a:noFill/>
          <a:ln/>
        </p:spPr>
        <p:txBody>
          <a:bodyPr wrap="square" lIns="0" tIns="0" rIns="0" bIns="0" rtlCol="0" anchor="ctr"/>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No acronyms</a:t>
            </a:r>
            <a:endParaRPr lang="en-US" sz="1350" dirty="0"/>
          </a:p>
        </p:txBody>
      </p:sp>
      <p:sp>
        <p:nvSpPr>
          <p:cNvPr id="14" name="Shape 12"/>
          <p:cNvSpPr/>
          <p:nvPr/>
        </p:nvSpPr>
        <p:spPr>
          <a:xfrm>
            <a:off x="4358640" y="4069080"/>
            <a:ext cx="3471672" cy="914400"/>
          </a:xfrm>
          <a:prstGeom prst="roundRect">
            <a:avLst>
              <a:gd name="adj" fmla="val 9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Text 13"/>
          <p:cNvSpPr/>
          <p:nvPr/>
        </p:nvSpPr>
        <p:spPr>
          <a:xfrm>
            <a:off x="4587240" y="4069080"/>
            <a:ext cx="3014472" cy="914400"/>
          </a:xfrm>
          <a:prstGeom prst="rect">
            <a:avLst/>
          </a:prstGeom>
          <a:noFill/>
          <a:ln/>
        </p:spPr>
        <p:txBody>
          <a:bodyPr wrap="square" lIns="0" tIns="0" rIns="0" bIns="0" rtlCol="0" anchor="ctr"/>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No policy interpretation beyond source</a:t>
            </a:r>
            <a:endParaRPr lang="en-US" sz="1350" dirty="0"/>
          </a:p>
        </p:txBody>
      </p:sp>
      <p:sp>
        <p:nvSpPr>
          <p:cNvPr id="16" name="Shape 14"/>
          <p:cNvSpPr/>
          <p:nvPr/>
        </p:nvSpPr>
        <p:spPr>
          <a:xfrm>
            <a:off x="8150352" y="4069080"/>
            <a:ext cx="3471672" cy="914400"/>
          </a:xfrm>
          <a:prstGeom prst="roundRect">
            <a:avLst>
              <a:gd name="adj" fmla="val 9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8378952" y="4069080"/>
            <a:ext cx="3014472" cy="914400"/>
          </a:xfrm>
          <a:prstGeom prst="rect">
            <a:avLst/>
          </a:prstGeom>
          <a:noFill/>
          <a:ln/>
        </p:spPr>
        <p:txBody>
          <a:bodyPr wrap="square" lIns="0" tIns="0" rIns="0" bIns="0" rtlCol="0" anchor="ctr"/>
          <a:lstStyle/>
          <a:p>
            <a:pPr indent="0" marL="0">
              <a:lnSpc>
                <a:spcPts val="1600"/>
              </a:lnSpc>
              <a:buNone/>
            </a:pPr>
            <a:r>
              <a:rPr lang="en-US" sz="1350" b="1" dirty="0">
                <a:solidFill>
                  <a:srgbClr val="1F2733"/>
                </a:solidFill>
                <a:latin typeface="Arial" pitchFamily="34" charset="0"/>
                <a:ea typeface="Arial" pitchFamily="34" charset="-122"/>
                <a:cs typeface="Arial" pitchFamily="34" charset="-120"/>
              </a:rPr>
              <a:t>Include owner / action / date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9692640" y="-1645920"/>
            <a:ext cx="4937760" cy="4937760"/>
          </a:xfrm>
          <a:prstGeom prst="ellipse">
            <a:avLst/>
          </a:prstGeom>
          <a:solidFill>
            <a:srgbClr val="A60E34"/>
          </a:solidFill>
          <a:ln/>
        </p:spPr>
      </p:sp>
      <p:sp>
        <p:nvSpPr>
          <p:cNvPr id="3" name="Text 1"/>
          <p:cNvSpPr/>
          <p:nvPr/>
        </p:nvSpPr>
        <p:spPr>
          <a:xfrm>
            <a:off x="566928" y="914400"/>
            <a:ext cx="10058400" cy="365760"/>
          </a:xfrm>
          <a:prstGeom prst="rect">
            <a:avLst/>
          </a:prstGeom>
          <a:noFill/>
          <a:ln/>
        </p:spPr>
        <p:txBody>
          <a:bodyPr wrap="square" rtlCol="0" anchor="ctr"/>
          <a:lstStyle/>
          <a:p>
            <a:pPr indent="0" marL="0">
              <a:buNone/>
            </a:pPr>
            <a:r>
              <a:rPr lang="en-US" sz="1400" b="1" spc="300" kern="0" dirty="0">
                <a:solidFill>
                  <a:srgbClr val="F7B9C6"/>
                </a:solidFill>
                <a:latin typeface="Arial" pitchFamily="34" charset="0"/>
                <a:ea typeface="Arial" pitchFamily="34" charset="-122"/>
                <a:cs typeface="Arial" pitchFamily="34" charset="-120"/>
              </a:rPr>
              <a:t>TECHNIQUE 2</a:t>
            </a:r>
            <a:endParaRPr lang="en-US" sz="1400" dirty="0"/>
          </a:p>
        </p:txBody>
      </p:sp>
      <p:sp>
        <p:nvSpPr>
          <p:cNvPr id="4" name="Text 2"/>
          <p:cNvSpPr/>
          <p:nvPr/>
        </p:nvSpPr>
        <p:spPr>
          <a:xfrm>
            <a:off x="566928" y="1325880"/>
            <a:ext cx="10515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Role / System</a:t>
            </a:r>
            <a:endParaRPr lang="en-US" sz="3200" dirty="0"/>
          </a:p>
        </p:txBody>
      </p:sp>
      <p:sp>
        <p:nvSpPr>
          <p:cNvPr id="5" name="Text 3"/>
          <p:cNvSpPr/>
          <p:nvPr/>
        </p:nvSpPr>
        <p:spPr>
          <a:xfrm>
            <a:off x="566928" y="2103120"/>
            <a:ext cx="10241280" cy="457200"/>
          </a:xfrm>
          <a:prstGeom prst="rect">
            <a:avLst/>
          </a:prstGeom>
          <a:noFill/>
          <a:ln/>
        </p:spPr>
        <p:txBody>
          <a:bodyPr wrap="square" rtlCol="0" anchor="ctr"/>
          <a:lstStyle/>
          <a:p>
            <a:pPr indent="0" marL="0">
              <a:lnSpc>
                <a:spcPts val="2000"/>
              </a:lnSpc>
              <a:buNone/>
            </a:pPr>
            <a:r>
              <a:rPr lang="en-US" sz="1400" dirty="0">
                <a:solidFill>
                  <a:srgbClr val="F2D9DF"/>
                </a:solidFill>
                <a:latin typeface="Arial" pitchFamily="34" charset="0"/>
                <a:ea typeface="Arial" pitchFamily="34" charset="-122"/>
                <a:cs typeface="Arial" pitchFamily="34" charset="-120"/>
              </a:rPr>
              <a:t>Set who Claude is, for whom, and in what voice.</a:t>
            </a:r>
            <a:endParaRPr lang="en-US" sz="1400" dirty="0"/>
          </a:p>
        </p:txBody>
      </p:sp>
      <p:sp>
        <p:nvSpPr>
          <p:cNvPr id="6" name="Text 4"/>
          <p:cNvSpPr/>
          <p:nvPr/>
        </p:nvSpPr>
        <p:spPr>
          <a:xfrm>
            <a:off x="566928" y="2880360"/>
            <a:ext cx="10058400" cy="274320"/>
          </a:xfrm>
          <a:prstGeom prst="rect">
            <a:avLst/>
          </a:prstGeom>
          <a:noFill/>
          <a:ln/>
        </p:spPr>
        <p:txBody>
          <a:bodyPr wrap="square" rtlCol="0" anchor="ctr"/>
          <a:lstStyle/>
          <a:p>
            <a:pPr indent="0" marL="0">
              <a:buNone/>
            </a:pPr>
            <a:r>
              <a:rPr lang="en-US" sz="1050" b="1" spc="200" kern="0" dirty="0">
                <a:solidFill>
                  <a:srgbClr val="F7B9C6"/>
                </a:solidFill>
                <a:latin typeface="Arial" pitchFamily="34" charset="0"/>
                <a:ea typeface="Arial" pitchFamily="34" charset="-122"/>
                <a:cs typeface="Arial" pitchFamily="34" charset="-120"/>
              </a:rPr>
              <a:t>PATTERNS IN THIS SECTION</a:t>
            </a:r>
            <a:endParaRPr lang="en-US" sz="1050" dirty="0"/>
          </a:p>
        </p:txBody>
      </p:sp>
      <p:sp>
        <p:nvSpPr>
          <p:cNvPr id="7" name="Shape 5"/>
          <p:cNvSpPr/>
          <p:nvPr/>
        </p:nvSpPr>
        <p:spPr>
          <a:xfrm>
            <a:off x="566928" y="3246120"/>
            <a:ext cx="3502152"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49808" y="3392424"/>
            <a:ext cx="3136392"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Standing instructions</a:t>
            </a:r>
            <a:endParaRPr lang="en-US" sz="1300" dirty="0"/>
          </a:p>
        </p:txBody>
      </p:sp>
      <p:sp>
        <p:nvSpPr>
          <p:cNvPr id="9" name="Text 7"/>
          <p:cNvSpPr/>
          <p:nvPr/>
        </p:nvSpPr>
        <p:spPr>
          <a:xfrm>
            <a:off x="749808" y="3749040"/>
            <a:ext cx="3136392"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Profile · Project · Skills</a:t>
            </a:r>
            <a:endParaRPr lang="en-US" sz="1050" dirty="0"/>
          </a:p>
        </p:txBody>
      </p:sp>
      <p:sp>
        <p:nvSpPr>
          <p:cNvPr id="10" name="Shape 8"/>
          <p:cNvSpPr/>
          <p:nvPr/>
        </p:nvSpPr>
        <p:spPr>
          <a:xfrm>
            <a:off x="4343400" y="3246120"/>
            <a:ext cx="3502152"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4526280" y="3392424"/>
            <a:ext cx="3136392"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Audience transformation</a:t>
            </a:r>
            <a:endParaRPr lang="en-US" sz="1300" dirty="0"/>
          </a:p>
        </p:txBody>
      </p:sp>
      <p:sp>
        <p:nvSpPr>
          <p:cNvPr id="12" name="Text 10"/>
          <p:cNvSpPr/>
          <p:nvPr/>
        </p:nvSpPr>
        <p:spPr>
          <a:xfrm>
            <a:off x="4526280" y="3749040"/>
            <a:ext cx="3136392"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Same source, new audience</a:t>
            </a:r>
            <a:endParaRPr lang="en-US" sz="1050" dirty="0"/>
          </a:p>
        </p:txBody>
      </p:sp>
      <p:sp>
        <p:nvSpPr>
          <p:cNvPr id="13" name="Shape 11"/>
          <p:cNvSpPr/>
          <p:nvPr/>
        </p:nvSpPr>
        <p:spPr>
          <a:xfrm>
            <a:off x="8119872" y="3246120"/>
            <a:ext cx="3502152"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8302752" y="3392424"/>
            <a:ext cx="3136392"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Tone calibration</a:t>
            </a:r>
            <a:endParaRPr lang="en-US" sz="1300" dirty="0"/>
          </a:p>
        </p:txBody>
      </p:sp>
      <p:sp>
        <p:nvSpPr>
          <p:cNvPr id="15" name="Text 13"/>
          <p:cNvSpPr/>
          <p:nvPr/>
        </p:nvSpPr>
        <p:spPr>
          <a:xfrm>
            <a:off x="8302752" y="3749040"/>
            <a:ext cx="3136392"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Anchors, not adjectives</a:t>
            </a:r>
            <a:endParaRPr lang="en-US" sz="1050" dirty="0"/>
          </a:p>
        </p:txBody>
      </p:sp>
      <p:sp>
        <p:nvSpPr>
          <p:cNvPr id="16" name="Text 14"/>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T2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Standing instructions — set the role once</a:t>
            </a:r>
            <a:endParaRPr lang="en-US" sz="2700" dirty="0"/>
          </a:p>
        </p:txBody>
      </p:sp>
      <p:sp>
        <p:nvSpPr>
          <p:cNvPr id="4" name="Shape 2"/>
          <p:cNvSpPr/>
          <p:nvPr/>
        </p:nvSpPr>
        <p:spPr>
          <a:xfrm>
            <a:off x="566928" y="1600200"/>
            <a:ext cx="3441192" cy="3200400"/>
          </a:xfrm>
          <a:prstGeom prst="roundRect">
            <a:avLst>
              <a:gd name="adj" fmla="val 2571"/>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841248" y="1874520"/>
            <a:ext cx="475488" cy="475488"/>
          </a:xfrm>
          <a:prstGeom prst="ellipse">
            <a:avLst/>
          </a:prstGeom>
          <a:solidFill>
            <a:srgbClr val="D31242"/>
          </a:solidFill>
          <a:ln/>
        </p:spPr>
      </p:sp>
      <p:sp>
        <p:nvSpPr>
          <p:cNvPr id="6" name="Text 4"/>
          <p:cNvSpPr/>
          <p:nvPr/>
        </p:nvSpPr>
        <p:spPr>
          <a:xfrm>
            <a:off x="841248" y="1874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35608" y="1892808"/>
            <a:ext cx="2435352" cy="457200"/>
          </a:xfrm>
          <a:prstGeom prst="rect">
            <a:avLst/>
          </a:prstGeom>
          <a:noFill/>
          <a:ln/>
        </p:spPr>
        <p:txBody>
          <a:bodyPr wrap="square" lIns="0" tIns="0" rIns="0" bIns="0" rtlCol="0" anchor="ctr"/>
          <a:lstStyle/>
          <a:p>
            <a:pPr indent="0" marL="0">
              <a:buNone/>
            </a:pPr>
            <a:r>
              <a:rPr lang="en-US" sz="1550" b="1" dirty="0">
                <a:solidFill>
                  <a:srgbClr val="D31242"/>
                </a:solidFill>
                <a:latin typeface="Arial" pitchFamily="34" charset="0"/>
                <a:ea typeface="Arial" pitchFamily="34" charset="-122"/>
                <a:cs typeface="Arial" pitchFamily="34" charset="-120"/>
              </a:rPr>
              <a:t>Profile</a:t>
            </a:r>
            <a:endParaRPr lang="en-US" sz="1550" dirty="0"/>
          </a:p>
        </p:txBody>
      </p:sp>
      <p:sp>
        <p:nvSpPr>
          <p:cNvPr id="8" name="Text 6"/>
          <p:cNvSpPr/>
          <p:nvPr/>
        </p:nvSpPr>
        <p:spPr>
          <a:xfrm>
            <a:off x="841248" y="2514600"/>
            <a:ext cx="2892552" cy="274320"/>
          </a:xfrm>
          <a:prstGeom prst="rect">
            <a:avLst/>
          </a:prstGeom>
          <a:noFill/>
          <a:ln/>
        </p:spPr>
        <p:txBody>
          <a:bodyPr wrap="square" rtlCol="0" anchor="ctr"/>
          <a:lstStyle/>
          <a:p>
            <a:pPr indent="0" marL="0">
              <a:buNone/>
            </a:pPr>
            <a:r>
              <a:rPr lang="en-US" sz="1000" b="1" spc="130" kern="0" dirty="0">
                <a:solidFill>
                  <a:srgbClr val="5E6A78"/>
                </a:solidFill>
                <a:latin typeface="Arial" pitchFamily="34" charset="0"/>
                <a:ea typeface="Arial" pitchFamily="34" charset="-122"/>
                <a:cs typeface="Arial" pitchFamily="34" charset="-120"/>
              </a:rPr>
              <a:t>ACCOUNT-WIDE</a:t>
            </a:r>
            <a:endParaRPr lang="en-US" sz="1000" dirty="0"/>
          </a:p>
        </p:txBody>
      </p:sp>
      <p:sp>
        <p:nvSpPr>
          <p:cNvPr id="9" name="Text 7"/>
          <p:cNvSpPr/>
          <p:nvPr/>
        </p:nvSpPr>
        <p:spPr>
          <a:xfrm>
            <a:off x="841248" y="2834640"/>
            <a:ext cx="2892552" cy="182880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Settings → Profile / 'Instructions for Claude.' Your name, role, how you like answers — applies to every chat.</a:t>
            </a:r>
            <a:endParaRPr lang="en-US" sz="1200" dirty="0"/>
          </a:p>
        </p:txBody>
      </p:sp>
      <p:sp>
        <p:nvSpPr>
          <p:cNvPr id="10" name="Shape 8"/>
          <p:cNvSpPr/>
          <p:nvPr/>
        </p:nvSpPr>
        <p:spPr>
          <a:xfrm>
            <a:off x="4373880" y="1600200"/>
            <a:ext cx="3441192" cy="3200400"/>
          </a:xfrm>
          <a:prstGeom prst="roundRect">
            <a:avLst>
              <a:gd name="adj" fmla="val 2571"/>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Shape 9"/>
          <p:cNvSpPr/>
          <p:nvPr/>
        </p:nvSpPr>
        <p:spPr>
          <a:xfrm>
            <a:off x="4648200" y="1874520"/>
            <a:ext cx="475488" cy="475488"/>
          </a:xfrm>
          <a:prstGeom prst="ellipse">
            <a:avLst/>
          </a:prstGeom>
          <a:solidFill>
            <a:srgbClr val="D31242"/>
          </a:solidFill>
          <a:ln/>
        </p:spPr>
      </p:sp>
      <p:sp>
        <p:nvSpPr>
          <p:cNvPr id="12" name="Text 10"/>
          <p:cNvSpPr/>
          <p:nvPr/>
        </p:nvSpPr>
        <p:spPr>
          <a:xfrm>
            <a:off x="4648200" y="1874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5242560" y="1892808"/>
            <a:ext cx="2435352" cy="457200"/>
          </a:xfrm>
          <a:prstGeom prst="rect">
            <a:avLst/>
          </a:prstGeom>
          <a:noFill/>
          <a:ln/>
        </p:spPr>
        <p:txBody>
          <a:bodyPr wrap="square" lIns="0" tIns="0" rIns="0" bIns="0" rtlCol="0" anchor="ctr"/>
          <a:lstStyle/>
          <a:p>
            <a:pPr indent="0" marL="0">
              <a:buNone/>
            </a:pPr>
            <a:r>
              <a:rPr lang="en-US" sz="1550" b="1" dirty="0">
                <a:solidFill>
                  <a:srgbClr val="D31242"/>
                </a:solidFill>
                <a:latin typeface="Arial" pitchFamily="34" charset="0"/>
                <a:ea typeface="Arial" pitchFamily="34" charset="-122"/>
                <a:cs typeface="Arial" pitchFamily="34" charset="-120"/>
              </a:rPr>
              <a:t>Project instructions</a:t>
            </a:r>
            <a:endParaRPr lang="en-US" sz="1550" dirty="0"/>
          </a:p>
        </p:txBody>
      </p:sp>
      <p:sp>
        <p:nvSpPr>
          <p:cNvPr id="14" name="Text 12"/>
          <p:cNvSpPr/>
          <p:nvPr/>
        </p:nvSpPr>
        <p:spPr>
          <a:xfrm>
            <a:off x="4648200" y="2514600"/>
            <a:ext cx="2892552" cy="274320"/>
          </a:xfrm>
          <a:prstGeom prst="rect">
            <a:avLst/>
          </a:prstGeom>
          <a:noFill/>
          <a:ln/>
        </p:spPr>
        <p:txBody>
          <a:bodyPr wrap="square" rtlCol="0" anchor="ctr"/>
          <a:lstStyle/>
          <a:p>
            <a:pPr indent="0" marL="0">
              <a:buNone/>
            </a:pPr>
            <a:r>
              <a:rPr lang="en-US" sz="1000" b="1" spc="130" kern="0" dirty="0">
                <a:solidFill>
                  <a:srgbClr val="5E6A78"/>
                </a:solidFill>
                <a:latin typeface="Arial" pitchFamily="34" charset="0"/>
                <a:ea typeface="Arial" pitchFamily="34" charset="-122"/>
                <a:cs typeface="Arial" pitchFamily="34" charset="-120"/>
              </a:rPr>
              <a:t>PER WORKSTREAM</a:t>
            </a:r>
            <a:endParaRPr lang="en-US" sz="1000" dirty="0"/>
          </a:p>
        </p:txBody>
      </p:sp>
      <p:sp>
        <p:nvSpPr>
          <p:cNvPr id="15" name="Text 13"/>
          <p:cNvSpPr/>
          <p:nvPr/>
        </p:nvSpPr>
        <p:spPr>
          <a:xfrm>
            <a:off x="4648200" y="2834640"/>
            <a:ext cx="2892552" cy="182880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Standing context for one body of work, e.g. a 'Club Comms' project.</a:t>
            </a:r>
            <a:endParaRPr lang="en-US" sz="1200" dirty="0"/>
          </a:p>
        </p:txBody>
      </p:sp>
      <p:sp>
        <p:nvSpPr>
          <p:cNvPr id="16" name="Shape 14"/>
          <p:cNvSpPr/>
          <p:nvPr/>
        </p:nvSpPr>
        <p:spPr>
          <a:xfrm>
            <a:off x="8180832" y="1600200"/>
            <a:ext cx="3441192" cy="3200400"/>
          </a:xfrm>
          <a:prstGeom prst="roundRect">
            <a:avLst>
              <a:gd name="adj" fmla="val 2571"/>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Shape 15"/>
          <p:cNvSpPr/>
          <p:nvPr/>
        </p:nvSpPr>
        <p:spPr>
          <a:xfrm>
            <a:off x="8455152" y="1874520"/>
            <a:ext cx="475488" cy="475488"/>
          </a:xfrm>
          <a:prstGeom prst="ellipse">
            <a:avLst/>
          </a:prstGeom>
          <a:solidFill>
            <a:srgbClr val="D31242"/>
          </a:solidFill>
          <a:ln/>
        </p:spPr>
      </p:sp>
      <p:sp>
        <p:nvSpPr>
          <p:cNvPr id="18" name="Text 16"/>
          <p:cNvSpPr/>
          <p:nvPr/>
        </p:nvSpPr>
        <p:spPr>
          <a:xfrm>
            <a:off x="8455152" y="18745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9049512" y="1892808"/>
            <a:ext cx="2435352" cy="457200"/>
          </a:xfrm>
          <a:prstGeom prst="rect">
            <a:avLst/>
          </a:prstGeom>
          <a:noFill/>
          <a:ln/>
        </p:spPr>
        <p:txBody>
          <a:bodyPr wrap="square" lIns="0" tIns="0" rIns="0" bIns="0" rtlCol="0" anchor="ctr"/>
          <a:lstStyle/>
          <a:p>
            <a:pPr indent="0" marL="0">
              <a:buNone/>
            </a:pPr>
            <a:r>
              <a:rPr lang="en-US" sz="1550" b="1" dirty="0">
                <a:solidFill>
                  <a:srgbClr val="D31242"/>
                </a:solidFill>
                <a:latin typeface="Arial" pitchFamily="34" charset="0"/>
                <a:ea typeface="Arial" pitchFamily="34" charset="-122"/>
                <a:cs typeface="Arial" pitchFamily="34" charset="-120"/>
              </a:rPr>
              <a:t>Skills</a:t>
            </a:r>
            <a:endParaRPr lang="en-US" sz="1550" dirty="0"/>
          </a:p>
        </p:txBody>
      </p:sp>
      <p:sp>
        <p:nvSpPr>
          <p:cNvPr id="20" name="Text 18"/>
          <p:cNvSpPr/>
          <p:nvPr/>
        </p:nvSpPr>
        <p:spPr>
          <a:xfrm>
            <a:off x="8455152" y="2514600"/>
            <a:ext cx="2892552" cy="274320"/>
          </a:xfrm>
          <a:prstGeom prst="rect">
            <a:avLst/>
          </a:prstGeom>
          <a:noFill/>
          <a:ln/>
        </p:spPr>
        <p:txBody>
          <a:bodyPr wrap="square" rtlCol="0" anchor="ctr"/>
          <a:lstStyle/>
          <a:p>
            <a:pPr indent="0" marL="0">
              <a:buNone/>
            </a:pPr>
            <a:r>
              <a:rPr lang="en-US" sz="1000" b="1" spc="130" kern="0" dirty="0">
                <a:solidFill>
                  <a:srgbClr val="5E6A78"/>
                </a:solidFill>
                <a:latin typeface="Arial" pitchFamily="34" charset="0"/>
                <a:ea typeface="Arial" pitchFamily="34" charset="-122"/>
                <a:cs typeface="Arial" pitchFamily="34" charset="-120"/>
              </a:rPr>
              <a:t>REUSABLE BEHAVIOR</a:t>
            </a:r>
            <a:endParaRPr lang="en-US" sz="1000" dirty="0"/>
          </a:p>
        </p:txBody>
      </p:sp>
      <p:sp>
        <p:nvSpPr>
          <p:cNvPr id="21" name="Text 19"/>
          <p:cNvSpPr/>
          <p:nvPr/>
        </p:nvSpPr>
        <p:spPr>
          <a:xfrm>
            <a:off x="8455152" y="2834640"/>
            <a:ext cx="2892552" cy="182880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Package a voice/format as a Skill and switch it on. (Styles are migrating into Skills.)</a:t>
            </a:r>
            <a:endParaRPr lang="en-US" sz="1200" dirty="0"/>
          </a:p>
        </p:txBody>
      </p:sp>
      <p:sp>
        <p:nvSpPr>
          <p:cNvPr id="22" name="Text 20"/>
          <p:cNvSpPr/>
          <p:nvPr/>
        </p:nvSpPr>
        <p:spPr>
          <a:xfrm>
            <a:off x="566928" y="5029200"/>
            <a:ext cx="11055096" cy="548640"/>
          </a:xfrm>
          <a:prstGeom prst="rect">
            <a:avLst/>
          </a:prstGeom>
          <a:noFill/>
          <a:ln/>
        </p:spPr>
        <p:txBody>
          <a:bodyPr wrap="square" rtlCol="0" anchor="ctr"/>
          <a:lstStyle/>
          <a:p>
            <a:pPr indent="0" marL="0">
              <a:lnSpc>
                <a:spcPts val="1400"/>
              </a:lnSpc>
              <a:buNone/>
            </a:pPr>
            <a:r>
              <a:rPr lang="en-US" sz="1100" i="1" dirty="0">
                <a:solidFill>
                  <a:srgbClr val="5E6A78"/>
                </a:solidFill>
                <a:latin typeface="Arial" pitchFamily="34" charset="0"/>
                <a:ea typeface="Arial" pitchFamily="34" charset="-122"/>
                <a:cs typeface="Arial" pitchFamily="34" charset="-120"/>
              </a:rPr>
              <a:t>Verified June 2026: Anthropic is moving Styles into Skills — the Styles menu is going away. Set persistent voice/rules via Profile, a Project, or a Skill. Developers use the API 'system' parameter.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T2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Audience transformation — one source, many versions</a:t>
            </a:r>
            <a:endParaRPr lang="en-US" sz="2700" dirty="0"/>
          </a:p>
        </p:txBody>
      </p:sp>
      <p:sp>
        <p:nvSpPr>
          <p:cNvPr id="4" name="Shape 2"/>
          <p:cNvSpPr/>
          <p:nvPr/>
        </p:nvSpPr>
        <p:spPr>
          <a:xfrm>
            <a:off x="566928" y="1554480"/>
            <a:ext cx="5486400" cy="4114800"/>
          </a:xfrm>
          <a:prstGeom prst="roundRect">
            <a:avLst>
              <a:gd name="adj" fmla="val 2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41148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Same facts, different reader</a:t>
            </a:r>
            <a:endParaRPr lang="en-US" sz="1550" dirty="0"/>
          </a:p>
        </p:txBody>
      </p:sp>
      <p:sp>
        <p:nvSpPr>
          <p:cNvPr id="6" name="Text 4"/>
          <p:cNvSpPr/>
          <p:nvPr/>
        </p:nvSpPr>
        <p:spPr>
          <a:xfrm>
            <a:off x="841248" y="2194560"/>
            <a:ext cx="4983480" cy="320040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Hold the source constant and change the audience block. The model reshapes tone, length, and emphasis for each reader.</a:t>
            </a:r>
            <a:endParaRPr lang="en-US" sz="1350" dirty="0"/>
          </a:p>
          <a:p>
            <a:pPr indent="0" marL="0">
              <a:lnSpc>
                <a:spcPts val="1900"/>
              </a:lnSpc>
              <a:buNone/>
            </a:pPr>
            <a:endParaRPr lang="en-US" sz="1350" dirty="0"/>
          </a:p>
          <a:p>
            <a:pPr indent="0" marL="0">
              <a:lnSpc>
                <a:spcPts val="1900"/>
              </a:lnSpc>
              <a:buNone/>
            </a:pPr>
            <a:r>
              <a:rPr lang="en-US" sz="1350" b="1" dirty="0">
                <a:solidFill>
                  <a:srgbClr val="D31242"/>
                </a:solidFill>
                <a:latin typeface="Arial" pitchFamily="34" charset="0"/>
                <a:ea typeface="Arial" pitchFamily="34" charset="-122"/>
                <a:cs typeface="Arial" pitchFamily="34" charset="-120"/>
              </a:rPr>
              <a:t>When to use: </a:t>
            </a:r>
            <a:pPr indent="0" marL="0">
              <a:lnSpc>
                <a:spcPts val="1900"/>
              </a:lnSpc>
              <a:buNone/>
            </a:pPr>
            <a:r>
              <a:rPr lang="en-US" sz="1350" dirty="0">
                <a:solidFill>
                  <a:srgbClr val="3A4452"/>
                </a:solidFill>
                <a:latin typeface="Arial" pitchFamily="34" charset="0"/>
                <a:ea typeface="Arial" pitchFamily="34" charset="-122"/>
                <a:cs typeface="Arial" pitchFamily="34" charset="-120"/>
              </a:rPr>
              <a:t>cascading one update to associates, managers, members, and leadership.</a:t>
            </a:r>
            <a:endParaRPr lang="en-US" sz="1350" dirty="0"/>
          </a:p>
        </p:txBody>
      </p:sp>
      <p:sp>
        <p:nvSpPr>
          <p:cNvPr id="7" name="Shape 5"/>
          <p:cNvSpPr/>
          <p:nvPr/>
        </p:nvSpPr>
        <p:spPr>
          <a:xfrm>
            <a:off x="6355080" y="1554480"/>
            <a:ext cx="5486400" cy="4114800"/>
          </a:xfrm>
          <a:prstGeom prst="roundRect">
            <a:avLst>
              <a:gd name="adj" fmla="val 2000"/>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6248" y="1664208"/>
            <a:ext cx="512064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BJ'S EXAMPLE</a:t>
            </a:r>
            <a:endParaRPr lang="en-US" sz="900" dirty="0"/>
          </a:p>
        </p:txBody>
      </p:sp>
      <p:sp>
        <p:nvSpPr>
          <p:cNvPr id="9" name="Text 7"/>
          <p:cNvSpPr/>
          <p:nvPr/>
        </p:nvSpPr>
        <p:spPr>
          <a:xfrm>
            <a:off x="6583680" y="1938528"/>
            <a:ext cx="5029200" cy="360273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Using the same &lt;bulletin&gt;, write: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1) a warm note for associates</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2) talking points for managers</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3) a 3-line summary for leadership</a:t>
            </a:r>
            <a:endParaRPr lang="en-US" sz="1100" dirty="0"/>
          </a:p>
          <a:p>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Keep each to its own audience's</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tone and length.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T2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Tone calibration — anchors, not adjectives</a:t>
            </a:r>
            <a:endParaRPr lang="en-US" sz="2700" dirty="0"/>
          </a:p>
        </p:txBody>
      </p:sp>
      <p:sp>
        <p:nvSpPr>
          <p:cNvPr id="4" name="Shape 2"/>
          <p:cNvSpPr/>
          <p:nvPr/>
        </p:nvSpPr>
        <p:spPr>
          <a:xfrm>
            <a:off x="566928" y="1554480"/>
            <a:ext cx="5486400" cy="4114800"/>
          </a:xfrm>
          <a:prstGeom prst="roundRect">
            <a:avLst>
              <a:gd name="adj" fmla="val 2000"/>
            </a:avLst>
          </a:prstGeom>
          <a:solidFill>
            <a:srgbClr val="FDEC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365760"/>
          </a:xfrm>
          <a:prstGeom prst="rect">
            <a:avLst/>
          </a:prstGeom>
          <a:noFill/>
          <a:ln/>
        </p:spPr>
        <p:txBody>
          <a:bodyPr wrap="square" rtlCol="0" anchor="ctr"/>
          <a:lstStyle/>
          <a:p>
            <a:pPr indent="0" marL="0">
              <a:buNone/>
            </a:pPr>
            <a:r>
              <a:rPr lang="en-US" sz="1300" b="1" spc="100" kern="0" dirty="0">
                <a:solidFill>
                  <a:srgbClr val="B91C1C"/>
                </a:solidFill>
                <a:latin typeface="Arial" pitchFamily="34" charset="0"/>
                <a:ea typeface="Arial" pitchFamily="34" charset="-122"/>
                <a:cs typeface="Arial" pitchFamily="34" charset="-120"/>
              </a:rPr>
              <a:t>Vague</a:t>
            </a:r>
            <a:endParaRPr lang="en-US" sz="1300" dirty="0"/>
          </a:p>
        </p:txBody>
      </p:sp>
      <p:sp>
        <p:nvSpPr>
          <p:cNvPr id="6" name="Text 4"/>
          <p:cNvSpPr/>
          <p:nvPr/>
        </p:nvSpPr>
        <p:spPr>
          <a:xfrm>
            <a:off x="841248" y="2194560"/>
            <a:ext cx="4983480" cy="731520"/>
          </a:xfrm>
          <a:prstGeom prst="rect">
            <a:avLst/>
          </a:prstGeom>
          <a:noFill/>
          <a:ln/>
        </p:spPr>
        <p:txBody>
          <a:bodyPr wrap="square" rtlCol="0" anchor="ctr"/>
          <a:lstStyle/>
          <a:p>
            <a:pPr indent="0" marL="0">
              <a:lnSpc>
                <a:spcPts val="1900"/>
              </a:lnSpc>
              <a:buNone/>
            </a:pPr>
            <a:r>
              <a:rPr lang="en-US" sz="1400" i="1" dirty="0">
                <a:solidFill>
                  <a:srgbClr val="1F2733"/>
                </a:solidFill>
                <a:latin typeface="Arial" pitchFamily="34" charset="0"/>
                <a:ea typeface="Arial" pitchFamily="34" charset="-122"/>
                <a:cs typeface="Arial" pitchFamily="34" charset="-120"/>
              </a:rPr>
              <a:t>"Make it professional."  "Sound friendly."</a:t>
            </a:r>
            <a:endParaRPr lang="en-US" sz="1400" dirty="0"/>
          </a:p>
        </p:txBody>
      </p:sp>
      <p:sp>
        <p:nvSpPr>
          <p:cNvPr id="7" name="Text 5"/>
          <p:cNvSpPr/>
          <p:nvPr/>
        </p:nvSpPr>
        <p:spPr>
          <a:xfrm>
            <a:off x="841248" y="3017520"/>
            <a:ext cx="4983480" cy="914400"/>
          </a:xfrm>
          <a:prstGeom prst="rect">
            <a:avLst/>
          </a:prstGeom>
          <a:noFill/>
          <a:ln/>
        </p:spPr>
        <p:txBody>
          <a:bodyPr wrap="square" rtlCol="0" anchor="ctr"/>
          <a:lstStyle/>
          <a:p>
            <a:pPr indent="0" marL="0">
              <a:lnSpc>
                <a:spcPts val="1700"/>
              </a:lnSpc>
              <a:buNone/>
            </a:pPr>
            <a:r>
              <a:rPr lang="en-US" sz="1250" dirty="0">
                <a:solidFill>
                  <a:srgbClr val="3A4452"/>
                </a:solidFill>
                <a:latin typeface="Arial" pitchFamily="34" charset="0"/>
                <a:ea typeface="Arial" pitchFamily="34" charset="-122"/>
                <a:cs typeface="Arial" pitchFamily="34" charset="-120"/>
              </a:rPr>
              <a:t>Means different things to different people — Claude has to guess.</a:t>
            </a:r>
            <a:endParaRPr lang="en-US" sz="1250" dirty="0"/>
          </a:p>
        </p:txBody>
      </p:sp>
      <p:sp>
        <p:nvSpPr>
          <p:cNvPr id="8" name="Shape 6"/>
          <p:cNvSpPr/>
          <p:nvPr/>
        </p:nvSpPr>
        <p:spPr>
          <a:xfrm>
            <a:off x="6355080" y="1554480"/>
            <a:ext cx="5486400" cy="4114800"/>
          </a:xfrm>
          <a:prstGeom prst="roundRect">
            <a:avLst>
              <a:gd name="adj" fmla="val 2000"/>
            </a:avLst>
          </a:prstGeom>
          <a:solidFill>
            <a:srgbClr val="EAF6EE"/>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6629400" y="1783080"/>
            <a:ext cx="4937760" cy="365760"/>
          </a:xfrm>
          <a:prstGeom prst="rect">
            <a:avLst/>
          </a:prstGeom>
          <a:noFill/>
          <a:ln/>
        </p:spPr>
        <p:txBody>
          <a:bodyPr wrap="square" rtlCol="0" anchor="ctr"/>
          <a:lstStyle/>
          <a:p>
            <a:pPr indent="0" marL="0">
              <a:buNone/>
            </a:pPr>
            <a:r>
              <a:rPr lang="en-US" sz="1300" b="1" spc="100" kern="0" dirty="0">
                <a:solidFill>
                  <a:srgbClr val="15803D"/>
                </a:solidFill>
                <a:latin typeface="Arial" pitchFamily="34" charset="0"/>
                <a:ea typeface="Arial" pitchFamily="34" charset="-122"/>
                <a:cs typeface="Arial" pitchFamily="34" charset="-120"/>
              </a:rPr>
              <a:t>Anchored</a:t>
            </a:r>
            <a:endParaRPr lang="en-US" sz="1300" dirty="0"/>
          </a:p>
        </p:txBody>
      </p:sp>
      <p:sp>
        <p:nvSpPr>
          <p:cNvPr id="10" name="Text 8"/>
          <p:cNvSpPr/>
          <p:nvPr/>
        </p:nvSpPr>
        <p:spPr>
          <a:xfrm>
            <a:off x="6675120" y="2194560"/>
            <a:ext cx="4937760" cy="2286000"/>
          </a:xfrm>
          <a:prstGeom prst="rect">
            <a:avLst/>
          </a:prstGeom>
          <a:noFill/>
          <a:ln/>
        </p:spPr>
        <p:txBody>
          <a:bodyPr wrap="square" rtlCol="0" anchor="t"/>
          <a:lstStyle/>
          <a:p>
            <a:pPr marL="342900" indent="-342900">
              <a:lnSpc>
                <a:spcPts val="2000"/>
              </a:lnSpc>
              <a:buSzPct val="100000"/>
              <a:buChar char="•"/>
            </a:pPr>
            <a:r>
              <a:rPr lang="en-US" sz="1350" dirty="0">
                <a:solidFill>
                  <a:srgbClr val="1F2733"/>
                </a:solidFill>
                <a:latin typeface="Arial" pitchFamily="34" charset="0"/>
                <a:ea typeface="Arial" pitchFamily="34" charset="-122"/>
                <a:cs typeface="Arial" pitchFamily="34" charset="-120"/>
              </a:rPr>
              <a:t>plain English</a:t>
            </a:r>
            <a:endParaRPr lang="en-US" sz="1350" dirty="0"/>
          </a:p>
          <a:p>
            <a:pPr marL="342900" indent="-342900">
              <a:lnSpc>
                <a:spcPts val="2000"/>
              </a:lnSpc>
              <a:buSzPct val="100000"/>
              <a:buChar char="•"/>
            </a:pPr>
            <a:r>
              <a:rPr lang="en-US" sz="1350" dirty="0">
                <a:solidFill>
                  <a:srgbClr val="1F2733"/>
                </a:solidFill>
                <a:latin typeface="Arial" pitchFamily="34" charset="0"/>
                <a:ea typeface="Arial" pitchFamily="34" charset="-122"/>
                <a:cs typeface="Arial" pitchFamily="34" charset="-120"/>
              </a:rPr>
              <a:t>warm but concise</a:t>
            </a:r>
            <a:endParaRPr lang="en-US" sz="1350" dirty="0"/>
          </a:p>
          <a:p>
            <a:pPr marL="342900" indent="-342900">
              <a:lnSpc>
                <a:spcPts val="2000"/>
              </a:lnSpc>
              <a:buSzPct val="100000"/>
              <a:buChar char="•"/>
            </a:pPr>
            <a:r>
              <a:rPr lang="en-US" sz="1350" dirty="0">
                <a:solidFill>
                  <a:srgbClr val="1F2733"/>
                </a:solidFill>
                <a:latin typeface="Arial" pitchFamily="34" charset="0"/>
                <a:ea typeface="Arial" pitchFamily="34" charset="-122"/>
                <a:cs typeface="Arial" pitchFamily="34" charset="-120"/>
              </a:rPr>
              <a:t>no jargon</a:t>
            </a:r>
            <a:endParaRPr lang="en-US" sz="1350" dirty="0"/>
          </a:p>
          <a:p>
            <a:pPr marL="342900" indent="-342900">
              <a:lnSpc>
                <a:spcPts val="2000"/>
              </a:lnSpc>
              <a:buSzPct val="100000"/>
              <a:buChar char="•"/>
            </a:pPr>
            <a:r>
              <a:rPr lang="en-US" sz="1350" dirty="0">
                <a:solidFill>
                  <a:srgbClr val="1F2733"/>
                </a:solidFill>
                <a:latin typeface="Arial" pitchFamily="34" charset="0"/>
                <a:ea typeface="Arial" pitchFamily="34" charset="-122"/>
                <a:cs typeface="Arial" pitchFamily="34" charset="-120"/>
              </a:rPr>
              <a:t>action-oriented</a:t>
            </a:r>
            <a:endParaRPr lang="en-US" sz="1350" dirty="0"/>
          </a:p>
          <a:p>
            <a:pPr marL="342900" indent="-342900">
              <a:lnSpc>
                <a:spcPts val="2000"/>
              </a:lnSpc>
              <a:buSzPct val="100000"/>
              <a:buChar char="•"/>
            </a:pPr>
            <a:r>
              <a:rPr lang="en-US" sz="1350" dirty="0">
                <a:solidFill>
                  <a:srgbClr val="1F2733"/>
                </a:solidFill>
                <a:latin typeface="Arial" pitchFamily="34" charset="0"/>
                <a:ea typeface="Arial" pitchFamily="34" charset="-122"/>
                <a:cs typeface="Arial" pitchFamily="34" charset="-120"/>
              </a:rPr>
              <a:t>associate-first / leadership-ready</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9692640" y="-1645920"/>
            <a:ext cx="4937760" cy="4937760"/>
          </a:xfrm>
          <a:prstGeom prst="ellipse">
            <a:avLst/>
          </a:prstGeom>
          <a:solidFill>
            <a:srgbClr val="A60E34"/>
          </a:solidFill>
          <a:ln/>
        </p:spPr>
      </p:sp>
      <p:sp>
        <p:nvSpPr>
          <p:cNvPr id="3" name="Text 1"/>
          <p:cNvSpPr/>
          <p:nvPr/>
        </p:nvSpPr>
        <p:spPr>
          <a:xfrm>
            <a:off x="566928" y="914400"/>
            <a:ext cx="10058400" cy="365760"/>
          </a:xfrm>
          <a:prstGeom prst="rect">
            <a:avLst/>
          </a:prstGeom>
          <a:noFill/>
          <a:ln/>
        </p:spPr>
        <p:txBody>
          <a:bodyPr wrap="square" rtlCol="0" anchor="ctr"/>
          <a:lstStyle/>
          <a:p>
            <a:pPr indent="0" marL="0">
              <a:buNone/>
            </a:pPr>
            <a:r>
              <a:rPr lang="en-US" sz="1400" b="1" spc="300" kern="0" dirty="0">
                <a:solidFill>
                  <a:srgbClr val="F7B9C6"/>
                </a:solidFill>
                <a:latin typeface="Arial" pitchFamily="34" charset="0"/>
                <a:ea typeface="Arial" pitchFamily="34" charset="-122"/>
                <a:cs typeface="Arial" pitchFamily="34" charset="-120"/>
              </a:rPr>
              <a:t>TECHNIQUE 3</a:t>
            </a:r>
            <a:endParaRPr lang="en-US" sz="1400" dirty="0"/>
          </a:p>
        </p:txBody>
      </p:sp>
      <p:sp>
        <p:nvSpPr>
          <p:cNvPr id="4" name="Text 2"/>
          <p:cNvSpPr/>
          <p:nvPr/>
        </p:nvSpPr>
        <p:spPr>
          <a:xfrm>
            <a:off x="566928" y="1325880"/>
            <a:ext cx="10515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XML Tags</a:t>
            </a:r>
            <a:endParaRPr lang="en-US" sz="3200" dirty="0"/>
          </a:p>
        </p:txBody>
      </p:sp>
      <p:sp>
        <p:nvSpPr>
          <p:cNvPr id="5" name="Text 3"/>
          <p:cNvSpPr/>
          <p:nvPr/>
        </p:nvSpPr>
        <p:spPr>
          <a:xfrm>
            <a:off x="566928" y="2103120"/>
            <a:ext cx="10241280" cy="457200"/>
          </a:xfrm>
          <a:prstGeom prst="rect">
            <a:avLst/>
          </a:prstGeom>
          <a:noFill/>
          <a:ln/>
        </p:spPr>
        <p:txBody>
          <a:bodyPr wrap="square" rtlCol="0" anchor="ctr"/>
          <a:lstStyle/>
          <a:p>
            <a:pPr indent="0" marL="0">
              <a:lnSpc>
                <a:spcPts val="2000"/>
              </a:lnSpc>
              <a:buNone/>
            </a:pPr>
            <a:r>
              <a:rPr lang="en-US" sz="1400" dirty="0">
                <a:solidFill>
                  <a:srgbClr val="F2D9DF"/>
                </a:solidFill>
                <a:latin typeface="Arial" pitchFamily="34" charset="0"/>
                <a:ea typeface="Arial" pitchFamily="34" charset="-122"/>
                <a:cs typeface="Arial" pitchFamily="34" charset="-120"/>
              </a:rPr>
              <a:t>Cleanly separate the source block from the instructions.</a:t>
            </a:r>
            <a:endParaRPr lang="en-US" sz="1400" dirty="0"/>
          </a:p>
        </p:txBody>
      </p:sp>
      <p:sp>
        <p:nvSpPr>
          <p:cNvPr id="6" name="Text 4"/>
          <p:cNvSpPr/>
          <p:nvPr/>
        </p:nvSpPr>
        <p:spPr>
          <a:xfrm>
            <a:off x="566928" y="2880360"/>
            <a:ext cx="10058400" cy="274320"/>
          </a:xfrm>
          <a:prstGeom prst="rect">
            <a:avLst/>
          </a:prstGeom>
          <a:noFill/>
          <a:ln/>
        </p:spPr>
        <p:txBody>
          <a:bodyPr wrap="square" rtlCol="0" anchor="ctr"/>
          <a:lstStyle/>
          <a:p>
            <a:pPr indent="0" marL="0">
              <a:buNone/>
            </a:pPr>
            <a:r>
              <a:rPr lang="en-US" sz="1050" b="1" spc="200" kern="0" dirty="0">
                <a:solidFill>
                  <a:srgbClr val="F7B9C6"/>
                </a:solidFill>
                <a:latin typeface="Arial" pitchFamily="34" charset="0"/>
                <a:ea typeface="Arial" pitchFamily="34" charset="-122"/>
                <a:cs typeface="Arial" pitchFamily="34" charset="-120"/>
              </a:rPr>
              <a:t>PATTERNS IN THIS SECTION</a:t>
            </a:r>
            <a:endParaRPr lang="en-US" sz="1050" dirty="0"/>
          </a:p>
        </p:txBody>
      </p:sp>
      <p:sp>
        <p:nvSpPr>
          <p:cNvPr id="7" name="Shape 5"/>
          <p:cNvSpPr/>
          <p:nvPr/>
        </p:nvSpPr>
        <p:spPr>
          <a:xfrm>
            <a:off x="566928"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49808"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Source separation</a:t>
            </a:r>
            <a:endParaRPr lang="en-US" sz="1300" dirty="0"/>
          </a:p>
        </p:txBody>
      </p:sp>
      <p:sp>
        <p:nvSpPr>
          <p:cNvPr id="9" name="Text 7"/>
          <p:cNvSpPr/>
          <p:nvPr/>
        </p:nvSpPr>
        <p:spPr>
          <a:xfrm>
            <a:off x="749808"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Wrap pasted content</a:t>
            </a:r>
            <a:endParaRPr lang="en-US" sz="1050" dirty="0"/>
          </a:p>
        </p:txBody>
      </p:sp>
      <p:sp>
        <p:nvSpPr>
          <p:cNvPr id="10" name="Shape 8"/>
          <p:cNvSpPr/>
          <p:nvPr/>
        </p:nvSpPr>
        <p:spPr>
          <a:xfrm>
            <a:off x="3399282"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3582162"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Multi-doc + output tags</a:t>
            </a:r>
            <a:endParaRPr lang="en-US" sz="1300" dirty="0"/>
          </a:p>
        </p:txBody>
      </p:sp>
      <p:sp>
        <p:nvSpPr>
          <p:cNvPr id="12" name="Text 10"/>
          <p:cNvSpPr/>
          <p:nvPr/>
        </p:nvSpPr>
        <p:spPr>
          <a:xfrm>
            <a:off x="3582162"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Compare cleanly; tag the answer</a:t>
            </a:r>
            <a:endParaRPr lang="en-US" sz="1050" dirty="0"/>
          </a:p>
        </p:txBody>
      </p:sp>
      <p:sp>
        <p:nvSpPr>
          <p:cNvPr id="13" name="Shape 11"/>
          <p:cNvSpPr/>
          <p:nvPr/>
        </p:nvSpPr>
        <p:spPr>
          <a:xfrm>
            <a:off x="6231636"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6414516"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Reusable blocks</a:t>
            </a:r>
            <a:endParaRPr lang="en-US" sz="1300" dirty="0"/>
          </a:p>
        </p:txBody>
      </p:sp>
      <p:sp>
        <p:nvSpPr>
          <p:cNvPr id="15" name="Text 13"/>
          <p:cNvSpPr/>
          <p:nvPr/>
        </p:nvSpPr>
        <p:spPr>
          <a:xfrm>
            <a:off x="6414516"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Swappable prompt parts</a:t>
            </a:r>
            <a:endParaRPr lang="en-US" sz="1050" dirty="0"/>
          </a:p>
        </p:txBody>
      </p:sp>
      <p:sp>
        <p:nvSpPr>
          <p:cNvPr id="16" name="Shape 14"/>
          <p:cNvSpPr/>
          <p:nvPr/>
        </p:nvSpPr>
        <p:spPr>
          <a:xfrm>
            <a:off x="9063990"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9246870"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Spotlighting</a:t>
            </a:r>
            <a:endParaRPr lang="en-US" sz="1300" dirty="0"/>
          </a:p>
        </p:txBody>
      </p:sp>
      <p:sp>
        <p:nvSpPr>
          <p:cNvPr id="18" name="Text 16"/>
          <p:cNvSpPr/>
          <p:nvPr/>
        </p:nvSpPr>
        <p:spPr>
          <a:xfrm>
            <a:off x="9246870"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Mark untrusted input</a:t>
            </a:r>
            <a:endParaRPr lang="en-US" sz="1050" dirty="0"/>
          </a:p>
        </p:txBody>
      </p:sp>
      <p:sp>
        <p:nvSpPr>
          <p:cNvPr id="19" name="Text 17"/>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T3 · PATTERN (BUILT UP)</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Source separation — assemble it step by step</a:t>
            </a:r>
            <a:endParaRPr lang="en-US" sz="2700" dirty="0"/>
          </a:p>
        </p:txBody>
      </p:sp>
      <p:sp>
        <p:nvSpPr>
          <p:cNvPr id="4" name="Shape 2"/>
          <p:cNvSpPr/>
          <p:nvPr/>
        </p:nvSpPr>
        <p:spPr>
          <a:xfrm>
            <a:off x="566928" y="1508760"/>
            <a:ext cx="3520440" cy="4206240"/>
          </a:xfrm>
          <a:prstGeom prst="roundRect">
            <a:avLst>
              <a:gd name="adj" fmla="val 2338"/>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68096" y="1618488"/>
            <a:ext cx="315468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STEP 1 — ROLE</a:t>
            </a:r>
            <a:endParaRPr lang="en-US" sz="900" dirty="0"/>
          </a:p>
        </p:txBody>
      </p:sp>
      <p:sp>
        <p:nvSpPr>
          <p:cNvPr id="6" name="Text 4"/>
          <p:cNvSpPr/>
          <p:nvPr/>
        </p:nvSpPr>
        <p:spPr>
          <a:xfrm>
            <a:off x="795528" y="1892808"/>
            <a:ext cx="3063240" cy="369417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You are a BJ's HR writer.</a:t>
            </a:r>
            <a:endParaRPr lang="en-US" sz="1100" dirty="0"/>
          </a:p>
        </p:txBody>
      </p:sp>
      <p:sp>
        <p:nvSpPr>
          <p:cNvPr id="7" name="Shape 5"/>
          <p:cNvSpPr/>
          <p:nvPr/>
        </p:nvSpPr>
        <p:spPr>
          <a:xfrm>
            <a:off x="4251960" y="1508760"/>
            <a:ext cx="3520440" cy="4206240"/>
          </a:xfrm>
          <a:prstGeom prst="roundRect">
            <a:avLst>
              <a:gd name="adj" fmla="val 2338"/>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4453128" y="1618488"/>
            <a:ext cx="315468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STEP 2 — ADD TAGGED SOURCE</a:t>
            </a:r>
            <a:endParaRPr lang="en-US" sz="900" dirty="0"/>
          </a:p>
        </p:txBody>
      </p:sp>
      <p:sp>
        <p:nvSpPr>
          <p:cNvPr id="9" name="Text 7"/>
          <p:cNvSpPr/>
          <p:nvPr/>
        </p:nvSpPr>
        <p:spPr>
          <a:xfrm>
            <a:off x="4480560" y="1892808"/>
            <a:ext cx="3063240" cy="369417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You are a BJ's HR writer.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&lt;policy&gt;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[paste policy text]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&lt;/policy&gt;</a:t>
            </a:r>
            <a:endParaRPr lang="en-US" sz="1100" dirty="0"/>
          </a:p>
        </p:txBody>
      </p:sp>
      <p:sp>
        <p:nvSpPr>
          <p:cNvPr id="10" name="Shape 8"/>
          <p:cNvSpPr/>
          <p:nvPr/>
        </p:nvSpPr>
        <p:spPr>
          <a:xfrm>
            <a:off x="7909560" y="1508760"/>
            <a:ext cx="3703320" cy="4206240"/>
          </a:xfrm>
          <a:prstGeom prst="roundRect">
            <a:avLst>
              <a:gd name="adj" fmla="val 2222"/>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8110728" y="1618488"/>
            <a:ext cx="333756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STEP 3 — ADD THE TASK</a:t>
            </a:r>
            <a:endParaRPr lang="en-US" sz="900" dirty="0"/>
          </a:p>
        </p:txBody>
      </p:sp>
      <p:sp>
        <p:nvSpPr>
          <p:cNvPr id="12" name="Text 10"/>
          <p:cNvSpPr/>
          <p:nvPr/>
        </p:nvSpPr>
        <p:spPr>
          <a:xfrm>
            <a:off x="8138160" y="1892808"/>
            <a:ext cx="3246120" cy="369417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You are a BJ's HR writer.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&lt;policy&gt;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[paste policy text]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&lt;/policy&gt;</a:t>
            </a:r>
            <a:pPr algn="l" indent="0" marL="0">
              <a:lnSpc>
                <a:spcPts val="1500"/>
              </a:lnSpc>
              <a:buNone/>
            </a:pPr>
            <a:endParaRPr lang="en-US" sz="1100" dirty="0"/>
          </a:p>
          <a:p>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Summarize the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&lt;policy&gt;</a:t>
            </a:r>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above in 5 plain-English</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bullets for associates.</a:t>
            </a:r>
            <a:endParaRPr lang="en-US" sz="1100" dirty="0"/>
          </a:p>
        </p:txBody>
      </p:sp>
      <p:sp>
        <p:nvSpPr>
          <p:cNvPr id="13" name="Text 11"/>
          <p:cNvSpPr/>
          <p:nvPr/>
        </p:nvSpPr>
        <p:spPr>
          <a:xfrm>
            <a:off x="566928" y="5852160"/>
            <a:ext cx="11055096" cy="365760"/>
          </a:xfrm>
          <a:prstGeom prst="rect">
            <a:avLst/>
          </a:prstGeom>
          <a:noFill/>
          <a:ln/>
        </p:spPr>
        <p:txBody>
          <a:bodyPr wrap="square" rtlCol="0" anchor="ctr"/>
          <a:lstStyle/>
          <a:p>
            <a:pPr algn="ctr" indent="0" marL="0">
              <a:buNone/>
            </a:pPr>
            <a:r>
              <a:rPr lang="en-US" sz="1200" i="1" dirty="0">
                <a:solidFill>
                  <a:srgbClr val="5E6A78"/>
                </a:solidFill>
                <a:latin typeface="Arial" pitchFamily="34" charset="0"/>
                <a:ea typeface="Arial" pitchFamily="34" charset="-122"/>
                <a:cs typeface="Arial" pitchFamily="34" charset="-120"/>
              </a:rPr>
              <a:t>Build prompts the same way you'd teach them — one block at a time. The tag makes it unmistakable where the data ends and the instruction begins.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T3 · PATTERNS</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Multi-document tagging + output tagging</a:t>
            </a:r>
            <a:endParaRPr lang="en-US" sz="2700" dirty="0"/>
          </a:p>
        </p:txBody>
      </p:sp>
      <p:sp>
        <p:nvSpPr>
          <p:cNvPr id="4" name="Shape 2"/>
          <p:cNvSpPr/>
          <p:nvPr/>
        </p:nvSpPr>
        <p:spPr>
          <a:xfrm>
            <a:off x="566928" y="1554480"/>
            <a:ext cx="6766560" cy="4114800"/>
          </a:xfrm>
          <a:prstGeom prst="roundRect">
            <a:avLst>
              <a:gd name="adj" fmla="val 2000"/>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68096" y="1664208"/>
            <a:ext cx="640080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PROMPT</a:t>
            </a:r>
            <a:endParaRPr lang="en-US" sz="900" dirty="0"/>
          </a:p>
        </p:txBody>
      </p:sp>
      <p:sp>
        <p:nvSpPr>
          <p:cNvPr id="6" name="Text 4"/>
          <p:cNvSpPr/>
          <p:nvPr/>
        </p:nvSpPr>
        <p:spPr>
          <a:xfrm>
            <a:off x="795528" y="1938528"/>
            <a:ext cx="6309360" cy="360273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You are a BJ's merchandising analyst.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&lt;vendor_a&gt;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[proposal A]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&lt;/vendor_a&gt;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&lt;vendor_b&gt;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[proposal B]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&lt;/vendor_b&gt;</a:t>
            </a:r>
            <a:pPr algn="l" indent="0" marL="0">
              <a:lnSpc>
                <a:spcPts val="1500"/>
              </a:lnSpc>
              <a:buNone/>
            </a:pPr>
            <a:endParaRPr lang="en-US" sz="1100" dirty="0"/>
          </a:p>
          <a:p>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Compare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&lt;vendor_a&gt;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and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&lt;vendor_b&gt;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in a</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table: Price | Lead time | Terms.</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Put the pick in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&lt;recommendation&gt;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tags.</a:t>
            </a:r>
            <a:endParaRPr lang="en-US" sz="1100" dirty="0"/>
          </a:p>
        </p:txBody>
      </p:sp>
      <p:sp>
        <p:nvSpPr>
          <p:cNvPr id="7" name="Shape 5"/>
          <p:cNvSpPr/>
          <p:nvPr/>
        </p:nvSpPr>
        <p:spPr>
          <a:xfrm>
            <a:off x="7589520" y="1554480"/>
            <a:ext cx="4023360" cy="4114800"/>
          </a:xfrm>
          <a:prstGeom prst="roundRect">
            <a:avLst>
              <a:gd name="adj" fmla="val 2045"/>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818120" y="1783080"/>
            <a:ext cx="3566160" cy="365760"/>
          </a:xfrm>
          <a:prstGeom prst="rect">
            <a:avLst/>
          </a:prstGeom>
          <a:noFill/>
          <a:ln/>
        </p:spPr>
        <p:txBody>
          <a:bodyPr wrap="square" rtlCol="0" anchor="ctr"/>
          <a:lstStyle/>
          <a:p>
            <a:pPr indent="0" marL="0">
              <a:buNone/>
            </a:pPr>
            <a:r>
              <a:rPr lang="en-US" sz="1450" b="1" dirty="0">
                <a:solidFill>
                  <a:srgbClr val="D31242"/>
                </a:solidFill>
                <a:latin typeface="Arial" pitchFamily="34" charset="0"/>
                <a:ea typeface="Arial" pitchFamily="34" charset="-122"/>
                <a:cs typeface="Arial" pitchFamily="34" charset="-120"/>
              </a:rPr>
              <a:t>Why it works</a:t>
            </a:r>
            <a:endParaRPr lang="en-US" sz="1450" dirty="0"/>
          </a:p>
        </p:txBody>
      </p:sp>
      <p:sp>
        <p:nvSpPr>
          <p:cNvPr id="9" name="Text 7"/>
          <p:cNvSpPr/>
          <p:nvPr/>
        </p:nvSpPr>
        <p:spPr>
          <a:xfrm>
            <a:off x="7818120" y="2194560"/>
            <a:ext cx="3566160" cy="3291840"/>
          </a:xfrm>
          <a:prstGeom prst="rect">
            <a:avLst/>
          </a:prstGeom>
          <a:noFill/>
          <a:ln/>
        </p:spPr>
        <p:txBody>
          <a:bodyPr wrap="square" rtlCol="0" anchor="t"/>
          <a:lstStyle/>
          <a:p>
            <a:pPr marL="342900" indent="-342900">
              <a:lnSpc>
                <a:spcPts val="1800"/>
              </a:lnSpc>
              <a:buSzPct val="100000"/>
              <a:buChar char="•"/>
            </a:pPr>
            <a:r>
              <a:rPr lang="en-US" sz="1250" dirty="0">
                <a:solidFill>
                  <a:srgbClr val="3A4452"/>
                </a:solidFill>
                <a:latin typeface="Arial" pitchFamily="34" charset="0"/>
                <a:ea typeface="Arial" pitchFamily="34" charset="-122"/>
                <a:cs typeface="Arial" pitchFamily="34" charset="-120"/>
              </a:rPr>
              <a:t>Two sources stay separate</a:t>
            </a:r>
            <a:endParaRPr lang="en-US" sz="1250" dirty="0"/>
          </a:p>
          <a:p>
            <a:pPr marL="342900" indent="-342900">
              <a:lnSpc>
                <a:spcPts val="1800"/>
              </a:lnSpc>
              <a:buSzPct val="100000"/>
              <a:buChar char="•"/>
            </a:pPr>
            <a:r>
              <a:rPr lang="en-US" sz="1250" dirty="0">
                <a:solidFill>
                  <a:srgbClr val="3A4452"/>
                </a:solidFill>
                <a:latin typeface="Arial" pitchFamily="34" charset="0"/>
                <a:ea typeface="Arial" pitchFamily="34" charset="-122"/>
                <a:cs typeface="Arial" pitchFamily="34" charset="-120"/>
              </a:rPr>
              <a:t>Claude knows exactly what to compare</a:t>
            </a:r>
            <a:endParaRPr lang="en-US" sz="1250" dirty="0"/>
          </a:p>
          <a:p>
            <a:pPr marL="342900" indent="-342900">
              <a:lnSpc>
                <a:spcPts val="1800"/>
              </a:lnSpc>
              <a:buSzPct val="100000"/>
              <a:buChar char="•"/>
            </a:pPr>
            <a:r>
              <a:rPr lang="en-US" sz="1250" dirty="0">
                <a:solidFill>
                  <a:srgbClr val="3A4452"/>
                </a:solidFill>
                <a:latin typeface="Arial" pitchFamily="34" charset="0"/>
                <a:ea typeface="Arial" pitchFamily="34" charset="-122"/>
                <a:cs typeface="Arial" pitchFamily="34" charset="-120"/>
              </a:rPr>
              <a:t>The recommendation is easy to lift out</a:t>
            </a:r>
            <a:endParaRPr lang="en-US" sz="1250" dirty="0"/>
          </a:p>
          <a:p>
            <a:pPr marL="342900" indent="-342900">
              <a:lnSpc>
                <a:spcPts val="1800"/>
              </a:lnSpc>
              <a:buSzPct val="100000"/>
              <a:buChar char="•"/>
            </a:pPr>
            <a:r>
              <a:rPr lang="en-US" sz="1250" dirty="0">
                <a:solidFill>
                  <a:srgbClr val="3A4452"/>
                </a:solidFill>
                <a:latin typeface="Arial" pitchFamily="34" charset="0"/>
                <a:ea typeface="Arial" pitchFamily="34" charset="-122"/>
                <a:cs typeface="Arial" pitchFamily="34" charset="-120"/>
              </a:rPr>
              <a:t>Long inputs paste in without confusion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T3 · PATTERNS</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Reusable blocks + spotlighting</a:t>
            </a:r>
            <a:endParaRPr lang="en-US" sz="2700" dirty="0"/>
          </a:p>
        </p:txBody>
      </p:sp>
      <p:sp>
        <p:nvSpPr>
          <p:cNvPr id="4" name="Shape 2"/>
          <p:cNvSpPr/>
          <p:nvPr/>
        </p:nvSpPr>
        <p:spPr>
          <a:xfrm>
            <a:off x="566928" y="1600200"/>
            <a:ext cx="5486400" cy="4023360"/>
          </a:xfrm>
          <a:prstGeom prst="roundRect">
            <a:avLst>
              <a:gd name="adj" fmla="val 204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550" b="1" dirty="0">
                <a:solidFill>
                  <a:srgbClr val="D31242"/>
                </a:solidFill>
                <a:latin typeface="Arial" pitchFamily="34" charset="0"/>
                <a:ea typeface="Arial" pitchFamily="34" charset="-122"/>
                <a:cs typeface="Arial" pitchFamily="34" charset="-120"/>
              </a:rPr>
              <a:t>Reusable blocks</a:t>
            </a:r>
            <a:endParaRPr lang="en-US" sz="1550" dirty="0"/>
          </a:p>
        </p:txBody>
      </p:sp>
      <p:sp>
        <p:nvSpPr>
          <p:cNvPr id="6" name="Text 4"/>
          <p:cNvSpPr/>
          <p:nvPr/>
        </p:nvSpPr>
        <p:spPr>
          <a:xfrm>
            <a:off x="841248" y="2240280"/>
            <a:ext cx="4983480" cy="3200400"/>
          </a:xfrm>
          <a:prstGeom prst="rect">
            <a:avLst/>
          </a:prstGeom>
          <a:noFill/>
          <a:ln/>
        </p:spPr>
        <p:txBody>
          <a:bodyPr wrap="square" rtlCol="0" anchor="t"/>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Strong prompts are made of swappable parts: a role block, a source block, an output-format block, a success-criteria block, a fallback block. </a:t>
            </a:r>
            <a:pPr indent="0" marL="0">
              <a:lnSpc>
                <a:spcPts val="1800"/>
              </a:lnSpc>
              <a:buNone/>
            </a:pPr>
            <a:r>
              <a:rPr lang="en-US" sz="1300" b="1" dirty="0">
                <a:solidFill>
                  <a:srgbClr val="1F2733"/>
                </a:solidFill>
                <a:latin typeface="Arial" pitchFamily="34" charset="0"/>
                <a:ea typeface="Arial" pitchFamily="34" charset="-122"/>
                <a:cs typeface="Arial" pitchFamily="34" charset="-120"/>
              </a:rPr>
              <a:t>Mix and match them.</a:t>
            </a:r>
            <a:endParaRPr lang="en-US" sz="1300" dirty="0"/>
          </a:p>
          <a:p>
            <a:pPr indent="0" marL="0">
              <a:lnSpc>
                <a:spcPts val="1800"/>
              </a:lnSpc>
              <a:buNone/>
            </a:pPr>
            <a:endParaRPr lang="en-US" sz="1300" dirty="0"/>
          </a:p>
          <a:p>
            <a:pPr indent="0" marL="0">
              <a:lnSpc>
                <a:spcPts val="1800"/>
              </a:lnSpc>
              <a:buNone/>
            </a:pPr>
            <a:r>
              <a:rPr lang="en-US" sz="1300" i="1" dirty="0">
                <a:solidFill>
                  <a:srgbClr val="5E6A78"/>
                </a:solidFill>
                <a:latin typeface="Arial" pitchFamily="34" charset="0"/>
                <a:ea typeface="Arial" pitchFamily="34" charset="-122"/>
                <a:cs typeface="Arial" pitchFamily="34" charset="-120"/>
              </a:rPr>
              <a:t>(Full templates with variables come in M3b.)</a:t>
            </a:r>
            <a:endParaRPr lang="en-US" sz="1300" dirty="0"/>
          </a:p>
        </p:txBody>
      </p:sp>
      <p:sp>
        <p:nvSpPr>
          <p:cNvPr id="7" name="Shape 5"/>
          <p:cNvSpPr/>
          <p:nvPr/>
        </p:nvSpPr>
        <p:spPr>
          <a:xfrm>
            <a:off x="6355080" y="1600200"/>
            <a:ext cx="5486400" cy="4023360"/>
          </a:xfrm>
          <a:prstGeom prst="roundRect">
            <a:avLst>
              <a:gd name="adj" fmla="val 2045"/>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11480"/>
          </a:xfrm>
          <a:prstGeom prst="rect">
            <a:avLst/>
          </a:prstGeom>
          <a:noFill/>
          <a:ln/>
        </p:spPr>
        <p:txBody>
          <a:bodyPr wrap="square" rtlCol="0" anchor="ctr"/>
          <a:lstStyle/>
          <a:p>
            <a:pPr indent="0" marL="0">
              <a:buNone/>
            </a:pPr>
            <a:r>
              <a:rPr lang="en-US" sz="1550" b="1" dirty="0">
                <a:solidFill>
                  <a:srgbClr val="7E0A27"/>
                </a:solidFill>
                <a:latin typeface="Arial" pitchFamily="34" charset="0"/>
                <a:ea typeface="Arial" pitchFamily="34" charset="-122"/>
                <a:cs typeface="Arial" pitchFamily="34" charset="-120"/>
              </a:rPr>
              <a:t>Spotlighting untrusted input</a:t>
            </a:r>
            <a:endParaRPr lang="en-US" sz="1550" dirty="0"/>
          </a:p>
        </p:txBody>
      </p:sp>
      <p:sp>
        <p:nvSpPr>
          <p:cNvPr id="9" name="Text 7"/>
          <p:cNvSpPr/>
          <p:nvPr/>
        </p:nvSpPr>
        <p:spPr>
          <a:xfrm>
            <a:off x="6629400" y="2240280"/>
            <a:ext cx="4983480" cy="3200400"/>
          </a:xfrm>
          <a:prstGeom prst="rect">
            <a:avLst/>
          </a:prstGeom>
          <a:noFill/>
          <a:ln/>
        </p:spPr>
        <p:txBody>
          <a:bodyPr wrap="square" rtlCol="0" anchor="t"/>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When a prompt includes content you didn't write (a member email, a web snippet), </a:t>
            </a:r>
            <a:pPr indent="0" marL="0">
              <a:lnSpc>
                <a:spcPts val="1800"/>
              </a:lnSpc>
              <a:buNone/>
            </a:pPr>
            <a:r>
              <a:rPr lang="en-US" sz="1300" b="1" dirty="0">
                <a:solidFill>
                  <a:srgbClr val="1F2733"/>
                </a:solidFill>
                <a:latin typeface="Arial" pitchFamily="34" charset="0"/>
                <a:ea typeface="Arial" pitchFamily="34" charset="-122"/>
                <a:cs typeface="Arial" pitchFamily="34" charset="-120"/>
              </a:rPr>
              <a:t>mark it as data so Claude treats it as text — not as new instructions.</a:t>
            </a:r>
            <a:endParaRPr lang="en-US" sz="1300" dirty="0"/>
          </a:p>
          <a:p>
            <a:pPr indent="0" marL="0">
              <a:lnSpc>
                <a:spcPts val="1800"/>
              </a:lnSpc>
              <a:buNone/>
            </a:pPr>
            <a:endParaRPr lang="en-US" sz="1300" dirty="0"/>
          </a:p>
          <a:p>
            <a:pPr indent="0" marL="0">
              <a:lnSpc>
                <a:spcPts val="1800"/>
              </a:lnSpc>
              <a:buNone/>
            </a:pPr>
            <a:r>
              <a:rPr lang="en-US" sz="1300" dirty="0">
                <a:solidFill>
                  <a:srgbClr val="3A4452"/>
                </a:solidFill>
                <a:latin typeface="Arial" pitchFamily="34" charset="0"/>
                <a:ea typeface="Arial" pitchFamily="34" charset="-122"/>
                <a:cs typeface="Arial" pitchFamily="34" charset="-120"/>
              </a:rPr>
              <a:t>Tagging the source already does most of this. (More in the guardrails module.)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9692640" y="-1645920"/>
            <a:ext cx="4937760" cy="4937760"/>
          </a:xfrm>
          <a:prstGeom prst="ellipse">
            <a:avLst/>
          </a:prstGeom>
          <a:solidFill>
            <a:srgbClr val="A60E34"/>
          </a:solidFill>
          <a:ln/>
        </p:spPr>
      </p:sp>
      <p:sp>
        <p:nvSpPr>
          <p:cNvPr id="3" name="Text 1"/>
          <p:cNvSpPr/>
          <p:nvPr/>
        </p:nvSpPr>
        <p:spPr>
          <a:xfrm>
            <a:off x="566928" y="914400"/>
            <a:ext cx="10058400" cy="365760"/>
          </a:xfrm>
          <a:prstGeom prst="rect">
            <a:avLst/>
          </a:prstGeom>
          <a:noFill/>
          <a:ln/>
        </p:spPr>
        <p:txBody>
          <a:bodyPr wrap="square" rtlCol="0" anchor="ctr"/>
          <a:lstStyle/>
          <a:p>
            <a:pPr indent="0" marL="0">
              <a:buNone/>
            </a:pPr>
            <a:r>
              <a:rPr lang="en-US" sz="1400" b="1" spc="300" kern="0" dirty="0">
                <a:solidFill>
                  <a:srgbClr val="F7B9C6"/>
                </a:solidFill>
                <a:latin typeface="Arial" pitchFamily="34" charset="0"/>
                <a:ea typeface="Arial" pitchFamily="34" charset="-122"/>
                <a:cs typeface="Arial" pitchFamily="34" charset="-120"/>
              </a:rPr>
              <a:t>TECHNIQUE 4</a:t>
            </a:r>
            <a:endParaRPr lang="en-US" sz="1400" dirty="0"/>
          </a:p>
        </p:txBody>
      </p:sp>
      <p:sp>
        <p:nvSpPr>
          <p:cNvPr id="4" name="Text 2"/>
          <p:cNvSpPr/>
          <p:nvPr/>
        </p:nvSpPr>
        <p:spPr>
          <a:xfrm>
            <a:off x="566928" y="1325880"/>
            <a:ext cx="10515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Multishot Examples</a:t>
            </a:r>
            <a:endParaRPr lang="en-US" sz="3200" dirty="0"/>
          </a:p>
        </p:txBody>
      </p:sp>
      <p:sp>
        <p:nvSpPr>
          <p:cNvPr id="5" name="Text 3"/>
          <p:cNvSpPr/>
          <p:nvPr/>
        </p:nvSpPr>
        <p:spPr>
          <a:xfrm>
            <a:off x="566928" y="2103120"/>
            <a:ext cx="10241280" cy="457200"/>
          </a:xfrm>
          <a:prstGeom prst="rect">
            <a:avLst/>
          </a:prstGeom>
          <a:noFill/>
          <a:ln/>
        </p:spPr>
        <p:txBody>
          <a:bodyPr wrap="square" rtlCol="0" anchor="ctr"/>
          <a:lstStyle/>
          <a:p>
            <a:pPr indent="0" marL="0">
              <a:lnSpc>
                <a:spcPts val="2000"/>
              </a:lnSpc>
              <a:buNone/>
            </a:pPr>
            <a:r>
              <a:rPr lang="en-US" sz="1400" dirty="0">
                <a:solidFill>
                  <a:srgbClr val="F2D9DF"/>
                </a:solidFill>
                <a:latin typeface="Arial" pitchFamily="34" charset="0"/>
                <a:ea typeface="Arial" pitchFamily="34" charset="-122"/>
                <a:cs typeface="Arial" pitchFamily="34" charset="-120"/>
              </a:rPr>
              <a:t>Show the target in the instructions block.</a:t>
            </a:r>
            <a:endParaRPr lang="en-US" sz="1400" dirty="0"/>
          </a:p>
        </p:txBody>
      </p:sp>
      <p:sp>
        <p:nvSpPr>
          <p:cNvPr id="6" name="Text 4"/>
          <p:cNvSpPr/>
          <p:nvPr/>
        </p:nvSpPr>
        <p:spPr>
          <a:xfrm>
            <a:off x="566928" y="2880360"/>
            <a:ext cx="10058400" cy="274320"/>
          </a:xfrm>
          <a:prstGeom prst="rect">
            <a:avLst/>
          </a:prstGeom>
          <a:noFill/>
          <a:ln/>
        </p:spPr>
        <p:txBody>
          <a:bodyPr wrap="square" rtlCol="0" anchor="ctr"/>
          <a:lstStyle/>
          <a:p>
            <a:pPr indent="0" marL="0">
              <a:buNone/>
            </a:pPr>
            <a:r>
              <a:rPr lang="en-US" sz="1050" b="1" spc="200" kern="0" dirty="0">
                <a:solidFill>
                  <a:srgbClr val="F7B9C6"/>
                </a:solidFill>
                <a:latin typeface="Arial" pitchFamily="34" charset="0"/>
                <a:ea typeface="Arial" pitchFamily="34" charset="-122"/>
                <a:cs typeface="Arial" pitchFamily="34" charset="-120"/>
              </a:rPr>
              <a:t>PATTERNS IN THIS SECTION</a:t>
            </a:r>
            <a:endParaRPr lang="en-US" sz="1050" dirty="0"/>
          </a:p>
        </p:txBody>
      </p:sp>
      <p:sp>
        <p:nvSpPr>
          <p:cNvPr id="7" name="Shape 5"/>
          <p:cNvSpPr/>
          <p:nvPr/>
        </p:nvSpPr>
        <p:spPr>
          <a:xfrm>
            <a:off x="566928"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49808"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Good examples</a:t>
            </a:r>
            <a:endParaRPr lang="en-US" sz="1300" dirty="0"/>
          </a:p>
        </p:txBody>
      </p:sp>
      <p:sp>
        <p:nvSpPr>
          <p:cNvPr id="9" name="Text 7"/>
          <p:cNvSpPr/>
          <p:nvPr/>
        </p:nvSpPr>
        <p:spPr>
          <a:xfrm>
            <a:off x="749808"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3–5, relevant &amp; diverse</a:t>
            </a:r>
            <a:endParaRPr lang="en-US" sz="1050" dirty="0"/>
          </a:p>
        </p:txBody>
      </p:sp>
      <p:sp>
        <p:nvSpPr>
          <p:cNvPr id="10" name="Shape 8"/>
          <p:cNvSpPr/>
          <p:nvPr/>
        </p:nvSpPr>
        <p:spPr>
          <a:xfrm>
            <a:off x="3399282"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3582162"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Contrastive</a:t>
            </a:r>
            <a:endParaRPr lang="en-US" sz="1300" dirty="0"/>
          </a:p>
        </p:txBody>
      </p:sp>
      <p:sp>
        <p:nvSpPr>
          <p:cNvPr id="12" name="Text 10"/>
          <p:cNvSpPr/>
          <p:nvPr/>
        </p:nvSpPr>
        <p:spPr>
          <a:xfrm>
            <a:off x="3582162"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Good vs. labeled bad</a:t>
            </a:r>
            <a:endParaRPr lang="en-US" sz="1050" dirty="0"/>
          </a:p>
        </p:txBody>
      </p:sp>
      <p:sp>
        <p:nvSpPr>
          <p:cNvPr id="13" name="Shape 11"/>
          <p:cNvSpPr/>
          <p:nvPr/>
        </p:nvSpPr>
        <p:spPr>
          <a:xfrm>
            <a:off x="6231636"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6414516"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Selection &amp; ordering</a:t>
            </a:r>
            <a:endParaRPr lang="en-US" sz="1300" dirty="0"/>
          </a:p>
        </p:txBody>
      </p:sp>
      <p:sp>
        <p:nvSpPr>
          <p:cNvPr id="15" name="Text 13"/>
          <p:cNvSpPr/>
          <p:nvPr/>
        </p:nvSpPr>
        <p:spPr>
          <a:xfrm>
            <a:off x="6414516"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Pick well; mind order</a:t>
            </a:r>
            <a:endParaRPr lang="en-US" sz="1050" dirty="0"/>
          </a:p>
        </p:txBody>
      </p:sp>
      <p:sp>
        <p:nvSpPr>
          <p:cNvPr id="16" name="Shape 14"/>
          <p:cNvSpPr/>
          <p:nvPr/>
        </p:nvSpPr>
        <p:spPr>
          <a:xfrm>
            <a:off x="9063990"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9246870"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Quality checklist</a:t>
            </a:r>
            <a:endParaRPr lang="en-US" sz="1300" dirty="0"/>
          </a:p>
        </p:txBody>
      </p:sp>
      <p:sp>
        <p:nvSpPr>
          <p:cNvPr id="18" name="Text 16"/>
          <p:cNvSpPr/>
          <p:nvPr/>
        </p:nvSpPr>
        <p:spPr>
          <a:xfrm>
            <a:off x="9246870"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What makes an example good</a:t>
            </a:r>
            <a:endParaRPr lang="en-US" sz="1050" dirty="0"/>
          </a:p>
        </p:txBody>
      </p:sp>
      <p:sp>
        <p:nvSpPr>
          <p:cNvPr id="19" name="Text 17"/>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T4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Good examples + quality checklist</a:t>
            </a:r>
            <a:endParaRPr lang="en-US" sz="2700" dirty="0"/>
          </a:p>
        </p:txBody>
      </p:sp>
      <p:sp>
        <p:nvSpPr>
          <p:cNvPr id="4" name="Shape 2"/>
          <p:cNvSpPr/>
          <p:nvPr/>
        </p:nvSpPr>
        <p:spPr>
          <a:xfrm>
            <a:off x="566928" y="1554480"/>
            <a:ext cx="6400800" cy="4114800"/>
          </a:xfrm>
          <a:prstGeom prst="roundRect">
            <a:avLst>
              <a:gd name="adj" fmla="val 2000"/>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68096" y="1664208"/>
            <a:ext cx="603504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PROMPT</a:t>
            </a:r>
            <a:endParaRPr lang="en-US" sz="900" dirty="0"/>
          </a:p>
        </p:txBody>
      </p:sp>
      <p:sp>
        <p:nvSpPr>
          <p:cNvPr id="6" name="Text 4"/>
          <p:cNvSpPr/>
          <p:nvPr/>
        </p:nvSpPr>
        <p:spPr>
          <a:xfrm>
            <a:off x="795528" y="1938528"/>
            <a:ext cx="5943600" cy="360273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Write member FAQ answers in the
same warm, short style as this: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&lt;example&gt;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Q: Can I return without the box?
A: Yes! Bring the item and your
receipt to Member Services within
30 days and we'll take care of it.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&lt;/example&gt;</a:t>
            </a:r>
            <a:pPr algn="l" indent="0" marL="0">
              <a:lnSpc>
                <a:spcPts val="1500"/>
              </a:lnSpc>
              <a:buNone/>
            </a:pPr>
            <a:endParaRPr lang="en-US" sz="1100" dirty="0"/>
          </a:p>
          <a:p>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Now answer these: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&lt;questions&gt;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&lt;/questions&gt;</a:t>
            </a:r>
            <a:endParaRPr lang="en-US" sz="1100" dirty="0"/>
          </a:p>
        </p:txBody>
      </p:sp>
      <p:sp>
        <p:nvSpPr>
          <p:cNvPr id="7" name="Shape 5"/>
          <p:cNvSpPr/>
          <p:nvPr/>
        </p:nvSpPr>
        <p:spPr>
          <a:xfrm>
            <a:off x="7178040" y="1554480"/>
            <a:ext cx="4663440" cy="4114800"/>
          </a:xfrm>
          <a:prstGeom prst="roundRect">
            <a:avLst>
              <a:gd name="adj" fmla="val 2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406640" y="1783080"/>
            <a:ext cx="4206240" cy="411480"/>
          </a:xfrm>
          <a:prstGeom prst="rect">
            <a:avLst/>
          </a:prstGeom>
          <a:noFill/>
          <a:ln/>
        </p:spPr>
        <p:txBody>
          <a:bodyPr wrap="square" rtlCol="0" anchor="ctr"/>
          <a:lstStyle/>
          <a:p>
            <a:pPr indent="0" marL="0">
              <a:buNone/>
            </a:pPr>
            <a:r>
              <a:rPr lang="en-US" sz="1450" b="1" dirty="0">
                <a:solidFill>
                  <a:srgbClr val="D31242"/>
                </a:solidFill>
                <a:latin typeface="Arial" pitchFamily="34" charset="0"/>
                <a:ea typeface="Arial" pitchFamily="34" charset="-122"/>
                <a:cs typeface="Arial" pitchFamily="34" charset="-120"/>
              </a:rPr>
              <a:t>Example-quality checklist</a:t>
            </a:r>
            <a:endParaRPr lang="en-US" sz="1450" dirty="0"/>
          </a:p>
        </p:txBody>
      </p:sp>
      <p:sp>
        <p:nvSpPr>
          <p:cNvPr id="9" name="Text 7"/>
          <p:cNvSpPr/>
          <p:nvPr/>
        </p:nvSpPr>
        <p:spPr>
          <a:xfrm>
            <a:off x="7406640" y="2240280"/>
            <a:ext cx="4206240" cy="3200400"/>
          </a:xfrm>
          <a:prstGeom prst="rect">
            <a:avLst/>
          </a:prstGeom>
          <a:noFill/>
          <a:ln/>
        </p:spPr>
        <p:txBody>
          <a:bodyPr wrap="square" rtlCol="0" anchor="t"/>
          <a:lstStyle/>
          <a:p>
            <a:pPr indent="0" marL="0">
              <a:lnSpc>
                <a:spcPts val="2000"/>
              </a:lnSpc>
              <a:buNone/>
            </a:pPr>
            <a:r>
              <a:rPr lang="en-US" sz="1300" b="1" dirty="0">
                <a:solidFill>
                  <a:srgbClr val="1F2733"/>
                </a:solidFill>
                <a:latin typeface="Arial" pitchFamily="34" charset="0"/>
                <a:ea typeface="Arial" pitchFamily="34" charset="-122"/>
                <a:cs typeface="Arial" pitchFamily="34" charset="-120"/>
              </a:rPr>
              <a:t>Representative</a:t>
            </a:r>
            <a:pPr indent="0" marL="0">
              <a:lnSpc>
                <a:spcPts val="2000"/>
              </a:lnSpc>
              <a:buNone/>
            </a:pPr>
            <a:r>
              <a:rPr lang="en-US" sz="1300" dirty="0">
                <a:solidFill>
                  <a:srgbClr val="3A4452"/>
                </a:solidFill>
                <a:latin typeface="Arial" pitchFamily="34" charset="0"/>
                <a:ea typeface="Arial" pitchFamily="34" charset="-122"/>
                <a:cs typeface="Arial" pitchFamily="34" charset="-120"/>
              </a:rPr>
              <a:t> of real tasks</a:t>
            </a:r>
            <a:endParaRPr lang="en-US" sz="1300" dirty="0"/>
          </a:p>
          <a:p>
            <a:pPr indent="0" marL="0">
              <a:lnSpc>
                <a:spcPts val="2000"/>
              </a:lnSpc>
              <a:buNone/>
            </a:pPr>
            <a:r>
              <a:rPr lang="en-US" sz="1300" b="1" dirty="0">
                <a:solidFill>
                  <a:srgbClr val="1F2733"/>
                </a:solidFill>
                <a:latin typeface="Arial" pitchFamily="34" charset="0"/>
                <a:ea typeface="Arial" pitchFamily="34" charset="-122"/>
                <a:cs typeface="Arial" pitchFamily="34" charset="-120"/>
              </a:rPr>
              <a:t>Diverse</a:t>
            </a:r>
            <a:pPr indent="0" marL="0">
              <a:lnSpc>
                <a:spcPts val="2000"/>
              </a:lnSpc>
              <a:buNone/>
            </a:pPr>
            <a:r>
              <a:rPr lang="en-US" sz="1300" dirty="0">
                <a:solidFill>
                  <a:srgbClr val="3A4452"/>
                </a:solidFill>
                <a:latin typeface="Arial" pitchFamily="34" charset="0"/>
                <a:ea typeface="Arial" pitchFamily="34" charset="-122"/>
                <a:cs typeface="Arial" pitchFamily="34" charset="-120"/>
              </a:rPr>
              <a:t> enough to cover variety</a:t>
            </a:r>
            <a:endParaRPr lang="en-US" sz="1300" dirty="0"/>
          </a:p>
          <a:p>
            <a:pPr indent="0" marL="0">
              <a:lnSpc>
                <a:spcPts val="2000"/>
              </a:lnSpc>
              <a:buNone/>
            </a:pPr>
            <a:r>
              <a:rPr lang="en-US" sz="1300" b="1" dirty="0">
                <a:solidFill>
                  <a:srgbClr val="1F2733"/>
                </a:solidFill>
                <a:latin typeface="Arial" pitchFamily="34" charset="0"/>
                <a:ea typeface="Arial" pitchFamily="34" charset="-122"/>
                <a:cs typeface="Arial" pitchFamily="34" charset="-120"/>
              </a:rPr>
              <a:t>Wrapped in tags</a:t>
            </a:r>
            <a:pPr indent="0" marL="0">
              <a:lnSpc>
                <a:spcPts val="2000"/>
              </a:lnSpc>
              <a:buNone/>
            </a:pPr>
            <a:r>
              <a:rPr lang="en-US" sz="1300" dirty="0">
                <a:solidFill>
                  <a:srgbClr val="3A4452"/>
                </a:solidFill>
                <a:latin typeface="Arial" pitchFamily="34" charset="0"/>
                <a:ea typeface="Arial" pitchFamily="34" charset="-122"/>
                <a:cs typeface="Arial" pitchFamily="34" charset="-120"/>
              </a:rPr>
              <a:t> (&lt;example&gt;)</a:t>
            </a:r>
            <a:endParaRPr lang="en-US" sz="1300" dirty="0"/>
          </a:p>
          <a:p>
            <a:pPr indent="0" marL="0">
              <a:lnSpc>
                <a:spcPts val="2000"/>
              </a:lnSpc>
              <a:buNone/>
            </a:pPr>
            <a:r>
              <a:rPr lang="en-US" sz="1300" b="1" dirty="0">
                <a:solidFill>
                  <a:srgbClr val="1F2733"/>
                </a:solidFill>
                <a:latin typeface="Arial" pitchFamily="34" charset="0"/>
                <a:ea typeface="Arial" pitchFamily="34" charset="-122"/>
                <a:cs typeface="Arial" pitchFamily="34" charset="-120"/>
              </a:rPr>
              <a:t>Shows the exact format</a:t>
            </a:r>
            <a:pPr indent="0" marL="0">
              <a:lnSpc>
                <a:spcPts val="2000"/>
              </a:lnSpc>
              <a:buNone/>
            </a:pPr>
            <a:r>
              <a:rPr lang="en-US" sz="1300" dirty="0">
                <a:solidFill>
                  <a:srgbClr val="3A4452"/>
                </a:solidFill>
                <a:latin typeface="Arial" pitchFamily="34" charset="0"/>
                <a:ea typeface="Arial" pitchFamily="34" charset="-122"/>
                <a:cs typeface="Arial" pitchFamily="34" charset="-120"/>
              </a:rPr>
              <a:t> you want</a:t>
            </a:r>
            <a:endParaRPr lang="en-US" sz="1300" dirty="0"/>
          </a:p>
          <a:p>
            <a:pPr indent="0" marL="0">
              <a:lnSpc>
                <a:spcPts val="2000"/>
              </a:lnSpc>
              <a:buNone/>
            </a:pPr>
            <a:r>
              <a:rPr lang="en-US" sz="1300" b="1" dirty="0">
                <a:solidFill>
                  <a:srgbClr val="1F2733"/>
                </a:solidFill>
                <a:latin typeface="Arial" pitchFamily="34" charset="0"/>
                <a:ea typeface="Arial" pitchFamily="34" charset="-122"/>
                <a:cs typeface="Arial" pitchFamily="34" charset="-120"/>
              </a:rPr>
              <a:t>3–5</a:t>
            </a:r>
            <a:pPr indent="0" marL="0">
              <a:lnSpc>
                <a:spcPts val="2000"/>
              </a:lnSpc>
              <a:buNone/>
            </a:pPr>
            <a:r>
              <a:rPr lang="en-US" sz="1300" dirty="0">
                <a:solidFill>
                  <a:srgbClr val="3A4452"/>
                </a:solidFill>
                <a:latin typeface="Arial" pitchFamily="34" charset="0"/>
                <a:ea typeface="Arial" pitchFamily="34" charset="-122"/>
                <a:cs typeface="Arial" pitchFamily="34" charset="-120"/>
              </a:rPr>
              <a:t> is usually enough</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T4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Contrastive examples — good vs. labeled bad</a:t>
            </a:r>
            <a:endParaRPr lang="en-US" sz="2700" dirty="0"/>
          </a:p>
        </p:txBody>
      </p:sp>
      <p:sp>
        <p:nvSpPr>
          <p:cNvPr id="4" name="Shape 2"/>
          <p:cNvSpPr/>
          <p:nvPr/>
        </p:nvSpPr>
        <p:spPr>
          <a:xfrm>
            <a:off x="566928" y="1554480"/>
            <a:ext cx="10469880" cy="3200400"/>
          </a:xfrm>
          <a:prstGeom prst="roundRect">
            <a:avLst>
              <a:gd name="adj" fmla="val 2571"/>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68096" y="1664208"/>
            <a:ext cx="1010412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PROMPT</a:t>
            </a:r>
            <a:endParaRPr lang="en-US" sz="900" dirty="0"/>
          </a:p>
        </p:txBody>
      </p:sp>
      <p:sp>
        <p:nvSpPr>
          <p:cNvPr id="6" name="Text 4"/>
          <p:cNvSpPr/>
          <p:nvPr/>
        </p:nvSpPr>
        <p:spPr>
          <a:xfrm>
            <a:off x="795528" y="1938528"/>
            <a:ext cx="10012680" cy="268833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Match the GOOD example; avoid the BAD one.
</a:t>
            </a:r>
            <a:pPr algn="l" indent="0" marL="0">
              <a:lnSpc>
                <a:spcPts val="1500"/>
              </a:lnSpc>
              <a:buNone/>
            </a:pPr>
            <a:r>
              <a:rPr lang="en-US" sz="1100" dirty="0">
                <a:solidFill>
                  <a:srgbClr val="15803D"/>
                </a:solidFill>
                <a:latin typeface="Courier New" pitchFamily="34" charset="0"/>
                <a:ea typeface="Courier New" pitchFamily="34" charset="-122"/>
                <a:cs typeface="Courier New" pitchFamily="34" charset="-120"/>
              </a:rPr>
              <a:t>&lt;good_example&gt;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Welcome aboard! Here's where to clock in and who to ask for help. </a:t>
            </a:r>
            <a:pPr algn="l" indent="0" marL="0">
              <a:lnSpc>
                <a:spcPts val="1500"/>
              </a:lnSpc>
              <a:buNone/>
            </a:pPr>
            <a:r>
              <a:rPr lang="en-US" sz="1100" dirty="0">
                <a:solidFill>
                  <a:srgbClr val="15803D"/>
                </a:solidFill>
                <a:latin typeface="Courier New" pitchFamily="34" charset="0"/>
                <a:ea typeface="Courier New" pitchFamily="34" charset="-122"/>
                <a:cs typeface="Courier New" pitchFamily="34" charset="-120"/>
              </a:rPr>
              <a:t>&lt;/good_example&gt;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t>
            </a:r>
            <a:pPr algn="l" indent="0" marL="0">
              <a:lnSpc>
                <a:spcPts val="1500"/>
              </a:lnSpc>
              <a:buNone/>
            </a:pPr>
            <a:r>
              <a:rPr lang="en-US" sz="1100" dirty="0">
                <a:solidFill>
                  <a:srgbClr val="B91C1C"/>
                </a:solidFill>
                <a:latin typeface="Courier New" pitchFamily="34" charset="0"/>
                <a:ea typeface="Courier New" pitchFamily="34" charset="-122"/>
                <a:cs typeface="Courier New" pitchFamily="34" charset="-120"/>
              </a:rPr>
              <a:t>&lt;bad_example&gt;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Per onboarding protocol, employees shall report to designated ingress. </a:t>
            </a:r>
            <a:pPr algn="l" indent="0" marL="0">
              <a:lnSpc>
                <a:spcPts val="1500"/>
              </a:lnSpc>
              <a:buNone/>
            </a:pPr>
            <a:r>
              <a:rPr lang="en-US" sz="1100" dirty="0">
                <a:solidFill>
                  <a:srgbClr val="B91C1C"/>
                </a:solidFill>
                <a:latin typeface="Courier New" pitchFamily="34" charset="0"/>
                <a:ea typeface="Courier New" pitchFamily="34" charset="-122"/>
                <a:cs typeface="Courier New" pitchFamily="34" charset="-120"/>
              </a:rPr>
              <a:t>&lt;/bad_example&gt;</a:t>
            </a:r>
            <a:pPr algn="l" indent="0" marL="0">
              <a:lnSpc>
                <a:spcPts val="1500"/>
              </a:lnSpc>
              <a:buNone/>
            </a:pPr>
            <a:endParaRPr lang="en-US" sz="1100" dirty="0"/>
          </a:p>
          <a:p>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Write the welcome note in the GOOD style.</a:t>
            </a:r>
            <a:endParaRPr lang="en-US" sz="1100" dirty="0"/>
          </a:p>
        </p:txBody>
      </p:sp>
      <p:sp>
        <p:nvSpPr>
          <p:cNvPr id="7" name="Shape 5"/>
          <p:cNvSpPr/>
          <p:nvPr/>
        </p:nvSpPr>
        <p:spPr>
          <a:xfrm>
            <a:off x="566928" y="4892040"/>
            <a:ext cx="10469880" cy="914400"/>
          </a:xfrm>
          <a:prstGeom prst="roundRect">
            <a:avLst>
              <a:gd name="adj" fmla="val 9000"/>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841248" y="4983480"/>
            <a:ext cx="10058400" cy="731520"/>
          </a:xfrm>
          <a:prstGeom prst="rect">
            <a:avLst/>
          </a:prstGeom>
          <a:noFill/>
          <a:ln/>
        </p:spPr>
        <p:txBody>
          <a:bodyPr wrap="square" rtlCol="0" anchor="ctr"/>
          <a:lstStyle/>
          <a:p>
            <a:pPr indent="0" marL="0">
              <a:lnSpc>
                <a:spcPts val="1700"/>
              </a:lnSpc>
              <a:buNone/>
            </a:pPr>
            <a:r>
              <a:rPr lang="en-US" sz="1250" b="1" dirty="0">
                <a:solidFill>
                  <a:srgbClr val="7E0A27"/>
                </a:solidFill>
                <a:latin typeface="Arial" pitchFamily="34" charset="0"/>
                <a:ea typeface="Arial" pitchFamily="34" charset="-122"/>
                <a:cs typeface="Arial" pitchFamily="34" charset="-120"/>
              </a:rPr>
              <a:t>Critical: </a:t>
            </a:r>
            <a:pPr indent="0" marL="0">
              <a:lnSpc>
                <a:spcPts val="1700"/>
              </a:lnSpc>
              <a:buNone/>
            </a:pPr>
            <a:r>
              <a:rPr lang="en-US" sz="1250" dirty="0">
                <a:solidFill>
                  <a:srgbClr val="1F2733"/>
                </a:solidFill>
                <a:latin typeface="Arial" pitchFamily="34" charset="0"/>
                <a:ea typeface="Arial" pitchFamily="34" charset="-122"/>
                <a:cs typeface="Arial" pitchFamily="34" charset="-120"/>
              </a:rPr>
              <a:t>label the bad example clearly ("BAD" / "avoid") — otherwise Claude may copy it. Use contrastive examples when a specific failure keeps recurring.</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T4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Example selection &amp; ordering</a:t>
            </a:r>
            <a:endParaRPr lang="en-US" sz="2700" dirty="0"/>
          </a:p>
        </p:txBody>
      </p:sp>
      <p:sp>
        <p:nvSpPr>
          <p:cNvPr id="4" name="Shape 2"/>
          <p:cNvSpPr/>
          <p:nvPr/>
        </p:nvSpPr>
        <p:spPr>
          <a:xfrm>
            <a:off x="566928" y="1645920"/>
            <a:ext cx="5344668" cy="1828800"/>
          </a:xfrm>
          <a:prstGeom prst="roundRect">
            <a:avLst>
              <a:gd name="adj" fmla="val 4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841248" y="1920240"/>
            <a:ext cx="438912" cy="438912"/>
          </a:xfrm>
          <a:prstGeom prst="ellipse">
            <a:avLst/>
          </a:prstGeom>
          <a:solidFill>
            <a:srgbClr val="D31242"/>
          </a:solidFill>
          <a:ln/>
        </p:spPr>
      </p:sp>
      <p:sp>
        <p:nvSpPr>
          <p:cNvPr id="6" name="Text 4"/>
          <p:cNvSpPr/>
          <p:nvPr/>
        </p:nvSpPr>
        <p:spPr>
          <a:xfrm>
            <a:off x="841248" y="19202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08176" y="1938528"/>
            <a:ext cx="4338828" cy="45720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Relevant</a:t>
            </a:r>
            <a:endParaRPr lang="en-US" sz="1500" dirty="0"/>
          </a:p>
        </p:txBody>
      </p:sp>
      <p:sp>
        <p:nvSpPr>
          <p:cNvPr id="8" name="Text 6"/>
          <p:cNvSpPr/>
          <p:nvPr/>
        </p:nvSpPr>
        <p:spPr>
          <a:xfrm>
            <a:off x="841248" y="2514600"/>
            <a:ext cx="4796028" cy="822960"/>
          </a:xfrm>
          <a:prstGeom prst="rect">
            <a:avLst/>
          </a:prstGeom>
          <a:noFill/>
          <a:ln/>
        </p:spPr>
        <p:txBody>
          <a:bodyPr wrap="square" rtlCol="0" anchor="ctr"/>
          <a:lstStyle/>
          <a:p>
            <a:pPr indent="0" marL="0">
              <a:lnSpc>
                <a:spcPts val="1600"/>
              </a:lnSpc>
              <a:buNone/>
            </a:pPr>
            <a:r>
              <a:rPr lang="en-US" sz="1250" dirty="0">
                <a:solidFill>
                  <a:srgbClr val="3A4452"/>
                </a:solidFill>
                <a:latin typeface="Arial" pitchFamily="34" charset="0"/>
                <a:ea typeface="Arial" pitchFamily="34" charset="-122"/>
                <a:cs typeface="Arial" pitchFamily="34" charset="-120"/>
              </a:rPr>
              <a:t>Match the real task, not edge cases</a:t>
            </a:r>
            <a:endParaRPr lang="en-US" sz="1250" dirty="0"/>
          </a:p>
        </p:txBody>
      </p:sp>
      <p:sp>
        <p:nvSpPr>
          <p:cNvPr id="9" name="Shape 7"/>
          <p:cNvSpPr/>
          <p:nvPr/>
        </p:nvSpPr>
        <p:spPr>
          <a:xfrm>
            <a:off x="6277356" y="1645920"/>
            <a:ext cx="5344668" cy="1828800"/>
          </a:xfrm>
          <a:prstGeom prst="roundRect">
            <a:avLst>
              <a:gd name="adj" fmla="val 4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Shape 8"/>
          <p:cNvSpPr/>
          <p:nvPr/>
        </p:nvSpPr>
        <p:spPr>
          <a:xfrm>
            <a:off x="6551676" y="1920240"/>
            <a:ext cx="438912" cy="438912"/>
          </a:xfrm>
          <a:prstGeom prst="ellipse">
            <a:avLst/>
          </a:prstGeom>
          <a:solidFill>
            <a:srgbClr val="D31242"/>
          </a:solidFill>
          <a:ln/>
        </p:spPr>
      </p:sp>
      <p:sp>
        <p:nvSpPr>
          <p:cNvPr id="11" name="Text 9"/>
          <p:cNvSpPr/>
          <p:nvPr/>
        </p:nvSpPr>
        <p:spPr>
          <a:xfrm>
            <a:off x="6551676" y="19202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7118604" y="1938528"/>
            <a:ext cx="4338828" cy="45720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Diverse</a:t>
            </a:r>
            <a:endParaRPr lang="en-US" sz="1500" dirty="0"/>
          </a:p>
        </p:txBody>
      </p:sp>
      <p:sp>
        <p:nvSpPr>
          <p:cNvPr id="13" name="Text 11"/>
          <p:cNvSpPr/>
          <p:nvPr/>
        </p:nvSpPr>
        <p:spPr>
          <a:xfrm>
            <a:off x="6551676" y="2514600"/>
            <a:ext cx="4796028" cy="822960"/>
          </a:xfrm>
          <a:prstGeom prst="rect">
            <a:avLst/>
          </a:prstGeom>
          <a:noFill/>
          <a:ln/>
        </p:spPr>
        <p:txBody>
          <a:bodyPr wrap="square" rtlCol="0" anchor="ctr"/>
          <a:lstStyle/>
          <a:p>
            <a:pPr indent="0" marL="0">
              <a:lnSpc>
                <a:spcPts val="1600"/>
              </a:lnSpc>
              <a:buNone/>
            </a:pPr>
            <a:r>
              <a:rPr lang="en-US" sz="1250" dirty="0">
                <a:solidFill>
                  <a:srgbClr val="3A4452"/>
                </a:solidFill>
                <a:latin typeface="Arial" pitchFamily="34" charset="0"/>
                <a:ea typeface="Arial" pitchFamily="34" charset="-122"/>
                <a:cs typeface="Arial" pitchFamily="34" charset="-120"/>
              </a:rPr>
              <a:t>Cover the variety you'll actually see</a:t>
            </a:r>
            <a:endParaRPr lang="en-US" sz="1250" dirty="0"/>
          </a:p>
        </p:txBody>
      </p:sp>
      <p:sp>
        <p:nvSpPr>
          <p:cNvPr id="14" name="Shape 12"/>
          <p:cNvSpPr/>
          <p:nvPr/>
        </p:nvSpPr>
        <p:spPr>
          <a:xfrm>
            <a:off x="566928" y="3749040"/>
            <a:ext cx="5344668" cy="1828800"/>
          </a:xfrm>
          <a:prstGeom prst="roundRect">
            <a:avLst>
              <a:gd name="adj" fmla="val 4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5" name="Shape 13"/>
          <p:cNvSpPr/>
          <p:nvPr/>
        </p:nvSpPr>
        <p:spPr>
          <a:xfrm>
            <a:off x="841248" y="4023360"/>
            <a:ext cx="438912" cy="438912"/>
          </a:xfrm>
          <a:prstGeom prst="ellipse">
            <a:avLst/>
          </a:prstGeom>
          <a:solidFill>
            <a:srgbClr val="D31242"/>
          </a:solidFill>
          <a:ln/>
        </p:spPr>
      </p:sp>
      <p:sp>
        <p:nvSpPr>
          <p:cNvPr id="16" name="Text 14"/>
          <p:cNvSpPr/>
          <p:nvPr/>
        </p:nvSpPr>
        <p:spPr>
          <a:xfrm>
            <a:off x="841248" y="4023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08176" y="4041648"/>
            <a:ext cx="4338828" cy="45720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Balanced</a:t>
            </a:r>
            <a:endParaRPr lang="en-US" sz="1500" dirty="0"/>
          </a:p>
        </p:txBody>
      </p:sp>
      <p:sp>
        <p:nvSpPr>
          <p:cNvPr id="18" name="Text 16"/>
          <p:cNvSpPr/>
          <p:nvPr/>
        </p:nvSpPr>
        <p:spPr>
          <a:xfrm>
            <a:off x="841248" y="4617720"/>
            <a:ext cx="4796028" cy="822960"/>
          </a:xfrm>
          <a:prstGeom prst="rect">
            <a:avLst/>
          </a:prstGeom>
          <a:noFill/>
          <a:ln/>
        </p:spPr>
        <p:txBody>
          <a:bodyPr wrap="square" rtlCol="0" anchor="ctr"/>
          <a:lstStyle/>
          <a:p>
            <a:pPr indent="0" marL="0">
              <a:lnSpc>
                <a:spcPts val="1600"/>
              </a:lnSpc>
              <a:buNone/>
            </a:pPr>
            <a:r>
              <a:rPr lang="en-US" sz="1250" dirty="0">
                <a:solidFill>
                  <a:srgbClr val="3A4452"/>
                </a:solidFill>
                <a:latin typeface="Arial" pitchFamily="34" charset="0"/>
                <a:ea typeface="Arial" pitchFamily="34" charset="-122"/>
                <a:cs typeface="Arial" pitchFamily="34" charset="-120"/>
              </a:rPr>
              <a:t>Don't over-represent one label/type</a:t>
            </a:r>
            <a:endParaRPr lang="en-US" sz="1250" dirty="0"/>
          </a:p>
        </p:txBody>
      </p:sp>
      <p:sp>
        <p:nvSpPr>
          <p:cNvPr id="19" name="Shape 17"/>
          <p:cNvSpPr/>
          <p:nvPr/>
        </p:nvSpPr>
        <p:spPr>
          <a:xfrm>
            <a:off x="6277356" y="3749040"/>
            <a:ext cx="5344668" cy="1828800"/>
          </a:xfrm>
          <a:prstGeom prst="roundRect">
            <a:avLst>
              <a:gd name="adj" fmla="val 4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Shape 18"/>
          <p:cNvSpPr/>
          <p:nvPr/>
        </p:nvSpPr>
        <p:spPr>
          <a:xfrm>
            <a:off x="6551676" y="4023360"/>
            <a:ext cx="438912" cy="438912"/>
          </a:xfrm>
          <a:prstGeom prst="ellipse">
            <a:avLst/>
          </a:prstGeom>
          <a:solidFill>
            <a:srgbClr val="D31242"/>
          </a:solidFill>
          <a:ln/>
        </p:spPr>
      </p:sp>
      <p:sp>
        <p:nvSpPr>
          <p:cNvPr id="21" name="Text 19"/>
          <p:cNvSpPr/>
          <p:nvPr/>
        </p:nvSpPr>
        <p:spPr>
          <a:xfrm>
            <a:off x="6551676" y="40233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8604" y="4041648"/>
            <a:ext cx="4338828" cy="457200"/>
          </a:xfrm>
          <a:prstGeom prst="rect">
            <a:avLst/>
          </a:prstGeom>
          <a:noFill/>
          <a:ln/>
        </p:spPr>
        <p:txBody>
          <a:bodyPr wrap="square" lIns="0" tIns="0" rIns="0" bIns="0" rtlCol="0" anchor="ctr"/>
          <a:lstStyle/>
          <a:p>
            <a:pPr indent="0" marL="0">
              <a:buNone/>
            </a:pPr>
            <a:r>
              <a:rPr lang="en-US" sz="1500" b="1" dirty="0">
                <a:solidFill>
                  <a:srgbClr val="D31242"/>
                </a:solidFill>
                <a:latin typeface="Arial" pitchFamily="34" charset="0"/>
                <a:ea typeface="Arial" pitchFamily="34" charset="-122"/>
                <a:cs typeface="Arial" pitchFamily="34" charset="-120"/>
              </a:rPr>
              <a:t>Order matters</a:t>
            </a:r>
            <a:endParaRPr lang="en-US" sz="1500" dirty="0"/>
          </a:p>
        </p:txBody>
      </p:sp>
      <p:sp>
        <p:nvSpPr>
          <p:cNvPr id="23" name="Text 21"/>
          <p:cNvSpPr/>
          <p:nvPr/>
        </p:nvSpPr>
        <p:spPr>
          <a:xfrm>
            <a:off x="6551676" y="4617720"/>
            <a:ext cx="4796028" cy="822960"/>
          </a:xfrm>
          <a:prstGeom prst="rect">
            <a:avLst/>
          </a:prstGeom>
          <a:noFill/>
          <a:ln/>
        </p:spPr>
        <p:txBody>
          <a:bodyPr wrap="square" rtlCol="0" anchor="ctr"/>
          <a:lstStyle/>
          <a:p>
            <a:pPr indent="0" marL="0">
              <a:lnSpc>
                <a:spcPts val="1600"/>
              </a:lnSpc>
              <a:buNone/>
            </a:pPr>
            <a:r>
              <a:rPr lang="en-US" sz="1250" dirty="0">
                <a:solidFill>
                  <a:srgbClr val="3A4452"/>
                </a:solidFill>
                <a:latin typeface="Arial" pitchFamily="34" charset="0"/>
                <a:ea typeface="Arial" pitchFamily="34" charset="-122"/>
                <a:cs typeface="Arial" pitchFamily="34" charset="-120"/>
              </a:rPr>
              <a:t>Recency: the last example pulls hardest</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9692640" y="-1645920"/>
            <a:ext cx="4937760" cy="4937760"/>
          </a:xfrm>
          <a:prstGeom prst="ellipse">
            <a:avLst/>
          </a:prstGeom>
          <a:solidFill>
            <a:srgbClr val="A60E34"/>
          </a:solidFill>
          <a:ln/>
        </p:spPr>
      </p:sp>
      <p:sp>
        <p:nvSpPr>
          <p:cNvPr id="3" name="Text 1"/>
          <p:cNvSpPr/>
          <p:nvPr/>
        </p:nvSpPr>
        <p:spPr>
          <a:xfrm>
            <a:off x="566928" y="914400"/>
            <a:ext cx="10058400" cy="365760"/>
          </a:xfrm>
          <a:prstGeom prst="rect">
            <a:avLst/>
          </a:prstGeom>
          <a:noFill/>
          <a:ln/>
        </p:spPr>
        <p:txBody>
          <a:bodyPr wrap="square" rtlCol="0" anchor="ctr"/>
          <a:lstStyle/>
          <a:p>
            <a:pPr indent="0" marL="0">
              <a:buNone/>
            </a:pPr>
            <a:r>
              <a:rPr lang="en-US" sz="1400" b="1" spc="300" kern="0" dirty="0">
                <a:solidFill>
                  <a:srgbClr val="F7B9C6"/>
                </a:solidFill>
                <a:latin typeface="Arial" pitchFamily="34" charset="0"/>
                <a:ea typeface="Arial" pitchFamily="34" charset="-122"/>
                <a:cs typeface="Arial" pitchFamily="34" charset="-120"/>
              </a:rPr>
              <a:t>TECHNIQUE 5</a:t>
            </a:r>
            <a:endParaRPr lang="en-US" sz="1400" dirty="0"/>
          </a:p>
        </p:txBody>
      </p:sp>
      <p:sp>
        <p:nvSpPr>
          <p:cNvPr id="4" name="Text 2"/>
          <p:cNvSpPr/>
          <p:nvPr/>
        </p:nvSpPr>
        <p:spPr>
          <a:xfrm>
            <a:off x="566928" y="1325880"/>
            <a:ext cx="10515600"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Long Inputs &amp; Grounding</a:t>
            </a:r>
            <a:endParaRPr lang="en-US" sz="3200" dirty="0"/>
          </a:p>
        </p:txBody>
      </p:sp>
      <p:sp>
        <p:nvSpPr>
          <p:cNvPr id="5" name="Text 3"/>
          <p:cNvSpPr/>
          <p:nvPr/>
        </p:nvSpPr>
        <p:spPr>
          <a:xfrm>
            <a:off x="566928" y="2103120"/>
            <a:ext cx="10241280" cy="457200"/>
          </a:xfrm>
          <a:prstGeom prst="rect">
            <a:avLst/>
          </a:prstGeom>
          <a:noFill/>
          <a:ln/>
        </p:spPr>
        <p:txBody>
          <a:bodyPr wrap="square" rtlCol="0" anchor="ctr"/>
          <a:lstStyle/>
          <a:p>
            <a:pPr indent="0" marL="0">
              <a:lnSpc>
                <a:spcPts val="2000"/>
              </a:lnSpc>
              <a:buNone/>
            </a:pPr>
            <a:r>
              <a:rPr lang="en-US" sz="1400" dirty="0">
                <a:solidFill>
                  <a:srgbClr val="F2D9DF"/>
                </a:solidFill>
                <a:latin typeface="Arial" pitchFamily="34" charset="0"/>
                <a:ea typeface="Arial" pitchFamily="34" charset="-122"/>
                <a:cs typeface="Arial" pitchFamily="34" charset="-120"/>
              </a:rPr>
              <a:t>Protect the source block; keep answers honest.</a:t>
            </a:r>
            <a:endParaRPr lang="en-US" sz="1400" dirty="0"/>
          </a:p>
        </p:txBody>
      </p:sp>
      <p:sp>
        <p:nvSpPr>
          <p:cNvPr id="6" name="Text 4"/>
          <p:cNvSpPr/>
          <p:nvPr/>
        </p:nvSpPr>
        <p:spPr>
          <a:xfrm>
            <a:off x="566928" y="2880360"/>
            <a:ext cx="10058400" cy="274320"/>
          </a:xfrm>
          <a:prstGeom prst="rect">
            <a:avLst/>
          </a:prstGeom>
          <a:noFill/>
          <a:ln/>
        </p:spPr>
        <p:txBody>
          <a:bodyPr wrap="square" rtlCol="0" anchor="ctr"/>
          <a:lstStyle/>
          <a:p>
            <a:pPr indent="0" marL="0">
              <a:buNone/>
            </a:pPr>
            <a:r>
              <a:rPr lang="en-US" sz="1050" b="1" spc="200" kern="0" dirty="0">
                <a:solidFill>
                  <a:srgbClr val="F7B9C6"/>
                </a:solidFill>
                <a:latin typeface="Arial" pitchFamily="34" charset="0"/>
                <a:ea typeface="Arial" pitchFamily="34" charset="-122"/>
                <a:cs typeface="Arial" pitchFamily="34" charset="-120"/>
              </a:rPr>
              <a:t>PATTERNS IN THIS SECTION</a:t>
            </a:r>
            <a:endParaRPr lang="en-US" sz="1050" dirty="0"/>
          </a:p>
        </p:txBody>
      </p:sp>
      <p:sp>
        <p:nvSpPr>
          <p:cNvPr id="7" name="Shape 5"/>
          <p:cNvSpPr/>
          <p:nvPr/>
        </p:nvSpPr>
        <p:spPr>
          <a:xfrm>
            <a:off x="566928"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749808"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Data-on-top + quote-first</a:t>
            </a:r>
            <a:endParaRPr lang="en-US" sz="1300" dirty="0"/>
          </a:p>
        </p:txBody>
      </p:sp>
      <p:sp>
        <p:nvSpPr>
          <p:cNvPr id="9" name="Text 7"/>
          <p:cNvSpPr/>
          <p:nvPr/>
        </p:nvSpPr>
        <p:spPr>
          <a:xfrm>
            <a:off x="749808"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Structure &amp; ground</a:t>
            </a:r>
            <a:endParaRPr lang="en-US" sz="1050" dirty="0"/>
          </a:p>
        </p:txBody>
      </p:sp>
      <p:sp>
        <p:nvSpPr>
          <p:cNvPr id="10" name="Shape 8"/>
          <p:cNvSpPr/>
          <p:nvPr/>
        </p:nvSpPr>
        <p:spPr>
          <a:xfrm>
            <a:off x="3399282"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3582162"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Source-grounded + give-an-out</a:t>
            </a:r>
            <a:endParaRPr lang="en-US" sz="1300" dirty="0"/>
          </a:p>
        </p:txBody>
      </p:sp>
      <p:sp>
        <p:nvSpPr>
          <p:cNvPr id="12" name="Text 10"/>
          <p:cNvSpPr/>
          <p:nvPr/>
        </p:nvSpPr>
        <p:spPr>
          <a:xfrm>
            <a:off x="3582162"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Use only the source</a:t>
            </a:r>
            <a:endParaRPr lang="en-US" sz="1050" dirty="0"/>
          </a:p>
        </p:txBody>
      </p:sp>
      <p:sp>
        <p:nvSpPr>
          <p:cNvPr id="13" name="Shape 11"/>
          <p:cNvSpPr/>
          <p:nvPr/>
        </p:nvSpPr>
        <p:spPr>
          <a:xfrm>
            <a:off x="6231636"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6414516"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Extract→transform→produce</a:t>
            </a:r>
            <a:endParaRPr lang="en-US" sz="1300" dirty="0"/>
          </a:p>
        </p:txBody>
      </p:sp>
      <p:sp>
        <p:nvSpPr>
          <p:cNvPr id="15" name="Text 13"/>
          <p:cNvSpPr/>
          <p:nvPr/>
        </p:nvSpPr>
        <p:spPr>
          <a:xfrm>
            <a:off x="6414516"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Multi-step in one prompt</a:t>
            </a:r>
            <a:endParaRPr lang="en-US" sz="1050" dirty="0"/>
          </a:p>
        </p:txBody>
      </p:sp>
      <p:sp>
        <p:nvSpPr>
          <p:cNvPr id="16" name="Shape 14"/>
          <p:cNvSpPr/>
          <p:nvPr/>
        </p:nvSpPr>
        <p:spPr>
          <a:xfrm>
            <a:off x="9063990" y="3246120"/>
            <a:ext cx="2558034" cy="1005840"/>
          </a:xfrm>
          <a:prstGeom prst="roundRect">
            <a:avLst>
              <a:gd name="adj" fmla="val 818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9246870" y="3392424"/>
            <a:ext cx="2192274" cy="411480"/>
          </a:xfrm>
          <a:prstGeom prst="rect">
            <a:avLst/>
          </a:prstGeom>
          <a:noFill/>
          <a:ln/>
        </p:spPr>
        <p:txBody>
          <a:bodyPr wrap="square" rtlCol="0" anchor="t"/>
          <a:lstStyle/>
          <a:p>
            <a:pPr indent="0" marL="0">
              <a:buNone/>
            </a:pPr>
            <a:r>
              <a:rPr lang="en-US" sz="1300" b="1" dirty="0">
                <a:solidFill>
                  <a:srgbClr val="D31242"/>
                </a:solidFill>
                <a:latin typeface="Arial" pitchFamily="34" charset="0"/>
                <a:ea typeface="Arial" pitchFamily="34" charset="-122"/>
                <a:cs typeface="Arial" pitchFamily="34" charset="-120"/>
              </a:rPr>
              <a:t>Map-reduce + fallback</a:t>
            </a:r>
            <a:endParaRPr lang="en-US" sz="1300" dirty="0"/>
          </a:p>
        </p:txBody>
      </p:sp>
      <p:sp>
        <p:nvSpPr>
          <p:cNvPr id="18" name="Text 16"/>
          <p:cNvSpPr/>
          <p:nvPr/>
        </p:nvSpPr>
        <p:spPr>
          <a:xfrm>
            <a:off x="9246870" y="3749040"/>
            <a:ext cx="2192274" cy="45720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Very long docs; edge cases</a:t>
            </a:r>
            <a:endParaRPr lang="en-US" sz="1050" dirty="0"/>
          </a:p>
        </p:txBody>
      </p:sp>
      <p:sp>
        <p:nvSpPr>
          <p:cNvPr id="19" name="Text 17"/>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T5 · PATTERNS</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Data on top, question at the bottom — then quote first</a:t>
            </a:r>
            <a:endParaRPr lang="en-US" sz="2700" dirty="0"/>
          </a:p>
        </p:txBody>
      </p:sp>
      <p:sp>
        <p:nvSpPr>
          <p:cNvPr id="4" name="Shape 2"/>
          <p:cNvSpPr/>
          <p:nvPr/>
        </p:nvSpPr>
        <p:spPr>
          <a:xfrm>
            <a:off x="566928" y="1554480"/>
            <a:ext cx="5486400" cy="4114800"/>
          </a:xfrm>
          <a:prstGeom prst="roundRect">
            <a:avLst>
              <a:gd name="adj" fmla="val 20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41148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Structure the long input</a:t>
            </a:r>
            <a:endParaRPr lang="en-US" sz="1550" dirty="0"/>
          </a:p>
        </p:txBody>
      </p:sp>
      <p:sp>
        <p:nvSpPr>
          <p:cNvPr id="6" name="Text 4"/>
          <p:cNvSpPr/>
          <p:nvPr/>
        </p:nvSpPr>
        <p:spPr>
          <a:xfrm>
            <a:off x="841248" y="2194560"/>
            <a:ext cx="4983480" cy="3200400"/>
          </a:xfrm>
          <a:prstGeom prst="rect">
            <a:avLst/>
          </a:prstGeom>
          <a:noFill/>
          <a:ln/>
        </p:spPr>
        <p:txBody>
          <a:bodyPr wrap="square" rtlCol="0" anchor="t"/>
          <a:lstStyle/>
          <a:p>
            <a:pPr indent="0" marL="0">
              <a:lnSpc>
                <a:spcPts val="1900"/>
              </a:lnSpc>
              <a:buNone/>
            </a:pPr>
            <a:r>
              <a:rPr lang="en-US" sz="1350" dirty="0">
                <a:solidFill>
                  <a:srgbClr val="3A4452"/>
                </a:solidFill>
                <a:latin typeface="Arial" pitchFamily="34" charset="0"/>
                <a:ea typeface="Arial" pitchFamily="34" charset="-122"/>
                <a:cs typeface="Arial" pitchFamily="34" charset="-120"/>
              </a:rPr>
              <a:t>Put the long document at the </a:t>
            </a:r>
            <a:pPr indent="0" marL="0">
              <a:lnSpc>
                <a:spcPts val="1900"/>
              </a:lnSpc>
              <a:buNone/>
            </a:pPr>
            <a:r>
              <a:rPr lang="en-US" sz="1350" b="1" dirty="0">
                <a:solidFill>
                  <a:srgbClr val="D31242"/>
                </a:solidFill>
                <a:latin typeface="Arial" pitchFamily="34" charset="0"/>
                <a:ea typeface="Arial" pitchFamily="34" charset="-122"/>
                <a:cs typeface="Arial" pitchFamily="34" charset="-120"/>
              </a:rPr>
              <a:t>top</a:t>
            </a:r>
            <a:pPr indent="0" marL="0">
              <a:lnSpc>
                <a:spcPts val="1900"/>
              </a:lnSpc>
              <a:buNone/>
            </a:pPr>
            <a:r>
              <a:rPr lang="en-US" sz="1350" dirty="0">
                <a:solidFill>
                  <a:srgbClr val="3A4452"/>
                </a:solidFill>
                <a:latin typeface="Arial" pitchFamily="34" charset="0"/>
                <a:ea typeface="Arial" pitchFamily="34" charset="-122"/>
                <a:cs typeface="Arial" pitchFamily="34" charset="-120"/>
              </a:rPr>
              <a:t>, your question at the </a:t>
            </a:r>
            <a:pPr indent="0" marL="0">
              <a:lnSpc>
                <a:spcPts val="1900"/>
              </a:lnSpc>
              <a:buNone/>
            </a:pPr>
            <a:r>
              <a:rPr lang="en-US" sz="1350" b="1" dirty="0">
                <a:solidFill>
                  <a:srgbClr val="D31242"/>
                </a:solidFill>
                <a:latin typeface="Arial" pitchFamily="34" charset="0"/>
                <a:ea typeface="Arial" pitchFamily="34" charset="-122"/>
                <a:cs typeface="Arial" pitchFamily="34" charset="-120"/>
              </a:rPr>
              <a:t>bottom</a:t>
            </a:r>
            <a:pPr indent="0" marL="0">
              <a:lnSpc>
                <a:spcPts val="1900"/>
              </a:lnSpc>
              <a:buNone/>
            </a:pPr>
            <a:r>
              <a:rPr lang="en-US" sz="1350" dirty="0">
                <a:solidFill>
                  <a:srgbClr val="3A4452"/>
                </a:solidFill>
                <a:latin typeface="Arial" pitchFamily="34" charset="0"/>
                <a:ea typeface="Arial" pitchFamily="34" charset="-122"/>
                <a:cs typeface="Arial" pitchFamily="34" charset="-120"/>
              </a:rPr>
              <a:t>. On long inputs this can noticeably improve quality.</a:t>
            </a:r>
            <a:endParaRPr lang="en-US" sz="1350" dirty="0"/>
          </a:p>
          <a:p>
            <a:pPr indent="0" marL="0">
              <a:lnSpc>
                <a:spcPts val="1900"/>
              </a:lnSpc>
              <a:buNone/>
            </a:pPr>
            <a:endParaRPr lang="en-US" sz="1350" dirty="0"/>
          </a:p>
          <a:p>
            <a:pPr indent="0" marL="0">
              <a:lnSpc>
                <a:spcPts val="1900"/>
              </a:lnSpc>
              <a:buNone/>
            </a:pPr>
            <a:r>
              <a:rPr lang="en-US" sz="1350" dirty="0">
                <a:solidFill>
                  <a:srgbClr val="3A4452"/>
                </a:solidFill>
                <a:latin typeface="Arial" pitchFamily="34" charset="0"/>
                <a:ea typeface="Arial" pitchFamily="34" charset="-122"/>
                <a:cs typeface="Arial" pitchFamily="34" charset="-120"/>
              </a:rPr>
              <a:t>Wrap it in </a:t>
            </a:r>
            <a:pPr indent="0" marL="0">
              <a:lnSpc>
                <a:spcPts val="1900"/>
              </a:lnSpc>
              <a:buNone/>
            </a:pPr>
            <a:r>
              <a:rPr lang="en-US" sz="1350" dirty="0">
                <a:solidFill>
                  <a:srgbClr val="D31242"/>
                </a:solidFill>
                <a:latin typeface="Courier New" pitchFamily="34" charset="0"/>
                <a:ea typeface="Courier New" pitchFamily="34" charset="-122"/>
                <a:cs typeface="Courier New" pitchFamily="34" charset="-120"/>
              </a:rPr>
              <a:t>&lt;document&gt;</a:t>
            </a:r>
            <a:pPr indent="0" marL="0">
              <a:lnSpc>
                <a:spcPts val="1900"/>
              </a:lnSpc>
              <a:buNone/>
            </a:pPr>
            <a:r>
              <a:rPr lang="en-US" sz="1350" dirty="0">
                <a:solidFill>
                  <a:srgbClr val="3A4452"/>
                </a:solidFill>
                <a:latin typeface="Arial" pitchFamily="34" charset="0"/>
                <a:ea typeface="Arial" pitchFamily="34" charset="-122"/>
                <a:cs typeface="Arial" pitchFamily="34" charset="-120"/>
              </a:rPr>
              <a:t> so the boundary is clear.</a:t>
            </a:r>
            <a:endParaRPr lang="en-US" sz="1350" dirty="0"/>
          </a:p>
        </p:txBody>
      </p:sp>
      <p:sp>
        <p:nvSpPr>
          <p:cNvPr id="7" name="Shape 5"/>
          <p:cNvSpPr/>
          <p:nvPr/>
        </p:nvSpPr>
        <p:spPr>
          <a:xfrm>
            <a:off x="6355080" y="1554480"/>
            <a:ext cx="5486400" cy="4114800"/>
          </a:xfrm>
          <a:prstGeom prst="roundRect">
            <a:avLst>
              <a:gd name="adj" fmla="val 2000"/>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6248" y="1664208"/>
            <a:ext cx="512064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QUOTE-FIRST GROUNDING</a:t>
            </a:r>
            <a:endParaRPr lang="en-US" sz="900" dirty="0"/>
          </a:p>
        </p:txBody>
      </p:sp>
      <p:sp>
        <p:nvSpPr>
          <p:cNvPr id="9" name="Text 7"/>
          <p:cNvSpPr/>
          <p:nvPr/>
        </p:nvSpPr>
        <p:spPr>
          <a:xfrm>
            <a:off x="6583680" y="1938528"/>
            <a:ext cx="5029200" cy="3602736"/>
          </a:xfrm>
          <a:prstGeom prst="rect">
            <a:avLst/>
          </a:prstGeom>
          <a:noFill/>
          <a:ln/>
        </p:spPr>
        <p:txBody>
          <a:bodyPr wrap="square" rtlCol="0" anchor="t"/>
          <a:lstStyle/>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&lt;bulletin&gt;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[long ops bulletin]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&lt;/bulletin&gt;</a:t>
            </a:r>
            <a:pPr algn="l" indent="0" marL="0">
              <a:lnSpc>
                <a:spcPts val="1500"/>
              </a:lnSpc>
              <a:buNone/>
            </a:pPr>
            <a:endParaRPr lang="en-US" sz="1100" dirty="0"/>
          </a:p>
          <a:p>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First, quote the exact lines that</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mention schedule changes.</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Then summarize them in 3 bullets</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for associates.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T5 · PATTERNS</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Source-grounded answering + give-an-out</a:t>
            </a:r>
            <a:endParaRPr lang="en-US" sz="2700" dirty="0"/>
          </a:p>
        </p:txBody>
      </p:sp>
      <p:sp>
        <p:nvSpPr>
          <p:cNvPr id="4" name="Shape 2"/>
          <p:cNvSpPr/>
          <p:nvPr/>
        </p:nvSpPr>
        <p:spPr>
          <a:xfrm>
            <a:off x="566928" y="1645920"/>
            <a:ext cx="5344668" cy="1828800"/>
          </a:xfrm>
          <a:prstGeom prst="roundRect">
            <a:avLst>
              <a:gd name="adj" fmla="val 45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47088"/>
            <a:ext cx="4796028" cy="411480"/>
          </a:xfrm>
          <a:prstGeom prst="rect">
            <a:avLst/>
          </a:prstGeom>
          <a:noFill/>
          <a:ln/>
        </p:spPr>
        <p:txBody>
          <a:bodyPr wrap="square" rtlCol="0" anchor="ctr"/>
          <a:lstStyle/>
          <a:p>
            <a:pPr indent="0" marL="0">
              <a:buNone/>
            </a:pPr>
            <a:r>
              <a:rPr lang="en-US" sz="1450" b="1" dirty="0">
                <a:solidFill>
                  <a:srgbClr val="D31242"/>
                </a:solidFill>
                <a:latin typeface="Arial" pitchFamily="34" charset="0"/>
                <a:ea typeface="Arial" pitchFamily="34" charset="-122"/>
                <a:cs typeface="Arial" pitchFamily="34" charset="-120"/>
              </a:rPr>
              <a:t>Use only the source</a:t>
            </a:r>
            <a:endParaRPr lang="en-US" sz="1450" dirty="0"/>
          </a:p>
        </p:txBody>
      </p:sp>
      <p:sp>
        <p:nvSpPr>
          <p:cNvPr id="6" name="Text 4"/>
          <p:cNvSpPr/>
          <p:nvPr/>
        </p:nvSpPr>
        <p:spPr>
          <a:xfrm>
            <a:off x="841248" y="2304288"/>
            <a:ext cx="4796028" cy="1005840"/>
          </a:xfrm>
          <a:prstGeom prst="rect">
            <a:avLst/>
          </a:prstGeom>
          <a:noFill/>
          <a:ln/>
        </p:spPr>
        <p:txBody>
          <a:bodyPr wrap="square" rtlCol="0" anchor="ctr"/>
          <a:lstStyle/>
          <a:p>
            <a:pPr indent="0" marL="0">
              <a:lnSpc>
                <a:spcPts val="1700"/>
              </a:lnSpc>
              <a:buNone/>
            </a:pPr>
            <a:r>
              <a:rPr lang="en-US" sz="1250" i="1" dirty="0">
                <a:solidFill>
                  <a:srgbClr val="1F2733"/>
                </a:solidFill>
                <a:latin typeface="Arial" pitchFamily="34" charset="0"/>
                <a:ea typeface="Arial" pitchFamily="34" charset="-122"/>
                <a:cs typeface="Arial" pitchFamily="34" charset="-120"/>
              </a:rPr>
              <a:t>"Answer using only the &lt;policy&gt;. Don't add outside knowledge."</a:t>
            </a:r>
            <a:endParaRPr lang="en-US" sz="1250" dirty="0"/>
          </a:p>
        </p:txBody>
      </p:sp>
      <p:sp>
        <p:nvSpPr>
          <p:cNvPr id="7" name="Shape 5"/>
          <p:cNvSpPr/>
          <p:nvPr/>
        </p:nvSpPr>
        <p:spPr>
          <a:xfrm>
            <a:off x="6277356" y="1645920"/>
            <a:ext cx="5344668" cy="1828800"/>
          </a:xfrm>
          <a:prstGeom prst="roundRect">
            <a:avLst>
              <a:gd name="adj" fmla="val 45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1676" y="1847088"/>
            <a:ext cx="4796028" cy="411480"/>
          </a:xfrm>
          <a:prstGeom prst="rect">
            <a:avLst/>
          </a:prstGeom>
          <a:noFill/>
          <a:ln/>
        </p:spPr>
        <p:txBody>
          <a:bodyPr wrap="square" rtlCol="0" anchor="ctr"/>
          <a:lstStyle/>
          <a:p>
            <a:pPr indent="0" marL="0">
              <a:buNone/>
            </a:pPr>
            <a:r>
              <a:rPr lang="en-US" sz="1450" b="1" dirty="0">
                <a:solidFill>
                  <a:srgbClr val="D31242"/>
                </a:solidFill>
                <a:latin typeface="Arial" pitchFamily="34" charset="0"/>
                <a:ea typeface="Arial" pitchFamily="34" charset="-122"/>
                <a:cs typeface="Arial" pitchFamily="34" charset="-120"/>
              </a:rPr>
              <a:t>Cite / quote</a:t>
            </a:r>
            <a:endParaRPr lang="en-US" sz="1450" dirty="0"/>
          </a:p>
        </p:txBody>
      </p:sp>
      <p:sp>
        <p:nvSpPr>
          <p:cNvPr id="9" name="Text 7"/>
          <p:cNvSpPr/>
          <p:nvPr/>
        </p:nvSpPr>
        <p:spPr>
          <a:xfrm>
            <a:off x="6551676" y="2304288"/>
            <a:ext cx="4796028" cy="1005840"/>
          </a:xfrm>
          <a:prstGeom prst="rect">
            <a:avLst/>
          </a:prstGeom>
          <a:noFill/>
          <a:ln/>
        </p:spPr>
        <p:txBody>
          <a:bodyPr wrap="square" rtlCol="0" anchor="ctr"/>
          <a:lstStyle/>
          <a:p>
            <a:pPr indent="0" marL="0">
              <a:lnSpc>
                <a:spcPts val="1700"/>
              </a:lnSpc>
              <a:buNone/>
            </a:pPr>
            <a:r>
              <a:rPr lang="en-US" sz="1250" i="1" dirty="0">
                <a:solidFill>
                  <a:srgbClr val="1F2733"/>
                </a:solidFill>
                <a:latin typeface="Arial" pitchFamily="34" charset="0"/>
                <a:ea typeface="Arial" pitchFamily="34" charset="-122"/>
                <a:cs typeface="Arial" pitchFamily="34" charset="-120"/>
              </a:rPr>
              <a:t>"For each point, quote the line it came from."</a:t>
            </a:r>
            <a:endParaRPr lang="en-US" sz="1250" dirty="0"/>
          </a:p>
        </p:txBody>
      </p:sp>
      <p:sp>
        <p:nvSpPr>
          <p:cNvPr id="10" name="Shape 8"/>
          <p:cNvSpPr/>
          <p:nvPr/>
        </p:nvSpPr>
        <p:spPr>
          <a:xfrm>
            <a:off x="566928" y="3749040"/>
            <a:ext cx="5344668" cy="1828800"/>
          </a:xfrm>
          <a:prstGeom prst="roundRect">
            <a:avLst>
              <a:gd name="adj" fmla="val 45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841248" y="3950208"/>
            <a:ext cx="4796028" cy="411480"/>
          </a:xfrm>
          <a:prstGeom prst="rect">
            <a:avLst/>
          </a:prstGeom>
          <a:noFill/>
          <a:ln/>
        </p:spPr>
        <p:txBody>
          <a:bodyPr wrap="square" rtlCol="0" anchor="ctr"/>
          <a:lstStyle/>
          <a:p>
            <a:pPr indent="0" marL="0">
              <a:buNone/>
            </a:pPr>
            <a:r>
              <a:rPr lang="en-US" sz="1450" b="1" dirty="0">
                <a:solidFill>
                  <a:srgbClr val="D31242"/>
                </a:solidFill>
                <a:latin typeface="Arial" pitchFamily="34" charset="0"/>
                <a:ea typeface="Arial" pitchFamily="34" charset="-122"/>
                <a:cs typeface="Arial" pitchFamily="34" charset="-120"/>
              </a:rPr>
              <a:t>Give-an-out</a:t>
            </a:r>
            <a:endParaRPr lang="en-US" sz="1450" dirty="0"/>
          </a:p>
        </p:txBody>
      </p:sp>
      <p:sp>
        <p:nvSpPr>
          <p:cNvPr id="12" name="Text 10"/>
          <p:cNvSpPr/>
          <p:nvPr/>
        </p:nvSpPr>
        <p:spPr>
          <a:xfrm>
            <a:off x="841248" y="4407408"/>
            <a:ext cx="4796028" cy="1005840"/>
          </a:xfrm>
          <a:prstGeom prst="rect">
            <a:avLst/>
          </a:prstGeom>
          <a:noFill/>
          <a:ln/>
        </p:spPr>
        <p:txBody>
          <a:bodyPr wrap="square" rtlCol="0" anchor="ctr"/>
          <a:lstStyle/>
          <a:p>
            <a:pPr indent="0" marL="0">
              <a:lnSpc>
                <a:spcPts val="1700"/>
              </a:lnSpc>
              <a:buNone/>
            </a:pPr>
            <a:r>
              <a:rPr lang="en-US" sz="1250" i="1" dirty="0">
                <a:solidFill>
                  <a:srgbClr val="1F2733"/>
                </a:solidFill>
                <a:latin typeface="Arial" pitchFamily="34" charset="0"/>
                <a:ea typeface="Arial" pitchFamily="34" charset="-122"/>
                <a:cs typeface="Arial" pitchFamily="34" charset="-120"/>
              </a:rPr>
              <a:t>"If it's not stated, write 'Not stated in the source.'"</a:t>
            </a:r>
            <a:endParaRPr lang="en-US" sz="1250" dirty="0"/>
          </a:p>
        </p:txBody>
      </p:sp>
      <p:sp>
        <p:nvSpPr>
          <p:cNvPr id="13" name="Shape 11"/>
          <p:cNvSpPr/>
          <p:nvPr/>
        </p:nvSpPr>
        <p:spPr>
          <a:xfrm>
            <a:off x="6277356" y="3749040"/>
            <a:ext cx="5344668" cy="1828800"/>
          </a:xfrm>
          <a:prstGeom prst="roundRect">
            <a:avLst>
              <a:gd name="adj" fmla="val 45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6551676" y="3950208"/>
            <a:ext cx="4796028" cy="411480"/>
          </a:xfrm>
          <a:prstGeom prst="rect">
            <a:avLst/>
          </a:prstGeom>
          <a:noFill/>
          <a:ln/>
        </p:spPr>
        <p:txBody>
          <a:bodyPr wrap="square" rtlCol="0" anchor="ctr"/>
          <a:lstStyle/>
          <a:p>
            <a:pPr indent="0" marL="0">
              <a:buNone/>
            </a:pPr>
            <a:r>
              <a:rPr lang="en-US" sz="1450" b="1" dirty="0">
                <a:solidFill>
                  <a:srgbClr val="D31242"/>
                </a:solidFill>
                <a:latin typeface="Arial" pitchFamily="34" charset="0"/>
                <a:ea typeface="Arial" pitchFamily="34" charset="-122"/>
                <a:cs typeface="Arial" pitchFamily="34" charset="-120"/>
              </a:rPr>
              <a:t>Facts vs. assumptions</a:t>
            </a:r>
            <a:endParaRPr lang="en-US" sz="1450" dirty="0"/>
          </a:p>
        </p:txBody>
      </p:sp>
      <p:sp>
        <p:nvSpPr>
          <p:cNvPr id="15" name="Text 13"/>
          <p:cNvSpPr/>
          <p:nvPr/>
        </p:nvSpPr>
        <p:spPr>
          <a:xfrm>
            <a:off x="6551676" y="4407408"/>
            <a:ext cx="4796028" cy="1005840"/>
          </a:xfrm>
          <a:prstGeom prst="rect">
            <a:avLst/>
          </a:prstGeom>
          <a:noFill/>
          <a:ln/>
        </p:spPr>
        <p:txBody>
          <a:bodyPr wrap="square" rtlCol="0" anchor="ctr"/>
          <a:lstStyle/>
          <a:p>
            <a:pPr indent="0" marL="0">
              <a:lnSpc>
                <a:spcPts val="1700"/>
              </a:lnSpc>
              <a:buNone/>
            </a:pPr>
            <a:r>
              <a:rPr lang="en-US" sz="1250" i="1" dirty="0">
                <a:solidFill>
                  <a:srgbClr val="1F2733"/>
                </a:solidFill>
                <a:latin typeface="Arial" pitchFamily="34" charset="0"/>
                <a:ea typeface="Arial" pitchFamily="34" charset="-122"/>
                <a:cs typeface="Arial" pitchFamily="34" charset="-120"/>
              </a:rPr>
              <a:t>"Separate what the source says from anything you inferred."</a:t>
            </a:r>
            <a:endParaRPr lang="en-US" sz="1250" dirty="0"/>
          </a:p>
        </p:txBody>
      </p:sp>
      <p:sp>
        <p:nvSpPr>
          <p:cNvPr id="16" name="Text 14"/>
          <p:cNvSpPr/>
          <p:nvPr/>
        </p:nvSpPr>
        <p:spPr>
          <a:xfrm>
            <a:off x="566928" y="5715000"/>
            <a:ext cx="11055096" cy="365760"/>
          </a:xfrm>
          <a:prstGeom prst="rect">
            <a:avLst/>
          </a:prstGeom>
          <a:noFill/>
          <a:ln/>
        </p:spPr>
        <p:txBody>
          <a:bodyPr wrap="square" rtlCol="0" anchor="ctr"/>
          <a:lstStyle/>
          <a:p>
            <a:pPr algn="ctr" indent="0" marL="0">
              <a:buNone/>
            </a:pPr>
            <a:r>
              <a:rPr lang="en-US" sz="1200" b="1" dirty="0">
                <a:solidFill>
                  <a:srgbClr val="1F2733"/>
                </a:solidFill>
                <a:latin typeface="Arial" pitchFamily="34" charset="0"/>
                <a:ea typeface="Arial" pitchFamily="34" charset="-122"/>
                <a:cs typeface="Arial" pitchFamily="34" charset="-120"/>
              </a:rPr>
              <a:t>This cluster is your safety net for policy, HR, legal, ops, and member-facing content — it's how you keep Claude from confidently inventing details.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T5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Extract → Transform → Produce</a:t>
            </a:r>
            <a:endParaRPr lang="en-US" sz="2700" dirty="0"/>
          </a:p>
        </p:txBody>
      </p:sp>
      <p:sp>
        <p:nvSpPr>
          <p:cNvPr id="4" name="Shape 2"/>
          <p:cNvSpPr/>
          <p:nvPr/>
        </p:nvSpPr>
        <p:spPr>
          <a:xfrm>
            <a:off x="566928" y="1737360"/>
            <a:ext cx="3471672" cy="3383280"/>
          </a:xfrm>
          <a:prstGeom prst="roundRect">
            <a:avLst>
              <a:gd name="adj" fmla="val 243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Shape 3"/>
          <p:cNvSpPr/>
          <p:nvPr/>
        </p:nvSpPr>
        <p:spPr>
          <a:xfrm>
            <a:off x="2028444" y="2029968"/>
            <a:ext cx="548640" cy="548640"/>
          </a:xfrm>
          <a:prstGeom prst="ellipse">
            <a:avLst/>
          </a:prstGeom>
          <a:solidFill>
            <a:srgbClr val="D31242"/>
          </a:solidFill>
          <a:ln/>
        </p:spPr>
      </p:sp>
      <p:sp>
        <p:nvSpPr>
          <p:cNvPr id="6" name="Text 4"/>
          <p:cNvSpPr/>
          <p:nvPr/>
        </p:nvSpPr>
        <p:spPr>
          <a:xfrm>
            <a:off x="2028444" y="20299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704088" y="2743200"/>
            <a:ext cx="3197352" cy="411480"/>
          </a:xfrm>
          <a:prstGeom prst="rect">
            <a:avLst/>
          </a:prstGeom>
          <a:noFill/>
          <a:ln/>
        </p:spPr>
        <p:txBody>
          <a:bodyPr wrap="square"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Extract</a:t>
            </a:r>
            <a:endParaRPr lang="en-US" sz="1600" dirty="0"/>
          </a:p>
        </p:txBody>
      </p:sp>
      <p:sp>
        <p:nvSpPr>
          <p:cNvPr id="8" name="Text 6"/>
          <p:cNvSpPr/>
          <p:nvPr/>
        </p:nvSpPr>
        <p:spPr>
          <a:xfrm>
            <a:off x="749808" y="3154680"/>
            <a:ext cx="3105912" cy="822960"/>
          </a:xfrm>
          <a:prstGeom prst="rect">
            <a:avLst/>
          </a:prstGeom>
          <a:noFill/>
          <a:ln/>
        </p:spPr>
        <p:txBody>
          <a:bodyPr wrap="square" rtlCol="0" anchor="ctr"/>
          <a:lstStyle/>
          <a:p>
            <a:pPr algn="ctr" indent="0" marL="0">
              <a:lnSpc>
                <a:spcPts val="1600"/>
              </a:lnSpc>
              <a:buNone/>
            </a:pPr>
            <a:r>
              <a:rPr lang="en-US" sz="1200" dirty="0">
                <a:solidFill>
                  <a:srgbClr val="3A4452"/>
                </a:solidFill>
                <a:latin typeface="Arial" pitchFamily="34" charset="0"/>
                <a:ea typeface="Arial" pitchFamily="34" charset="-122"/>
                <a:cs typeface="Arial" pitchFamily="34" charset="-120"/>
              </a:rPr>
              <a:t>Pull the relevant facts from the source</a:t>
            </a:r>
            <a:endParaRPr lang="en-US" sz="1200" dirty="0"/>
          </a:p>
        </p:txBody>
      </p:sp>
      <p:sp>
        <p:nvSpPr>
          <p:cNvPr id="9" name="Text 7"/>
          <p:cNvSpPr/>
          <p:nvPr/>
        </p:nvSpPr>
        <p:spPr>
          <a:xfrm>
            <a:off x="749808" y="4023360"/>
            <a:ext cx="3105912" cy="1005840"/>
          </a:xfrm>
          <a:prstGeom prst="rect">
            <a:avLst/>
          </a:prstGeom>
          <a:noFill/>
          <a:ln/>
        </p:spPr>
        <p:txBody>
          <a:bodyPr wrap="square" rtlCol="0" anchor="ctr"/>
          <a:lstStyle/>
          <a:p>
            <a:pPr algn="ctr" indent="0" marL="0">
              <a:lnSpc>
                <a:spcPts val="1300"/>
              </a:lnSpc>
              <a:buNone/>
            </a:pPr>
            <a:r>
              <a:rPr lang="en-US" sz="1000" i="1" dirty="0">
                <a:solidFill>
                  <a:srgbClr val="5E6A78"/>
                </a:solidFill>
                <a:latin typeface="Courier New" pitchFamily="34" charset="0"/>
                <a:ea typeface="Courier New" pitchFamily="34" charset="-122"/>
                <a:cs typeface="Courier New" pitchFamily="34" charset="-120"/>
              </a:rPr>
              <a:t>"List the schedule changes and dates from the &lt;bulletin&gt;."</a:t>
            </a:r>
            <a:endParaRPr lang="en-US" sz="1000" dirty="0"/>
          </a:p>
        </p:txBody>
      </p:sp>
      <p:sp>
        <p:nvSpPr>
          <p:cNvPr id="10" name="Shape 8"/>
          <p:cNvSpPr/>
          <p:nvPr/>
        </p:nvSpPr>
        <p:spPr>
          <a:xfrm>
            <a:off x="4358640" y="1737360"/>
            <a:ext cx="3471672" cy="3383280"/>
          </a:xfrm>
          <a:prstGeom prst="roundRect">
            <a:avLst>
              <a:gd name="adj" fmla="val 243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Shape 9"/>
          <p:cNvSpPr/>
          <p:nvPr/>
        </p:nvSpPr>
        <p:spPr>
          <a:xfrm>
            <a:off x="5820156" y="2029968"/>
            <a:ext cx="548640" cy="548640"/>
          </a:xfrm>
          <a:prstGeom prst="ellipse">
            <a:avLst/>
          </a:prstGeom>
          <a:solidFill>
            <a:srgbClr val="D31242"/>
          </a:solidFill>
          <a:ln/>
        </p:spPr>
      </p:sp>
      <p:sp>
        <p:nvSpPr>
          <p:cNvPr id="12" name="Text 10"/>
          <p:cNvSpPr/>
          <p:nvPr/>
        </p:nvSpPr>
        <p:spPr>
          <a:xfrm>
            <a:off x="5820156" y="20299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4495800" y="2743200"/>
            <a:ext cx="3197352" cy="411480"/>
          </a:xfrm>
          <a:prstGeom prst="rect">
            <a:avLst/>
          </a:prstGeom>
          <a:noFill/>
          <a:ln/>
        </p:spPr>
        <p:txBody>
          <a:bodyPr wrap="square"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Transform</a:t>
            </a:r>
            <a:endParaRPr lang="en-US" sz="1600" dirty="0"/>
          </a:p>
        </p:txBody>
      </p:sp>
      <p:sp>
        <p:nvSpPr>
          <p:cNvPr id="14" name="Text 12"/>
          <p:cNvSpPr/>
          <p:nvPr/>
        </p:nvSpPr>
        <p:spPr>
          <a:xfrm>
            <a:off x="4541520" y="3154680"/>
            <a:ext cx="3105912" cy="822960"/>
          </a:xfrm>
          <a:prstGeom prst="rect">
            <a:avLst/>
          </a:prstGeom>
          <a:noFill/>
          <a:ln/>
        </p:spPr>
        <p:txBody>
          <a:bodyPr wrap="square" rtlCol="0" anchor="ctr"/>
          <a:lstStyle/>
          <a:p>
            <a:pPr algn="ctr" indent="0" marL="0">
              <a:lnSpc>
                <a:spcPts val="1600"/>
              </a:lnSpc>
              <a:buNone/>
            </a:pPr>
            <a:r>
              <a:rPr lang="en-US" sz="1200" dirty="0">
                <a:solidFill>
                  <a:srgbClr val="3A4452"/>
                </a:solidFill>
                <a:latin typeface="Arial" pitchFamily="34" charset="0"/>
                <a:ea typeface="Arial" pitchFamily="34" charset="-122"/>
                <a:cs typeface="Arial" pitchFamily="34" charset="-120"/>
              </a:rPr>
              <a:t>Reshape them into the target structure</a:t>
            </a:r>
            <a:endParaRPr lang="en-US" sz="1200" dirty="0"/>
          </a:p>
        </p:txBody>
      </p:sp>
      <p:sp>
        <p:nvSpPr>
          <p:cNvPr id="15" name="Text 13"/>
          <p:cNvSpPr/>
          <p:nvPr/>
        </p:nvSpPr>
        <p:spPr>
          <a:xfrm>
            <a:off x="4541520" y="4023360"/>
            <a:ext cx="3105912" cy="1005840"/>
          </a:xfrm>
          <a:prstGeom prst="rect">
            <a:avLst/>
          </a:prstGeom>
          <a:noFill/>
          <a:ln/>
        </p:spPr>
        <p:txBody>
          <a:bodyPr wrap="square" rtlCol="0" anchor="ctr"/>
          <a:lstStyle/>
          <a:p>
            <a:pPr algn="ctr" indent="0" marL="0">
              <a:lnSpc>
                <a:spcPts val="1300"/>
              </a:lnSpc>
              <a:buNone/>
            </a:pPr>
            <a:r>
              <a:rPr lang="en-US" sz="1000" i="1" dirty="0">
                <a:solidFill>
                  <a:srgbClr val="5E6A78"/>
                </a:solidFill>
                <a:latin typeface="Courier New" pitchFamily="34" charset="0"/>
                <a:ea typeface="Courier New" pitchFamily="34" charset="-122"/>
                <a:cs typeface="Courier New" pitchFamily="34" charset="-120"/>
              </a:rPr>
              <a:t>"Group them by department."</a:t>
            </a:r>
            <a:endParaRPr lang="en-US" sz="1000" dirty="0"/>
          </a:p>
        </p:txBody>
      </p:sp>
      <p:sp>
        <p:nvSpPr>
          <p:cNvPr id="16" name="Shape 14"/>
          <p:cNvSpPr/>
          <p:nvPr/>
        </p:nvSpPr>
        <p:spPr>
          <a:xfrm>
            <a:off x="8150352" y="1737360"/>
            <a:ext cx="3471672" cy="3383280"/>
          </a:xfrm>
          <a:prstGeom prst="roundRect">
            <a:avLst>
              <a:gd name="adj" fmla="val 243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Shape 15"/>
          <p:cNvSpPr/>
          <p:nvPr/>
        </p:nvSpPr>
        <p:spPr>
          <a:xfrm>
            <a:off x="9611868" y="2029968"/>
            <a:ext cx="548640" cy="548640"/>
          </a:xfrm>
          <a:prstGeom prst="ellipse">
            <a:avLst/>
          </a:prstGeom>
          <a:solidFill>
            <a:srgbClr val="D31242"/>
          </a:solidFill>
          <a:ln/>
        </p:spPr>
      </p:sp>
      <p:sp>
        <p:nvSpPr>
          <p:cNvPr id="18" name="Text 16"/>
          <p:cNvSpPr/>
          <p:nvPr/>
        </p:nvSpPr>
        <p:spPr>
          <a:xfrm>
            <a:off x="9611868" y="20299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8287512" y="2743200"/>
            <a:ext cx="3197352" cy="411480"/>
          </a:xfrm>
          <a:prstGeom prst="rect">
            <a:avLst/>
          </a:prstGeom>
          <a:noFill/>
          <a:ln/>
        </p:spPr>
        <p:txBody>
          <a:bodyPr wrap="square" rtlCol="0" anchor="ctr"/>
          <a:lstStyle/>
          <a:p>
            <a:pPr algn="ctr" indent="0" marL="0">
              <a:buNone/>
            </a:pPr>
            <a:r>
              <a:rPr lang="en-US" sz="1600" b="1" dirty="0">
                <a:solidFill>
                  <a:srgbClr val="D31242"/>
                </a:solidFill>
                <a:latin typeface="Arial" pitchFamily="34" charset="0"/>
                <a:ea typeface="Arial" pitchFamily="34" charset="-122"/>
                <a:cs typeface="Arial" pitchFamily="34" charset="-120"/>
              </a:rPr>
              <a:t>Produce</a:t>
            </a:r>
            <a:endParaRPr lang="en-US" sz="1600" dirty="0"/>
          </a:p>
        </p:txBody>
      </p:sp>
      <p:sp>
        <p:nvSpPr>
          <p:cNvPr id="20" name="Text 18"/>
          <p:cNvSpPr/>
          <p:nvPr/>
        </p:nvSpPr>
        <p:spPr>
          <a:xfrm>
            <a:off x="8333232" y="3154680"/>
            <a:ext cx="3105912" cy="822960"/>
          </a:xfrm>
          <a:prstGeom prst="rect">
            <a:avLst/>
          </a:prstGeom>
          <a:noFill/>
          <a:ln/>
        </p:spPr>
        <p:txBody>
          <a:bodyPr wrap="square" rtlCol="0" anchor="ctr"/>
          <a:lstStyle/>
          <a:p>
            <a:pPr algn="ctr" indent="0" marL="0">
              <a:lnSpc>
                <a:spcPts val="1600"/>
              </a:lnSpc>
              <a:buNone/>
            </a:pPr>
            <a:r>
              <a:rPr lang="en-US" sz="1200" dirty="0">
                <a:solidFill>
                  <a:srgbClr val="3A4452"/>
                </a:solidFill>
                <a:latin typeface="Arial" pitchFamily="34" charset="0"/>
                <a:ea typeface="Arial" pitchFamily="34" charset="-122"/>
                <a:cs typeface="Arial" pitchFamily="34" charset="-120"/>
              </a:rPr>
              <a:t>Write the final deliverable</a:t>
            </a:r>
            <a:endParaRPr lang="en-US" sz="1200" dirty="0"/>
          </a:p>
        </p:txBody>
      </p:sp>
      <p:sp>
        <p:nvSpPr>
          <p:cNvPr id="21" name="Text 19"/>
          <p:cNvSpPr/>
          <p:nvPr/>
        </p:nvSpPr>
        <p:spPr>
          <a:xfrm>
            <a:off x="8333232" y="4023360"/>
            <a:ext cx="3105912" cy="1005840"/>
          </a:xfrm>
          <a:prstGeom prst="rect">
            <a:avLst/>
          </a:prstGeom>
          <a:noFill/>
          <a:ln/>
        </p:spPr>
        <p:txBody>
          <a:bodyPr wrap="square" rtlCol="0" anchor="ctr"/>
          <a:lstStyle/>
          <a:p>
            <a:pPr algn="ctr" indent="0" marL="0">
              <a:lnSpc>
                <a:spcPts val="1300"/>
              </a:lnSpc>
              <a:buNone/>
            </a:pPr>
            <a:r>
              <a:rPr lang="en-US" sz="1000" i="1" dirty="0">
                <a:solidFill>
                  <a:srgbClr val="5E6A78"/>
                </a:solidFill>
                <a:latin typeface="Courier New" pitchFamily="34" charset="0"/>
                <a:ea typeface="Courier New" pitchFamily="34" charset="-122"/>
                <a:cs typeface="Courier New" pitchFamily="34" charset="-120"/>
              </a:rPr>
              <a:t>"Write the associate announcement from that."</a:t>
            </a:r>
            <a:endParaRPr lang="en-US" sz="1000" dirty="0"/>
          </a:p>
        </p:txBody>
      </p:sp>
      <p:sp>
        <p:nvSpPr>
          <p:cNvPr id="22" name="Text 20"/>
          <p:cNvSpPr/>
          <p:nvPr/>
        </p:nvSpPr>
        <p:spPr>
          <a:xfrm>
            <a:off x="566928" y="5440680"/>
            <a:ext cx="11055096" cy="365760"/>
          </a:xfrm>
          <a:prstGeom prst="rect">
            <a:avLst/>
          </a:prstGeom>
          <a:noFill/>
          <a:ln/>
        </p:spPr>
        <p:txBody>
          <a:bodyPr wrap="square" rtlCol="0" anchor="ctr"/>
          <a:lstStyle/>
          <a:p>
            <a:pPr algn="ctr" indent="0" marL="0">
              <a:buNone/>
            </a:pPr>
            <a:r>
              <a:rPr lang="en-US" sz="1250" b="1" dirty="0">
                <a:solidFill>
                  <a:srgbClr val="1F2733"/>
                </a:solidFill>
                <a:latin typeface="Arial" pitchFamily="34" charset="0"/>
                <a:ea typeface="Arial" pitchFamily="34" charset="-122"/>
                <a:cs typeface="Arial" pitchFamily="34" charset="-120"/>
              </a:rPr>
              <a:t>One prompt, three sequenced steps — more reliable than a single instruction, lighter than a full prompt chain.</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T5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Map-reduce — for documents too long to do in one pass</a:t>
            </a:r>
            <a:endParaRPr lang="en-US" sz="2700" dirty="0"/>
          </a:p>
        </p:txBody>
      </p:sp>
      <p:sp>
        <p:nvSpPr>
          <p:cNvPr id="4" name="Shape 2"/>
          <p:cNvSpPr/>
          <p:nvPr/>
        </p:nvSpPr>
        <p:spPr>
          <a:xfrm>
            <a:off x="566928" y="1600200"/>
            <a:ext cx="5486400" cy="4023360"/>
          </a:xfrm>
          <a:prstGeom prst="roundRect">
            <a:avLst>
              <a:gd name="adj" fmla="val 2045"/>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550" b="1" dirty="0">
                <a:solidFill>
                  <a:srgbClr val="1F2733"/>
                </a:solidFill>
                <a:latin typeface="Arial" pitchFamily="34" charset="0"/>
                <a:ea typeface="Arial" pitchFamily="34" charset="-122"/>
                <a:cs typeface="Arial" pitchFamily="34" charset="-120"/>
              </a:rPr>
              <a:t>Chunk → summarize → combine</a:t>
            </a:r>
            <a:endParaRPr lang="en-US" sz="1550" dirty="0"/>
          </a:p>
        </p:txBody>
      </p:sp>
      <p:sp>
        <p:nvSpPr>
          <p:cNvPr id="6" name="Text 4"/>
          <p:cNvSpPr/>
          <p:nvPr/>
        </p:nvSpPr>
        <p:spPr>
          <a:xfrm>
            <a:off x="841248" y="2240280"/>
            <a:ext cx="4983480" cy="3200400"/>
          </a:xfrm>
          <a:prstGeom prst="rect">
            <a:avLst/>
          </a:prstGeom>
          <a:noFill/>
          <a:ln/>
        </p:spPr>
        <p:txBody>
          <a:bodyPr wrap="square" rtlCol="0" anchor="t"/>
          <a:lstStyle/>
          <a:p>
            <a:pPr indent="0" marL="0">
              <a:lnSpc>
                <a:spcPts val="2000"/>
              </a:lnSpc>
              <a:buNone/>
            </a:pPr>
            <a:r>
              <a:rPr lang="en-US" sz="1350" b="1" dirty="0">
                <a:solidFill>
                  <a:srgbClr val="D31242"/>
                </a:solidFill>
                <a:latin typeface="Arial" pitchFamily="34" charset="0"/>
                <a:ea typeface="Arial" pitchFamily="34" charset="-122"/>
                <a:cs typeface="Arial" pitchFamily="34" charset="-120"/>
              </a:rPr>
              <a:t>1. </a:t>
            </a:r>
            <a:pPr indent="0" marL="0">
              <a:lnSpc>
                <a:spcPts val="2000"/>
              </a:lnSpc>
              <a:buNone/>
            </a:pPr>
            <a:r>
              <a:rPr lang="en-US" sz="1350" dirty="0">
                <a:solidFill>
                  <a:srgbClr val="3A4452"/>
                </a:solidFill>
                <a:latin typeface="Arial" pitchFamily="34" charset="0"/>
                <a:ea typeface="Arial" pitchFamily="34" charset="-122"/>
                <a:cs typeface="Arial" pitchFamily="34" charset="-120"/>
              </a:rPr>
              <a:t>Split the long doc into sections.</a:t>
            </a:r>
            <a:endParaRPr lang="en-US" sz="1350" dirty="0"/>
          </a:p>
          <a:p>
            <a:pPr indent="0" marL="0">
              <a:lnSpc>
                <a:spcPts val="2000"/>
              </a:lnSpc>
              <a:buNone/>
            </a:pPr>
            <a:r>
              <a:rPr lang="en-US" sz="1350" b="1" dirty="0">
                <a:solidFill>
                  <a:srgbClr val="D31242"/>
                </a:solidFill>
                <a:latin typeface="Arial" pitchFamily="34" charset="0"/>
                <a:ea typeface="Arial" pitchFamily="34" charset="-122"/>
                <a:cs typeface="Arial" pitchFamily="34" charset="-120"/>
              </a:rPr>
              <a:t>2. </a:t>
            </a:r>
            <a:pPr indent="0" marL="0">
              <a:lnSpc>
                <a:spcPts val="2000"/>
              </a:lnSpc>
              <a:buNone/>
            </a:pPr>
            <a:r>
              <a:rPr lang="en-US" sz="1350" dirty="0">
                <a:solidFill>
                  <a:srgbClr val="3A4452"/>
                </a:solidFill>
                <a:latin typeface="Arial" pitchFamily="34" charset="0"/>
                <a:ea typeface="Arial" pitchFamily="34" charset="-122"/>
                <a:cs typeface="Arial" pitchFamily="34" charset="-120"/>
              </a:rPr>
              <a:t>Summarize each section (map).</a:t>
            </a:r>
            <a:endParaRPr lang="en-US" sz="1350" dirty="0"/>
          </a:p>
          <a:p>
            <a:pPr indent="0" marL="0">
              <a:lnSpc>
                <a:spcPts val="2000"/>
              </a:lnSpc>
              <a:buNone/>
            </a:pPr>
            <a:r>
              <a:rPr lang="en-US" sz="1350" b="1" dirty="0">
                <a:solidFill>
                  <a:srgbClr val="D31242"/>
                </a:solidFill>
                <a:latin typeface="Arial" pitchFamily="34" charset="0"/>
                <a:ea typeface="Arial" pitchFamily="34" charset="-122"/>
                <a:cs typeface="Arial" pitchFamily="34" charset="-120"/>
              </a:rPr>
              <a:t>3. </a:t>
            </a:r>
            <a:pPr indent="0" marL="0">
              <a:lnSpc>
                <a:spcPts val="2000"/>
              </a:lnSpc>
              <a:buNone/>
            </a:pPr>
            <a:r>
              <a:rPr lang="en-US" sz="1350" dirty="0">
                <a:solidFill>
                  <a:srgbClr val="3A4452"/>
                </a:solidFill>
                <a:latin typeface="Arial" pitchFamily="34" charset="0"/>
                <a:ea typeface="Arial" pitchFamily="34" charset="-122"/>
                <a:cs typeface="Arial" pitchFamily="34" charset="-120"/>
              </a:rPr>
              <a:t>Combine the summaries into one (reduce).</a:t>
            </a:r>
            <a:endParaRPr lang="en-US" sz="1350" dirty="0"/>
          </a:p>
          <a:p>
            <a:pPr indent="0" marL="0">
              <a:lnSpc>
                <a:spcPts val="2000"/>
              </a:lnSpc>
              <a:buNone/>
            </a:pPr>
            <a:endParaRPr lang="en-US" sz="1350" dirty="0"/>
          </a:p>
          <a:p>
            <a:pPr indent="0" marL="0">
              <a:lnSpc>
                <a:spcPts val="2000"/>
              </a:lnSpc>
              <a:buNone/>
            </a:pPr>
            <a:r>
              <a:rPr lang="en-US" sz="1350" dirty="0">
                <a:solidFill>
                  <a:srgbClr val="3A4452"/>
                </a:solidFill>
                <a:latin typeface="Arial" pitchFamily="34" charset="0"/>
                <a:ea typeface="Arial" pitchFamily="34" charset="-122"/>
                <a:cs typeface="Arial" pitchFamily="34" charset="-120"/>
              </a:rPr>
              <a:t>Gives even coverage instead of the model skimming a huge document.</a:t>
            </a:r>
            <a:endParaRPr lang="en-US" sz="1350" dirty="0"/>
          </a:p>
        </p:txBody>
      </p:sp>
      <p:sp>
        <p:nvSpPr>
          <p:cNvPr id="7" name="Shape 5"/>
          <p:cNvSpPr/>
          <p:nvPr/>
        </p:nvSpPr>
        <p:spPr>
          <a:xfrm>
            <a:off x="6355080" y="1600200"/>
            <a:ext cx="5486400" cy="4023360"/>
          </a:xfrm>
          <a:prstGeom prst="roundRect">
            <a:avLst>
              <a:gd name="adj" fmla="val 2045"/>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11480"/>
          </a:xfrm>
          <a:prstGeom prst="rect">
            <a:avLst/>
          </a:prstGeom>
          <a:noFill/>
          <a:ln/>
        </p:spPr>
        <p:txBody>
          <a:bodyPr wrap="square" rtlCol="0" anchor="ctr"/>
          <a:lstStyle/>
          <a:p>
            <a:pPr indent="0" marL="0">
              <a:buNone/>
            </a:pPr>
            <a:r>
              <a:rPr lang="en-US" sz="1550" b="1" dirty="0">
                <a:solidFill>
                  <a:srgbClr val="7E0A27"/>
                </a:solidFill>
                <a:latin typeface="Arial" pitchFamily="34" charset="0"/>
                <a:ea typeface="Arial" pitchFamily="34" charset="-122"/>
                <a:cs typeface="Arial" pitchFamily="34" charset="-120"/>
              </a:rPr>
              <a:t>When to reach for it</a:t>
            </a:r>
            <a:endParaRPr lang="en-US" sz="1550" dirty="0"/>
          </a:p>
        </p:txBody>
      </p:sp>
      <p:sp>
        <p:nvSpPr>
          <p:cNvPr id="9" name="Text 7"/>
          <p:cNvSpPr/>
          <p:nvPr/>
        </p:nvSpPr>
        <p:spPr>
          <a:xfrm>
            <a:off x="6675120" y="2240280"/>
            <a:ext cx="4937760" cy="3200400"/>
          </a:xfrm>
          <a:prstGeom prst="rect">
            <a:avLst/>
          </a:prstGeom>
          <a:noFill/>
          <a:ln/>
        </p:spPr>
        <p:txBody>
          <a:bodyPr wrap="square" rtlCol="0" anchor="t"/>
          <a:lstStyle/>
          <a:p>
            <a:pPr marL="342900" indent="-342900">
              <a:lnSpc>
                <a:spcPts val="2000"/>
              </a:lnSpc>
              <a:buSzPct val="100000"/>
              <a:buChar char="•"/>
            </a:pPr>
            <a:r>
              <a:rPr lang="en-US" sz="1350" dirty="0">
                <a:solidFill>
                  <a:srgbClr val="3A4452"/>
                </a:solidFill>
                <a:latin typeface="Arial" pitchFamily="34" charset="0"/>
                <a:ea typeface="Arial" pitchFamily="34" charset="-122"/>
                <a:cs typeface="Arial" pitchFamily="34" charset="-120"/>
              </a:rPr>
              <a:t>A 40-page ops manual or a long policy packet</a:t>
            </a:r>
            <a:endParaRPr lang="en-US" sz="1350" dirty="0"/>
          </a:p>
          <a:p>
            <a:pPr marL="342900" indent="-342900">
              <a:lnSpc>
                <a:spcPts val="2000"/>
              </a:lnSpc>
              <a:buSzPct val="100000"/>
              <a:buChar char="•"/>
            </a:pPr>
            <a:r>
              <a:rPr lang="en-US" sz="1350" dirty="0">
                <a:solidFill>
                  <a:srgbClr val="3A4452"/>
                </a:solidFill>
                <a:latin typeface="Arial" pitchFamily="34" charset="0"/>
                <a:ea typeface="Arial" pitchFamily="34" charset="-122"/>
                <a:cs typeface="Arial" pitchFamily="34" charset="-120"/>
              </a:rPr>
              <a:t>Many meeting-notes files at once</a:t>
            </a:r>
            <a:endParaRPr lang="en-US" sz="1350" dirty="0"/>
          </a:p>
          <a:p>
            <a:pPr marL="342900" indent="-342900">
              <a:lnSpc>
                <a:spcPts val="2000"/>
              </a:lnSpc>
              <a:buSzPct val="100000"/>
              <a:buChar char="•"/>
            </a:pPr>
            <a:r>
              <a:rPr lang="en-US" sz="1350" dirty="0">
                <a:solidFill>
                  <a:srgbClr val="3A4452"/>
                </a:solidFill>
                <a:latin typeface="Arial" pitchFamily="34" charset="0"/>
                <a:ea typeface="Arial" pitchFamily="34" charset="-122"/>
                <a:cs typeface="Arial" pitchFamily="34" charset="-120"/>
              </a:rPr>
              <a:t>Anytime a single-pass summary feels thin or misses sections</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T5 · PATTERN</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Edge-case / fallback behavior</a:t>
            </a:r>
            <a:endParaRPr lang="en-US" sz="2700" dirty="0"/>
          </a:p>
        </p:txBody>
      </p:sp>
      <p:sp>
        <p:nvSpPr>
          <p:cNvPr id="4" name="Shape 2"/>
          <p:cNvSpPr/>
          <p:nvPr/>
        </p:nvSpPr>
        <p:spPr>
          <a:xfrm>
            <a:off x="566928" y="1554480"/>
            <a:ext cx="10469880" cy="1143000"/>
          </a:xfrm>
          <a:prstGeom prst="roundRect">
            <a:avLst>
              <a:gd name="adj" fmla="val 7200"/>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664208"/>
            <a:ext cx="10058400" cy="914400"/>
          </a:xfrm>
          <a:prstGeom prst="rect">
            <a:avLst/>
          </a:prstGeom>
          <a:noFill/>
          <a:ln/>
        </p:spPr>
        <p:txBody>
          <a:bodyPr wrap="square" rtlCol="0" anchor="ctr"/>
          <a:lstStyle/>
          <a:p>
            <a:pPr indent="0" marL="0">
              <a:buNone/>
            </a:pPr>
            <a:r>
              <a:rPr lang="en-US" sz="1450" b="1" dirty="0">
                <a:solidFill>
                  <a:srgbClr val="7E0A27"/>
                </a:solidFill>
                <a:latin typeface="Arial" pitchFamily="34" charset="0"/>
                <a:ea typeface="Arial" pitchFamily="34" charset="-122"/>
                <a:cs typeface="Arial" pitchFamily="34" charset="-120"/>
              </a:rPr>
              <a:t>Tell Claude what to do with exceptions </a:t>
            </a:r>
            <a:pPr indent="0" marL="0">
              <a:buNone/>
            </a:pPr>
            <a:r>
              <a:rPr lang="en-US" sz="1450" dirty="0">
                <a:solidFill>
                  <a:srgbClr val="1F2733"/>
                </a:solidFill>
                <a:latin typeface="Arial" pitchFamily="34" charset="0"/>
                <a:ea typeface="Arial" pitchFamily="34" charset="-122"/>
                <a:cs typeface="Arial" pitchFamily="34" charset="-120"/>
              </a:rPr>
              <a:t>— so it flags problems instead of guessing.</a:t>
            </a:r>
            <a:endParaRPr lang="en-US" sz="1450" dirty="0"/>
          </a:p>
        </p:txBody>
      </p:sp>
      <p:sp>
        <p:nvSpPr>
          <p:cNvPr id="6" name="Shape 4"/>
          <p:cNvSpPr/>
          <p:nvPr/>
        </p:nvSpPr>
        <p:spPr>
          <a:xfrm>
            <a:off x="566928" y="2926080"/>
            <a:ext cx="3471672" cy="2377440"/>
          </a:xfrm>
          <a:prstGeom prst="roundRect">
            <a:avLst>
              <a:gd name="adj" fmla="val 346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795528" y="3127248"/>
            <a:ext cx="301447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Unclear source</a:t>
            </a:r>
            <a:endParaRPr lang="en-US" sz="1400" dirty="0"/>
          </a:p>
        </p:txBody>
      </p:sp>
      <p:sp>
        <p:nvSpPr>
          <p:cNvPr id="8" name="Text 6"/>
          <p:cNvSpPr/>
          <p:nvPr/>
        </p:nvSpPr>
        <p:spPr>
          <a:xfrm>
            <a:off x="795528" y="3611880"/>
            <a:ext cx="3014472" cy="1554480"/>
          </a:xfrm>
          <a:prstGeom prst="rect">
            <a:avLst/>
          </a:prstGeom>
          <a:noFill/>
          <a:ln/>
        </p:spPr>
        <p:txBody>
          <a:bodyPr wrap="square" rtlCol="0" anchor="ctr"/>
          <a:lstStyle/>
          <a:p>
            <a:pPr indent="0" marL="0">
              <a:lnSpc>
                <a:spcPts val="1700"/>
              </a:lnSpc>
              <a:buNone/>
            </a:pPr>
            <a:r>
              <a:rPr lang="en-US" sz="1250" i="1" dirty="0">
                <a:solidFill>
                  <a:srgbClr val="1F2733"/>
                </a:solidFill>
                <a:latin typeface="Arial" pitchFamily="34" charset="0"/>
                <a:ea typeface="Arial" pitchFamily="34" charset="-122"/>
                <a:cs typeface="Arial" pitchFamily="34" charset="-120"/>
              </a:rPr>
              <a:t>"If the source is ambiguous, ask me a clarifying question first."</a:t>
            </a:r>
            <a:endParaRPr lang="en-US" sz="1250" dirty="0"/>
          </a:p>
        </p:txBody>
      </p:sp>
      <p:sp>
        <p:nvSpPr>
          <p:cNvPr id="9" name="Shape 7"/>
          <p:cNvSpPr/>
          <p:nvPr/>
        </p:nvSpPr>
        <p:spPr>
          <a:xfrm>
            <a:off x="4358640" y="2926080"/>
            <a:ext cx="3471672" cy="2377440"/>
          </a:xfrm>
          <a:prstGeom prst="roundRect">
            <a:avLst>
              <a:gd name="adj" fmla="val 346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Text 8"/>
          <p:cNvSpPr/>
          <p:nvPr/>
        </p:nvSpPr>
        <p:spPr>
          <a:xfrm>
            <a:off x="4587240" y="3127248"/>
            <a:ext cx="301447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Missing data</a:t>
            </a:r>
            <a:endParaRPr lang="en-US" sz="1400" dirty="0"/>
          </a:p>
        </p:txBody>
      </p:sp>
      <p:sp>
        <p:nvSpPr>
          <p:cNvPr id="11" name="Text 9"/>
          <p:cNvSpPr/>
          <p:nvPr/>
        </p:nvSpPr>
        <p:spPr>
          <a:xfrm>
            <a:off x="4587240" y="3611880"/>
            <a:ext cx="3014472" cy="1554480"/>
          </a:xfrm>
          <a:prstGeom prst="rect">
            <a:avLst/>
          </a:prstGeom>
          <a:noFill/>
          <a:ln/>
        </p:spPr>
        <p:txBody>
          <a:bodyPr wrap="square" rtlCol="0" anchor="ctr"/>
          <a:lstStyle/>
          <a:p>
            <a:pPr indent="0" marL="0">
              <a:lnSpc>
                <a:spcPts val="1700"/>
              </a:lnSpc>
              <a:buNone/>
            </a:pPr>
            <a:r>
              <a:rPr lang="en-US" sz="1250" i="1" dirty="0">
                <a:solidFill>
                  <a:srgbClr val="1F2733"/>
                </a:solidFill>
                <a:latin typeface="Arial" pitchFamily="34" charset="0"/>
                <a:ea typeface="Arial" pitchFamily="34" charset="-122"/>
                <a:cs typeface="Arial" pitchFamily="34" charset="-120"/>
              </a:rPr>
              <a:t>"If a due date is missing, write 'Due date not provided.'"</a:t>
            </a:r>
            <a:endParaRPr lang="en-US" sz="1250" dirty="0"/>
          </a:p>
        </p:txBody>
      </p:sp>
      <p:sp>
        <p:nvSpPr>
          <p:cNvPr id="12" name="Shape 10"/>
          <p:cNvSpPr/>
          <p:nvPr/>
        </p:nvSpPr>
        <p:spPr>
          <a:xfrm>
            <a:off x="8150352" y="2926080"/>
            <a:ext cx="3471672" cy="2377440"/>
          </a:xfrm>
          <a:prstGeom prst="roundRect">
            <a:avLst>
              <a:gd name="adj" fmla="val 3462"/>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Text 11"/>
          <p:cNvSpPr/>
          <p:nvPr/>
        </p:nvSpPr>
        <p:spPr>
          <a:xfrm>
            <a:off x="8378952" y="3127248"/>
            <a:ext cx="301447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Conflicts</a:t>
            </a:r>
            <a:endParaRPr lang="en-US" sz="1400" dirty="0"/>
          </a:p>
        </p:txBody>
      </p:sp>
      <p:sp>
        <p:nvSpPr>
          <p:cNvPr id="14" name="Text 12"/>
          <p:cNvSpPr/>
          <p:nvPr/>
        </p:nvSpPr>
        <p:spPr>
          <a:xfrm>
            <a:off x="8378952" y="3611880"/>
            <a:ext cx="3014472" cy="1554480"/>
          </a:xfrm>
          <a:prstGeom prst="rect">
            <a:avLst/>
          </a:prstGeom>
          <a:noFill/>
          <a:ln/>
        </p:spPr>
        <p:txBody>
          <a:bodyPr wrap="square" rtlCol="0" anchor="ctr"/>
          <a:lstStyle/>
          <a:p>
            <a:pPr indent="0" marL="0">
              <a:lnSpc>
                <a:spcPts val="1700"/>
              </a:lnSpc>
              <a:buNone/>
            </a:pPr>
            <a:r>
              <a:rPr lang="en-US" sz="1250" i="1" dirty="0">
                <a:solidFill>
                  <a:srgbClr val="1F2733"/>
                </a:solidFill>
                <a:latin typeface="Arial" pitchFamily="34" charset="0"/>
                <a:ea typeface="Arial" pitchFamily="34" charset="-122"/>
                <a:cs typeface="Arial" pitchFamily="34" charset="-120"/>
              </a:rPr>
              <a:t>"If instructions conflict, flag the conflict before drafting."</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CROSS-CUTTING · RELIABILITY</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Self-check &amp; confidence patterns</a:t>
            </a:r>
            <a:endParaRPr lang="en-US" sz="2700" dirty="0"/>
          </a:p>
        </p:txBody>
      </p:sp>
      <p:sp>
        <p:nvSpPr>
          <p:cNvPr id="4" name="Shape 2"/>
          <p:cNvSpPr/>
          <p:nvPr/>
        </p:nvSpPr>
        <p:spPr>
          <a:xfrm>
            <a:off x="566928" y="1600200"/>
            <a:ext cx="5486400" cy="4023360"/>
          </a:xfrm>
          <a:prstGeom prst="roundRect">
            <a:avLst>
              <a:gd name="adj" fmla="val 2045"/>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4937760" cy="411480"/>
          </a:xfrm>
          <a:prstGeom prst="rect">
            <a:avLst/>
          </a:prstGeom>
          <a:noFill/>
          <a:ln/>
        </p:spPr>
        <p:txBody>
          <a:bodyPr wrap="square" rtlCol="0" anchor="ctr"/>
          <a:lstStyle/>
          <a:p>
            <a:pPr indent="0" marL="0">
              <a:buNone/>
            </a:pPr>
            <a:r>
              <a:rPr lang="en-US" sz="1550" b="1" dirty="0">
                <a:solidFill>
                  <a:srgbClr val="D31242"/>
                </a:solidFill>
                <a:latin typeface="Arial" pitchFamily="34" charset="0"/>
                <a:ea typeface="Arial" pitchFamily="34" charset="-122"/>
                <a:cs typeface="Arial" pitchFamily="34" charset="-120"/>
              </a:rPr>
              <a:t>Rubric-as-instruction</a:t>
            </a:r>
            <a:endParaRPr lang="en-US" sz="1550" dirty="0"/>
          </a:p>
        </p:txBody>
      </p:sp>
      <p:sp>
        <p:nvSpPr>
          <p:cNvPr id="6" name="Text 4"/>
          <p:cNvSpPr/>
          <p:nvPr/>
        </p:nvSpPr>
        <p:spPr>
          <a:xfrm>
            <a:off x="841248" y="2240280"/>
            <a:ext cx="4983480" cy="3200400"/>
          </a:xfrm>
          <a:prstGeom prst="rect">
            <a:avLst/>
          </a:prstGeom>
          <a:noFill/>
          <a:ln/>
        </p:spPr>
        <p:txBody>
          <a:bodyPr wrap="square" rtlCol="0" anchor="t"/>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Put the grading criteria in the prompt and have Claude check its own draft before finalizing.</a:t>
            </a:r>
            <a:endParaRPr lang="en-US" sz="1300" dirty="0"/>
          </a:p>
          <a:p>
            <a:pPr indent="0" marL="0">
              <a:lnSpc>
                <a:spcPts val="1800"/>
              </a:lnSpc>
              <a:buNone/>
            </a:pPr>
            <a:endParaRPr lang="en-US" sz="1300" dirty="0"/>
          </a:p>
          <a:p>
            <a:pPr indent="0" marL="0">
              <a:lnSpc>
                <a:spcPts val="1800"/>
              </a:lnSpc>
              <a:buNone/>
            </a:pPr>
            <a:r>
              <a:rPr lang="en-US" sz="1300" i="1" dirty="0">
                <a:solidFill>
                  <a:srgbClr val="1F2733"/>
                </a:solidFill>
                <a:latin typeface="Arial" pitchFamily="34" charset="0"/>
                <a:ea typeface="Arial" pitchFamily="34" charset="-122"/>
                <a:cs typeface="Arial" pitchFamily="34" charset="-120"/>
              </a:rPr>
              <a:t>"Before finalizing, score your draft on accuracy, clarity, tone, and completeness — then improve it."</a:t>
            </a:r>
            <a:endParaRPr lang="en-US" sz="1300" dirty="0"/>
          </a:p>
        </p:txBody>
      </p:sp>
      <p:sp>
        <p:nvSpPr>
          <p:cNvPr id="7" name="Shape 5"/>
          <p:cNvSpPr/>
          <p:nvPr/>
        </p:nvSpPr>
        <p:spPr>
          <a:xfrm>
            <a:off x="6355080" y="1600200"/>
            <a:ext cx="5486400" cy="4023360"/>
          </a:xfrm>
          <a:prstGeom prst="roundRect">
            <a:avLst>
              <a:gd name="adj" fmla="val 2045"/>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828800"/>
            <a:ext cx="4937760" cy="411480"/>
          </a:xfrm>
          <a:prstGeom prst="rect">
            <a:avLst/>
          </a:prstGeom>
          <a:noFill/>
          <a:ln/>
        </p:spPr>
        <p:txBody>
          <a:bodyPr wrap="square" rtlCol="0" anchor="ctr"/>
          <a:lstStyle/>
          <a:p>
            <a:pPr indent="0" marL="0">
              <a:buNone/>
            </a:pPr>
            <a:r>
              <a:rPr lang="en-US" sz="1550" b="1" dirty="0">
                <a:solidFill>
                  <a:srgbClr val="D31242"/>
                </a:solidFill>
                <a:latin typeface="Arial" pitchFamily="34" charset="0"/>
                <a:ea typeface="Arial" pitchFamily="34" charset="-122"/>
                <a:cs typeface="Arial" pitchFamily="34" charset="-120"/>
              </a:rPr>
              <a:t>Confidence calibration</a:t>
            </a:r>
            <a:endParaRPr lang="en-US" sz="1550" dirty="0"/>
          </a:p>
        </p:txBody>
      </p:sp>
      <p:sp>
        <p:nvSpPr>
          <p:cNvPr id="9" name="Text 7"/>
          <p:cNvSpPr/>
          <p:nvPr/>
        </p:nvSpPr>
        <p:spPr>
          <a:xfrm>
            <a:off x="6629400" y="2240280"/>
            <a:ext cx="4983480" cy="3200400"/>
          </a:xfrm>
          <a:prstGeom prst="rect">
            <a:avLst/>
          </a:prstGeom>
          <a:noFill/>
          <a:ln/>
        </p:spPr>
        <p:txBody>
          <a:bodyPr wrap="square" rtlCol="0" anchor="t"/>
          <a:lstStyle/>
          <a:p>
            <a:pPr indent="0" marL="0">
              <a:lnSpc>
                <a:spcPts val="1800"/>
              </a:lnSpc>
              <a:buNone/>
            </a:pPr>
            <a:r>
              <a:rPr lang="en-US" sz="1300" dirty="0">
                <a:solidFill>
                  <a:srgbClr val="3A4452"/>
                </a:solidFill>
                <a:latin typeface="Arial" pitchFamily="34" charset="0"/>
                <a:ea typeface="Arial" pitchFamily="34" charset="-122"/>
                <a:cs typeface="Arial" pitchFamily="34" charset="-120"/>
              </a:rPr>
              <a:t>Ask Claude to flag what it's unsure about, so you know where to look.</a:t>
            </a:r>
            <a:endParaRPr lang="en-US" sz="1300" dirty="0"/>
          </a:p>
          <a:p>
            <a:pPr indent="0" marL="0">
              <a:lnSpc>
                <a:spcPts val="1800"/>
              </a:lnSpc>
              <a:buNone/>
            </a:pPr>
            <a:endParaRPr lang="en-US" sz="1300" dirty="0"/>
          </a:p>
          <a:p>
            <a:pPr indent="0" marL="0">
              <a:lnSpc>
                <a:spcPts val="1800"/>
              </a:lnSpc>
              <a:buNone/>
            </a:pPr>
            <a:r>
              <a:rPr lang="en-US" sz="1300" i="1" dirty="0">
                <a:solidFill>
                  <a:srgbClr val="1F2733"/>
                </a:solidFill>
                <a:latin typeface="Arial" pitchFamily="34" charset="0"/>
                <a:ea typeface="Arial" pitchFamily="34" charset="-122"/>
                <a:cs typeface="Arial" pitchFamily="34" charset="-120"/>
              </a:rPr>
              <a:t>"Mark any claim you're not fully confident about with [verify]."</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CROSS-CUTTING · FIX IT</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Prompt debugging — diagnose which block failed</a:t>
            </a:r>
            <a:endParaRPr lang="en-US" sz="2700" dirty="0"/>
          </a:p>
        </p:txBody>
      </p:sp>
      <p:sp>
        <p:nvSpPr>
          <p:cNvPr id="4" name="Shape 2"/>
          <p:cNvSpPr/>
          <p:nvPr/>
        </p:nvSpPr>
        <p:spPr>
          <a:xfrm>
            <a:off x="566928" y="1600200"/>
            <a:ext cx="3471672" cy="1874520"/>
          </a:xfrm>
          <a:prstGeom prst="roundRect">
            <a:avLst>
              <a:gd name="adj" fmla="val 439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95528" y="1801368"/>
            <a:ext cx="3014472" cy="548640"/>
          </a:xfrm>
          <a:prstGeom prst="rect">
            <a:avLst/>
          </a:prstGeom>
          <a:noFill/>
          <a:ln/>
        </p:spPr>
        <p:txBody>
          <a:bodyPr wrap="square" rtlCol="0" anchor="ctr"/>
          <a:lstStyle/>
          <a:p>
            <a:pPr indent="0" marL="0">
              <a:lnSpc>
                <a:spcPts val="1600"/>
              </a:lnSpc>
              <a:buNone/>
            </a:pPr>
            <a:r>
              <a:rPr lang="en-US" sz="1350" b="1" dirty="0">
                <a:solidFill>
                  <a:srgbClr val="D31242"/>
                </a:solidFill>
                <a:latin typeface="Arial" pitchFamily="34" charset="0"/>
                <a:ea typeface="Arial" pitchFamily="34" charset="-122"/>
                <a:cs typeface="Arial" pitchFamily="34" charset="-120"/>
              </a:rPr>
              <a:t>Output too generic?</a:t>
            </a:r>
            <a:endParaRPr lang="en-US" sz="1350" dirty="0"/>
          </a:p>
        </p:txBody>
      </p:sp>
      <p:sp>
        <p:nvSpPr>
          <p:cNvPr id="6" name="Text 4"/>
          <p:cNvSpPr/>
          <p:nvPr/>
        </p:nvSpPr>
        <p:spPr>
          <a:xfrm>
            <a:off x="795528" y="2423160"/>
            <a:ext cx="3014472" cy="91440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Weak task or missing context — add specifics</a:t>
            </a:r>
            <a:endParaRPr lang="en-US" sz="1200" dirty="0"/>
          </a:p>
        </p:txBody>
      </p:sp>
      <p:sp>
        <p:nvSpPr>
          <p:cNvPr id="7" name="Shape 5"/>
          <p:cNvSpPr/>
          <p:nvPr/>
        </p:nvSpPr>
        <p:spPr>
          <a:xfrm>
            <a:off x="4358640" y="1600200"/>
            <a:ext cx="3471672" cy="1874520"/>
          </a:xfrm>
          <a:prstGeom prst="roundRect">
            <a:avLst>
              <a:gd name="adj" fmla="val 439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4587240" y="1801368"/>
            <a:ext cx="3014472" cy="548640"/>
          </a:xfrm>
          <a:prstGeom prst="rect">
            <a:avLst/>
          </a:prstGeom>
          <a:noFill/>
          <a:ln/>
        </p:spPr>
        <p:txBody>
          <a:bodyPr wrap="square" rtlCol="0" anchor="ctr"/>
          <a:lstStyle/>
          <a:p>
            <a:pPr indent="0" marL="0">
              <a:lnSpc>
                <a:spcPts val="1600"/>
              </a:lnSpc>
              <a:buNone/>
            </a:pPr>
            <a:r>
              <a:rPr lang="en-US" sz="1350" b="1" dirty="0">
                <a:solidFill>
                  <a:srgbClr val="D31242"/>
                </a:solidFill>
                <a:latin typeface="Arial" pitchFamily="34" charset="0"/>
                <a:ea typeface="Arial" pitchFamily="34" charset="-122"/>
                <a:cs typeface="Arial" pitchFamily="34" charset="-120"/>
              </a:rPr>
              <a:t>Wrong format?</a:t>
            </a:r>
            <a:endParaRPr lang="en-US" sz="1350" dirty="0"/>
          </a:p>
        </p:txBody>
      </p:sp>
      <p:sp>
        <p:nvSpPr>
          <p:cNvPr id="9" name="Text 7"/>
          <p:cNvSpPr/>
          <p:nvPr/>
        </p:nvSpPr>
        <p:spPr>
          <a:xfrm>
            <a:off x="4587240" y="2423160"/>
            <a:ext cx="3014472" cy="91440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No output contract or example — add one</a:t>
            </a:r>
            <a:endParaRPr lang="en-US" sz="1200" dirty="0"/>
          </a:p>
        </p:txBody>
      </p:sp>
      <p:sp>
        <p:nvSpPr>
          <p:cNvPr id="10" name="Shape 8"/>
          <p:cNvSpPr/>
          <p:nvPr/>
        </p:nvSpPr>
        <p:spPr>
          <a:xfrm>
            <a:off x="8150352" y="1600200"/>
            <a:ext cx="3471672" cy="1874520"/>
          </a:xfrm>
          <a:prstGeom prst="roundRect">
            <a:avLst>
              <a:gd name="adj" fmla="val 439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8378952" y="1801368"/>
            <a:ext cx="3014472" cy="548640"/>
          </a:xfrm>
          <a:prstGeom prst="rect">
            <a:avLst/>
          </a:prstGeom>
          <a:noFill/>
          <a:ln/>
        </p:spPr>
        <p:txBody>
          <a:bodyPr wrap="square" rtlCol="0" anchor="ctr"/>
          <a:lstStyle/>
          <a:p>
            <a:pPr indent="0" marL="0">
              <a:lnSpc>
                <a:spcPts val="1600"/>
              </a:lnSpc>
              <a:buNone/>
            </a:pPr>
            <a:r>
              <a:rPr lang="en-US" sz="1350" b="1" dirty="0">
                <a:solidFill>
                  <a:srgbClr val="D31242"/>
                </a:solidFill>
                <a:latin typeface="Arial" pitchFamily="34" charset="0"/>
                <a:ea typeface="Arial" pitchFamily="34" charset="-122"/>
                <a:cs typeface="Arial" pitchFamily="34" charset="-120"/>
              </a:rPr>
              <a:t>Made things up?</a:t>
            </a:r>
            <a:endParaRPr lang="en-US" sz="1350" dirty="0"/>
          </a:p>
        </p:txBody>
      </p:sp>
      <p:sp>
        <p:nvSpPr>
          <p:cNvPr id="12" name="Text 10"/>
          <p:cNvSpPr/>
          <p:nvPr/>
        </p:nvSpPr>
        <p:spPr>
          <a:xfrm>
            <a:off x="8378952" y="2423160"/>
            <a:ext cx="3014472" cy="91440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Source not separated, or no give-an-out</a:t>
            </a:r>
            <a:endParaRPr lang="en-US" sz="1200" dirty="0"/>
          </a:p>
        </p:txBody>
      </p:sp>
      <p:sp>
        <p:nvSpPr>
          <p:cNvPr id="13" name="Shape 11"/>
          <p:cNvSpPr/>
          <p:nvPr/>
        </p:nvSpPr>
        <p:spPr>
          <a:xfrm>
            <a:off x="566928" y="3749040"/>
            <a:ext cx="3471672" cy="1874520"/>
          </a:xfrm>
          <a:prstGeom prst="roundRect">
            <a:avLst>
              <a:gd name="adj" fmla="val 439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795528" y="3950208"/>
            <a:ext cx="3014472" cy="548640"/>
          </a:xfrm>
          <a:prstGeom prst="rect">
            <a:avLst/>
          </a:prstGeom>
          <a:noFill/>
          <a:ln/>
        </p:spPr>
        <p:txBody>
          <a:bodyPr wrap="square" rtlCol="0" anchor="ctr"/>
          <a:lstStyle/>
          <a:p>
            <a:pPr indent="0" marL="0">
              <a:lnSpc>
                <a:spcPts val="1600"/>
              </a:lnSpc>
              <a:buNone/>
            </a:pPr>
            <a:r>
              <a:rPr lang="en-US" sz="1350" b="1" dirty="0">
                <a:solidFill>
                  <a:srgbClr val="D31242"/>
                </a:solidFill>
                <a:latin typeface="Arial" pitchFamily="34" charset="0"/>
                <a:ea typeface="Arial" pitchFamily="34" charset="-122"/>
                <a:cs typeface="Arial" pitchFamily="34" charset="-120"/>
              </a:rPr>
              <a:t>Too long / rambling?</a:t>
            </a:r>
            <a:endParaRPr lang="en-US" sz="1350" dirty="0"/>
          </a:p>
        </p:txBody>
      </p:sp>
      <p:sp>
        <p:nvSpPr>
          <p:cNvPr id="15" name="Text 13"/>
          <p:cNvSpPr/>
          <p:nvPr/>
        </p:nvSpPr>
        <p:spPr>
          <a:xfrm>
            <a:off x="795528" y="4572000"/>
            <a:ext cx="3014472" cy="91440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No length constraint</a:t>
            </a:r>
            <a:endParaRPr lang="en-US" sz="1200" dirty="0"/>
          </a:p>
        </p:txBody>
      </p:sp>
      <p:sp>
        <p:nvSpPr>
          <p:cNvPr id="16" name="Shape 14"/>
          <p:cNvSpPr/>
          <p:nvPr/>
        </p:nvSpPr>
        <p:spPr>
          <a:xfrm>
            <a:off x="4358640" y="3749040"/>
            <a:ext cx="3471672" cy="1874520"/>
          </a:xfrm>
          <a:prstGeom prst="roundRect">
            <a:avLst>
              <a:gd name="adj" fmla="val 439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4587240" y="3950208"/>
            <a:ext cx="3014472" cy="548640"/>
          </a:xfrm>
          <a:prstGeom prst="rect">
            <a:avLst/>
          </a:prstGeom>
          <a:noFill/>
          <a:ln/>
        </p:spPr>
        <p:txBody>
          <a:bodyPr wrap="square" rtlCol="0" anchor="ctr"/>
          <a:lstStyle/>
          <a:p>
            <a:pPr indent="0" marL="0">
              <a:lnSpc>
                <a:spcPts val="1600"/>
              </a:lnSpc>
              <a:buNone/>
            </a:pPr>
            <a:r>
              <a:rPr lang="en-US" sz="1350" b="1" dirty="0">
                <a:solidFill>
                  <a:srgbClr val="D31242"/>
                </a:solidFill>
                <a:latin typeface="Arial" pitchFamily="34" charset="0"/>
                <a:ea typeface="Arial" pitchFamily="34" charset="-122"/>
                <a:cs typeface="Arial" pitchFamily="34" charset="-120"/>
              </a:rPr>
              <a:t>Ignored a rule?</a:t>
            </a:r>
            <a:endParaRPr lang="en-US" sz="1350" dirty="0"/>
          </a:p>
        </p:txBody>
      </p:sp>
      <p:sp>
        <p:nvSpPr>
          <p:cNvPr id="18" name="Text 16"/>
          <p:cNvSpPr/>
          <p:nvPr/>
        </p:nvSpPr>
        <p:spPr>
          <a:xfrm>
            <a:off x="4587240" y="4572000"/>
            <a:ext cx="3014472" cy="91440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Buried in prose — use must/should/avoid</a:t>
            </a:r>
            <a:endParaRPr lang="en-US" sz="1200" dirty="0"/>
          </a:p>
        </p:txBody>
      </p:sp>
      <p:sp>
        <p:nvSpPr>
          <p:cNvPr id="19" name="Shape 17"/>
          <p:cNvSpPr/>
          <p:nvPr/>
        </p:nvSpPr>
        <p:spPr>
          <a:xfrm>
            <a:off x="8150352" y="3749040"/>
            <a:ext cx="3471672" cy="1874520"/>
          </a:xfrm>
          <a:prstGeom prst="roundRect">
            <a:avLst>
              <a:gd name="adj" fmla="val 439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0" name="Text 18"/>
          <p:cNvSpPr/>
          <p:nvPr/>
        </p:nvSpPr>
        <p:spPr>
          <a:xfrm>
            <a:off x="8378952" y="3950208"/>
            <a:ext cx="3014472" cy="548640"/>
          </a:xfrm>
          <a:prstGeom prst="rect">
            <a:avLst/>
          </a:prstGeom>
          <a:noFill/>
          <a:ln/>
        </p:spPr>
        <p:txBody>
          <a:bodyPr wrap="square" rtlCol="0" anchor="ctr"/>
          <a:lstStyle/>
          <a:p>
            <a:pPr indent="0" marL="0">
              <a:lnSpc>
                <a:spcPts val="1600"/>
              </a:lnSpc>
              <a:buNone/>
            </a:pPr>
            <a:r>
              <a:rPr lang="en-US" sz="1350" b="1" dirty="0">
                <a:solidFill>
                  <a:srgbClr val="D31242"/>
                </a:solidFill>
                <a:latin typeface="Arial" pitchFamily="34" charset="0"/>
                <a:ea typeface="Arial" pitchFamily="34" charset="-122"/>
                <a:cs typeface="Arial" pitchFamily="34" charset="-120"/>
              </a:rPr>
              <a:t>Copied a bad pattern?</a:t>
            </a:r>
            <a:endParaRPr lang="en-US" sz="1350" dirty="0"/>
          </a:p>
        </p:txBody>
      </p:sp>
      <p:sp>
        <p:nvSpPr>
          <p:cNvPr id="21" name="Text 19"/>
          <p:cNvSpPr/>
          <p:nvPr/>
        </p:nvSpPr>
        <p:spPr>
          <a:xfrm>
            <a:off x="8378952" y="4572000"/>
            <a:ext cx="3014472" cy="914400"/>
          </a:xfrm>
          <a:prstGeom prst="rect">
            <a:avLst/>
          </a:prstGeom>
          <a:noFill/>
          <a:ln/>
        </p:spPr>
        <p:txBody>
          <a:bodyPr wrap="square" rtlCol="0" anchor="ctr"/>
          <a:lstStyle/>
          <a:p>
            <a:pPr indent="0" marL="0">
              <a:lnSpc>
                <a:spcPts val="1600"/>
              </a:lnSpc>
              <a:buNone/>
            </a:pPr>
            <a:r>
              <a:rPr lang="en-US" sz="1200" dirty="0">
                <a:solidFill>
                  <a:srgbClr val="3A4452"/>
                </a:solidFill>
                <a:latin typeface="Arial" pitchFamily="34" charset="0"/>
                <a:ea typeface="Arial" pitchFamily="34" charset="-122"/>
                <a:cs typeface="Arial" pitchFamily="34" charset="-120"/>
              </a:rPr>
              <a:t>An example taught the wrong format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CROSS-CUTTING · AVOID</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Anti-patterns</a:t>
            </a:r>
            <a:endParaRPr lang="en-US" sz="2700" dirty="0"/>
          </a:p>
        </p:txBody>
      </p:sp>
      <p:sp>
        <p:nvSpPr>
          <p:cNvPr id="4" name="Shape 2"/>
          <p:cNvSpPr/>
          <p:nvPr/>
        </p:nvSpPr>
        <p:spPr>
          <a:xfrm>
            <a:off x="566928" y="1600200"/>
            <a:ext cx="3471672"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95528" y="1801368"/>
            <a:ext cx="457200" cy="457200"/>
          </a:xfrm>
          <a:prstGeom prst="rect">
            <a:avLst/>
          </a:prstGeom>
          <a:noFill/>
          <a:ln/>
        </p:spPr>
        <p:txBody>
          <a:bodyPr wrap="square" lIns="0" tIns="0" rIns="0" bIns="0" rtlCol="0" anchor="ctr"/>
          <a:lstStyle/>
          <a:p>
            <a:pPr indent="0" marL="0">
              <a:buNone/>
            </a:pPr>
            <a:r>
              <a:rPr lang="en-US" sz="1900" b="1" dirty="0">
                <a:solidFill>
                  <a:srgbClr val="B91C1C"/>
                </a:solidFill>
                <a:latin typeface="Arial" pitchFamily="34" charset="0"/>
                <a:ea typeface="Arial" pitchFamily="34" charset="-122"/>
                <a:cs typeface="Arial" pitchFamily="34" charset="-120"/>
              </a:rPr>
              <a:t>✕</a:t>
            </a:r>
            <a:endParaRPr lang="en-US" sz="1900" dirty="0"/>
          </a:p>
        </p:txBody>
      </p:sp>
      <p:sp>
        <p:nvSpPr>
          <p:cNvPr id="6" name="Text 4"/>
          <p:cNvSpPr/>
          <p:nvPr/>
        </p:nvSpPr>
        <p:spPr>
          <a:xfrm>
            <a:off x="1280160" y="1819656"/>
            <a:ext cx="2557272" cy="640080"/>
          </a:xfrm>
          <a:prstGeom prst="rect">
            <a:avLst/>
          </a:prstGeom>
          <a:noFill/>
          <a:ln/>
        </p:spPr>
        <p:txBody>
          <a:bodyPr wrap="square" rtlCol="0" anchor="t"/>
          <a:lstStyle/>
          <a:p>
            <a:pPr indent="0" marL="0">
              <a:lnSpc>
                <a:spcPts val="1500"/>
              </a:lnSpc>
              <a:buNone/>
            </a:pPr>
            <a:r>
              <a:rPr lang="en-US" sz="1300" b="1" dirty="0">
                <a:solidFill>
                  <a:srgbClr val="1F2733"/>
                </a:solidFill>
                <a:latin typeface="Arial" pitchFamily="34" charset="0"/>
                <a:ea typeface="Arial" pitchFamily="34" charset="-122"/>
                <a:cs typeface="Arial" pitchFamily="34" charset="-120"/>
              </a:rPr>
              <a:t>Wall of text</a:t>
            </a:r>
            <a:endParaRPr lang="en-US" sz="1300" dirty="0"/>
          </a:p>
        </p:txBody>
      </p:sp>
      <p:sp>
        <p:nvSpPr>
          <p:cNvPr id="7" name="Text 5"/>
          <p:cNvSpPr/>
          <p:nvPr/>
        </p:nvSpPr>
        <p:spPr>
          <a:xfrm>
            <a:off x="822960" y="2514600"/>
            <a:ext cx="2968752" cy="86868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Break into role, tagged data, then task</a:t>
            </a:r>
            <a:endParaRPr lang="en-US" sz="1150" dirty="0"/>
          </a:p>
        </p:txBody>
      </p:sp>
      <p:sp>
        <p:nvSpPr>
          <p:cNvPr id="8" name="Shape 6"/>
          <p:cNvSpPr/>
          <p:nvPr/>
        </p:nvSpPr>
        <p:spPr>
          <a:xfrm>
            <a:off x="4358640" y="1600200"/>
            <a:ext cx="3471672"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4587240" y="1801368"/>
            <a:ext cx="457200" cy="457200"/>
          </a:xfrm>
          <a:prstGeom prst="rect">
            <a:avLst/>
          </a:prstGeom>
          <a:noFill/>
          <a:ln/>
        </p:spPr>
        <p:txBody>
          <a:bodyPr wrap="square" lIns="0" tIns="0" rIns="0" bIns="0" rtlCol="0" anchor="ctr"/>
          <a:lstStyle/>
          <a:p>
            <a:pPr indent="0" marL="0">
              <a:buNone/>
            </a:pPr>
            <a:r>
              <a:rPr lang="en-US" sz="1900" b="1" dirty="0">
                <a:solidFill>
                  <a:srgbClr val="B91C1C"/>
                </a:solidFill>
                <a:latin typeface="Arial" pitchFamily="34" charset="0"/>
                <a:ea typeface="Arial" pitchFamily="34" charset="-122"/>
                <a:cs typeface="Arial" pitchFamily="34" charset="-120"/>
              </a:rPr>
              <a:t>✕</a:t>
            </a:r>
            <a:endParaRPr lang="en-US" sz="1900" dirty="0"/>
          </a:p>
        </p:txBody>
      </p:sp>
      <p:sp>
        <p:nvSpPr>
          <p:cNvPr id="10" name="Text 8"/>
          <p:cNvSpPr/>
          <p:nvPr/>
        </p:nvSpPr>
        <p:spPr>
          <a:xfrm>
            <a:off x="5071872" y="1819656"/>
            <a:ext cx="2557272" cy="640080"/>
          </a:xfrm>
          <a:prstGeom prst="rect">
            <a:avLst/>
          </a:prstGeom>
          <a:noFill/>
          <a:ln/>
        </p:spPr>
        <p:txBody>
          <a:bodyPr wrap="square" rtlCol="0" anchor="t"/>
          <a:lstStyle/>
          <a:p>
            <a:pPr indent="0" marL="0">
              <a:lnSpc>
                <a:spcPts val="1500"/>
              </a:lnSpc>
              <a:buNone/>
            </a:pPr>
            <a:r>
              <a:rPr lang="en-US" sz="1300" b="1" dirty="0">
                <a:solidFill>
                  <a:srgbClr val="1F2733"/>
                </a:solidFill>
                <a:latin typeface="Arial" pitchFamily="34" charset="0"/>
                <a:ea typeface="Arial" pitchFamily="34" charset="-122"/>
                <a:cs typeface="Arial" pitchFamily="34" charset="-120"/>
              </a:rPr>
              <a:t>Buried instruction</a:t>
            </a:r>
            <a:endParaRPr lang="en-US" sz="1300" dirty="0"/>
          </a:p>
        </p:txBody>
      </p:sp>
      <p:sp>
        <p:nvSpPr>
          <p:cNvPr id="11" name="Text 9"/>
          <p:cNvSpPr/>
          <p:nvPr/>
        </p:nvSpPr>
        <p:spPr>
          <a:xfrm>
            <a:off x="4614672" y="2514600"/>
            <a:ext cx="2968752" cy="86868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Put the task at the end, clearly</a:t>
            </a:r>
            <a:endParaRPr lang="en-US" sz="1150" dirty="0"/>
          </a:p>
        </p:txBody>
      </p:sp>
      <p:sp>
        <p:nvSpPr>
          <p:cNvPr id="12" name="Shape 10"/>
          <p:cNvSpPr/>
          <p:nvPr/>
        </p:nvSpPr>
        <p:spPr>
          <a:xfrm>
            <a:off x="8150352" y="1600200"/>
            <a:ext cx="3471672"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Text 11"/>
          <p:cNvSpPr/>
          <p:nvPr/>
        </p:nvSpPr>
        <p:spPr>
          <a:xfrm>
            <a:off x="8378952" y="1801368"/>
            <a:ext cx="457200" cy="457200"/>
          </a:xfrm>
          <a:prstGeom prst="rect">
            <a:avLst/>
          </a:prstGeom>
          <a:noFill/>
          <a:ln/>
        </p:spPr>
        <p:txBody>
          <a:bodyPr wrap="square" lIns="0" tIns="0" rIns="0" bIns="0" rtlCol="0" anchor="ctr"/>
          <a:lstStyle/>
          <a:p>
            <a:pPr indent="0" marL="0">
              <a:buNone/>
            </a:pPr>
            <a:r>
              <a:rPr lang="en-US" sz="1900" b="1" dirty="0">
                <a:solidFill>
                  <a:srgbClr val="B91C1C"/>
                </a:solidFill>
                <a:latin typeface="Arial" pitchFamily="34" charset="0"/>
                <a:ea typeface="Arial" pitchFamily="34" charset="-122"/>
                <a:cs typeface="Arial" pitchFamily="34" charset="-120"/>
              </a:rPr>
              <a:t>✕</a:t>
            </a:r>
            <a:endParaRPr lang="en-US" sz="1900" dirty="0"/>
          </a:p>
        </p:txBody>
      </p:sp>
      <p:sp>
        <p:nvSpPr>
          <p:cNvPr id="14" name="Text 12"/>
          <p:cNvSpPr/>
          <p:nvPr/>
        </p:nvSpPr>
        <p:spPr>
          <a:xfrm>
            <a:off x="8863584" y="1819656"/>
            <a:ext cx="2557272" cy="640080"/>
          </a:xfrm>
          <a:prstGeom prst="rect">
            <a:avLst/>
          </a:prstGeom>
          <a:noFill/>
          <a:ln/>
        </p:spPr>
        <p:txBody>
          <a:bodyPr wrap="square" rtlCol="0" anchor="t"/>
          <a:lstStyle/>
          <a:p>
            <a:pPr indent="0" marL="0">
              <a:lnSpc>
                <a:spcPts val="1500"/>
              </a:lnSpc>
              <a:buNone/>
            </a:pPr>
            <a:r>
              <a:rPr lang="en-US" sz="1300" b="1" dirty="0">
                <a:solidFill>
                  <a:srgbClr val="1F2733"/>
                </a:solidFill>
                <a:latin typeface="Arial" pitchFamily="34" charset="0"/>
                <a:ea typeface="Arial" pitchFamily="34" charset="-122"/>
                <a:cs typeface="Arial" pitchFamily="34" charset="-120"/>
              </a:rPr>
              <a:t>Vague adjectives</a:t>
            </a:r>
            <a:endParaRPr lang="en-US" sz="1300" dirty="0"/>
          </a:p>
        </p:txBody>
      </p:sp>
      <p:sp>
        <p:nvSpPr>
          <p:cNvPr id="15" name="Text 13"/>
          <p:cNvSpPr/>
          <p:nvPr/>
        </p:nvSpPr>
        <p:spPr>
          <a:xfrm>
            <a:off x="8406384" y="2514600"/>
            <a:ext cx="2968752" cy="86868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Use anchors and constraints</a:t>
            </a:r>
            <a:endParaRPr lang="en-US" sz="1150" dirty="0"/>
          </a:p>
        </p:txBody>
      </p:sp>
      <p:sp>
        <p:nvSpPr>
          <p:cNvPr id="16" name="Shape 14"/>
          <p:cNvSpPr/>
          <p:nvPr/>
        </p:nvSpPr>
        <p:spPr>
          <a:xfrm>
            <a:off x="566928" y="3749040"/>
            <a:ext cx="3471672"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795528" y="3950208"/>
            <a:ext cx="457200" cy="457200"/>
          </a:xfrm>
          <a:prstGeom prst="rect">
            <a:avLst/>
          </a:prstGeom>
          <a:noFill/>
          <a:ln/>
        </p:spPr>
        <p:txBody>
          <a:bodyPr wrap="square" lIns="0" tIns="0" rIns="0" bIns="0" rtlCol="0" anchor="ctr"/>
          <a:lstStyle/>
          <a:p>
            <a:pPr indent="0" marL="0">
              <a:buNone/>
            </a:pPr>
            <a:r>
              <a:rPr lang="en-US" sz="1900" b="1" dirty="0">
                <a:solidFill>
                  <a:srgbClr val="B91C1C"/>
                </a:solidFill>
                <a:latin typeface="Arial" pitchFamily="34" charset="0"/>
                <a:ea typeface="Arial" pitchFamily="34" charset="-122"/>
                <a:cs typeface="Arial" pitchFamily="34" charset="-120"/>
              </a:rPr>
              <a:t>✕</a:t>
            </a:r>
            <a:endParaRPr lang="en-US" sz="1900" dirty="0"/>
          </a:p>
        </p:txBody>
      </p:sp>
      <p:sp>
        <p:nvSpPr>
          <p:cNvPr id="18" name="Text 16"/>
          <p:cNvSpPr/>
          <p:nvPr/>
        </p:nvSpPr>
        <p:spPr>
          <a:xfrm>
            <a:off x="1280160" y="3968496"/>
            <a:ext cx="2557272" cy="640080"/>
          </a:xfrm>
          <a:prstGeom prst="rect">
            <a:avLst/>
          </a:prstGeom>
          <a:noFill/>
          <a:ln/>
        </p:spPr>
        <p:txBody>
          <a:bodyPr wrap="square" rtlCol="0" anchor="t"/>
          <a:lstStyle/>
          <a:p>
            <a:pPr indent="0" marL="0">
              <a:lnSpc>
                <a:spcPts val="1500"/>
              </a:lnSpc>
              <a:buNone/>
            </a:pPr>
            <a:r>
              <a:rPr lang="en-US" sz="1300" b="1" dirty="0">
                <a:solidFill>
                  <a:srgbClr val="1F2733"/>
                </a:solidFill>
                <a:latin typeface="Arial" pitchFamily="34" charset="0"/>
                <a:ea typeface="Arial" pitchFamily="34" charset="-122"/>
                <a:cs typeface="Arial" pitchFamily="34" charset="-120"/>
              </a:rPr>
              <a:t>Mixing data &amp; instructions</a:t>
            </a:r>
            <a:endParaRPr lang="en-US" sz="1300" dirty="0"/>
          </a:p>
        </p:txBody>
      </p:sp>
      <p:sp>
        <p:nvSpPr>
          <p:cNvPr id="19" name="Text 17"/>
          <p:cNvSpPr/>
          <p:nvPr/>
        </p:nvSpPr>
        <p:spPr>
          <a:xfrm>
            <a:off x="822960" y="4663440"/>
            <a:ext cx="2968752" cy="86868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Wrap data in tags</a:t>
            </a:r>
            <a:endParaRPr lang="en-US" sz="1150" dirty="0"/>
          </a:p>
        </p:txBody>
      </p:sp>
      <p:sp>
        <p:nvSpPr>
          <p:cNvPr id="20" name="Shape 18"/>
          <p:cNvSpPr/>
          <p:nvPr/>
        </p:nvSpPr>
        <p:spPr>
          <a:xfrm>
            <a:off x="4358640" y="3749040"/>
            <a:ext cx="3471672"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1" name="Text 19"/>
          <p:cNvSpPr/>
          <p:nvPr/>
        </p:nvSpPr>
        <p:spPr>
          <a:xfrm>
            <a:off x="4587240" y="3950208"/>
            <a:ext cx="457200" cy="457200"/>
          </a:xfrm>
          <a:prstGeom prst="rect">
            <a:avLst/>
          </a:prstGeom>
          <a:noFill/>
          <a:ln/>
        </p:spPr>
        <p:txBody>
          <a:bodyPr wrap="square" lIns="0" tIns="0" rIns="0" bIns="0" rtlCol="0" anchor="ctr"/>
          <a:lstStyle/>
          <a:p>
            <a:pPr indent="0" marL="0">
              <a:buNone/>
            </a:pPr>
            <a:r>
              <a:rPr lang="en-US" sz="1900" b="1" dirty="0">
                <a:solidFill>
                  <a:srgbClr val="B91C1C"/>
                </a:solidFill>
                <a:latin typeface="Arial" pitchFamily="34" charset="0"/>
                <a:ea typeface="Arial" pitchFamily="34" charset="-122"/>
                <a:cs typeface="Arial" pitchFamily="34" charset="-120"/>
              </a:rPr>
              <a:t>✕</a:t>
            </a:r>
            <a:endParaRPr lang="en-US" sz="1900" dirty="0"/>
          </a:p>
        </p:txBody>
      </p:sp>
      <p:sp>
        <p:nvSpPr>
          <p:cNvPr id="22" name="Text 20"/>
          <p:cNvSpPr/>
          <p:nvPr/>
        </p:nvSpPr>
        <p:spPr>
          <a:xfrm>
            <a:off x="5071872" y="3968496"/>
            <a:ext cx="2557272" cy="640080"/>
          </a:xfrm>
          <a:prstGeom prst="rect">
            <a:avLst/>
          </a:prstGeom>
          <a:noFill/>
          <a:ln/>
        </p:spPr>
        <p:txBody>
          <a:bodyPr wrap="square" rtlCol="0" anchor="t"/>
          <a:lstStyle/>
          <a:p>
            <a:pPr indent="0" marL="0">
              <a:lnSpc>
                <a:spcPts val="1500"/>
              </a:lnSpc>
              <a:buNone/>
            </a:pPr>
            <a:r>
              <a:rPr lang="en-US" sz="1300" b="1" dirty="0">
                <a:solidFill>
                  <a:srgbClr val="1F2733"/>
                </a:solidFill>
                <a:latin typeface="Arial" pitchFamily="34" charset="0"/>
                <a:ea typeface="Arial" pitchFamily="34" charset="-122"/>
                <a:cs typeface="Arial" pitchFamily="34" charset="-120"/>
              </a:rPr>
              <a:t>Too many unrelated asks</a:t>
            </a:r>
            <a:endParaRPr lang="en-US" sz="1300" dirty="0"/>
          </a:p>
        </p:txBody>
      </p:sp>
      <p:sp>
        <p:nvSpPr>
          <p:cNvPr id="23" name="Text 21"/>
          <p:cNvSpPr/>
          <p:nvPr/>
        </p:nvSpPr>
        <p:spPr>
          <a:xfrm>
            <a:off x="4614672" y="4663440"/>
            <a:ext cx="2968752" cy="86868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Split or use audience transformation</a:t>
            </a:r>
            <a:endParaRPr lang="en-US" sz="1150" dirty="0"/>
          </a:p>
        </p:txBody>
      </p:sp>
      <p:sp>
        <p:nvSpPr>
          <p:cNvPr id="24" name="Shape 22"/>
          <p:cNvSpPr/>
          <p:nvPr/>
        </p:nvSpPr>
        <p:spPr>
          <a:xfrm>
            <a:off x="8150352" y="3749040"/>
            <a:ext cx="3471672" cy="1874520"/>
          </a:xfrm>
          <a:prstGeom prst="roundRect">
            <a:avLst>
              <a:gd name="adj" fmla="val 439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5" name="Text 23"/>
          <p:cNvSpPr/>
          <p:nvPr/>
        </p:nvSpPr>
        <p:spPr>
          <a:xfrm>
            <a:off x="8378952" y="3950208"/>
            <a:ext cx="457200" cy="457200"/>
          </a:xfrm>
          <a:prstGeom prst="rect">
            <a:avLst/>
          </a:prstGeom>
          <a:noFill/>
          <a:ln/>
        </p:spPr>
        <p:txBody>
          <a:bodyPr wrap="square" lIns="0" tIns="0" rIns="0" bIns="0" rtlCol="0" anchor="ctr"/>
          <a:lstStyle/>
          <a:p>
            <a:pPr indent="0" marL="0">
              <a:buNone/>
            </a:pPr>
            <a:r>
              <a:rPr lang="en-US" sz="1900" b="1" dirty="0">
                <a:solidFill>
                  <a:srgbClr val="B91C1C"/>
                </a:solidFill>
                <a:latin typeface="Arial" pitchFamily="34" charset="0"/>
                <a:ea typeface="Arial" pitchFamily="34" charset="-122"/>
                <a:cs typeface="Arial" pitchFamily="34" charset="-120"/>
              </a:rPr>
              <a:t>✕</a:t>
            </a:r>
            <a:endParaRPr lang="en-US" sz="1900" dirty="0"/>
          </a:p>
        </p:txBody>
      </p:sp>
      <p:sp>
        <p:nvSpPr>
          <p:cNvPr id="26" name="Text 24"/>
          <p:cNvSpPr/>
          <p:nvPr/>
        </p:nvSpPr>
        <p:spPr>
          <a:xfrm>
            <a:off x="8863584" y="3968496"/>
            <a:ext cx="2557272" cy="640080"/>
          </a:xfrm>
          <a:prstGeom prst="rect">
            <a:avLst/>
          </a:prstGeom>
          <a:noFill/>
          <a:ln/>
        </p:spPr>
        <p:txBody>
          <a:bodyPr wrap="square" rtlCol="0" anchor="t"/>
          <a:lstStyle/>
          <a:p>
            <a:pPr indent="0" marL="0">
              <a:lnSpc>
                <a:spcPts val="1500"/>
              </a:lnSpc>
              <a:buNone/>
            </a:pPr>
            <a:r>
              <a:rPr lang="en-US" sz="1300" b="1" dirty="0">
                <a:solidFill>
                  <a:srgbClr val="1F2733"/>
                </a:solidFill>
                <a:latin typeface="Arial" pitchFamily="34" charset="0"/>
                <a:ea typeface="Arial" pitchFamily="34" charset="-122"/>
                <a:cs typeface="Arial" pitchFamily="34" charset="-120"/>
              </a:rPr>
              <a:t>Misleading examples</a:t>
            </a:r>
            <a:endParaRPr lang="en-US" sz="1300" dirty="0"/>
          </a:p>
        </p:txBody>
      </p:sp>
      <p:sp>
        <p:nvSpPr>
          <p:cNvPr id="27" name="Text 25"/>
          <p:cNvSpPr/>
          <p:nvPr/>
        </p:nvSpPr>
        <p:spPr>
          <a:xfrm>
            <a:off x="8406384" y="4663440"/>
            <a:ext cx="2968752" cy="868680"/>
          </a:xfrm>
          <a:prstGeom prst="rect">
            <a:avLst/>
          </a:prstGeom>
          <a:noFill/>
          <a:ln/>
        </p:spPr>
        <p:txBody>
          <a:bodyPr wrap="square" rtlCol="0" anchor="ctr"/>
          <a:lstStyle/>
          <a:p>
            <a:pPr indent="0" marL="0">
              <a:lnSpc>
                <a:spcPts val="1500"/>
              </a:lnSpc>
              <a:buNone/>
            </a:pPr>
            <a:r>
              <a:rPr lang="en-US" sz="1150" dirty="0">
                <a:solidFill>
                  <a:srgbClr val="3A4452"/>
                </a:solidFill>
                <a:latin typeface="Arial" pitchFamily="34" charset="0"/>
                <a:ea typeface="Arial" pitchFamily="34" charset="-122"/>
                <a:cs typeface="Arial" pitchFamily="34" charset="-120"/>
              </a:rPr>
              <a:t>Make examples match the target exactly</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ASSEMBLE · BUILD IT UP (1 OF 2)</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Start with role, goal, and context</a:t>
            </a:r>
            <a:endParaRPr lang="en-US" sz="2700" dirty="0"/>
          </a:p>
        </p:txBody>
      </p:sp>
      <p:sp>
        <p:nvSpPr>
          <p:cNvPr id="4" name="Shape 2"/>
          <p:cNvSpPr/>
          <p:nvPr/>
        </p:nvSpPr>
        <p:spPr>
          <a:xfrm>
            <a:off x="566928" y="1554480"/>
            <a:ext cx="10469880" cy="3108960"/>
          </a:xfrm>
          <a:prstGeom prst="roundRect">
            <a:avLst>
              <a:gd name="adj" fmla="val 2647"/>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68096" y="1664208"/>
            <a:ext cx="1010412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LAYERS 1–3</a:t>
            </a:r>
            <a:endParaRPr lang="en-US" sz="900" dirty="0"/>
          </a:p>
        </p:txBody>
      </p:sp>
      <p:sp>
        <p:nvSpPr>
          <p:cNvPr id="6" name="Text 4"/>
          <p:cNvSpPr/>
          <p:nvPr/>
        </p:nvSpPr>
        <p:spPr>
          <a:xfrm>
            <a:off x="795528" y="1938528"/>
            <a:ext cx="10012680" cy="259689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You are a BJ's club operations lead writing for ~200 frontline associates.</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   ← Role
</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Goal: a clear Monday announcement they'll actually read.</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   ← Goal
</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Context: new curbside pickup process starts Monday.</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   ← Context</a:t>
            </a:r>
            <a:endParaRPr lang="en-US" sz="1100" dirty="0"/>
          </a:p>
        </p:txBody>
      </p:sp>
      <p:sp>
        <p:nvSpPr>
          <p:cNvPr id="7" name="Shape 5"/>
          <p:cNvSpPr/>
          <p:nvPr/>
        </p:nvSpPr>
        <p:spPr>
          <a:xfrm>
            <a:off x="566928" y="4846320"/>
            <a:ext cx="10469880" cy="960120"/>
          </a:xfrm>
          <a:prstGeom prst="roundRect">
            <a:avLst>
              <a:gd name="adj" fmla="val 8571"/>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841248" y="4937760"/>
            <a:ext cx="10058400" cy="777240"/>
          </a:xfrm>
          <a:prstGeom prst="rect">
            <a:avLst/>
          </a:prstGeom>
          <a:noFill/>
          <a:ln/>
        </p:spPr>
        <p:txBody>
          <a:bodyPr wrap="square" rtlCol="0" anchor="ctr"/>
          <a:lstStyle/>
          <a:p>
            <a:pPr indent="0" marL="0">
              <a:lnSpc>
                <a:spcPts val="1700"/>
              </a:lnSpc>
              <a:buNone/>
            </a:pPr>
            <a:r>
              <a:rPr lang="en-US" sz="1250" b="1" dirty="0">
                <a:solidFill>
                  <a:srgbClr val="1F2733"/>
                </a:solidFill>
                <a:latin typeface="Arial" pitchFamily="34" charset="0"/>
                <a:ea typeface="Arial" pitchFamily="34" charset="-122"/>
                <a:cs typeface="Arial" pitchFamily="34" charset="-120"/>
              </a:rPr>
              <a:t>Build a prompt the way you'd teach it — one block at a time. </a:t>
            </a:r>
            <a:pPr indent="0" marL="0">
              <a:lnSpc>
                <a:spcPts val="1700"/>
              </a:lnSpc>
              <a:buNone/>
            </a:pPr>
            <a:r>
              <a:rPr lang="en-US" sz="1250" dirty="0">
                <a:solidFill>
                  <a:srgbClr val="3A4452"/>
                </a:solidFill>
                <a:latin typeface="Arial" pitchFamily="34" charset="0"/>
                <a:ea typeface="Arial" pitchFamily="34" charset="-122"/>
                <a:cs typeface="Arial" pitchFamily="34" charset="-120"/>
              </a:rPr>
              <a:t>So far: who, the outcome, and the situation. Next slide adds the source, an example, the task, constraints, and a verify step.</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ASSEMBLE · BUILD IT UP (2 OF 2)</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Add source, example, task, constraints, fallback</a:t>
            </a:r>
            <a:endParaRPr lang="en-US" sz="2700" dirty="0"/>
          </a:p>
        </p:txBody>
      </p:sp>
      <p:sp>
        <p:nvSpPr>
          <p:cNvPr id="4" name="Shape 2"/>
          <p:cNvSpPr/>
          <p:nvPr/>
        </p:nvSpPr>
        <p:spPr>
          <a:xfrm>
            <a:off x="566928" y="1508760"/>
            <a:ext cx="7498080" cy="4297680"/>
          </a:xfrm>
          <a:prstGeom prst="roundRect">
            <a:avLst>
              <a:gd name="adj" fmla="val 1915"/>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68096" y="1618488"/>
            <a:ext cx="713232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FULL ENGINEERED PROMPT</a:t>
            </a:r>
            <a:endParaRPr lang="en-US" sz="900" dirty="0"/>
          </a:p>
        </p:txBody>
      </p:sp>
      <p:sp>
        <p:nvSpPr>
          <p:cNvPr id="6" name="Text 4"/>
          <p:cNvSpPr/>
          <p:nvPr/>
        </p:nvSpPr>
        <p:spPr>
          <a:xfrm>
            <a:off x="795528" y="1892808"/>
            <a:ext cx="7040880" cy="3785616"/>
          </a:xfrm>
          <a:prstGeom prst="rect">
            <a:avLst/>
          </a:prstGeom>
          <a:noFill/>
          <a:ln/>
        </p:spPr>
        <p:txBody>
          <a:bodyPr wrap="square" rtlCol="0" anchor="t"/>
          <a:lstStyle/>
          <a:p>
            <a:pPr algn="l" indent="0" marL="0">
              <a:lnSpc>
                <a:spcPts val="1500"/>
              </a:lnSpc>
              <a:buNone/>
            </a:pPr>
            <a:r>
              <a:rPr lang="en-US" sz="1100" dirty="0">
                <a:solidFill>
                  <a:srgbClr val="5E6A78"/>
                </a:solidFill>
                <a:latin typeface="Courier New" pitchFamily="34" charset="0"/>
                <a:ea typeface="Courier New" pitchFamily="34" charset="-122"/>
                <a:cs typeface="Courier New" pitchFamily="34" charset="-120"/>
              </a:rPr>
              <a:t>[role + goal + context from previous slide]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&lt;example&gt;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Heading + 4 bullets, warm, &lt;120 words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&lt;/example&gt;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&lt;bulletin&gt;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[paste the bulletin]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&lt;/bulletin&gt;</a:t>
            </a:r>
            <a:pPr algn="l" indent="0" marL="0">
              <a:lnSpc>
                <a:spcPts val="1500"/>
              </a:lnSpc>
              <a:buNone/>
            </a:pPr>
            <a:endParaRPr lang="en-US" sz="1100" dirty="0"/>
          </a:p>
          <a:p>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Using only the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&lt;bulletin&gt;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write the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announcement in the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&lt;example&gt;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style.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No acronyms. If a detail is missing,</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write 'Not stated.' Then list what I</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should check in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&lt;verify&gt;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tags.</a:t>
            </a:r>
            <a:endParaRPr lang="en-US" sz="1100" dirty="0"/>
          </a:p>
        </p:txBody>
      </p:sp>
      <p:sp>
        <p:nvSpPr>
          <p:cNvPr id="7" name="Shape 5"/>
          <p:cNvSpPr/>
          <p:nvPr/>
        </p:nvSpPr>
        <p:spPr>
          <a:xfrm>
            <a:off x="8229600" y="1508760"/>
            <a:ext cx="3383280" cy="4297680"/>
          </a:xfrm>
          <a:prstGeom prst="roundRect">
            <a:avLst>
              <a:gd name="adj" fmla="val 2432"/>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8458200" y="1737360"/>
            <a:ext cx="3017520" cy="36576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Blocks used</a:t>
            </a:r>
            <a:endParaRPr lang="en-US" sz="1400" dirty="0"/>
          </a:p>
        </p:txBody>
      </p:sp>
      <p:sp>
        <p:nvSpPr>
          <p:cNvPr id="9" name="Text 7"/>
          <p:cNvSpPr/>
          <p:nvPr/>
        </p:nvSpPr>
        <p:spPr>
          <a:xfrm>
            <a:off x="8458200" y="2148840"/>
            <a:ext cx="3017520" cy="3657600"/>
          </a:xfrm>
          <a:prstGeom prst="rect">
            <a:avLst/>
          </a:prstGeom>
          <a:noFill/>
          <a:ln/>
        </p:spPr>
        <p:txBody>
          <a:bodyPr wrap="square" rtlCol="0" anchor="t"/>
          <a:lstStyle/>
          <a:p>
            <a:pPr indent="0" marL="0">
              <a:lnSpc>
                <a:spcPts val="1700"/>
              </a:lnSpc>
              <a:buNone/>
            </a:pPr>
            <a:r>
              <a:rPr lang="en-US" sz="1150" b="1" dirty="0">
                <a:solidFill>
                  <a:srgbClr val="1F2733"/>
                </a:solidFill>
                <a:latin typeface="Arial" pitchFamily="34" charset="0"/>
                <a:ea typeface="Arial" pitchFamily="34" charset="-122"/>
                <a:cs typeface="Arial" pitchFamily="34" charset="-120"/>
              </a:rPr>
              <a:t>Example</a:t>
            </a:r>
            <a:pPr indent="0" marL="0">
              <a:lnSpc>
                <a:spcPts val="1700"/>
              </a:lnSpc>
              <a:buNone/>
            </a:pPr>
            <a:r>
              <a:rPr lang="en-US" sz="1150" dirty="0">
                <a:solidFill>
                  <a:srgbClr val="3A4452"/>
                </a:solidFill>
                <a:latin typeface="Arial" pitchFamily="34" charset="0"/>
                <a:ea typeface="Arial" pitchFamily="34" charset="-122"/>
                <a:cs typeface="Arial" pitchFamily="34" charset="-120"/>
              </a:rPr>
              <a:t> → format</a:t>
            </a:r>
            <a:endParaRPr lang="en-US" sz="1150" dirty="0"/>
          </a:p>
          <a:p>
            <a:pPr indent="0" marL="0">
              <a:lnSpc>
                <a:spcPts val="1700"/>
              </a:lnSpc>
              <a:buNone/>
            </a:pPr>
            <a:r>
              <a:rPr lang="en-US" sz="1150" b="1" dirty="0">
                <a:solidFill>
                  <a:srgbClr val="1F2733"/>
                </a:solidFill>
                <a:latin typeface="Arial" pitchFamily="34" charset="0"/>
                <a:ea typeface="Arial" pitchFamily="34" charset="-122"/>
                <a:cs typeface="Arial" pitchFamily="34" charset="-120"/>
              </a:rPr>
              <a:t>Tags</a:t>
            </a:r>
            <a:pPr indent="0" marL="0">
              <a:lnSpc>
                <a:spcPts val="1700"/>
              </a:lnSpc>
              <a:buNone/>
            </a:pPr>
            <a:r>
              <a:rPr lang="en-US" sz="1150" dirty="0">
                <a:solidFill>
                  <a:srgbClr val="3A4452"/>
                </a:solidFill>
                <a:latin typeface="Arial" pitchFamily="34" charset="0"/>
                <a:ea typeface="Arial" pitchFamily="34" charset="-122"/>
                <a:cs typeface="Arial" pitchFamily="34" charset="-120"/>
              </a:rPr>
              <a:t> → source separation</a:t>
            </a:r>
            <a:endParaRPr lang="en-US" sz="1150" dirty="0"/>
          </a:p>
          <a:p>
            <a:pPr indent="0" marL="0">
              <a:lnSpc>
                <a:spcPts val="1700"/>
              </a:lnSpc>
              <a:buNone/>
            </a:pPr>
            <a:r>
              <a:rPr lang="en-US" sz="1150" b="1" dirty="0">
                <a:solidFill>
                  <a:srgbClr val="1F2733"/>
                </a:solidFill>
                <a:latin typeface="Arial" pitchFamily="34" charset="0"/>
                <a:ea typeface="Arial" pitchFamily="34" charset="-122"/>
                <a:cs typeface="Arial" pitchFamily="34" charset="-120"/>
              </a:rPr>
              <a:t>Task</a:t>
            </a:r>
            <a:pPr indent="0" marL="0">
              <a:lnSpc>
                <a:spcPts val="1700"/>
              </a:lnSpc>
              <a:buNone/>
            </a:pPr>
            <a:r>
              <a:rPr lang="en-US" sz="1150" dirty="0">
                <a:solidFill>
                  <a:srgbClr val="3A4452"/>
                </a:solidFill>
                <a:latin typeface="Arial" pitchFamily="34" charset="0"/>
                <a:ea typeface="Arial" pitchFamily="34" charset="-122"/>
                <a:cs typeface="Arial" pitchFamily="34" charset="-120"/>
              </a:rPr>
              <a:t> → grounded instruction</a:t>
            </a:r>
            <a:endParaRPr lang="en-US" sz="1150" dirty="0"/>
          </a:p>
          <a:p>
            <a:pPr indent="0" marL="0">
              <a:lnSpc>
                <a:spcPts val="1700"/>
              </a:lnSpc>
              <a:buNone/>
            </a:pPr>
            <a:r>
              <a:rPr lang="en-US" sz="1150" b="1" dirty="0">
                <a:solidFill>
                  <a:srgbClr val="1F2733"/>
                </a:solidFill>
                <a:latin typeface="Arial" pitchFamily="34" charset="0"/>
                <a:ea typeface="Arial" pitchFamily="34" charset="-122"/>
                <a:cs typeface="Arial" pitchFamily="34" charset="-120"/>
              </a:rPr>
              <a:t>Constraint</a:t>
            </a:r>
            <a:pPr indent="0" marL="0">
              <a:lnSpc>
                <a:spcPts val="1700"/>
              </a:lnSpc>
              <a:buNone/>
            </a:pPr>
            <a:r>
              <a:rPr lang="en-US" sz="1150" dirty="0">
                <a:solidFill>
                  <a:srgbClr val="3A4452"/>
                </a:solidFill>
                <a:latin typeface="Arial" pitchFamily="34" charset="0"/>
                <a:ea typeface="Arial" pitchFamily="34" charset="-122"/>
                <a:cs typeface="Arial" pitchFamily="34" charset="-120"/>
              </a:rPr>
              <a:t> → no acronyms</a:t>
            </a:r>
            <a:endParaRPr lang="en-US" sz="1150" dirty="0"/>
          </a:p>
          <a:p>
            <a:pPr indent="0" marL="0">
              <a:lnSpc>
                <a:spcPts val="1700"/>
              </a:lnSpc>
              <a:buNone/>
            </a:pPr>
            <a:r>
              <a:rPr lang="en-US" sz="1150" b="1" dirty="0">
                <a:solidFill>
                  <a:srgbClr val="1F2733"/>
                </a:solidFill>
                <a:latin typeface="Arial" pitchFamily="34" charset="0"/>
                <a:ea typeface="Arial" pitchFamily="34" charset="-122"/>
                <a:cs typeface="Arial" pitchFamily="34" charset="-120"/>
              </a:rPr>
              <a:t>Give-an-out</a:t>
            </a:r>
            <a:pPr indent="0" marL="0">
              <a:lnSpc>
                <a:spcPts val="1700"/>
              </a:lnSpc>
              <a:buNone/>
            </a:pPr>
            <a:r>
              <a:rPr lang="en-US" sz="1150" dirty="0">
                <a:solidFill>
                  <a:srgbClr val="3A4452"/>
                </a:solidFill>
                <a:latin typeface="Arial" pitchFamily="34" charset="0"/>
                <a:ea typeface="Arial" pitchFamily="34" charset="-122"/>
                <a:cs typeface="Arial" pitchFamily="34" charset="-120"/>
              </a:rPr>
              <a:t> → 'Not stated'</a:t>
            </a:r>
            <a:endParaRPr lang="en-US" sz="1150" dirty="0"/>
          </a:p>
          <a:p>
            <a:pPr indent="0" marL="0">
              <a:lnSpc>
                <a:spcPts val="1700"/>
              </a:lnSpc>
              <a:buNone/>
            </a:pPr>
            <a:r>
              <a:rPr lang="en-US" sz="1150" b="1" dirty="0">
                <a:solidFill>
                  <a:srgbClr val="1F2733"/>
                </a:solidFill>
                <a:latin typeface="Arial" pitchFamily="34" charset="0"/>
                <a:ea typeface="Arial" pitchFamily="34" charset="-122"/>
                <a:cs typeface="Arial" pitchFamily="34" charset="-120"/>
              </a:rPr>
              <a:t>Verify</a:t>
            </a:r>
            <a:pPr indent="0" marL="0">
              <a:lnSpc>
                <a:spcPts val="1700"/>
              </a:lnSpc>
              <a:buNone/>
            </a:pPr>
            <a:r>
              <a:rPr lang="en-US" sz="1150" dirty="0">
                <a:solidFill>
                  <a:srgbClr val="3A4452"/>
                </a:solidFill>
                <a:latin typeface="Arial" pitchFamily="34" charset="0"/>
                <a:ea typeface="Arial" pitchFamily="34" charset="-122"/>
                <a:cs typeface="Arial" pitchFamily="34" charset="-120"/>
              </a:rPr>
              <a:t> → self-check</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9875520" y="-1463040"/>
            <a:ext cx="4754880" cy="4754880"/>
          </a:xfrm>
          <a:prstGeom prst="ellipse">
            <a:avLst/>
          </a:prstGeom>
          <a:solidFill>
            <a:srgbClr val="A60E34"/>
          </a:solidFill>
          <a:ln/>
        </p:spPr>
      </p:sp>
      <p:sp>
        <p:nvSpPr>
          <p:cNvPr id="3" name="Text 1"/>
          <p:cNvSpPr/>
          <p:nvPr/>
        </p:nvSpPr>
        <p:spPr>
          <a:xfrm>
            <a:off x="566928" y="548640"/>
            <a:ext cx="10058400" cy="365760"/>
          </a:xfrm>
          <a:prstGeom prst="rect">
            <a:avLst/>
          </a:prstGeom>
          <a:noFill/>
          <a:ln/>
        </p:spPr>
        <p:txBody>
          <a:bodyPr wrap="square" rtlCol="0" anchor="ctr"/>
          <a:lstStyle/>
          <a:p>
            <a:pPr indent="0" marL="0">
              <a:buNone/>
            </a:pPr>
            <a:r>
              <a:rPr lang="en-US" sz="1300" b="1" spc="300" kern="0" dirty="0">
                <a:solidFill>
                  <a:srgbClr val="F7B9C6"/>
                </a:solidFill>
                <a:latin typeface="Arial" pitchFamily="34" charset="0"/>
                <a:ea typeface="Arial" pitchFamily="34" charset="-122"/>
                <a:cs typeface="Arial" pitchFamily="34" charset="-120"/>
              </a:rPr>
              <a:t>FACILITATOR LIVE DEMOS</a:t>
            </a:r>
            <a:endParaRPr lang="en-US" sz="1300" dirty="0"/>
          </a:p>
        </p:txBody>
      </p:sp>
      <p:sp>
        <p:nvSpPr>
          <p:cNvPr id="4" name="Text 2"/>
          <p:cNvSpPr/>
          <p:nvPr/>
        </p:nvSpPr>
        <p:spPr>
          <a:xfrm>
            <a:off x="566928" y="914400"/>
            <a:ext cx="1078992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Three quick demos</a:t>
            </a:r>
            <a:endParaRPr lang="en-US" sz="2600" dirty="0"/>
          </a:p>
        </p:txBody>
      </p:sp>
      <p:sp>
        <p:nvSpPr>
          <p:cNvPr id="5" name="Shape 3"/>
          <p:cNvSpPr/>
          <p:nvPr/>
        </p:nvSpPr>
        <p:spPr>
          <a:xfrm>
            <a:off x="566928" y="1783080"/>
            <a:ext cx="3502152" cy="3977640"/>
          </a:xfrm>
          <a:prstGeom prst="roundRect">
            <a:avLst>
              <a:gd name="adj" fmla="val 235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6" name="Text 4"/>
          <p:cNvSpPr/>
          <p:nvPr/>
        </p:nvSpPr>
        <p:spPr>
          <a:xfrm>
            <a:off x="795528" y="1965960"/>
            <a:ext cx="304495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Demo 1 — Output contract</a:t>
            </a:r>
            <a:endParaRPr lang="en-US" sz="1400" dirty="0"/>
          </a:p>
        </p:txBody>
      </p:sp>
      <p:sp>
        <p:nvSpPr>
          <p:cNvPr id="7" name="Text 5"/>
          <p:cNvSpPr/>
          <p:nvPr/>
        </p:nvSpPr>
        <p:spPr>
          <a:xfrm>
            <a:off x="795528" y="2423160"/>
            <a:ext cx="3044952" cy="2286000"/>
          </a:xfrm>
          <a:prstGeom prst="rect">
            <a:avLst/>
          </a:prstGeom>
          <a:noFill/>
          <a:ln/>
        </p:spPr>
        <p:txBody>
          <a:bodyPr wrap="square" rtlCol="0" anchor="ctr"/>
          <a:lstStyle/>
          <a:p>
            <a:pPr indent="0" marL="0">
              <a:lnSpc>
                <a:spcPts val="1700"/>
              </a:lnSpc>
              <a:buNone/>
            </a:pPr>
            <a:r>
              <a:rPr lang="en-US" sz="1200" dirty="0">
                <a:solidFill>
                  <a:srgbClr val="3A4452"/>
                </a:solidFill>
                <a:latin typeface="Arial" pitchFamily="34" charset="0"/>
                <a:ea typeface="Arial" pitchFamily="34" charset="-122"/>
                <a:cs typeface="Arial" pitchFamily="34" charset="-120"/>
              </a:rPr>
              <a:t>Ask for a messy summary, then re-ask with a table contract (Item|Owner|Due).</a:t>
            </a:r>
            <a:endParaRPr lang="en-US" sz="1200" dirty="0"/>
          </a:p>
        </p:txBody>
      </p:sp>
      <p:sp>
        <p:nvSpPr>
          <p:cNvPr id="8" name="Text 6"/>
          <p:cNvSpPr/>
          <p:nvPr/>
        </p:nvSpPr>
        <p:spPr>
          <a:xfrm>
            <a:off x="795528" y="4892040"/>
            <a:ext cx="3044952" cy="822960"/>
          </a:xfrm>
          <a:prstGeom prst="rect">
            <a:avLst/>
          </a:prstGeom>
          <a:noFill/>
          <a:ln/>
        </p:spPr>
        <p:txBody>
          <a:bodyPr wrap="square" rtlCol="0" anchor="t"/>
          <a:lstStyle/>
          <a:p>
            <a:pPr indent="0" marL="0">
              <a:lnSpc>
                <a:spcPts val="1500"/>
              </a:lnSpc>
              <a:buNone/>
            </a:pPr>
            <a:r>
              <a:rPr lang="en-US" sz="1150" b="1" dirty="0">
                <a:solidFill>
                  <a:srgbClr val="15803D"/>
                </a:solidFill>
                <a:latin typeface="Arial" pitchFamily="34" charset="0"/>
                <a:ea typeface="Arial" pitchFamily="34" charset="-122"/>
                <a:cs typeface="Arial" pitchFamily="34" charset="-120"/>
              </a:rPr>
              <a:t>Learners: </a:t>
            </a:r>
            <a:pPr indent="0" marL="0">
              <a:lnSpc>
                <a:spcPts val="1500"/>
              </a:lnSpc>
              <a:buNone/>
            </a:pPr>
            <a:r>
              <a:rPr lang="en-US" sz="1150" dirty="0">
                <a:solidFill>
                  <a:srgbClr val="3A4452"/>
                </a:solidFill>
                <a:latin typeface="Arial" pitchFamily="34" charset="0"/>
                <a:ea typeface="Arial" pitchFamily="34" charset="-122"/>
                <a:cs typeface="Arial" pitchFamily="34" charset="-120"/>
              </a:rPr>
              <a:t>Notice: the contract removes the wall of text.</a:t>
            </a:r>
            <a:endParaRPr lang="en-US" sz="1150" dirty="0"/>
          </a:p>
        </p:txBody>
      </p:sp>
      <p:sp>
        <p:nvSpPr>
          <p:cNvPr id="9" name="Shape 7"/>
          <p:cNvSpPr/>
          <p:nvPr/>
        </p:nvSpPr>
        <p:spPr>
          <a:xfrm>
            <a:off x="4343400" y="1783080"/>
            <a:ext cx="3502152" cy="3977640"/>
          </a:xfrm>
          <a:prstGeom prst="roundRect">
            <a:avLst>
              <a:gd name="adj" fmla="val 235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0" name="Text 8"/>
          <p:cNvSpPr/>
          <p:nvPr/>
        </p:nvSpPr>
        <p:spPr>
          <a:xfrm>
            <a:off x="4572000" y="1965960"/>
            <a:ext cx="304495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Demo 2 — Tagged + grounded</a:t>
            </a:r>
            <a:endParaRPr lang="en-US" sz="1400" dirty="0"/>
          </a:p>
        </p:txBody>
      </p:sp>
      <p:sp>
        <p:nvSpPr>
          <p:cNvPr id="11" name="Text 9"/>
          <p:cNvSpPr/>
          <p:nvPr/>
        </p:nvSpPr>
        <p:spPr>
          <a:xfrm>
            <a:off x="4572000" y="2423160"/>
            <a:ext cx="3044952" cy="2286000"/>
          </a:xfrm>
          <a:prstGeom prst="rect">
            <a:avLst/>
          </a:prstGeom>
          <a:noFill/>
          <a:ln/>
        </p:spPr>
        <p:txBody>
          <a:bodyPr wrap="square" rtlCol="0" anchor="ctr"/>
          <a:lstStyle/>
          <a:p>
            <a:pPr indent="0" marL="0">
              <a:lnSpc>
                <a:spcPts val="1700"/>
              </a:lnSpc>
              <a:buNone/>
            </a:pPr>
            <a:r>
              <a:rPr lang="en-US" sz="1200" dirty="0">
                <a:solidFill>
                  <a:srgbClr val="3A4452"/>
                </a:solidFill>
                <a:latin typeface="Arial" pitchFamily="34" charset="0"/>
                <a:ea typeface="Arial" pitchFamily="34" charset="-122"/>
                <a:cs typeface="Arial" pitchFamily="34" charset="-120"/>
              </a:rPr>
              <a:t>Paste a bulletin in &lt;bulletin&gt; tags; 'quote first, then summarize; say Not stated if missing.'</a:t>
            </a:r>
            <a:endParaRPr lang="en-US" sz="1200" dirty="0"/>
          </a:p>
        </p:txBody>
      </p:sp>
      <p:sp>
        <p:nvSpPr>
          <p:cNvPr id="12" name="Text 10"/>
          <p:cNvSpPr/>
          <p:nvPr/>
        </p:nvSpPr>
        <p:spPr>
          <a:xfrm>
            <a:off x="4572000" y="4892040"/>
            <a:ext cx="3044952" cy="822960"/>
          </a:xfrm>
          <a:prstGeom prst="rect">
            <a:avLst/>
          </a:prstGeom>
          <a:noFill/>
          <a:ln/>
        </p:spPr>
        <p:txBody>
          <a:bodyPr wrap="square" rtlCol="0" anchor="t"/>
          <a:lstStyle/>
          <a:p>
            <a:pPr indent="0" marL="0">
              <a:lnSpc>
                <a:spcPts val="1500"/>
              </a:lnSpc>
              <a:buNone/>
            </a:pPr>
            <a:r>
              <a:rPr lang="en-US" sz="1150" b="1" dirty="0">
                <a:solidFill>
                  <a:srgbClr val="15803D"/>
                </a:solidFill>
                <a:latin typeface="Arial" pitchFamily="34" charset="0"/>
                <a:ea typeface="Arial" pitchFamily="34" charset="-122"/>
                <a:cs typeface="Arial" pitchFamily="34" charset="-120"/>
              </a:rPr>
              <a:t>Learners: </a:t>
            </a:r>
            <a:pPr indent="0" marL="0">
              <a:lnSpc>
                <a:spcPts val="1500"/>
              </a:lnSpc>
              <a:buNone/>
            </a:pPr>
            <a:r>
              <a:rPr lang="en-US" sz="1150" dirty="0">
                <a:solidFill>
                  <a:srgbClr val="3A4452"/>
                </a:solidFill>
                <a:latin typeface="Arial" pitchFamily="34" charset="0"/>
                <a:ea typeface="Arial" pitchFamily="34" charset="-122"/>
                <a:cs typeface="Arial" pitchFamily="34" charset="-120"/>
              </a:rPr>
              <a:t>Notice: it grounds answers in the real text.</a:t>
            </a:r>
            <a:endParaRPr lang="en-US" sz="1150" dirty="0"/>
          </a:p>
        </p:txBody>
      </p:sp>
      <p:sp>
        <p:nvSpPr>
          <p:cNvPr id="13" name="Shape 11"/>
          <p:cNvSpPr/>
          <p:nvPr/>
        </p:nvSpPr>
        <p:spPr>
          <a:xfrm>
            <a:off x="8119872" y="1783080"/>
            <a:ext cx="3502152" cy="3977640"/>
          </a:xfrm>
          <a:prstGeom prst="roundRect">
            <a:avLst>
              <a:gd name="adj" fmla="val 235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8348472" y="1965960"/>
            <a:ext cx="3044952" cy="411480"/>
          </a:xfrm>
          <a:prstGeom prst="rect">
            <a:avLst/>
          </a:prstGeom>
          <a:noFill/>
          <a:ln/>
        </p:spPr>
        <p:txBody>
          <a:bodyPr wrap="square" rtlCol="0" anchor="ctr"/>
          <a:lstStyle/>
          <a:p>
            <a:pPr indent="0" marL="0">
              <a:buNone/>
            </a:pPr>
            <a:r>
              <a:rPr lang="en-US" sz="1400" b="1" dirty="0">
                <a:solidFill>
                  <a:srgbClr val="D31242"/>
                </a:solidFill>
                <a:latin typeface="Arial" pitchFamily="34" charset="0"/>
                <a:ea typeface="Arial" pitchFamily="34" charset="-122"/>
                <a:cs typeface="Arial" pitchFamily="34" charset="-120"/>
              </a:rPr>
              <a:t>Demo 3 — Example swap</a:t>
            </a:r>
            <a:endParaRPr lang="en-US" sz="1400" dirty="0"/>
          </a:p>
        </p:txBody>
      </p:sp>
      <p:sp>
        <p:nvSpPr>
          <p:cNvPr id="15" name="Text 13"/>
          <p:cNvSpPr/>
          <p:nvPr/>
        </p:nvSpPr>
        <p:spPr>
          <a:xfrm>
            <a:off x="8348472" y="2423160"/>
            <a:ext cx="3044952" cy="2286000"/>
          </a:xfrm>
          <a:prstGeom prst="rect">
            <a:avLst/>
          </a:prstGeom>
          <a:noFill/>
          <a:ln/>
        </p:spPr>
        <p:txBody>
          <a:bodyPr wrap="square" rtlCol="0" anchor="ctr"/>
          <a:lstStyle/>
          <a:p>
            <a:pPr indent="0" marL="0">
              <a:lnSpc>
                <a:spcPts val="1700"/>
              </a:lnSpc>
              <a:buNone/>
            </a:pPr>
            <a:r>
              <a:rPr lang="en-US" sz="1200" dirty="0">
                <a:solidFill>
                  <a:srgbClr val="3A4452"/>
                </a:solidFill>
                <a:latin typeface="Arial" pitchFamily="34" charset="0"/>
                <a:ea typeface="Arial" pitchFamily="34" charset="-122"/>
                <a:cs typeface="Arial" pitchFamily="34" charset="-120"/>
              </a:rPr>
              <a:t>Run the FAQ example, then swap it for a formal one.</a:t>
            </a:r>
            <a:endParaRPr lang="en-US" sz="1200" dirty="0"/>
          </a:p>
        </p:txBody>
      </p:sp>
      <p:sp>
        <p:nvSpPr>
          <p:cNvPr id="16" name="Text 14"/>
          <p:cNvSpPr/>
          <p:nvPr/>
        </p:nvSpPr>
        <p:spPr>
          <a:xfrm>
            <a:off x="8348472" y="4892040"/>
            <a:ext cx="3044952" cy="822960"/>
          </a:xfrm>
          <a:prstGeom prst="rect">
            <a:avLst/>
          </a:prstGeom>
          <a:noFill/>
          <a:ln/>
        </p:spPr>
        <p:txBody>
          <a:bodyPr wrap="square" rtlCol="0" anchor="t"/>
          <a:lstStyle/>
          <a:p>
            <a:pPr indent="0" marL="0">
              <a:lnSpc>
                <a:spcPts val="1500"/>
              </a:lnSpc>
              <a:buNone/>
            </a:pPr>
            <a:r>
              <a:rPr lang="en-US" sz="1150" b="1" dirty="0">
                <a:solidFill>
                  <a:srgbClr val="15803D"/>
                </a:solidFill>
                <a:latin typeface="Arial" pitchFamily="34" charset="0"/>
                <a:ea typeface="Arial" pitchFamily="34" charset="-122"/>
                <a:cs typeface="Arial" pitchFamily="34" charset="-120"/>
              </a:rPr>
              <a:t>Learners: </a:t>
            </a:r>
            <a:pPr indent="0" marL="0">
              <a:lnSpc>
                <a:spcPts val="1500"/>
              </a:lnSpc>
              <a:buNone/>
            </a:pPr>
            <a:r>
              <a:rPr lang="en-US" sz="1150" dirty="0">
                <a:solidFill>
                  <a:srgbClr val="3A4452"/>
                </a:solidFill>
                <a:latin typeface="Arial" pitchFamily="34" charset="0"/>
                <a:ea typeface="Arial" pitchFamily="34" charset="-122"/>
                <a:cs typeface="Arial" pitchFamily="34" charset="-120"/>
              </a:rPr>
              <a:t>Notice: the example, not adjectives, drives voice.</a:t>
            </a:r>
            <a:endParaRPr lang="en-US" sz="1150" dirty="0"/>
          </a:p>
        </p:txBody>
      </p:sp>
      <p:sp>
        <p:nvSpPr>
          <p:cNvPr id="17" name="Text 15"/>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HANDS-ON EXERCISE</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One bulletin → four audience-ready outputs</a:t>
            </a:r>
            <a:endParaRPr lang="en-US" sz="2700" dirty="0"/>
          </a:p>
        </p:txBody>
      </p:sp>
      <p:sp>
        <p:nvSpPr>
          <p:cNvPr id="4" name="Shape 2"/>
          <p:cNvSpPr/>
          <p:nvPr/>
        </p:nvSpPr>
        <p:spPr>
          <a:xfrm>
            <a:off x="566928" y="1508760"/>
            <a:ext cx="10469880" cy="1097280"/>
          </a:xfrm>
          <a:prstGeom prst="roundRect">
            <a:avLst>
              <a:gd name="adj" fmla="val 7500"/>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627632"/>
            <a:ext cx="10058400" cy="822960"/>
          </a:xfrm>
          <a:prstGeom prst="rect">
            <a:avLst/>
          </a:prstGeom>
          <a:noFill/>
          <a:ln/>
        </p:spPr>
        <p:txBody>
          <a:bodyPr wrap="square" rtlCol="0" anchor="ctr"/>
          <a:lstStyle/>
          <a:p>
            <a:pPr indent="0" marL="0">
              <a:buNone/>
            </a:pPr>
            <a:r>
              <a:rPr lang="en-US" sz="1450" b="1" dirty="0">
                <a:solidFill>
                  <a:srgbClr val="7E0A27"/>
                </a:solidFill>
                <a:latin typeface="Arial" pitchFamily="34" charset="0"/>
                <a:ea typeface="Arial" pitchFamily="34" charset="-122"/>
                <a:cs typeface="Arial" pitchFamily="34" charset="-120"/>
              </a:rPr>
              <a:t>Your task: </a:t>
            </a:r>
            <a:pPr indent="0" marL="0">
              <a:buNone/>
            </a:pPr>
            <a:r>
              <a:rPr lang="en-US" sz="1450" dirty="0">
                <a:solidFill>
                  <a:srgbClr val="1F2733"/>
                </a:solidFill>
                <a:latin typeface="Arial" pitchFamily="34" charset="0"/>
                <a:ea typeface="Arial" pitchFamily="34" charset="-122"/>
                <a:cs typeface="Arial" pitchFamily="34" charset="-120"/>
              </a:rPr>
              <a:t>take a long club operations bulletin and engineer ONE prompt that produces four outputs.</a:t>
            </a:r>
            <a:endParaRPr lang="en-US" sz="1450" dirty="0"/>
          </a:p>
        </p:txBody>
      </p:sp>
      <p:sp>
        <p:nvSpPr>
          <p:cNvPr id="6" name="Shape 4"/>
          <p:cNvSpPr/>
          <p:nvPr/>
        </p:nvSpPr>
        <p:spPr>
          <a:xfrm>
            <a:off x="566928" y="2788920"/>
            <a:ext cx="2558034" cy="1554480"/>
          </a:xfrm>
          <a:prstGeom prst="roundRect">
            <a:avLst>
              <a:gd name="adj" fmla="val 5294"/>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Shape 5"/>
          <p:cNvSpPr/>
          <p:nvPr/>
        </p:nvSpPr>
        <p:spPr>
          <a:xfrm>
            <a:off x="768096" y="2990088"/>
            <a:ext cx="384048" cy="384048"/>
          </a:xfrm>
          <a:prstGeom prst="ellipse">
            <a:avLst/>
          </a:prstGeom>
          <a:solidFill>
            <a:srgbClr val="D31242"/>
          </a:solidFill>
          <a:ln/>
        </p:spPr>
      </p:sp>
      <p:sp>
        <p:nvSpPr>
          <p:cNvPr id="8" name="Text 6"/>
          <p:cNvSpPr/>
          <p:nvPr/>
        </p:nvSpPr>
        <p:spPr>
          <a:xfrm>
            <a:off x="768096" y="29900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p:nvPr/>
        </p:nvSpPr>
        <p:spPr>
          <a:xfrm>
            <a:off x="749808" y="3465576"/>
            <a:ext cx="2192274" cy="502920"/>
          </a:xfrm>
          <a:prstGeom prst="rect">
            <a:avLst/>
          </a:prstGeom>
          <a:noFill/>
          <a:ln/>
        </p:spPr>
        <p:txBody>
          <a:bodyPr wrap="square" rtlCol="0" anchor="ctr"/>
          <a:lstStyle/>
          <a:p>
            <a:pPr indent="0" marL="0">
              <a:lnSpc>
                <a:spcPts val="1400"/>
              </a:lnSpc>
              <a:buNone/>
            </a:pPr>
            <a:r>
              <a:rPr lang="en-US" sz="1250" b="1" dirty="0">
                <a:solidFill>
                  <a:srgbClr val="D31242"/>
                </a:solidFill>
                <a:latin typeface="Arial" pitchFamily="34" charset="0"/>
                <a:ea typeface="Arial" pitchFamily="34" charset="-122"/>
                <a:cs typeface="Arial" pitchFamily="34" charset="-120"/>
              </a:rPr>
              <a:t>Associate announcement</a:t>
            </a:r>
            <a:endParaRPr lang="en-US" sz="1250" dirty="0"/>
          </a:p>
        </p:txBody>
      </p:sp>
      <p:sp>
        <p:nvSpPr>
          <p:cNvPr id="10" name="Text 8"/>
          <p:cNvSpPr/>
          <p:nvPr/>
        </p:nvSpPr>
        <p:spPr>
          <a:xfrm>
            <a:off x="749808" y="3941064"/>
            <a:ext cx="2192274" cy="36576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warm, &lt;120 words, bullets</a:t>
            </a:r>
            <a:endParaRPr lang="en-US" sz="1050" dirty="0"/>
          </a:p>
        </p:txBody>
      </p:sp>
      <p:sp>
        <p:nvSpPr>
          <p:cNvPr id="11" name="Shape 9"/>
          <p:cNvSpPr/>
          <p:nvPr/>
        </p:nvSpPr>
        <p:spPr>
          <a:xfrm>
            <a:off x="3399282" y="2788920"/>
            <a:ext cx="2558034" cy="1554480"/>
          </a:xfrm>
          <a:prstGeom prst="roundRect">
            <a:avLst>
              <a:gd name="adj" fmla="val 5294"/>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2" name="Shape 10"/>
          <p:cNvSpPr/>
          <p:nvPr/>
        </p:nvSpPr>
        <p:spPr>
          <a:xfrm>
            <a:off x="3600450" y="2990088"/>
            <a:ext cx="384048" cy="384048"/>
          </a:xfrm>
          <a:prstGeom prst="ellipse">
            <a:avLst/>
          </a:prstGeom>
          <a:solidFill>
            <a:srgbClr val="D31242"/>
          </a:solidFill>
          <a:ln/>
        </p:spPr>
      </p:sp>
      <p:sp>
        <p:nvSpPr>
          <p:cNvPr id="13" name="Text 11"/>
          <p:cNvSpPr/>
          <p:nvPr/>
        </p:nvSpPr>
        <p:spPr>
          <a:xfrm>
            <a:off x="3600450" y="29900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4" name="Text 12"/>
          <p:cNvSpPr/>
          <p:nvPr/>
        </p:nvSpPr>
        <p:spPr>
          <a:xfrm>
            <a:off x="3582162" y="3465576"/>
            <a:ext cx="2192274" cy="502920"/>
          </a:xfrm>
          <a:prstGeom prst="rect">
            <a:avLst/>
          </a:prstGeom>
          <a:noFill/>
          <a:ln/>
        </p:spPr>
        <p:txBody>
          <a:bodyPr wrap="square" rtlCol="0" anchor="ctr"/>
          <a:lstStyle/>
          <a:p>
            <a:pPr indent="0" marL="0">
              <a:lnSpc>
                <a:spcPts val="1400"/>
              </a:lnSpc>
              <a:buNone/>
            </a:pPr>
            <a:r>
              <a:rPr lang="en-US" sz="1250" b="1" dirty="0">
                <a:solidFill>
                  <a:srgbClr val="D31242"/>
                </a:solidFill>
                <a:latin typeface="Arial" pitchFamily="34" charset="0"/>
                <a:ea typeface="Arial" pitchFamily="34" charset="-122"/>
                <a:cs typeface="Arial" pitchFamily="34" charset="-120"/>
              </a:rPr>
              <a:t>Manager talking points</a:t>
            </a:r>
            <a:endParaRPr lang="en-US" sz="1250" dirty="0"/>
          </a:p>
        </p:txBody>
      </p:sp>
      <p:sp>
        <p:nvSpPr>
          <p:cNvPr id="15" name="Text 13"/>
          <p:cNvSpPr/>
          <p:nvPr/>
        </p:nvSpPr>
        <p:spPr>
          <a:xfrm>
            <a:off x="3582162" y="3941064"/>
            <a:ext cx="2192274" cy="36576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what to say in a huddle</a:t>
            </a:r>
            <a:endParaRPr lang="en-US" sz="1050" dirty="0"/>
          </a:p>
        </p:txBody>
      </p:sp>
      <p:sp>
        <p:nvSpPr>
          <p:cNvPr id="16" name="Shape 14"/>
          <p:cNvSpPr/>
          <p:nvPr/>
        </p:nvSpPr>
        <p:spPr>
          <a:xfrm>
            <a:off x="6231636" y="2788920"/>
            <a:ext cx="2558034" cy="1554480"/>
          </a:xfrm>
          <a:prstGeom prst="roundRect">
            <a:avLst>
              <a:gd name="adj" fmla="val 5294"/>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Shape 15"/>
          <p:cNvSpPr/>
          <p:nvPr/>
        </p:nvSpPr>
        <p:spPr>
          <a:xfrm>
            <a:off x="6432804" y="2990088"/>
            <a:ext cx="384048" cy="384048"/>
          </a:xfrm>
          <a:prstGeom prst="ellipse">
            <a:avLst/>
          </a:prstGeom>
          <a:solidFill>
            <a:srgbClr val="D31242"/>
          </a:solidFill>
          <a:ln/>
        </p:spPr>
      </p:sp>
      <p:sp>
        <p:nvSpPr>
          <p:cNvPr id="18" name="Text 16"/>
          <p:cNvSpPr/>
          <p:nvPr/>
        </p:nvSpPr>
        <p:spPr>
          <a:xfrm>
            <a:off x="6432804" y="29900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9" name="Text 17"/>
          <p:cNvSpPr/>
          <p:nvPr/>
        </p:nvSpPr>
        <p:spPr>
          <a:xfrm>
            <a:off x="6414516" y="3465576"/>
            <a:ext cx="2192274" cy="502920"/>
          </a:xfrm>
          <a:prstGeom prst="rect">
            <a:avLst/>
          </a:prstGeom>
          <a:noFill/>
          <a:ln/>
        </p:spPr>
        <p:txBody>
          <a:bodyPr wrap="square" rtlCol="0" anchor="ctr"/>
          <a:lstStyle/>
          <a:p>
            <a:pPr indent="0" marL="0">
              <a:lnSpc>
                <a:spcPts val="1400"/>
              </a:lnSpc>
              <a:buNone/>
            </a:pPr>
            <a:r>
              <a:rPr lang="en-US" sz="1250" b="1" dirty="0">
                <a:solidFill>
                  <a:srgbClr val="D31242"/>
                </a:solidFill>
                <a:latin typeface="Arial" pitchFamily="34" charset="0"/>
                <a:ea typeface="Arial" pitchFamily="34" charset="-122"/>
                <a:cs typeface="Arial" pitchFamily="34" charset="-120"/>
              </a:rPr>
              <a:t>Leadership summary</a:t>
            </a:r>
            <a:endParaRPr lang="en-US" sz="1250" dirty="0"/>
          </a:p>
        </p:txBody>
      </p:sp>
      <p:sp>
        <p:nvSpPr>
          <p:cNvPr id="20" name="Text 18"/>
          <p:cNvSpPr/>
          <p:nvPr/>
        </p:nvSpPr>
        <p:spPr>
          <a:xfrm>
            <a:off x="6414516" y="3941064"/>
            <a:ext cx="2192274" cy="36576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3 lines, outcomes &amp; risks</a:t>
            </a:r>
            <a:endParaRPr lang="en-US" sz="1050" dirty="0"/>
          </a:p>
        </p:txBody>
      </p:sp>
      <p:sp>
        <p:nvSpPr>
          <p:cNvPr id="21" name="Shape 19"/>
          <p:cNvSpPr/>
          <p:nvPr/>
        </p:nvSpPr>
        <p:spPr>
          <a:xfrm>
            <a:off x="9063990" y="2788920"/>
            <a:ext cx="2558034" cy="1554480"/>
          </a:xfrm>
          <a:prstGeom prst="roundRect">
            <a:avLst>
              <a:gd name="adj" fmla="val 5294"/>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2" name="Shape 20"/>
          <p:cNvSpPr/>
          <p:nvPr/>
        </p:nvSpPr>
        <p:spPr>
          <a:xfrm>
            <a:off x="9265158" y="2990088"/>
            <a:ext cx="384048" cy="384048"/>
          </a:xfrm>
          <a:prstGeom prst="ellipse">
            <a:avLst/>
          </a:prstGeom>
          <a:solidFill>
            <a:srgbClr val="D31242"/>
          </a:solidFill>
          <a:ln/>
        </p:spPr>
      </p:sp>
      <p:sp>
        <p:nvSpPr>
          <p:cNvPr id="23" name="Text 21"/>
          <p:cNvSpPr/>
          <p:nvPr/>
        </p:nvSpPr>
        <p:spPr>
          <a:xfrm>
            <a:off x="9265158" y="29900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4" name="Text 22"/>
          <p:cNvSpPr/>
          <p:nvPr/>
        </p:nvSpPr>
        <p:spPr>
          <a:xfrm>
            <a:off x="9246870" y="3465576"/>
            <a:ext cx="2192274" cy="502920"/>
          </a:xfrm>
          <a:prstGeom prst="rect">
            <a:avLst/>
          </a:prstGeom>
          <a:noFill/>
          <a:ln/>
        </p:spPr>
        <p:txBody>
          <a:bodyPr wrap="square" rtlCol="0" anchor="ctr"/>
          <a:lstStyle/>
          <a:p>
            <a:pPr indent="0" marL="0">
              <a:lnSpc>
                <a:spcPts val="1400"/>
              </a:lnSpc>
              <a:buNone/>
            </a:pPr>
            <a:r>
              <a:rPr lang="en-US" sz="1250" b="1" dirty="0">
                <a:solidFill>
                  <a:srgbClr val="D31242"/>
                </a:solidFill>
                <a:latin typeface="Arial" pitchFamily="34" charset="0"/>
                <a:ea typeface="Arial" pitchFamily="34" charset="-122"/>
                <a:cs typeface="Arial" pitchFamily="34" charset="-120"/>
              </a:rPr>
              <a:t>Action-item table</a:t>
            </a:r>
            <a:endParaRPr lang="en-US" sz="1250" dirty="0"/>
          </a:p>
        </p:txBody>
      </p:sp>
      <p:sp>
        <p:nvSpPr>
          <p:cNvPr id="25" name="Text 23"/>
          <p:cNvSpPr/>
          <p:nvPr/>
        </p:nvSpPr>
        <p:spPr>
          <a:xfrm>
            <a:off x="9246870" y="3941064"/>
            <a:ext cx="2192274" cy="365760"/>
          </a:xfrm>
          <a:prstGeom prst="rect">
            <a:avLst/>
          </a:prstGeom>
          <a:noFill/>
          <a:ln/>
        </p:spPr>
        <p:txBody>
          <a:bodyPr wrap="square" rtlCol="0" anchor="ctr"/>
          <a:lstStyle/>
          <a:p>
            <a:pPr indent="0" marL="0">
              <a:lnSpc>
                <a:spcPts val="1300"/>
              </a:lnSpc>
              <a:buNone/>
            </a:pPr>
            <a:r>
              <a:rPr lang="en-US" sz="1050" dirty="0">
                <a:solidFill>
                  <a:srgbClr val="3A4452"/>
                </a:solidFill>
                <a:latin typeface="Arial" pitchFamily="34" charset="0"/>
                <a:ea typeface="Arial" pitchFamily="34" charset="-122"/>
                <a:cs typeface="Arial" pitchFamily="34" charset="-120"/>
              </a:rPr>
              <a:t>Item | Owner | Due date</a:t>
            </a:r>
            <a:endParaRPr lang="en-US" sz="1050" dirty="0"/>
          </a:p>
        </p:txBody>
      </p:sp>
      <p:sp>
        <p:nvSpPr>
          <p:cNvPr id="26" name="Shape 24"/>
          <p:cNvSpPr/>
          <p:nvPr/>
        </p:nvSpPr>
        <p:spPr>
          <a:xfrm>
            <a:off x="566928" y="4617720"/>
            <a:ext cx="10469880" cy="1234440"/>
          </a:xfrm>
          <a:prstGeom prst="roundRect">
            <a:avLst>
              <a:gd name="adj" fmla="val 6667"/>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7" name="Text 25"/>
          <p:cNvSpPr/>
          <p:nvPr/>
        </p:nvSpPr>
        <p:spPr>
          <a:xfrm>
            <a:off x="841248" y="4754880"/>
            <a:ext cx="10058400" cy="960120"/>
          </a:xfrm>
          <a:prstGeom prst="rect">
            <a:avLst/>
          </a:prstGeom>
          <a:noFill/>
          <a:ln/>
        </p:spPr>
        <p:txBody>
          <a:bodyPr wrap="square" rtlCol="0" anchor="ctr"/>
          <a:lstStyle/>
          <a:p>
            <a:pPr indent="0" marL="0">
              <a:lnSpc>
                <a:spcPts val="1800"/>
              </a:lnSpc>
              <a:buNone/>
            </a:pPr>
            <a:r>
              <a:rPr lang="en-US" sz="1300" b="1" dirty="0">
                <a:solidFill>
                  <a:srgbClr val="1F2733"/>
                </a:solidFill>
                <a:latin typeface="Arial" pitchFamily="34" charset="0"/>
                <a:ea typeface="Arial" pitchFamily="34" charset="-122"/>
                <a:cs typeface="Arial" pitchFamily="34" charset="-120"/>
              </a:rPr>
              <a:t>Use at least 6–8 patterns</a:t>
            </a:r>
            <a:pPr indent="0" marL="0">
              <a:lnSpc>
                <a:spcPts val="1800"/>
              </a:lnSpc>
              <a:buNone/>
            </a:pPr>
            <a:r>
              <a:rPr lang="en-US" sz="1300" dirty="0">
                <a:solidFill>
                  <a:srgbClr val="3A4452"/>
                </a:solidFill>
                <a:latin typeface="Arial" pitchFamily="34" charset="0"/>
                <a:ea typeface="Arial" pitchFamily="34" charset="-122"/>
                <a:cs typeface="Arial" pitchFamily="34" charset="-120"/>
              </a:rPr>
              <a:t> — e.g. role, tagged source, output contract, audience transformation, tone anchors, constraints, give-an-out, and a verify/clarify step. Then score a partner's prompt with the rubric.</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ANSWER KEY (1 OF 2)</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A strong engineered prompt — patterns labeled</a:t>
            </a:r>
            <a:endParaRPr lang="en-US" sz="2700" dirty="0"/>
          </a:p>
        </p:txBody>
      </p:sp>
      <p:sp>
        <p:nvSpPr>
          <p:cNvPr id="4" name="Shape 2"/>
          <p:cNvSpPr/>
          <p:nvPr/>
        </p:nvSpPr>
        <p:spPr>
          <a:xfrm>
            <a:off x="566928" y="1508760"/>
            <a:ext cx="10469880" cy="4297680"/>
          </a:xfrm>
          <a:prstGeom prst="roundRect">
            <a:avLst>
              <a:gd name="adj" fmla="val 1915"/>
            </a:avLst>
          </a:prstGeom>
          <a:solidFill>
            <a:srgbClr val="F4F4F2"/>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768096" y="1618488"/>
            <a:ext cx="10104120" cy="237744"/>
          </a:xfrm>
          <a:prstGeom prst="rect">
            <a:avLst/>
          </a:prstGeom>
          <a:noFill/>
          <a:ln/>
        </p:spPr>
        <p:txBody>
          <a:bodyPr wrap="square" rtlCol="0" anchor="ctr"/>
          <a:lstStyle/>
          <a:p>
            <a:pPr indent="0" marL="0">
              <a:buNone/>
            </a:pPr>
            <a:r>
              <a:rPr lang="en-US" sz="900" b="1" spc="130" kern="0" dirty="0">
                <a:solidFill>
                  <a:srgbClr val="5E6A78"/>
                </a:solidFill>
                <a:latin typeface="Arial" pitchFamily="34" charset="0"/>
                <a:ea typeface="Arial" pitchFamily="34" charset="-122"/>
                <a:cs typeface="Arial" pitchFamily="34" charset="-120"/>
              </a:rPr>
              <a:t>SAMPLE ANSWER</a:t>
            </a:r>
            <a:endParaRPr lang="en-US" sz="900" dirty="0"/>
          </a:p>
        </p:txBody>
      </p:sp>
      <p:sp>
        <p:nvSpPr>
          <p:cNvPr id="6" name="Text 4"/>
          <p:cNvSpPr/>
          <p:nvPr/>
        </p:nvSpPr>
        <p:spPr>
          <a:xfrm>
            <a:off x="795528" y="1892808"/>
            <a:ext cx="10012680" cy="3785616"/>
          </a:xfrm>
          <a:prstGeom prst="rect">
            <a:avLst/>
          </a:prstGeom>
          <a:noFill/>
          <a:ln/>
        </p:spPr>
        <p:txBody>
          <a:bodyPr wrap="square" rtlCol="0" anchor="t"/>
          <a:lstStyle/>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You are a BJ's club operations lead writing for frontline associates and managers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(role)</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&lt;bulletin&gt;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[paste the full ops bulletin]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&lt;/bulletin&gt;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&lt;example&gt;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Heading + 4 warm bullets, &lt;120 words, no acronyms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&lt;/example&gt;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(output contract + tone)</a:t>
            </a:r>
            <a:pPr algn="l" indent="0" marL="0">
              <a:lnSpc>
                <a:spcPts val="1500"/>
              </a:lnSpc>
              <a:buNone/>
            </a:pPr>
            <a:endParaRPr lang="en-US" sz="1100" dirty="0"/>
          </a:p>
          <a:p>
            <a:pPr algn="l" indent="0" marL="0">
              <a:lnSpc>
                <a:spcPts val="1500"/>
              </a:lnSpc>
              <a:buNone/>
            </a:pP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Using only the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&lt;bulletin&gt;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(source-grounded)</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produce FOUR outputs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(audience transformation)</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1) associate announcement in the &lt;example&gt; style  2) manager talking points</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3) a 3-line leadership summary (outcomes + risks)  4) an action-item table: Item | Owner | Due</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If a detail is missing, write 'Not stated'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(give-an-out / fallback)</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t>
            </a:r>
            <a:endParaRPr lang="en-US" sz="1100" dirty="0"/>
          </a:p>
          <a:p>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Then list what I should confirm in </a:t>
            </a:r>
            <a:endParaRPr lang="en-US" sz="1100" dirty="0"/>
          </a:p>
          <a:p>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&lt;verify&gt;</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 tags </a:t>
            </a:r>
            <a:pPr algn="l" indent="0" marL="0">
              <a:lnSpc>
                <a:spcPts val="1500"/>
              </a:lnSpc>
              <a:buNone/>
            </a:pPr>
            <a:r>
              <a:rPr lang="en-US" sz="1100" dirty="0">
                <a:solidFill>
                  <a:srgbClr val="D31242"/>
                </a:solidFill>
                <a:latin typeface="Courier New" pitchFamily="34" charset="0"/>
                <a:ea typeface="Courier New" pitchFamily="34" charset="-122"/>
                <a:cs typeface="Courier New" pitchFamily="34" charset="-120"/>
              </a:rPr>
              <a:t>(confidence/verify)</a:t>
            </a:r>
            <a:pPr algn="l" indent="0" marL="0">
              <a:lnSpc>
                <a:spcPts val="1500"/>
              </a:lnSpc>
              <a:buNone/>
            </a:pPr>
            <a:r>
              <a:rPr lang="en-US" sz="1100" dirty="0">
                <a:solidFill>
                  <a:srgbClr val="1F2733"/>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566928" y="5897880"/>
            <a:ext cx="11055096" cy="365760"/>
          </a:xfrm>
          <a:prstGeom prst="rect">
            <a:avLst/>
          </a:prstGeom>
          <a:noFill/>
          <a:ln/>
        </p:spPr>
        <p:txBody>
          <a:bodyPr wrap="square" rtlCol="0" anchor="ctr"/>
          <a:lstStyle/>
          <a:p>
            <a:pPr algn="ctr" indent="0" marL="0">
              <a:buNone/>
            </a:pPr>
            <a:r>
              <a:rPr lang="en-US" sz="1150" b="1" dirty="0">
                <a:solidFill>
                  <a:srgbClr val="1F2733"/>
                </a:solidFill>
                <a:latin typeface="Arial" pitchFamily="34" charset="0"/>
                <a:ea typeface="Arial" pitchFamily="34" charset="-122"/>
                <a:cs typeface="Arial" pitchFamily="34" charset="-120"/>
              </a:rPr>
              <a:t>Patterns used: role · tagged source · output contract · tone anchors · source-grounded · audience transformation · give-an-out · verify — 8 patterns.</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ANSWER KEY (2 OF 2)</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What 'good' output looks like</a:t>
            </a:r>
            <a:endParaRPr lang="en-US" sz="2700" dirty="0"/>
          </a:p>
        </p:txBody>
      </p:sp>
      <p:sp>
        <p:nvSpPr>
          <p:cNvPr id="4" name="Shape 2"/>
          <p:cNvSpPr/>
          <p:nvPr/>
        </p:nvSpPr>
        <p:spPr>
          <a:xfrm>
            <a:off x="566928" y="1554480"/>
            <a:ext cx="5486400" cy="4114800"/>
          </a:xfrm>
          <a:prstGeom prst="roundRect">
            <a:avLst>
              <a:gd name="adj" fmla="val 2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411480"/>
          </a:xfrm>
          <a:prstGeom prst="rect">
            <a:avLst/>
          </a:prstGeom>
          <a:noFill/>
          <a:ln/>
        </p:spPr>
        <p:txBody>
          <a:bodyPr wrap="square" rtlCol="0" anchor="ctr"/>
          <a:lstStyle/>
          <a:p>
            <a:pPr indent="0" marL="0">
              <a:buNone/>
            </a:pPr>
            <a:r>
              <a:rPr lang="en-US" sz="1450" b="1" dirty="0">
                <a:solidFill>
                  <a:srgbClr val="D31242"/>
                </a:solidFill>
                <a:latin typeface="Arial" pitchFamily="34" charset="0"/>
                <a:ea typeface="Arial" pitchFamily="34" charset="-122"/>
                <a:cs typeface="Arial" pitchFamily="34" charset="-120"/>
              </a:rPr>
              <a:t>Associate announcement</a:t>
            </a:r>
            <a:endParaRPr lang="en-US" sz="1450" dirty="0"/>
          </a:p>
        </p:txBody>
      </p:sp>
      <p:sp>
        <p:nvSpPr>
          <p:cNvPr id="6" name="Text 4"/>
          <p:cNvSpPr/>
          <p:nvPr/>
        </p:nvSpPr>
        <p:spPr>
          <a:xfrm>
            <a:off x="841248" y="2240280"/>
            <a:ext cx="4983480" cy="3200400"/>
          </a:xfrm>
          <a:prstGeom prst="rect">
            <a:avLst/>
          </a:prstGeom>
          <a:noFill/>
          <a:ln/>
        </p:spPr>
        <p:txBody>
          <a:bodyPr wrap="square" rtlCol="0" anchor="t"/>
          <a:lstStyle/>
          <a:p>
            <a:pPr indent="0" marL="0">
              <a:lnSpc>
                <a:spcPts val="1800"/>
              </a:lnSpc>
              <a:buNone/>
            </a:pPr>
            <a:r>
              <a:rPr lang="en-US" sz="1250" b="1" dirty="0">
                <a:solidFill>
                  <a:srgbClr val="1F2733"/>
                </a:solidFill>
                <a:latin typeface="Arial" pitchFamily="34" charset="0"/>
                <a:ea typeface="Arial" pitchFamily="34" charset="-122"/>
                <a:cs typeface="Arial" pitchFamily="34" charset="-120"/>
              </a:rPr>
              <a:t>Curbside Pickup Starts Monday!</a:t>
            </a:r>
            <a:endParaRPr lang="en-US" sz="1250" dirty="0"/>
          </a:p>
          <a:p>
            <a:pPr indent="0" marL="0">
              <a:lnSpc>
                <a:spcPts val="1800"/>
              </a:lnSpc>
              <a:buNone/>
            </a:pPr>
            <a:endParaRPr lang="en-US" sz="1250" dirty="0"/>
          </a:p>
          <a:p>
            <a:pPr marL="342900" indent="-342900">
              <a:lnSpc>
                <a:spcPts val="1800"/>
              </a:lnSpc>
              <a:buSzPct val="100000"/>
              <a:buChar char="•"/>
            </a:pPr>
            <a:r>
              <a:rPr lang="en-US" sz="1250" dirty="0">
                <a:solidFill>
                  <a:srgbClr val="3A4452"/>
                </a:solidFill>
                <a:latin typeface="Arial" pitchFamily="34" charset="0"/>
                <a:ea typeface="Arial" pitchFamily="34" charset="-122"/>
                <a:cs typeface="Arial" pitchFamily="34" charset="-120"/>
              </a:rPr>
              <a:t>Bring orders to the new curbside spots by Door 2</a:t>
            </a:r>
            <a:endParaRPr lang="en-US" sz="1250" dirty="0"/>
          </a:p>
          <a:p>
            <a:pPr marL="342900" indent="-342900">
              <a:lnSpc>
                <a:spcPts val="1800"/>
              </a:lnSpc>
              <a:buSzPct val="100000"/>
              <a:buChar char="•"/>
            </a:pPr>
            <a:r>
              <a:rPr lang="en-US" sz="1250" dirty="0">
                <a:solidFill>
                  <a:srgbClr val="3A4452"/>
                </a:solidFill>
                <a:latin typeface="Arial" pitchFamily="34" charset="0"/>
                <a:ea typeface="Arial" pitchFamily="34" charset="-122"/>
                <a:cs typeface="Arial" pitchFamily="34" charset="-120"/>
              </a:rPr>
              <a:t>Check the tablet for the pickup queue</a:t>
            </a:r>
            <a:endParaRPr lang="en-US" sz="1250" dirty="0"/>
          </a:p>
          <a:p>
            <a:pPr marL="342900" indent="-342900">
              <a:lnSpc>
                <a:spcPts val="1800"/>
              </a:lnSpc>
              <a:buSzPct val="100000"/>
              <a:buChar char="•"/>
            </a:pPr>
            <a:r>
              <a:rPr lang="en-US" sz="1250" dirty="0">
                <a:solidFill>
                  <a:srgbClr val="3A4452"/>
                </a:solidFill>
                <a:latin typeface="Arial" pitchFamily="34" charset="0"/>
                <a:ea typeface="Arial" pitchFamily="34" charset="-122"/>
                <a:cs typeface="Arial" pitchFamily="34" charset="-120"/>
              </a:rPr>
              <a:t>Confirm the member's name and order #</a:t>
            </a:r>
            <a:endParaRPr lang="en-US" sz="1250" dirty="0"/>
          </a:p>
          <a:p>
            <a:pPr marL="342900" indent="-342900">
              <a:lnSpc>
                <a:spcPts val="1800"/>
              </a:lnSpc>
              <a:buSzPct val="100000"/>
              <a:buChar char="•"/>
            </a:pPr>
            <a:r>
              <a:rPr lang="en-US" sz="1250" dirty="0">
                <a:solidFill>
                  <a:srgbClr val="3A4452"/>
                </a:solidFill>
                <a:latin typeface="Arial" pitchFamily="34" charset="0"/>
                <a:ea typeface="Arial" pitchFamily="34" charset="-122"/>
                <a:cs typeface="Arial" pitchFamily="34" charset="-120"/>
              </a:rPr>
              <a:t>Questions? Ask your team lead</a:t>
            </a:r>
            <a:endParaRPr lang="en-US" sz="1250" dirty="0"/>
          </a:p>
        </p:txBody>
      </p:sp>
      <p:sp>
        <p:nvSpPr>
          <p:cNvPr id="7" name="Shape 5"/>
          <p:cNvSpPr/>
          <p:nvPr/>
        </p:nvSpPr>
        <p:spPr>
          <a:xfrm>
            <a:off x="6355080" y="1554480"/>
            <a:ext cx="5486400" cy="4114800"/>
          </a:xfrm>
          <a:prstGeom prst="roundRect">
            <a:avLst>
              <a:gd name="adj" fmla="val 2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783080"/>
            <a:ext cx="4937760" cy="411480"/>
          </a:xfrm>
          <a:prstGeom prst="rect">
            <a:avLst/>
          </a:prstGeom>
          <a:noFill/>
          <a:ln/>
        </p:spPr>
        <p:txBody>
          <a:bodyPr wrap="square" rtlCol="0" anchor="ctr"/>
          <a:lstStyle/>
          <a:p>
            <a:pPr indent="0" marL="0">
              <a:buNone/>
            </a:pPr>
            <a:r>
              <a:rPr lang="en-US" sz="1450" b="1" dirty="0">
                <a:solidFill>
                  <a:srgbClr val="D31242"/>
                </a:solidFill>
                <a:latin typeface="Arial" pitchFamily="34" charset="0"/>
                <a:ea typeface="Arial" pitchFamily="34" charset="-122"/>
                <a:cs typeface="Arial" pitchFamily="34" charset="-120"/>
              </a:rPr>
              <a:t>Action-item table</a:t>
            </a:r>
            <a:endParaRPr lang="en-US" sz="14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629400" y="2286000"/>
          <a:ext cx="4983480" cy="914400"/>
        </p:xfrm>
        <a:graphic>
          <a:graphicData uri="http://schemas.openxmlformats.org/drawingml/2006/table">
            <a:tbl>
              <a:tblPr/>
              <a:tblGrid>
                <a:gridCol w="2514600"/>
                <a:gridCol w="1417320"/>
                <a:gridCol w="1051560"/>
              </a:tblGrid>
              <a:tr h="457200">
                <a:tc>
                  <a:txBody>
                    <a:bodyPr/>
                    <a:lstStyle/>
                    <a:p>
                      <a:pPr indent="0" marL="0">
                        <a:buNone/>
                      </a:pPr>
                      <a:r>
                        <a:rPr lang="en-US" sz="1150" b="1" dirty="0">
                          <a:solidFill>
                            <a:srgbClr val="7E0A27"/>
                          </a:solidFill>
                          <a:latin typeface="Arial" pitchFamily="34" charset="0"/>
                          <a:ea typeface="Arial" pitchFamily="34" charset="-122"/>
                          <a:cs typeface="Arial" pitchFamily="34" charset="-120"/>
                        </a:rPr>
                        <a:t>Item</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solidFill>
                      <a:srgbClr val="FCE4EA"/>
                    </a:solidFill>
                  </a:tcPr>
                </a:tc>
                <a:tc>
                  <a:txBody>
                    <a:bodyPr/>
                    <a:lstStyle/>
                    <a:p>
                      <a:pPr indent="0" marL="0">
                        <a:buNone/>
                      </a:pPr>
                      <a:r>
                        <a:rPr lang="en-US" sz="1150" b="1" dirty="0">
                          <a:solidFill>
                            <a:srgbClr val="7E0A27"/>
                          </a:solidFill>
                          <a:latin typeface="Arial" pitchFamily="34" charset="0"/>
                          <a:ea typeface="Arial" pitchFamily="34" charset="-122"/>
                          <a:cs typeface="Arial" pitchFamily="34" charset="-120"/>
                        </a:rPr>
                        <a:t>Owner</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solidFill>
                      <a:srgbClr val="FCE4EA"/>
                    </a:solidFill>
                  </a:tcPr>
                </a:tc>
                <a:tc>
                  <a:txBody>
                    <a:bodyPr/>
                    <a:lstStyle/>
                    <a:p>
                      <a:pPr indent="0" marL="0">
                        <a:buNone/>
                      </a:pPr>
                      <a:r>
                        <a:rPr lang="en-US" sz="1150" b="1" dirty="0">
                          <a:solidFill>
                            <a:srgbClr val="7E0A27"/>
                          </a:solidFill>
                          <a:latin typeface="Arial" pitchFamily="34" charset="0"/>
                          <a:ea typeface="Arial" pitchFamily="34" charset="-122"/>
                          <a:cs typeface="Arial" pitchFamily="34" charset="-120"/>
                        </a:rPr>
                        <a:t>Due</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solidFill>
                      <a:srgbClr val="FCE4EA"/>
                    </a:solidFill>
                  </a:tcPr>
                </a:tc>
              </a:tr>
              <a:tr h="457200">
                <a:tc>
                  <a:txBody>
                    <a:bodyPr/>
                    <a:lstStyle/>
                    <a:p>
                      <a:pPr indent="0" marL="0">
                        <a:buNone/>
                      </a:pPr>
                      <a:r>
                        <a:rPr lang="en-US" sz="1150" dirty="0">
                          <a:solidFill>
                            <a:srgbClr val="1F2733"/>
                          </a:solidFill>
                          <a:latin typeface="Arial" pitchFamily="34" charset="0"/>
                          <a:ea typeface="Arial" pitchFamily="34" charset="-122"/>
                          <a:cs typeface="Arial" pitchFamily="34" charset="-120"/>
                        </a:rPr>
                        <a:t>Set up curbside signage</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Facilities</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Sun</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tcPr>
                </a:tc>
              </a:tr>
              <a:tr h="457200">
                <a:tc>
                  <a:txBody>
                    <a:bodyPr/>
                    <a:lstStyle/>
                    <a:p>
                      <a:pPr indent="0" marL="0">
                        <a:buNone/>
                      </a:pPr>
                      <a:r>
                        <a:rPr lang="en-US" sz="1150" dirty="0">
                          <a:solidFill>
                            <a:srgbClr val="1F2733"/>
                          </a:solidFill>
                          <a:latin typeface="Arial" pitchFamily="34" charset="0"/>
                          <a:ea typeface="Arial" pitchFamily="34" charset="-122"/>
                          <a:cs typeface="Arial" pitchFamily="34" charset="-120"/>
                        </a:rPr>
                        <a:t>Train associates on tablet</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Team leads</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Mon AM</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tcPr>
                </a:tc>
              </a:tr>
              <a:tr h="457200">
                <a:tc>
                  <a:txBody>
                    <a:bodyPr/>
                    <a:lstStyle/>
                    <a:p>
                      <a:pPr indent="0" marL="0">
                        <a:buNone/>
                      </a:pPr>
                      <a:r>
                        <a:rPr lang="en-US" sz="1150" dirty="0">
                          <a:solidFill>
                            <a:srgbClr val="1F2733"/>
                          </a:solidFill>
                          <a:latin typeface="Arial" pitchFamily="34" charset="0"/>
                          <a:ea typeface="Arial" pitchFamily="34" charset="-122"/>
                          <a:cs typeface="Arial" pitchFamily="34" charset="-120"/>
                        </a:rPr>
                        <a:t>Confirm staffing for Door 2</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Ops lead</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Mon</a:t>
                      </a:r>
                      <a:endParaRPr lang="en-US" sz="1150" dirty="0">
                        <a:latin typeface="Arial" charset="0"/>
                        <a:ea typeface="Arial" charset="0"/>
                        <a:cs typeface="Arial" charset="0"/>
                      </a:endParaRPr>
                    </a:p>
                  </a:txBody>
                  <a:tcPr marL="91440" marR="91440" marT="45720" marB="45720" anchor="ctr">
                    <a:lnL w="12700" cap="flat" cmpd="sng" algn="ctr">
                      <a:solidFill>
                        <a:srgbClr val="E7E9EE"/>
                      </a:solidFill>
                      <a:prstDash val="solid"/>
                      <a:round/>
                      <a:headEnd type="none" w="med" len="med"/>
                      <a:tailEnd type="none" w="med" len="med"/>
                    </a:lnL>
                    <a:lnR w="12700" cap="flat" cmpd="sng" algn="ctr">
                      <a:solidFill>
                        <a:srgbClr val="E7E9EE"/>
                      </a:solidFill>
                      <a:prstDash val="solid"/>
                      <a:round/>
                      <a:headEnd type="none" w="med" len="med"/>
                      <a:tailEnd type="none" w="med" len="med"/>
                    </a:lnR>
                    <a:lnT w="12700" cap="flat" cmpd="sng" algn="ctr">
                      <a:solidFill>
                        <a:srgbClr val="E7E9EE"/>
                      </a:solidFill>
                      <a:prstDash val="solid"/>
                      <a:round/>
                      <a:headEnd type="none" w="med" len="med"/>
                      <a:tailEnd type="none" w="med" len="med"/>
                    </a:lnT>
                    <a:lnB w="12700" cap="flat" cmpd="sng" algn="ctr">
                      <a:solidFill>
                        <a:srgbClr val="E7E9EE"/>
                      </a:solidFill>
                      <a:prstDash val="solid"/>
                      <a:round/>
                      <a:headEnd type="none" w="med" len="med"/>
                      <a:tailEnd type="none" w="med" len="med"/>
                    </a:lnB>
                  </a:tcPr>
                </a:tc>
              </a:tr>
            </a:tbl>
          </a:graphicData>
        </a:graphic>
      </p:graphicFrame>
      <p:sp>
        <p:nvSpPr>
          <p:cNvPr id="10" name="Text 7"/>
          <p:cNvSpPr/>
          <p:nvPr/>
        </p:nvSpPr>
        <p:spPr>
          <a:xfrm>
            <a:off x="566928" y="5852160"/>
            <a:ext cx="11055096" cy="320040"/>
          </a:xfrm>
          <a:prstGeom prst="rect">
            <a:avLst/>
          </a:prstGeom>
          <a:noFill/>
          <a:ln/>
        </p:spPr>
        <p:txBody>
          <a:bodyPr wrap="square" rtlCol="0" anchor="ctr"/>
          <a:lstStyle/>
          <a:p>
            <a:pPr algn="ctr" indent="0" marL="0">
              <a:buNone/>
            </a:pPr>
            <a:r>
              <a:rPr lang="en-US" sz="1150" i="1" dirty="0">
                <a:solidFill>
                  <a:srgbClr val="5E6A78"/>
                </a:solidFill>
                <a:latin typeface="Arial" pitchFamily="34" charset="0"/>
                <a:ea typeface="Arial" pitchFamily="34" charset="-122"/>
                <a:cs typeface="Arial" pitchFamily="34" charset="-120"/>
              </a:rPr>
              <a:t>Each output is grounded in the bulletin, on-tone for its reader, and within its contract — the patterns doing their job.</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SCORE A PROMPT</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Champion scoring rubric (10 points)</a:t>
            </a:r>
            <a:endParaRPr lang="en-US" sz="2700" dirty="0"/>
          </a:p>
        </p:txBody>
      </p:sp>
      <p:sp>
        <p:nvSpPr>
          <p:cNvPr id="4" name="Shape 2"/>
          <p:cNvSpPr/>
          <p:nvPr/>
        </p:nvSpPr>
        <p:spPr>
          <a:xfrm>
            <a:off x="566928" y="1645920"/>
            <a:ext cx="10469880" cy="658368"/>
          </a:xfrm>
          <a:prstGeom prst="roundRect">
            <a:avLst>
              <a:gd name="adj" fmla="val 12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645920"/>
            <a:ext cx="310896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Clarity &amp; anatomy</a:t>
            </a:r>
            <a:endParaRPr lang="en-US" sz="1400" dirty="0"/>
          </a:p>
        </p:txBody>
      </p:sp>
      <p:sp>
        <p:nvSpPr>
          <p:cNvPr id="6" name="Text 4"/>
          <p:cNvSpPr/>
          <p:nvPr/>
        </p:nvSpPr>
        <p:spPr>
          <a:xfrm>
            <a:off x="4041648" y="1645920"/>
            <a:ext cx="5303520" cy="658368"/>
          </a:xfrm>
          <a:prstGeom prst="rect">
            <a:avLst/>
          </a:prstGeom>
          <a:noFill/>
          <a:ln/>
        </p:spPr>
        <p:txBody>
          <a:bodyPr wrap="square" lIns="0" tIns="0" rIns="0" bIns="0" rtlCol="0" anchor="ctr"/>
          <a:lstStyle/>
          <a:p>
            <a:pPr indent="0" marL="0">
              <a:buNone/>
            </a:pPr>
            <a:r>
              <a:rPr lang="en-US" sz="1250" dirty="0">
                <a:solidFill>
                  <a:srgbClr val="3A4452"/>
                </a:solidFill>
                <a:latin typeface="Arial" pitchFamily="34" charset="0"/>
                <a:ea typeface="Arial" pitchFamily="34" charset="-122"/>
                <a:cs typeface="Arial" pitchFamily="34" charset="-120"/>
              </a:rPr>
              <a:t>Named blocks; explicit task, format, length?</a:t>
            </a:r>
            <a:endParaRPr lang="en-US" sz="1250" dirty="0"/>
          </a:p>
        </p:txBody>
      </p:sp>
      <p:sp>
        <p:nvSpPr>
          <p:cNvPr id="7" name="Text 5"/>
          <p:cNvSpPr/>
          <p:nvPr/>
        </p:nvSpPr>
        <p:spPr>
          <a:xfrm>
            <a:off x="9619488" y="1645920"/>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8" name="Shape 6"/>
          <p:cNvSpPr/>
          <p:nvPr/>
        </p:nvSpPr>
        <p:spPr>
          <a:xfrm>
            <a:off x="566928" y="2395728"/>
            <a:ext cx="10469880" cy="658368"/>
          </a:xfrm>
          <a:prstGeom prst="roundRect">
            <a:avLst>
              <a:gd name="adj" fmla="val 12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9" name="Text 7"/>
          <p:cNvSpPr/>
          <p:nvPr/>
        </p:nvSpPr>
        <p:spPr>
          <a:xfrm>
            <a:off x="841248" y="2395728"/>
            <a:ext cx="310896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Role &amp; audience</a:t>
            </a:r>
            <a:endParaRPr lang="en-US" sz="1400" dirty="0"/>
          </a:p>
        </p:txBody>
      </p:sp>
      <p:sp>
        <p:nvSpPr>
          <p:cNvPr id="10" name="Text 8"/>
          <p:cNvSpPr/>
          <p:nvPr/>
        </p:nvSpPr>
        <p:spPr>
          <a:xfrm>
            <a:off x="4041648" y="2395728"/>
            <a:ext cx="5303520" cy="658368"/>
          </a:xfrm>
          <a:prstGeom prst="rect">
            <a:avLst/>
          </a:prstGeom>
          <a:noFill/>
          <a:ln/>
        </p:spPr>
        <p:txBody>
          <a:bodyPr wrap="square" lIns="0" tIns="0" rIns="0" bIns="0" rtlCol="0" anchor="ctr"/>
          <a:lstStyle/>
          <a:p>
            <a:pPr indent="0" marL="0">
              <a:buNone/>
            </a:pPr>
            <a:r>
              <a:rPr lang="en-US" sz="1250" dirty="0">
                <a:solidFill>
                  <a:srgbClr val="3A4452"/>
                </a:solidFill>
                <a:latin typeface="Arial" pitchFamily="34" charset="0"/>
                <a:ea typeface="Arial" pitchFamily="34" charset="-122"/>
                <a:cs typeface="Arial" pitchFamily="34" charset="-120"/>
              </a:rPr>
              <a:t>Who Claude is + who reads it set?</a:t>
            </a:r>
            <a:endParaRPr lang="en-US" sz="1250" dirty="0"/>
          </a:p>
        </p:txBody>
      </p:sp>
      <p:sp>
        <p:nvSpPr>
          <p:cNvPr id="11" name="Text 9"/>
          <p:cNvSpPr/>
          <p:nvPr/>
        </p:nvSpPr>
        <p:spPr>
          <a:xfrm>
            <a:off x="9619488" y="2395728"/>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12" name="Shape 10"/>
          <p:cNvSpPr/>
          <p:nvPr/>
        </p:nvSpPr>
        <p:spPr>
          <a:xfrm>
            <a:off x="566928" y="3145536"/>
            <a:ext cx="10469880" cy="658368"/>
          </a:xfrm>
          <a:prstGeom prst="roundRect">
            <a:avLst>
              <a:gd name="adj" fmla="val 12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3" name="Text 11"/>
          <p:cNvSpPr/>
          <p:nvPr/>
        </p:nvSpPr>
        <p:spPr>
          <a:xfrm>
            <a:off x="841248" y="3145536"/>
            <a:ext cx="310896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Structure (XML)</a:t>
            </a:r>
            <a:endParaRPr lang="en-US" sz="1400" dirty="0"/>
          </a:p>
        </p:txBody>
      </p:sp>
      <p:sp>
        <p:nvSpPr>
          <p:cNvPr id="14" name="Text 12"/>
          <p:cNvSpPr/>
          <p:nvPr/>
        </p:nvSpPr>
        <p:spPr>
          <a:xfrm>
            <a:off x="4041648" y="3145536"/>
            <a:ext cx="5303520" cy="658368"/>
          </a:xfrm>
          <a:prstGeom prst="rect">
            <a:avLst/>
          </a:prstGeom>
          <a:noFill/>
          <a:ln/>
        </p:spPr>
        <p:txBody>
          <a:bodyPr wrap="square" lIns="0" tIns="0" rIns="0" bIns="0" rtlCol="0" anchor="ctr"/>
          <a:lstStyle/>
          <a:p>
            <a:pPr indent="0" marL="0">
              <a:buNone/>
            </a:pPr>
            <a:r>
              <a:rPr lang="en-US" sz="1250" dirty="0">
                <a:solidFill>
                  <a:srgbClr val="3A4452"/>
                </a:solidFill>
                <a:latin typeface="Arial" pitchFamily="34" charset="0"/>
                <a:ea typeface="Arial" pitchFamily="34" charset="-122"/>
                <a:cs typeface="Arial" pitchFamily="34" charset="-120"/>
              </a:rPr>
              <a:t>Source cleanly separated from instructions?</a:t>
            </a:r>
            <a:endParaRPr lang="en-US" sz="1250" dirty="0"/>
          </a:p>
        </p:txBody>
      </p:sp>
      <p:sp>
        <p:nvSpPr>
          <p:cNvPr id="15" name="Text 13"/>
          <p:cNvSpPr/>
          <p:nvPr/>
        </p:nvSpPr>
        <p:spPr>
          <a:xfrm>
            <a:off x="9619488" y="3145536"/>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16" name="Shape 14"/>
          <p:cNvSpPr/>
          <p:nvPr/>
        </p:nvSpPr>
        <p:spPr>
          <a:xfrm>
            <a:off x="566928" y="3895344"/>
            <a:ext cx="10469880" cy="658368"/>
          </a:xfrm>
          <a:prstGeom prst="roundRect">
            <a:avLst>
              <a:gd name="adj" fmla="val 12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7" name="Text 15"/>
          <p:cNvSpPr/>
          <p:nvPr/>
        </p:nvSpPr>
        <p:spPr>
          <a:xfrm>
            <a:off x="841248" y="3895344"/>
            <a:ext cx="310896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Examples</a:t>
            </a:r>
            <a:endParaRPr lang="en-US" sz="1400" dirty="0"/>
          </a:p>
        </p:txBody>
      </p:sp>
      <p:sp>
        <p:nvSpPr>
          <p:cNvPr id="18" name="Text 16"/>
          <p:cNvSpPr/>
          <p:nvPr/>
        </p:nvSpPr>
        <p:spPr>
          <a:xfrm>
            <a:off x="4041648" y="3895344"/>
            <a:ext cx="5303520" cy="658368"/>
          </a:xfrm>
          <a:prstGeom prst="rect">
            <a:avLst/>
          </a:prstGeom>
          <a:noFill/>
          <a:ln/>
        </p:spPr>
        <p:txBody>
          <a:bodyPr wrap="square" lIns="0" tIns="0" rIns="0" bIns="0" rtlCol="0" anchor="ctr"/>
          <a:lstStyle/>
          <a:p>
            <a:pPr indent="0" marL="0">
              <a:buNone/>
            </a:pPr>
            <a:r>
              <a:rPr lang="en-US" sz="1250" dirty="0">
                <a:solidFill>
                  <a:srgbClr val="3A4452"/>
                </a:solidFill>
                <a:latin typeface="Arial" pitchFamily="34" charset="0"/>
                <a:ea typeface="Arial" pitchFamily="34" charset="-122"/>
                <a:cs typeface="Arial" pitchFamily="34" charset="-120"/>
              </a:rPr>
              <a:t>A sample shows the target output?</a:t>
            </a:r>
            <a:endParaRPr lang="en-US" sz="1250" dirty="0"/>
          </a:p>
        </p:txBody>
      </p:sp>
      <p:sp>
        <p:nvSpPr>
          <p:cNvPr id="19" name="Text 17"/>
          <p:cNvSpPr/>
          <p:nvPr/>
        </p:nvSpPr>
        <p:spPr>
          <a:xfrm>
            <a:off x="9619488" y="3895344"/>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20" name="Shape 18"/>
          <p:cNvSpPr/>
          <p:nvPr/>
        </p:nvSpPr>
        <p:spPr>
          <a:xfrm>
            <a:off x="566928" y="4645152"/>
            <a:ext cx="10469880" cy="658368"/>
          </a:xfrm>
          <a:prstGeom prst="roundRect">
            <a:avLst>
              <a:gd name="adj" fmla="val 12500"/>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21" name="Text 19"/>
          <p:cNvSpPr/>
          <p:nvPr/>
        </p:nvSpPr>
        <p:spPr>
          <a:xfrm>
            <a:off x="841248" y="4645152"/>
            <a:ext cx="3108960" cy="658368"/>
          </a:xfrm>
          <a:prstGeom prst="rect">
            <a:avLst/>
          </a:prstGeom>
          <a:noFill/>
          <a:ln/>
        </p:spPr>
        <p:txBody>
          <a:bodyPr wrap="square" lIns="0" tIns="0" rIns="0" bIns="0" rtlCol="0" anchor="ctr"/>
          <a:lstStyle/>
          <a:p>
            <a:pPr indent="0" marL="0">
              <a:buNone/>
            </a:pPr>
            <a:r>
              <a:rPr lang="en-US" sz="1400" b="1" dirty="0">
                <a:solidFill>
                  <a:srgbClr val="D31242"/>
                </a:solidFill>
                <a:latin typeface="Arial" pitchFamily="34" charset="0"/>
                <a:ea typeface="Arial" pitchFamily="34" charset="-122"/>
                <a:cs typeface="Arial" pitchFamily="34" charset="-120"/>
              </a:rPr>
              <a:t>Grounding &amp; safety</a:t>
            </a:r>
            <a:endParaRPr lang="en-US" sz="1400" dirty="0"/>
          </a:p>
        </p:txBody>
      </p:sp>
      <p:sp>
        <p:nvSpPr>
          <p:cNvPr id="22" name="Text 20"/>
          <p:cNvSpPr/>
          <p:nvPr/>
        </p:nvSpPr>
        <p:spPr>
          <a:xfrm>
            <a:off x="4041648" y="4645152"/>
            <a:ext cx="5303520" cy="658368"/>
          </a:xfrm>
          <a:prstGeom prst="rect">
            <a:avLst/>
          </a:prstGeom>
          <a:noFill/>
          <a:ln/>
        </p:spPr>
        <p:txBody>
          <a:bodyPr wrap="square" lIns="0" tIns="0" rIns="0" bIns="0" rtlCol="0" anchor="ctr"/>
          <a:lstStyle/>
          <a:p>
            <a:pPr indent="0" marL="0">
              <a:buNone/>
            </a:pPr>
            <a:r>
              <a:rPr lang="en-US" sz="1250" dirty="0">
                <a:solidFill>
                  <a:srgbClr val="3A4452"/>
                </a:solidFill>
                <a:latin typeface="Arial" pitchFamily="34" charset="0"/>
                <a:ea typeface="Arial" pitchFamily="34" charset="-122"/>
                <a:cs typeface="Arial" pitchFamily="34" charset="-120"/>
              </a:rPr>
              <a:t>Source-grounded, give-an-out, verify; nothing sensitive?</a:t>
            </a:r>
            <a:endParaRPr lang="en-US" sz="1250" dirty="0"/>
          </a:p>
        </p:txBody>
      </p:sp>
      <p:sp>
        <p:nvSpPr>
          <p:cNvPr id="23" name="Text 21"/>
          <p:cNvSpPr/>
          <p:nvPr/>
        </p:nvSpPr>
        <p:spPr>
          <a:xfrm>
            <a:off x="9619488" y="4645152"/>
            <a:ext cx="1188720" cy="658368"/>
          </a:xfrm>
          <a:prstGeom prst="rect">
            <a:avLst/>
          </a:prstGeom>
          <a:noFill/>
          <a:ln/>
        </p:spPr>
        <p:txBody>
          <a:bodyPr wrap="square" lIns="0" tIns="0" rIns="0" bIns="0" rtlCol="0" anchor="ctr"/>
          <a:lstStyle/>
          <a:p>
            <a:pPr algn="ctr" indent="0" marL="0">
              <a:buNone/>
            </a:pPr>
            <a:r>
              <a:rPr lang="en-US" sz="1500" b="1" dirty="0">
                <a:solidFill>
                  <a:srgbClr val="1F2733"/>
                </a:solidFill>
                <a:latin typeface="Arial" pitchFamily="34" charset="0"/>
                <a:ea typeface="Arial" pitchFamily="34" charset="-122"/>
                <a:cs typeface="Arial" pitchFamily="34" charset="-120"/>
              </a:rPr>
              <a:t>0 – 2</a:t>
            </a:r>
            <a:endParaRPr lang="en-US" sz="1500" dirty="0"/>
          </a:p>
        </p:txBody>
      </p:sp>
      <p:sp>
        <p:nvSpPr>
          <p:cNvPr id="24" name="Text 22"/>
          <p:cNvSpPr/>
          <p:nvPr/>
        </p:nvSpPr>
        <p:spPr>
          <a:xfrm>
            <a:off x="566928" y="5532120"/>
            <a:ext cx="11055096" cy="411480"/>
          </a:xfrm>
          <a:prstGeom prst="rect">
            <a:avLst/>
          </a:prstGeom>
          <a:noFill/>
          <a:ln/>
        </p:spPr>
        <p:txBody>
          <a:bodyPr wrap="square" rtlCol="0" anchor="ctr"/>
          <a:lstStyle/>
          <a:p>
            <a:pPr algn="ctr" indent="0" marL="0">
              <a:buNone/>
            </a:pPr>
            <a:r>
              <a:rPr lang="en-US" sz="1400" b="1" dirty="0">
                <a:solidFill>
                  <a:srgbClr val="7E0A27"/>
                </a:solidFill>
                <a:latin typeface="Arial" pitchFamily="34" charset="0"/>
                <a:ea typeface="Arial" pitchFamily="34" charset="-122"/>
                <a:cs typeface="Arial" pitchFamily="34" charset="-120"/>
              </a:rPr>
              <a:t>Total: ___ / 10      ·      8–10 strong  ·  5–7 workable, iterate  ·  under 5 rebuild</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CHECK YOUR UNDERSTANDING</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Quick knowledge check</a:t>
            </a:r>
            <a:endParaRPr lang="en-US" sz="2700" dirty="0"/>
          </a:p>
        </p:txBody>
      </p:sp>
      <p:sp>
        <p:nvSpPr>
          <p:cNvPr id="4" name="Shape 2"/>
          <p:cNvSpPr/>
          <p:nvPr/>
        </p:nvSpPr>
        <p:spPr>
          <a:xfrm>
            <a:off x="566928" y="1554480"/>
            <a:ext cx="5344668"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73936"/>
            <a:ext cx="4796028" cy="868680"/>
          </a:xfrm>
          <a:prstGeom prst="rect">
            <a:avLst/>
          </a:prstGeom>
          <a:noFill/>
          <a:ln/>
        </p:spPr>
        <p:txBody>
          <a:bodyPr wrap="square" rtlCol="0" anchor="t"/>
          <a:lstStyle/>
          <a:p>
            <a:pPr indent="0" marL="0">
              <a:lnSpc>
                <a:spcPts val="1800"/>
              </a:lnSpc>
              <a:buNone/>
            </a:pPr>
            <a:r>
              <a:rPr lang="en-US" sz="1500" b="1" dirty="0">
                <a:solidFill>
                  <a:srgbClr val="D31242"/>
                </a:solidFill>
                <a:latin typeface="Arial" pitchFamily="34" charset="0"/>
                <a:ea typeface="Arial" pitchFamily="34" charset="-122"/>
                <a:cs typeface="Arial" pitchFamily="34" charset="-120"/>
              </a:rPr>
              <a:t>Q1  </a:t>
            </a:r>
            <a:pPr indent="0" marL="0">
              <a:lnSpc>
                <a:spcPts val="1800"/>
              </a:lnSpc>
              <a:buNone/>
            </a:pPr>
            <a:r>
              <a:rPr lang="en-US" sz="1350" b="1" dirty="0">
                <a:solidFill>
                  <a:srgbClr val="1F2733"/>
                </a:solidFill>
                <a:latin typeface="Arial" pitchFamily="34" charset="0"/>
                <a:ea typeface="Arial" pitchFamily="34" charset="-122"/>
                <a:cs typeface="Arial" pitchFamily="34" charset="-120"/>
              </a:rPr>
              <a:t>Name 4 blocks of the prompt anatomy.</a:t>
            </a:r>
            <a:endParaRPr lang="en-US" sz="1500" dirty="0"/>
          </a:p>
        </p:txBody>
      </p:sp>
      <p:sp>
        <p:nvSpPr>
          <p:cNvPr id="6" name="Text 4"/>
          <p:cNvSpPr/>
          <p:nvPr/>
        </p:nvSpPr>
        <p:spPr>
          <a:xfrm>
            <a:off x="841248" y="2688336"/>
            <a:ext cx="4796028" cy="868680"/>
          </a:xfrm>
          <a:prstGeom prst="rect">
            <a:avLst/>
          </a:prstGeom>
          <a:noFill/>
          <a:ln/>
        </p:spPr>
        <p:txBody>
          <a:bodyPr wrap="square" rtlCol="0" anchor="t"/>
          <a:lstStyle/>
          <a:p>
            <a:pPr indent="0" marL="0">
              <a:lnSpc>
                <a:spcPts val="1500"/>
              </a:lnSpc>
              <a:buNone/>
            </a:pPr>
            <a:r>
              <a:rPr lang="en-US" sz="1150" b="1" dirty="0">
                <a:solidFill>
                  <a:srgbClr val="15803D"/>
                </a:solidFill>
                <a:latin typeface="Arial" pitchFamily="34" charset="0"/>
                <a:ea typeface="Arial" pitchFamily="34" charset="-122"/>
                <a:cs typeface="Arial" pitchFamily="34" charset="-120"/>
              </a:rPr>
              <a:t>Answer: </a:t>
            </a:r>
            <a:pPr indent="0" marL="0">
              <a:lnSpc>
                <a:spcPts val="1500"/>
              </a:lnSpc>
              <a:buNone/>
            </a:pPr>
            <a:r>
              <a:rPr lang="en-US" sz="1150" dirty="0">
                <a:solidFill>
                  <a:srgbClr val="3A4452"/>
                </a:solidFill>
                <a:latin typeface="Arial" pitchFamily="34" charset="0"/>
                <a:ea typeface="Arial" pitchFamily="34" charset="-122"/>
                <a:cs typeface="Arial" pitchFamily="34" charset="-120"/>
              </a:rPr>
              <a:t>Role, Goal, Context, Source, Instructions, Output format, Constraints, Success criteria, Fallback (any 4).</a:t>
            </a:r>
            <a:endParaRPr lang="en-US" sz="1150" dirty="0"/>
          </a:p>
        </p:txBody>
      </p:sp>
      <p:sp>
        <p:nvSpPr>
          <p:cNvPr id="7" name="Shape 5"/>
          <p:cNvSpPr/>
          <p:nvPr/>
        </p:nvSpPr>
        <p:spPr>
          <a:xfrm>
            <a:off x="6277356" y="1554480"/>
            <a:ext cx="5344668"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551676" y="1773936"/>
            <a:ext cx="4796028" cy="868680"/>
          </a:xfrm>
          <a:prstGeom prst="rect">
            <a:avLst/>
          </a:prstGeom>
          <a:noFill/>
          <a:ln/>
        </p:spPr>
        <p:txBody>
          <a:bodyPr wrap="square" rtlCol="0" anchor="t"/>
          <a:lstStyle/>
          <a:p>
            <a:pPr indent="0" marL="0">
              <a:lnSpc>
                <a:spcPts val="1800"/>
              </a:lnSpc>
              <a:buNone/>
            </a:pPr>
            <a:r>
              <a:rPr lang="en-US" sz="1500" b="1" dirty="0">
                <a:solidFill>
                  <a:srgbClr val="D31242"/>
                </a:solidFill>
                <a:latin typeface="Arial" pitchFamily="34" charset="0"/>
                <a:ea typeface="Arial" pitchFamily="34" charset="-122"/>
                <a:cs typeface="Arial" pitchFamily="34" charset="-120"/>
              </a:rPr>
              <a:t>Q2  </a:t>
            </a:r>
            <a:pPr indent="0" marL="0">
              <a:lnSpc>
                <a:spcPts val="1800"/>
              </a:lnSpc>
              <a:buNone/>
            </a:pPr>
            <a:r>
              <a:rPr lang="en-US" sz="1350" b="1" dirty="0">
                <a:solidFill>
                  <a:srgbClr val="1F2733"/>
                </a:solidFill>
                <a:latin typeface="Arial" pitchFamily="34" charset="0"/>
                <a:ea typeface="Arial" pitchFamily="34" charset="-122"/>
                <a:cs typeface="Arial" pitchFamily="34" charset="-120"/>
              </a:rPr>
              <a:t>Why label a 'bad' example?</a:t>
            </a:r>
            <a:endParaRPr lang="en-US" sz="1500" dirty="0"/>
          </a:p>
        </p:txBody>
      </p:sp>
      <p:sp>
        <p:nvSpPr>
          <p:cNvPr id="9" name="Text 7"/>
          <p:cNvSpPr/>
          <p:nvPr/>
        </p:nvSpPr>
        <p:spPr>
          <a:xfrm>
            <a:off x="6551676" y="2688336"/>
            <a:ext cx="4796028" cy="868680"/>
          </a:xfrm>
          <a:prstGeom prst="rect">
            <a:avLst/>
          </a:prstGeom>
          <a:noFill/>
          <a:ln/>
        </p:spPr>
        <p:txBody>
          <a:bodyPr wrap="square" rtlCol="0" anchor="t"/>
          <a:lstStyle/>
          <a:p>
            <a:pPr indent="0" marL="0">
              <a:lnSpc>
                <a:spcPts val="1500"/>
              </a:lnSpc>
              <a:buNone/>
            </a:pPr>
            <a:r>
              <a:rPr lang="en-US" sz="1150" b="1" dirty="0">
                <a:solidFill>
                  <a:srgbClr val="15803D"/>
                </a:solidFill>
                <a:latin typeface="Arial" pitchFamily="34" charset="0"/>
                <a:ea typeface="Arial" pitchFamily="34" charset="-122"/>
                <a:cs typeface="Arial" pitchFamily="34" charset="-120"/>
              </a:rPr>
              <a:t>Answer: </a:t>
            </a:r>
            <a:pPr indent="0" marL="0">
              <a:lnSpc>
                <a:spcPts val="1500"/>
              </a:lnSpc>
              <a:buNone/>
            </a:pPr>
            <a:r>
              <a:rPr lang="en-US" sz="1150" dirty="0">
                <a:solidFill>
                  <a:srgbClr val="3A4452"/>
                </a:solidFill>
                <a:latin typeface="Arial" pitchFamily="34" charset="0"/>
                <a:ea typeface="Arial" pitchFamily="34" charset="-122"/>
                <a:cs typeface="Arial" pitchFamily="34" charset="-120"/>
              </a:rPr>
              <a:t>So Claude doesn't copy it — bad examples must be clearly marked.</a:t>
            </a:r>
            <a:endParaRPr lang="en-US" sz="1150" dirty="0"/>
          </a:p>
        </p:txBody>
      </p:sp>
      <p:sp>
        <p:nvSpPr>
          <p:cNvPr id="10" name="Shape 8"/>
          <p:cNvSpPr/>
          <p:nvPr/>
        </p:nvSpPr>
        <p:spPr>
          <a:xfrm>
            <a:off x="566928" y="3886200"/>
            <a:ext cx="5344668"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1" name="Text 9"/>
          <p:cNvSpPr/>
          <p:nvPr/>
        </p:nvSpPr>
        <p:spPr>
          <a:xfrm>
            <a:off x="841248" y="4105656"/>
            <a:ext cx="4796028" cy="868680"/>
          </a:xfrm>
          <a:prstGeom prst="rect">
            <a:avLst/>
          </a:prstGeom>
          <a:noFill/>
          <a:ln/>
        </p:spPr>
        <p:txBody>
          <a:bodyPr wrap="square" rtlCol="0" anchor="t"/>
          <a:lstStyle/>
          <a:p>
            <a:pPr indent="0" marL="0">
              <a:lnSpc>
                <a:spcPts val="1800"/>
              </a:lnSpc>
              <a:buNone/>
            </a:pPr>
            <a:r>
              <a:rPr lang="en-US" sz="1500" b="1" dirty="0">
                <a:solidFill>
                  <a:srgbClr val="D31242"/>
                </a:solidFill>
                <a:latin typeface="Arial" pitchFamily="34" charset="0"/>
                <a:ea typeface="Arial" pitchFamily="34" charset="-122"/>
                <a:cs typeface="Arial" pitchFamily="34" charset="-120"/>
              </a:rPr>
              <a:t>Q3  </a:t>
            </a:r>
            <a:pPr indent="0" marL="0">
              <a:lnSpc>
                <a:spcPts val="1800"/>
              </a:lnSpc>
              <a:buNone/>
            </a:pPr>
            <a:r>
              <a:rPr lang="en-US" sz="1350" b="1" dirty="0">
                <a:solidFill>
                  <a:srgbClr val="1F2733"/>
                </a:solidFill>
                <a:latin typeface="Arial" pitchFamily="34" charset="0"/>
                <a:ea typeface="Arial" pitchFamily="34" charset="-122"/>
                <a:cs typeface="Arial" pitchFamily="34" charset="-120"/>
              </a:rPr>
              <a:t>Where do business users set a persistent role now?</a:t>
            </a:r>
            <a:endParaRPr lang="en-US" sz="1500" dirty="0"/>
          </a:p>
        </p:txBody>
      </p:sp>
      <p:sp>
        <p:nvSpPr>
          <p:cNvPr id="12" name="Text 10"/>
          <p:cNvSpPr/>
          <p:nvPr/>
        </p:nvSpPr>
        <p:spPr>
          <a:xfrm>
            <a:off x="841248" y="5020056"/>
            <a:ext cx="4796028" cy="868680"/>
          </a:xfrm>
          <a:prstGeom prst="rect">
            <a:avLst/>
          </a:prstGeom>
          <a:noFill/>
          <a:ln/>
        </p:spPr>
        <p:txBody>
          <a:bodyPr wrap="square" rtlCol="0" anchor="t"/>
          <a:lstStyle/>
          <a:p>
            <a:pPr indent="0" marL="0">
              <a:lnSpc>
                <a:spcPts val="1500"/>
              </a:lnSpc>
              <a:buNone/>
            </a:pPr>
            <a:r>
              <a:rPr lang="en-US" sz="1150" b="1" dirty="0">
                <a:solidFill>
                  <a:srgbClr val="15803D"/>
                </a:solidFill>
                <a:latin typeface="Arial" pitchFamily="34" charset="0"/>
                <a:ea typeface="Arial" pitchFamily="34" charset="-122"/>
                <a:cs typeface="Arial" pitchFamily="34" charset="-120"/>
              </a:rPr>
              <a:t>Answer: </a:t>
            </a:r>
            <a:pPr indent="0" marL="0">
              <a:lnSpc>
                <a:spcPts val="1500"/>
              </a:lnSpc>
              <a:buNone/>
            </a:pPr>
            <a:r>
              <a:rPr lang="en-US" sz="1150" dirty="0">
                <a:solidFill>
                  <a:srgbClr val="3A4452"/>
                </a:solidFill>
                <a:latin typeface="Arial" pitchFamily="34" charset="0"/>
                <a:ea typeface="Arial" pitchFamily="34" charset="-122"/>
                <a:cs typeface="Arial" pitchFamily="34" charset="-120"/>
              </a:rPr>
              <a:t>Profile, a Project, or a Skill (Styles are moving to Skills).</a:t>
            </a:r>
            <a:endParaRPr lang="en-US" sz="1150" dirty="0"/>
          </a:p>
        </p:txBody>
      </p:sp>
      <p:sp>
        <p:nvSpPr>
          <p:cNvPr id="13" name="Shape 11"/>
          <p:cNvSpPr/>
          <p:nvPr/>
        </p:nvSpPr>
        <p:spPr>
          <a:xfrm>
            <a:off x="6277356" y="3886200"/>
            <a:ext cx="5344668" cy="2057400"/>
          </a:xfrm>
          <a:prstGeom prst="roundRect">
            <a:avLst>
              <a:gd name="adj" fmla="val 4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14" name="Text 12"/>
          <p:cNvSpPr/>
          <p:nvPr/>
        </p:nvSpPr>
        <p:spPr>
          <a:xfrm>
            <a:off x="6551676" y="4105656"/>
            <a:ext cx="4796028" cy="868680"/>
          </a:xfrm>
          <a:prstGeom prst="rect">
            <a:avLst/>
          </a:prstGeom>
          <a:noFill/>
          <a:ln/>
        </p:spPr>
        <p:txBody>
          <a:bodyPr wrap="square" rtlCol="0" anchor="t"/>
          <a:lstStyle/>
          <a:p>
            <a:pPr indent="0" marL="0">
              <a:lnSpc>
                <a:spcPts val="1800"/>
              </a:lnSpc>
              <a:buNone/>
            </a:pPr>
            <a:r>
              <a:rPr lang="en-US" sz="1500" b="1" dirty="0">
                <a:solidFill>
                  <a:srgbClr val="D31242"/>
                </a:solidFill>
                <a:latin typeface="Arial" pitchFamily="34" charset="0"/>
                <a:ea typeface="Arial" pitchFamily="34" charset="-122"/>
                <a:cs typeface="Arial" pitchFamily="34" charset="-120"/>
              </a:rPr>
              <a:t>Q4  </a:t>
            </a:r>
            <a:pPr indent="0" marL="0">
              <a:lnSpc>
                <a:spcPts val="1800"/>
              </a:lnSpc>
              <a:buNone/>
            </a:pPr>
            <a:r>
              <a:rPr lang="en-US" sz="1350" b="1" dirty="0">
                <a:solidFill>
                  <a:srgbClr val="1F2733"/>
                </a:solidFill>
                <a:latin typeface="Arial" pitchFamily="34" charset="0"/>
                <a:ea typeface="Arial" pitchFamily="34" charset="-122"/>
                <a:cs typeface="Arial" pitchFamily="34" charset="-120"/>
              </a:rPr>
              <a:t>What does 'give-an-out' prevent?</a:t>
            </a:r>
            <a:endParaRPr lang="en-US" sz="1500" dirty="0"/>
          </a:p>
        </p:txBody>
      </p:sp>
      <p:sp>
        <p:nvSpPr>
          <p:cNvPr id="15" name="Text 13"/>
          <p:cNvSpPr/>
          <p:nvPr/>
        </p:nvSpPr>
        <p:spPr>
          <a:xfrm>
            <a:off x="6551676" y="5020056"/>
            <a:ext cx="4796028" cy="868680"/>
          </a:xfrm>
          <a:prstGeom prst="rect">
            <a:avLst/>
          </a:prstGeom>
          <a:noFill/>
          <a:ln/>
        </p:spPr>
        <p:txBody>
          <a:bodyPr wrap="square" rtlCol="0" anchor="t"/>
          <a:lstStyle/>
          <a:p>
            <a:pPr indent="0" marL="0">
              <a:lnSpc>
                <a:spcPts val="1500"/>
              </a:lnSpc>
              <a:buNone/>
            </a:pPr>
            <a:r>
              <a:rPr lang="en-US" sz="1150" b="1" dirty="0">
                <a:solidFill>
                  <a:srgbClr val="15803D"/>
                </a:solidFill>
                <a:latin typeface="Arial" pitchFamily="34" charset="0"/>
                <a:ea typeface="Arial" pitchFamily="34" charset="-122"/>
                <a:cs typeface="Arial" pitchFamily="34" charset="-120"/>
              </a:rPr>
              <a:t>Answer: </a:t>
            </a:r>
            <a:pPr indent="0" marL="0">
              <a:lnSpc>
                <a:spcPts val="1500"/>
              </a:lnSpc>
              <a:buNone/>
            </a:pPr>
            <a:r>
              <a:rPr lang="en-US" sz="1150" dirty="0">
                <a:solidFill>
                  <a:srgbClr val="3A4452"/>
                </a:solidFill>
                <a:latin typeface="Arial" pitchFamily="34" charset="0"/>
                <a:ea typeface="Arial" pitchFamily="34" charset="-122"/>
                <a:cs typeface="Arial" pitchFamily="34" charset="-120"/>
              </a:rPr>
              <a:t>Confident fabrication — it lets Claude say 'Not stated in the source.'</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KEEP THIS AT YOUR DESK</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Pattern index — Module 2</a:t>
            </a:r>
            <a:endParaRPr lang="en-US" sz="2700" dirty="0"/>
          </a:p>
        </p:txBody>
      </p:sp>
      <p:sp>
        <p:nvSpPr>
          <p:cNvPr id="4" name="Shape 2"/>
          <p:cNvSpPr/>
          <p:nvPr/>
        </p:nvSpPr>
        <p:spPr>
          <a:xfrm>
            <a:off x="566928" y="1554480"/>
            <a:ext cx="5486400" cy="4297680"/>
          </a:xfrm>
          <a:prstGeom prst="roundRect">
            <a:avLst>
              <a:gd name="adj" fmla="val 1915"/>
            </a:avLst>
          </a:prstGeom>
          <a:solidFill>
            <a:srgbClr val="F5F6F8"/>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783080"/>
            <a:ext cx="4937760" cy="365760"/>
          </a:xfrm>
          <a:prstGeom prst="rect">
            <a:avLst/>
          </a:prstGeom>
          <a:noFill/>
          <a:ln/>
        </p:spPr>
        <p:txBody>
          <a:bodyPr wrap="square" rtlCol="0" anchor="ctr"/>
          <a:lstStyle/>
          <a:p>
            <a:pPr indent="0" marL="0">
              <a:buNone/>
            </a:pPr>
            <a:r>
              <a:rPr lang="en-US" sz="1500" b="1" dirty="0">
                <a:solidFill>
                  <a:srgbClr val="D31242"/>
                </a:solidFill>
                <a:latin typeface="Arial" pitchFamily="34" charset="0"/>
                <a:ea typeface="Arial" pitchFamily="34" charset="-122"/>
                <a:cs typeface="Arial" pitchFamily="34" charset="-120"/>
              </a:rPr>
              <a:t>By technique</a:t>
            </a:r>
            <a:endParaRPr lang="en-US" sz="1500" dirty="0"/>
          </a:p>
        </p:txBody>
      </p:sp>
      <p:sp>
        <p:nvSpPr>
          <p:cNvPr id="6" name="Text 4"/>
          <p:cNvSpPr/>
          <p:nvPr/>
        </p:nvSpPr>
        <p:spPr>
          <a:xfrm>
            <a:off x="841248" y="2148840"/>
            <a:ext cx="4983480" cy="3657600"/>
          </a:xfrm>
          <a:prstGeom prst="rect">
            <a:avLst/>
          </a:prstGeom>
          <a:noFill/>
          <a:ln/>
        </p:spPr>
        <p:txBody>
          <a:bodyPr wrap="square" rtlCol="0" anchor="t"/>
          <a:lstStyle/>
          <a:p>
            <a:pPr indent="0" marL="0">
              <a:lnSpc>
                <a:spcPts val="1600"/>
              </a:lnSpc>
              <a:buNone/>
            </a:pPr>
            <a:r>
              <a:rPr lang="en-US" sz="1150" b="1" dirty="0">
                <a:solidFill>
                  <a:srgbClr val="1F2733"/>
                </a:solidFill>
                <a:latin typeface="Arial" pitchFamily="34" charset="0"/>
                <a:ea typeface="Arial" pitchFamily="34" charset="-122"/>
                <a:cs typeface="Arial" pitchFamily="34" charset="-120"/>
              </a:rPr>
              <a:t>T1 Clear: </a:t>
            </a:r>
            <a:pPr indent="0" marL="0">
              <a:lnSpc>
                <a:spcPts val="1600"/>
              </a:lnSpc>
              <a:buNone/>
            </a:pPr>
            <a:r>
              <a:rPr lang="en-US" sz="1150" dirty="0">
                <a:solidFill>
                  <a:srgbClr val="3A4452"/>
                </a:solidFill>
                <a:latin typeface="Arial" pitchFamily="34" charset="0"/>
                <a:ea typeface="Arial" pitchFamily="34" charset="-122"/>
                <a:cs typeface="Arial" pitchFamily="34" charset="-120"/>
              </a:rPr>
              <a:t>anatomy · success criteria · must/should/avoid · output contract · constraints</a:t>
            </a:r>
            <a:endParaRPr lang="en-US" sz="1150" dirty="0"/>
          </a:p>
          <a:p>
            <a:pPr indent="0" marL="0">
              <a:lnSpc>
                <a:spcPts val="1600"/>
              </a:lnSpc>
              <a:buNone/>
            </a:pPr>
            <a:r>
              <a:rPr lang="en-US" sz="1150" b="1" dirty="0">
                <a:solidFill>
                  <a:srgbClr val="1F2733"/>
                </a:solidFill>
                <a:latin typeface="Arial" pitchFamily="34" charset="0"/>
                <a:ea typeface="Arial" pitchFamily="34" charset="-122"/>
                <a:cs typeface="Arial" pitchFamily="34" charset="-120"/>
              </a:rPr>
              <a:t>T2 Role: </a:t>
            </a:r>
            <a:pPr indent="0" marL="0">
              <a:lnSpc>
                <a:spcPts val="1600"/>
              </a:lnSpc>
              <a:buNone/>
            </a:pPr>
            <a:r>
              <a:rPr lang="en-US" sz="1150" dirty="0">
                <a:solidFill>
                  <a:srgbClr val="3A4452"/>
                </a:solidFill>
                <a:latin typeface="Arial" pitchFamily="34" charset="0"/>
                <a:ea typeface="Arial" pitchFamily="34" charset="-122"/>
                <a:cs typeface="Arial" pitchFamily="34" charset="-120"/>
              </a:rPr>
              <a:t>standing instructions (Profile/Project/Skill) · audience transform · tone anchors</a:t>
            </a:r>
            <a:endParaRPr lang="en-US" sz="1150" dirty="0"/>
          </a:p>
          <a:p>
            <a:pPr indent="0" marL="0">
              <a:lnSpc>
                <a:spcPts val="1600"/>
              </a:lnSpc>
              <a:buNone/>
            </a:pPr>
            <a:r>
              <a:rPr lang="en-US" sz="1150" b="1" dirty="0">
                <a:solidFill>
                  <a:srgbClr val="1F2733"/>
                </a:solidFill>
                <a:latin typeface="Arial" pitchFamily="34" charset="0"/>
                <a:ea typeface="Arial" pitchFamily="34" charset="-122"/>
                <a:cs typeface="Arial" pitchFamily="34" charset="-120"/>
              </a:rPr>
              <a:t>T3 XML: </a:t>
            </a:r>
            <a:pPr indent="0" marL="0">
              <a:lnSpc>
                <a:spcPts val="1600"/>
              </a:lnSpc>
              <a:buNone/>
            </a:pPr>
            <a:r>
              <a:rPr lang="en-US" sz="1150" dirty="0">
                <a:solidFill>
                  <a:srgbClr val="3A4452"/>
                </a:solidFill>
                <a:latin typeface="Arial" pitchFamily="34" charset="0"/>
                <a:ea typeface="Arial" pitchFamily="34" charset="-122"/>
                <a:cs typeface="Arial" pitchFamily="34" charset="-120"/>
              </a:rPr>
              <a:t>source separation · multi-doc + output tags · reusable blocks · spotlighting</a:t>
            </a:r>
            <a:endParaRPr lang="en-US" sz="1150" dirty="0"/>
          </a:p>
          <a:p>
            <a:pPr indent="0" marL="0">
              <a:lnSpc>
                <a:spcPts val="1600"/>
              </a:lnSpc>
              <a:buNone/>
            </a:pPr>
            <a:r>
              <a:rPr lang="en-US" sz="1150" b="1" dirty="0">
                <a:solidFill>
                  <a:srgbClr val="1F2733"/>
                </a:solidFill>
                <a:latin typeface="Arial" pitchFamily="34" charset="0"/>
                <a:ea typeface="Arial" pitchFamily="34" charset="-122"/>
                <a:cs typeface="Arial" pitchFamily="34" charset="-120"/>
              </a:rPr>
              <a:t>T4 Examples: </a:t>
            </a:r>
            <a:pPr indent="0" marL="0">
              <a:lnSpc>
                <a:spcPts val="1600"/>
              </a:lnSpc>
              <a:buNone/>
            </a:pPr>
            <a:r>
              <a:rPr lang="en-US" sz="1150" dirty="0">
                <a:solidFill>
                  <a:srgbClr val="3A4452"/>
                </a:solidFill>
                <a:latin typeface="Arial" pitchFamily="34" charset="0"/>
                <a:ea typeface="Arial" pitchFamily="34" charset="-122"/>
                <a:cs typeface="Arial" pitchFamily="34" charset="-120"/>
              </a:rPr>
              <a:t>good · contrastive · selection &amp; order</a:t>
            </a:r>
            <a:endParaRPr lang="en-US" sz="1150" dirty="0"/>
          </a:p>
          <a:p>
            <a:pPr indent="0" marL="0">
              <a:lnSpc>
                <a:spcPts val="1600"/>
              </a:lnSpc>
              <a:buNone/>
            </a:pPr>
            <a:r>
              <a:rPr lang="en-US" sz="1150" b="1" dirty="0">
                <a:solidFill>
                  <a:srgbClr val="1F2733"/>
                </a:solidFill>
                <a:latin typeface="Arial" pitchFamily="34" charset="0"/>
                <a:ea typeface="Arial" pitchFamily="34" charset="-122"/>
                <a:cs typeface="Arial" pitchFamily="34" charset="-120"/>
              </a:rPr>
              <a:t>T5 Long: </a:t>
            </a:r>
            <a:pPr indent="0" marL="0">
              <a:lnSpc>
                <a:spcPts val="1600"/>
              </a:lnSpc>
              <a:buNone/>
            </a:pPr>
            <a:r>
              <a:rPr lang="en-US" sz="1150" dirty="0">
                <a:solidFill>
                  <a:srgbClr val="3A4452"/>
                </a:solidFill>
                <a:latin typeface="Arial" pitchFamily="34" charset="0"/>
                <a:ea typeface="Arial" pitchFamily="34" charset="-122"/>
                <a:cs typeface="Arial" pitchFamily="34" charset="-120"/>
              </a:rPr>
              <a:t>data-on-top · quote-first · source-grounded · give-an-out · ETP · map-reduce · edge-case</a:t>
            </a:r>
            <a:endParaRPr lang="en-US" sz="1150" dirty="0"/>
          </a:p>
        </p:txBody>
      </p:sp>
      <p:sp>
        <p:nvSpPr>
          <p:cNvPr id="7" name="Shape 5"/>
          <p:cNvSpPr/>
          <p:nvPr/>
        </p:nvSpPr>
        <p:spPr>
          <a:xfrm>
            <a:off x="6355080" y="1554480"/>
            <a:ext cx="5486400" cy="4297680"/>
          </a:xfrm>
          <a:prstGeom prst="roundRect">
            <a:avLst>
              <a:gd name="adj" fmla="val 1915"/>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629400" y="1783080"/>
            <a:ext cx="4937760" cy="365760"/>
          </a:xfrm>
          <a:prstGeom prst="rect">
            <a:avLst/>
          </a:prstGeom>
          <a:noFill/>
          <a:ln/>
        </p:spPr>
        <p:txBody>
          <a:bodyPr wrap="square" rtlCol="0" anchor="ctr"/>
          <a:lstStyle/>
          <a:p>
            <a:pPr indent="0" marL="0">
              <a:buNone/>
            </a:pPr>
            <a:r>
              <a:rPr lang="en-US" sz="1500" b="1" dirty="0">
                <a:solidFill>
                  <a:srgbClr val="7E0A27"/>
                </a:solidFill>
                <a:latin typeface="Arial" pitchFamily="34" charset="0"/>
                <a:ea typeface="Arial" pitchFamily="34" charset="-122"/>
                <a:cs typeface="Arial" pitchFamily="34" charset="-120"/>
              </a:rPr>
              <a:t>Habits</a:t>
            </a:r>
            <a:endParaRPr lang="en-US" sz="1500" dirty="0"/>
          </a:p>
        </p:txBody>
      </p:sp>
      <p:sp>
        <p:nvSpPr>
          <p:cNvPr id="9" name="Text 7"/>
          <p:cNvSpPr/>
          <p:nvPr/>
        </p:nvSpPr>
        <p:spPr>
          <a:xfrm>
            <a:off x="6675120" y="2148840"/>
            <a:ext cx="4937760" cy="3657600"/>
          </a:xfrm>
          <a:prstGeom prst="rect">
            <a:avLst/>
          </a:prstGeom>
          <a:noFill/>
          <a:ln/>
        </p:spPr>
        <p:txBody>
          <a:bodyPr wrap="square" rtlCol="0" anchor="t"/>
          <a:lstStyle/>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Build from the anatomy blocks.</a:t>
            </a:r>
            <a:endParaRPr lang="en-US" sz="1300" dirty="0"/>
          </a:p>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Define 'good' before you ask.</a:t>
            </a:r>
            <a:endParaRPr lang="en-US" sz="1300" dirty="0"/>
          </a:p>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Wrap the source; put the task last.</a:t>
            </a:r>
            <a:endParaRPr lang="en-US" sz="1300" dirty="0"/>
          </a:p>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Show an example, not adjectives.</a:t>
            </a:r>
            <a:endParaRPr lang="en-US" sz="1300" dirty="0"/>
          </a:p>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Ground it; give an out; verify.</a:t>
            </a:r>
            <a:endParaRPr lang="en-US" sz="1300" dirty="0"/>
          </a:p>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Debug the failing block — don't re-roll.</a:t>
            </a:r>
            <a:endParaRPr lang="en-US" sz="1300" dirty="0"/>
          </a:p>
          <a:p>
            <a:pPr marL="342900" indent="-342900">
              <a:lnSpc>
                <a:spcPts val="1900"/>
              </a:lnSpc>
              <a:buSzPct val="100000"/>
              <a:buChar char="•"/>
            </a:pPr>
            <a:r>
              <a:rPr lang="en-US" sz="1300" dirty="0">
                <a:solidFill>
                  <a:srgbClr val="3A4452"/>
                </a:solidFill>
                <a:latin typeface="Arial" pitchFamily="34" charset="0"/>
                <a:ea typeface="Arial" pitchFamily="34" charset="-122"/>
                <a:cs typeface="Arial" pitchFamily="34" charset="-120"/>
              </a:rPr>
              <a:t>Match effort to stakes.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66928" y="365760"/>
            <a:ext cx="10972800" cy="274320"/>
          </a:xfrm>
          <a:prstGeom prst="rect">
            <a:avLst/>
          </a:prstGeom>
          <a:noFill/>
          <a:ln/>
        </p:spPr>
        <p:txBody>
          <a:bodyPr wrap="square" rtlCol="0" anchor="ctr"/>
          <a:lstStyle/>
          <a:p>
            <a:pPr indent="0" marL="0">
              <a:buNone/>
            </a:pPr>
            <a:r>
              <a:rPr lang="en-US" sz="1200" b="1" spc="300" kern="0" dirty="0">
                <a:solidFill>
                  <a:srgbClr val="D31242"/>
                </a:solidFill>
                <a:latin typeface="Arial" pitchFamily="34" charset="0"/>
                <a:ea typeface="Arial" pitchFamily="34" charset="-122"/>
                <a:cs typeface="Arial" pitchFamily="34" charset="-120"/>
              </a:rPr>
              <a:t>MAKE IT STICK</a:t>
            </a:r>
            <a:endParaRPr lang="en-US" sz="1200" dirty="0"/>
          </a:p>
        </p:txBody>
      </p:sp>
      <p:sp>
        <p:nvSpPr>
          <p:cNvPr id="3" name="Text 1"/>
          <p:cNvSpPr/>
          <p:nvPr/>
        </p:nvSpPr>
        <p:spPr>
          <a:xfrm>
            <a:off x="566928" y="621792"/>
            <a:ext cx="11055096" cy="731520"/>
          </a:xfrm>
          <a:prstGeom prst="rect">
            <a:avLst/>
          </a:prstGeom>
          <a:noFill/>
          <a:ln/>
        </p:spPr>
        <p:txBody>
          <a:bodyPr wrap="square" rtlCol="0" anchor="ctr"/>
          <a:lstStyle/>
          <a:p>
            <a:pPr indent="0" marL="0">
              <a:lnSpc>
                <a:spcPts val="2900"/>
              </a:lnSpc>
              <a:buNone/>
            </a:pPr>
            <a:r>
              <a:rPr lang="en-US" sz="2700" b="1" dirty="0">
                <a:solidFill>
                  <a:srgbClr val="1F2733"/>
                </a:solidFill>
                <a:latin typeface="Arial" pitchFamily="34" charset="0"/>
                <a:ea typeface="Arial" pitchFamily="34" charset="-122"/>
                <a:cs typeface="Arial" pitchFamily="34" charset="-120"/>
              </a:rPr>
              <a:t>Practice this week</a:t>
            </a:r>
            <a:endParaRPr lang="en-US" sz="2700" dirty="0"/>
          </a:p>
        </p:txBody>
      </p:sp>
      <p:sp>
        <p:nvSpPr>
          <p:cNvPr id="4" name="Shape 2"/>
          <p:cNvSpPr/>
          <p:nvPr/>
        </p:nvSpPr>
        <p:spPr>
          <a:xfrm>
            <a:off x="566928" y="1600200"/>
            <a:ext cx="5760720" cy="4114800"/>
          </a:xfrm>
          <a:prstGeom prst="roundRect">
            <a:avLst>
              <a:gd name="adj" fmla="val 2000"/>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5" name="Text 3"/>
          <p:cNvSpPr/>
          <p:nvPr/>
        </p:nvSpPr>
        <p:spPr>
          <a:xfrm>
            <a:off x="841248" y="1828800"/>
            <a:ext cx="5212080" cy="411480"/>
          </a:xfrm>
          <a:prstGeom prst="rect">
            <a:avLst/>
          </a:prstGeom>
          <a:noFill/>
          <a:ln/>
        </p:spPr>
        <p:txBody>
          <a:bodyPr wrap="square" rtlCol="0" anchor="ctr"/>
          <a:lstStyle/>
          <a:p>
            <a:pPr indent="0" marL="0">
              <a:buNone/>
            </a:pPr>
            <a:r>
              <a:rPr lang="en-US" sz="1600" b="1" dirty="0">
                <a:solidFill>
                  <a:srgbClr val="D31242"/>
                </a:solidFill>
                <a:latin typeface="Arial" pitchFamily="34" charset="0"/>
                <a:ea typeface="Arial" pitchFamily="34" charset="-122"/>
                <a:cs typeface="Arial" pitchFamily="34" charset="-120"/>
              </a:rPr>
              <a:t>3 reps</a:t>
            </a:r>
            <a:endParaRPr lang="en-US" sz="1600" dirty="0"/>
          </a:p>
        </p:txBody>
      </p:sp>
      <p:sp>
        <p:nvSpPr>
          <p:cNvPr id="6" name="Text 4"/>
          <p:cNvSpPr/>
          <p:nvPr/>
        </p:nvSpPr>
        <p:spPr>
          <a:xfrm>
            <a:off x="886968" y="2286000"/>
            <a:ext cx="5212080" cy="3200400"/>
          </a:xfrm>
          <a:prstGeom prst="rect">
            <a:avLst/>
          </a:prstGeom>
          <a:noFill/>
          <a:ln/>
        </p:spPr>
        <p:txBody>
          <a:bodyPr wrap="square" rtlCol="0" anchor="t"/>
          <a:lstStyle/>
          <a:p>
            <a:pPr marL="342900" indent="-342900">
              <a:lnSpc>
                <a:spcPts val="2300"/>
              </a:lnSpc>
              <a:buSzPct val="100000"/>
              <a:buChar char="•"/>
            </a:pPr>
            <a:r>
              <a:rPr lang="en-US" sz="1350" dirty="0">
                <a:solidFill>
                  <a:srgbClr val="3A4452"/>
                </a:solidFill>
                <a:latin typeface="Arial" pitchFamily="34" charset="0"/>
                <a:ea typeface="Arial" pitchFamily="34" charset="-122"/>
                <a:cs typeface="Arial" pitchFamily="34" charset="-120"/>
              </a:rPr>
              <a:t>Build one prompt from the anatomy blocks.</a:t>
            </a:r>
            <a:endParaRPr lang="en-US" sz="1350" dirty="0"/>
          </a:p>
          <a:p>
            <a:pPr marL="342900" indent="-342900">
              <a:lnSpc>
                <a:spcPts val="2300"/>
              </a:lnSpc>
              <a:buSzPct val="100000"/>
              <a:buChar char="•"/>
            </a:pPr>
            <a:r>
              <a:rPr lang="en-US" sz="1350" dirty="0">
                <a:solidFill>
                  <a:srgbClr val="3A4452"/>
                </a:solidFill>
                <a:latin typeface="Arial" pitchFamily="34" charset="0"/>
                <a:ea typeface="Arial" pitchFamily="34" charset="-122"/>
                <a:cs typeface="Arial" pitchFamily="34" charset="-120"/>
              </a:rPr>
              <a:t>Turn one long document into 2 audience versions.</a:t>
            </a:r>
            <a:endParaRPr lang="en-US" sz="1350" dirty="0"/>
          </a:p>
          <a:p>
            <a:pPr marL="342900" indent="-342900">
              <a:lnSpc>
                <a:spcPts val="2300"/>
              </a:lnSpc>
              <a:buSzPct val="100000"/>
              <a:buChar char="•"/>
            </a:pPr>
            <a:r>
              <a:rPr lang="en-US" sz="1350" dirty="0">
                <a:solidFill>
                  <a:srgbClr val="3A4452"/>
                </a:solidFill>
                <a:latin typeface="Arial" pitchFamily="34" charset="0"/>
                <a:ea typeface="Arial" pitchFamily="34" charset="-122"/>
                <a:cs typeface="Arial" pitchFamily="34" charset="-120"/>
              </a:rPr>
              <a:t>Add a give-an-out + verify step to a policy summary.</a:t>
            </a:r>
            <a:endParaRPr lang="en-US" sz="1350" dirty="0"/>
          </a:p>
        </p:txBody>
      </p:sp>
      <p:sp>
        <p:nvSpPr>
          <p:cNvPr id="7" name="Shape 5"/>
          <p:cNvSpPr/>
          <p:nvPr/>
        </p:nvSpPr>
        <p:spPr>
          <a:xfrm>
            <a:off x="6629400" y="1600200"/>
            <a:ext cx="4983480" cy="4114800"/>
          </a:xfrm>
          <a:prstGeom prst="roundRect">
            <a:avLst>
              <a:gd name="adj" fmla="val 2000"/>
            </a:avLst>
          </a:prstGeom>
          <a:solidFill>
            <a:srgbClr val="FCE4EA"/>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8" name="Text 6"/>
          <p:cNvSpPr/>
          <p:nvPr/>
        </p:nvSpPr>
        <p:spPr>
          <a:xfrm>
            <a:off x="6903720" y="1828800"/>
            <a:ext cx="4480560" cy="411480"/>
          </a:xfrm>
          <a:prstGeom prst="rect">
            <a:avLst/>
          </a:prstGeom>
          <a:noFill/>
          <a:ln/>
        </p:spPr>
        <p:txBody>
          <a:bodyPr wrap="square" rtlCol="0" anchor="ctr"/>
          <a:lstStyle/>
          <a:p>
            <a:pPr indent="0" marL="0">
              <a:buNone/>
            </a:pPr>
            <a:r>
              <a:rPr lang="en-US" sz="1600" b="1" dirty="0">
                <a:solidFill>
                  <a:srgbClr val="7E0A27"/>
                </a:solidFill>
                <a:latin typeface="Arial" pitchFamily="34" charset="0"/>
                <a:ea typeface="Arial" pitchFamily="34" charset="-122"/>
                <a:cs typeface="Arial" pitchFamily="34" charset="-120"/>
              </a:rPr>
              <a:t>Champion assignment</a:t>
            </a:r>
            <a:endParaRPr lang="en-US" sz="1600" dirty="0"/>
          </a:p>
        </p:txBody>
      </p:sp>
      <p:sp>
        <p:nvSpPr>
          <p:cNvPr id="9" name="Text 7"/>
          <p:cNvSpPr/>
          <p:nvPr/>
        </p:nvSpPr>
        <p:spPr>
          <a:xfrm>
            <a:off x="6903720" y="2286000"/>
            <a:ext cx="4480560" cy="3291840"/>
          </a:xfrm>
          <a:prstGeom prst="rect">
            <a:avLst/>
          </a:prstGeom>
          <a:noFill/>
          <a:ln/>
        </p:spPr>
        <p:txBody>
          <a:bodyPr wrap="square" rtlCol="0" anchor="t"/>
          <a:lstStyle/>
          <a:p>
            <a:pPr indent="0" marL="0">
              <a:lnSpc>
                <a:spcPts val="2000"/>
              </a:lnSpc>
              <a:buNone/>
            </a:pPr>
            <a:r>
              <a:rPr lang="en-US" sz="1350" b="1" dirty="0">
                <a:solidFill>
                  <a:srgbClr val="1F2733"/>
                </a:solidFill>
                <a:latin typeface="Arial" pitchFamily="34" charset="0"/>
                <a:ea typeface="Arial" pitchFamily="34" charset="-122"/>
                <a:cs typeface="Arial" pitchFamily="34" charset="-120"/>
              </a:rPr>
              <a:t>Engineer one prompt for a weekly team task and save it as a reusable starting point. </a:t>
            </a:r>
            <a:pPr indent="0" marL="0">
              <a:lnSpc>
                <a:spcPts val="2000"/>
              </a:lnSpc>
              <a:buNone/>
            </a:pPr>
            <a:r>
              <a:rPr lang="en-US" sz="1350" dirty="0">
                <a:solidFill>
                  <a:srgbClr val="3A4452"/>
                </a:solidFill>
                <a:latin typeface="Arial" pitchFamily="34" charset="0"/>
                <a:ea typeface="Arial" pitchFamily="34" charset="-122"/>
                <a:cs typeface="Arial" pitchFamily="34" charset="-120"/>
              </a:rPr>
              <a:t>Bring it to the next session.</a:t>
            </a:r>
            <a:endParaRPr lang="en-US" sz="1350" dirty="0"/>
          </a:p>
          <a:p>
            <a:pPr indent="0" marL="0">
              <a:lnSpc>
                <a:spcPts val="2000"/>
              </a:lnSpc>
              <a:buNone/>
            </a:pPr>
            <a:endParaRPr lang="en-US" sz="1350" dirty="0"/>
          </a:p>
          <a:p>
            <a:pPr indent="0" marL="0">
              <a:lnSpc>
                <a:spcPts val="2000"/>
              </a:lnSpc>
              <a:buNone/>
            </a:pPr>
            <a:r>
              <a:rPr lang="en-US" sz="1350" b="1" dirty="0">
                <a:solidFill>
                  <a:srgbClr val="7E0A27"/>
                </a:solidFill>
                <a:latin typeface="Arial" pitchFamily="34" charset="0"/>
                <a:ea typeface="Arial" pitchFamily="34" charset="-122"/>
                <a:cs typeface="Arial" pitchFamily="34" charset="-120"/>
              </a:rPr>
              <a:t>Teach-back: </a:t>
            </a:r>
            <a:pPr indent="0" marL="0">
              <a:lnSpc>
                <a:spcPts val="2000"/>
              </a:lnSpc>
              <a:buNone/>
            </a:pPr>
            <a:r>
              <a:rPr lang="en-US" sz="1350" dirty="0">
                <a:solidFill>
                  <a:srgbClr val="3A4452"/>
                </a:solidFill>
                <a:latin typeface="Arial" pitchFamily="34" charset="0"/>
                <a:ea typeface="Arial" pitchFamily="34" charset="-122"/>
                <a:cs typeface="Arial" pitchFamily="34" charset="-120"/>
              </a:rPr>
              <a:t>explain the prompt anatomy and one grounding pattern in 2 minutes.</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7E0A27"/>
        </a:solidFill>
      </p:bgPr>
    </p:bg>
    <p:spTree>
      <p:nvGrpSpPr>
        <p:cNvPr id="1" name=""/>
        <p:cNvGrpSpPr/>
        <p:nvPr/>
      </p:nvGrpSpPr>
      <p:grpSpPr>
        <a:xfrm>
          <a:off x="0" y="0"/>
          <a:ext cx="0" cy="0"/>
          <a:chOff x="0" y="0"/>
          <a:chExt cx="0" cy="0"/>
        </a:xfrm>
      </p:grpSpPr>
      <p:sp>
        <p:nvSpPr>
          <p:cNvPr id="2" name="Shape 0"/>
          <p:cNvSpPr/>
          <p:nvPr/>
        </p:nvSpPr>
        <p:spPr>
          <a:xfrm>
            <a:off x="-1828800" y="3291840"/>
            <a:ext cx="5120640" cy="5120640"/>
          </a:xfrm>
          <a:prstGeom prst="ellipse">
            <a:avLst/>
          </a:prstGeom>
          <a:solidFill>
            <a:srgbClr val="A60E34"/>
          </a:solidFill>
          <a:ln/>
        </p:spPr>
      </p:sp>
      <p:sp>
        <p:nvSpPr>
          <p:cNvPr id="3" name="Shape 1"/>
          <p:cNvSpPr/>
          <p:nvPr/>
        </p:nvSpPr>
        <p:spPr>
          <a:xfrm>
            <a:off x="9692640" y="-1828800"/>
            <a:ext cx="4754880" cy="4754880"/>
          </a:xfrm>
          <a:prstGeom prst="ellipse">
            <a:avLst/>
          </a:prstGeom>
          <a:solidFill>
            <a:srgbClr val="D31242"/>
          </a:solidFill>
          <a:ln/>
        </p:spPr>
      </p:sp>
      <p:sp>
        <p:nvSpPr>
          <p:cNvPr id="4" name="Text 2"/>
          <p:cNvSpPr/>
          <p:nvPr/>
        </p:nvSpPr>
        <p:spPr>
          <a:xfrm>
            <a:off x="566928" y="1005840"/>
            <a:ext cx="10058400" cy="365760"/>
          </a:xfrm>
          <a:prstGeom prst="rect">
            <a:avLst/>
          </a:prstGeom>
          <a:noFill/>
          <a:ln/>
        </p:spPr>
        <p:txBody>
          <a:bodyPr wrap="square" rtlCol="0" anchor="ctr"/>
          <a:lstStyle/>
          <a:p>
            <a:pPr indent="0" marL="0">
              <a:buNone/>
            </a:pPr>
            <a:r>
              <a:rPr lang="en-US" sz="1400" b="1" spc="300" kern="0" dirty="0">
                <a:solidFill>
                  <a:srgbClr val="F7B9C6"/>
                </a:solidFill>
                <a:latin typeface="Arial" pitchFamily="34" charset="0"/>
                <a:ea typeface="Arial" pitchFamily="34" charset="-122"/>
                <a:cs typeface="Arial" pitchFamily="34" charset="-120"/>
              </a:rPr>
              <a:t>STRUCTURE &amp; PATTERNS — DONE</a:t>
            </a:r>
            <a:endParaRPr lang="en-US" sz="1400" dirty="0"/>
          </a:p>
        </p:txBody>
      </p:sp>
      <p:sp>
        <p:nvSpPr>
          <p:cNvPr id="5" name="Text 3"/>
          <p:cNvSpPr/>
          <p:nvPr/>
        </p:nvSpPr>
        <p:spPr>
          <a:xfrm>
            <a:off x="566928" y="1417320"/>
            <a:ext cx="10789920" cy="914400"/>
          </a:xfrm>
          <a:prstGeom prst="rect">
            <a:avLst/>
          </a:prstGeom>
          <a:noFill/>
          <a:ln/>
        </p:spPr>
        <p:txBody>
          <a:bodyPr wrap="square" rtlCol="0" anchor="ctr"/>
          <a:lstStyle/>
          <a:p>
            <a:pPr indent="0" marL="0">
              <a:lnSpc>
                <a:spcPts val="3500"/>
              </a:lnSpc>
              <a:buNone/>
            </a:pPr>
            <a:r>
              <a:rPr lang="en-US" sz="3100" b="1" dirty="0">
                <a:solidFill>
                  <a:srgbClr val="FFFFFF"/>
                </a:solidFill>
                <a:latin typeface="Arial" pitchFamily="34" charset="0"/>
                <a:ea typeface="Arial" pitchFamily="34" charset="-122"/>
                <a:cs typeface="Arial" pitchFamily="34" charset="-120"/>
              </a:rPr>
              <a:t>You can build prompts from patterns now</a:t>
            </a:r>
            <a:endParaRPr lang="en-US" sz="3100" dirty="0"/>
          </a:p>
        </p:txBody>
      </p:sp>
      <p:sp>
        <p:nvSpPr>
          <p:cNvPr id="6" name="Shape 4"/>
          <p:cNvSpPr/>
          <p:nvPr/>
        </p:nvSpPr>
        <p:spPr>
          <a:xfrm>
            <a:off x="566928" y="2926080"/>
            <a:ext cx="10469880" cy="2331720"/>
          </a:xfrm>
          <a:prstGeom prst="roundRect">
            <a:avLst>
              <a:gd name="adj" fmla="val 3529"/>
            </a:avLst>
          </a:prstGeom>
          <a:solidFill>
            <a:srgbClr val="FFFFFF"/>
          </a:solidFill>
          <a:ln w="12700">
            <a:solidFill>
              <a:srgbClr val="E7E9EE"/>
            </a:solidFill>
            <a:prstDash val="solid"/>
          </a:ln>
          <a:effectLst>
            <a:outerShdw sx="100000" sy="100000" kx="0" ky="0" algn="bl" rotWithShape="0" blurRad="114300" dist="38100" dir="5400000">
              <a:srgbClr val="1F2733">
                <a:alpha val="10000"/>
              </a:srgbClr>
            </a:outerShdw>
          </a:effectLst>
        </p:spPr>
      </p:sp>
      <p:sp>
        <p:nvSpPr>
          <p:cNvPr id="7" name="Text 5"/>
          <p:cNvSpPr/>
          <p:nvPr/>
        </p:nvSpPr>
        <p:spPr>
          <a:xfrm>
            <a:off x="841248" y="3108960"/>
            <a:ext cx="9875520" cy="411480"/>
          </a:xfrm>
          <a:prstGeom prst="rect">
            <a:avLst/>
          </a:prstGeom>
          <a:noFill/>
          <a:ln/>
        </p:spPr>
        <p:txBody>
          <a:bodyPr wrap="square" rtlCol="0" anchor="ctr"/>
          <a:lstStyle/>
          <a:p>
            <a:pPr indent="0" marL="0">
              <a:buNone/>
            </a:pPr>
            <a:r>
              <a:rPr lang="en-US" sz="1500" b="1" dirty="0">
                <a:solidFill>
                  <a:srgbClr val="D31242"/>
                </a:solidFill>
                <a:latin typeface="Arial" pitchFamily="34" charset="0"/>
                <a:ea typeface="Arial" pitchFamily="34" charset="-122"/>
                <a:cs typeface="Arial" pitchFamily="34" charset="-120"/>
              </a:rPr>
              <a:t>Coming next — M3: Reasoning &amp; Self-Improvement</a:t>
            </a:r>
            <a:endParaRPr lang="en-US" sz="1500" dirty="0"/>
          </a:p>
        </p:txBody>
      </p:sp>
      <p:sp>
        <p:nvSpPr>
          <p:cNvPr id="8" name="Text 6"/>
          <p:cNvSpPr/>
          <p:nvPr/>
        </p:nvSpPr>
        <p:spPr>
          <a:xfrm>
            <a:off x="841248" y="3611880"/>
            <a:ext cx="9875520" cy="1463040"/>
          </a:xfrm>
          <a:prstGeom prst="rect">
            <a:avLst/>
          </a:prstGeom>
          <a:noFill/>
          <a:ln/>
        </p:spPr>
        <p:txBody>
          <a:bodyPr wrap="square" rtlCol="0" anchor="t"/>
          <a:lstStyle/>
          <a:p>
            <a:pPr indent="0" marL="0">
              <a:lnSpc>
                <a:spcPts val="2400"/>
              </a:lnSpc>
              <a:buNone/>
            </a:pPr>
            <a:r>
              <a:rPr lang="en-US" sz="1450" b="1" dirty="0">
                <a:solidFill>
                  <a:srgbClr val="1F2733"/>
                </a:solidFill>
                <a:latin typeface="Arial" pitchFamily="34" charset="0"/>
                <a:ea typeface="Arial" pitchFamily="34" charset="-122"/>
                <a:cs typeface="Arial" pitchFamily="34" charset="-120"/>
              </a:rPr>
              <a:t>Chain-of-thought · self-consistency · step-back · plan-and-solve </a:t>
            </a:r>
            <a:pPr indent="0" marL="0">
              <a:lnSpc>
                <a:spcPts val="2400"/>
              </a:lnSpc>
              <a:buNone/>
            </a:pPr>
            <a:r>
              <a:rPr lang="en-US" sz="1450" dirty="0">
                <a:solidFill>
                  <a:srgbClr val="3A4452"/>
                </a:solidFill>
                <a:latin typeface="Arial" pitchFamily="34" charset="0"/>
                <a:ea typeface="Arial" pitchFamily="34" charset="-122"/>
                <a:cs typeface="Arial" pitchFamily="34" charset="-120"/>
              </a:rPr>
              <a:t>· self-refine/reflexion · chain-of-verification. </a:t>
            </a:r>
            <a:pPr indent="0" marL="0">
              <a:lnSpc>
                <a:spcPts val="2400"/>
              </a:lnSpc>
              <a:buNone/>
            </a:pPr>
            <a:r>
              <a:rPr lang="en-US" sz="1450" dirty="0">
                <a:solidFill>
                  <a:srgbClr val="3A4452"/>
                </a:solidFill>
                <a:latin typeface="Arial" pitchFamily="34" charset="0"/>
                <a:ea typeface="Arial" pitchFamily="34" charset="-122"/>
                <a:cs typeface="Arial" pitchFamily="34" charset="-120"/>
              </a:rPr>
              <a:t>Then M3b: chaining, templates, Console tools, model-specific.</a:t>
            </a:r>
            <a:endParaRPr lang="en-US" sz="1450" dirty="0"/>
          </a:p>
        </p:txBody>
      </p:sp>
      <p:sp>
        <p:nvSpPr>
          <p:cNvPr id="9" name="Text 7"/>
          <p:cNvSpPr/>
          <p:nvPr/>
        </p:nvSpPr>
        <p:spPr>
          <a:xfrm>
            <a:off x="566928" y="6583680"/>
            <a:ext cx="10515600" cy="219456"/>
          </a:xfrm>
          <a:prstGeom prst="rect">
            <a:avLst/>
          </a:prstGeom>
          <a:noFill/>
          <a:ln/>
        </p:spPr>
        <p:txBody>
          <a:bodyPr wrap="square" rtlCol="0" anchor="ctr"/>
          <a:lstStyle/>
          <a:p>
            <a:pPr indent="0" marL="0">
              <a:buNone/>
            </a:pPr>
            <a:r>
              <a:rPr lang="en-US" sz="800" i="1" dirty="0">
                <a:solidFill>
                  <a:srgbClr val="C98A98"/>
                </a:solidFill>
                <a:latin typeface="Arial" pitchFamily="34" charset="0"/>
                <a:ea typeface="Arial" pitchFamily="34" charset="-122"/>
                <a:cs typeface="Arial" pitchFamily="34" charset="-120"/>
              </a:rPr>
              <a:t>Illustrative training material — not an official BJ's Wholesale Club publication. Verify model/feature details before each session.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I — Structure &amp; Pattern Library</dc:title>
  <dc:subject>PptxGenJS Presentation</dc:subject>
  <dc:creator>BJ's AI Enablement</dc:creator>
  <cp:lastModifiedBy>BJ's AI Enablement</cp:lastModifiedBy>
  <cp:revision>1</cp:revision>
  <dcterms:created xsi:type="dcterms:W3CDTF">2026-06-26T20:47:52Z</dcterms:created>
  <dcterms:modified xsi:type="dcterms:W3CDTF">2026-06-26T20:47:52Z</dcterms:modified>
</cp:coreProperties>
</file>